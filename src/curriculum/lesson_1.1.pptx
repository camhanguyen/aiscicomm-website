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2"/>
  </p:normalViewPr>
  <p:slideViewPr>
    <p:cSldViewPr snapToGrid="0">
      <p:cViewPr varScale="1">
        <p:scale>
          <a:sx n="153" d="100"/>
          <a:sy n="153" d="100"/>
        </p:scale>
        <p:origin x="53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google.com/document/d/1jptS-f0Yhp2S1_O4-HaVCnnwQMDJWI3D/edit"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unc.az1.qualtrics.com/jfe/form/SV_3C90yTi0BG8LnxQ" TargetMode="External"/><Relationship Id="rId4" Type="http://schemas.openxmlformats.org/officeDocument/2006/relationships/hyperlink" Target="https://docs.google.com/document/d/1UndupAAsxXThMWqwfrnMWLxA3dpkoK1Unx8y0T5mxfk/edit?tab=t.0#heading=h.66wasdi8eqf3"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ocs.google.com/document/d/1oRteCUkFReNpTDNY3kE7YKKk_uLB4eKVSFH4sSz259w/edit?tab=t.0"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youtube.com/watch?v=LPZh9BOjkQs&amp;t=1s&amp;ab_channel=3Blue1Brown"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www.youtube.com/watch?v=LPZh9BOjkQs&amp;ab_channel=3Blue1Brown"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gemini.google.com/app"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cs.google.com/document/d/1UndupAAsxXThMWqwfrnMWLxA3dpkoK1Unx8y0T5mxfk/edit?tab=t.0"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4b47f3643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4b47f3643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Link to </a:t>
            </a:r>
            <a:r>
              <a:rPr lang="en" u="sng">
                <a:solidFill>
                  <a:schemeClr val="hlink"/>
                </a:solidFill>
                <a:hlinkClick r:id="rId3"/>
              </a:rPr>
              <a:t>Module 1.1 Outline</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45720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b="1">
                <a:solidFill>
                  <a:schemeClr val="dk1"/>
                </a:solidFill>
                <a:highlight>
                  <a:srgbClr val="FFFF00"/>
                </a:highlight>
                <a:latin typeface="Calibri"/>
                <a:ea typeface="Calibri"/>
                <a:cs typeface="Calibri"/>
                <a:sym typeface="Calibri"/>
              </a:rPr>
              <a:t>IMPORTANT: </a:t>
            </a:r>
            <a:r>
              <a:rPr lang="en" sz="1200">
                <a:solidFill>
                  <a:schemeClr val="dk1"/>
                </a:solidFill>
                <a:latin typeface="Calibri"/>
                <a:ea typeface="Calibri"/>
                <a:cs typeface="Calibri"/>
                <a:sym typeface="Calibri"/>
              </a:rPr>
              <a:t>Prior to Module 1.1, please make sure students have filled out the </a:t>
            </a:r>
            <a:r>
              <a:rPr lang="en" sz="1200"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pretest</a:t>
            </a:r>
            <a:r>
              <a:rPr lang="en" sz="1200">
                <a:solidFill>
                  <a:schemeClr val="dk1"/>
                </a:solidFill>
                <a:latin typeface="Calibri"/>
                <a:ea typeface="Calibri"/>
                <a:cs typeface="Calibri"/>
                <a:sym typeface="Calibri"/>
              </a:rPr>
              <a:t>. The pretest will take about 30 minutes to complete. </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CLEAR Framework to support students in prompting LLMs (see Slide 14-15; Lo, 2023; Teacher Facilitation Guide on </a:t>
            </a:r>
            <a:r>
              <a:rPr lang="en" sz="1200" b="1">
                <a:solidFill>
                  <a:schemeClr val="dk1"/>
                </a:solidFill>
                <a:latin typeface="Calibri"/>
                <a:ea typeface="Calibri"/>
                <a:cs typeface="Calibri"/>
                <a:sym typeface="Calibri"/>
              </a:rPr>
              <a:t>Artificial Intelligence Literacy &amp; Ethics.</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Throughout the program, students will be working in teams of three (preferably).</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It may be helpful to ensure that each team has at least one team member who is comfortable with new technological tools, so we recommend selecting the student teams before the start of module 1.1.</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Make sure that you have a way to project a video with sound.</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 science journal is intended to be a digital notebook. However, if you decide to print copies for students, they may need a writing instrument (pen, pencil, etc.).</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___________________________________________________</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 slideshow to </a:t>
            </a:r>
            <a:r>
              <a:rPr lang="en" sz="1200" b="1">
                <a:solidFill>
                  <a:schemeClr val="dk1"/>
                </a:solidFill>
                <a:latin typeface="Calibri"/>
                <a:ea typeface="Calibri"/>
                <a:cs typeface="Calibri"/>
                <a:sym typeface="Calibri"/>
              </a:rPr>
              <a:t>Slide 1 </a:t>
            </a:r>
            <a:r>
              <a:rPr lang="en" sz="1200">
                <a:solidFill>
                  <a:schemeClr val="dk1"/>
                </a:solidFill>
                <a:latin typeface="Calibri"/>
                <a:ea typeface="Calibri"/>
                <a:cs typeface="Calibri"/>
                <a:sym typeface="Calibri"/>
              </a:rPr>
              <a:t>and</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welcome students into the classroom and inform them that over the next few weeks, they will help pilot a new curriculum. </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4b47f3643b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4b47f3643b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2</a:t>
            </a:r>
            <a:r>
              <a:rPr lang="en" sz="1200">
                <a:solidFill>
                  <a:schemeClr val="dk1"/>
                </a:solidFill>
                <a:latin typeface="Calibri"/>
                <a:ea typeface="Calibri"/>
                <a:cs typeface="Calibri"/>
                <a:sym typeface="Calibri"/>
              </a:rPr>
              <a:t>, where students will be introduced to </a:t>
            </a:r>
            <a:r>
              <a:rPr lang="en" sz="1200" b="1">
                <a:solidFill>
                  <a:schemeClr val="dk1"/>
                </a:solidFill>
                <a:latin typeface="Calibri"/>
                <a:ea typeface="Calibri"/>
                <a:cs typeface="Calibri"/>
                <a:sym typeface="Calibri"/>
              </a:rPr>
              <a:t>Agents for Inclusive Science Communication</a:t>
            </a:r>
            <a:r>
              <a:rPr lang="en" sz="1200">
                <a:solidFill>
                  <a:schemeClr val="dk1"/>
                </a:solidFill>
                <a:latin typeface="Calibri"/>
                <a:ea typeface="Calibri"/>
                <a:cs typeface="Calibri"/>
                <a:sym typeface="Calibri"/>
              </a:rPr>
              <a:t> (AISciComm), the program that they will help pilot.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4eb829474b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4eb829474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Afterwards move on to </a:t>
            </a:r>
            <a:r>
              <a:rPr lang="en" sz="1200" b="1">
                <a:solidFill>
                  <a:schemeClr val="dk1"/>
                </a:solidFill>
                <a:latin typeface="Calibri"/>
                <a:ea typeface="Calibri"/>
                <a:cs typeface="Calibri"/>
                <a:sym typeface="Calibri"/>
              </a:rPr>
              <a:t>Slide 3</a:t>
            </a:r>
            <a:r>
              <a:rPr lang="en" sz="1200">
                <a:solidFill>
                  <a:schemeClr val="dk1"/>
                </a:solidFill>
                <a:latin typeface="Calibri"/>
                <a:ea typeface="Calibri"/>
                <a:cs typeface="Calibri"/>
                <a:sym typeface="Calibri"/>
              </a:rPr>
              <a:t>, and showcase who is involved in creating the program and who they will be working alongside. </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Inside the Outdoors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Orange County Department of Education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University of California Irvine</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University of North Carolina at Chapel Hill </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i="1">
                <a:solidFill>
                  <a:schemeClr val="dk1"/>
                </a:solidFill>
                <a:latin typeface="Calibri"/>
                <a:ea typeface="Calibri"/>
                <a:cs typeface="Calibri"/>
                <a:sym typeface="Calibri"/>
              </a:rPr>
              <a:t>This pilot program will consist of both teacher-led lessons and lessons co-facilitated with the collaborating partners. The focus will be on how climate change impacts Southern California’s ocean and the values that local communities place on the ocean system. Students will explore systems and systems modeling, gathering information through community interviews as well as generative AI and search engine research. This year, students will help support and test two modules (five lessons) of the program, rather than the entire curriculum with the goal of receiving feedback for future iterations of the program.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4b47f3643b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4b47f3643b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been introduced to the program, advance to </a:t>
            </a:r>
            <a:r>
              <a:rPr lang="en" sz="1200" b="1">
                <a:solidFill>
                  <a:schemeClr val="dk1"/>
                </a:solidFill>
                <a:latin typeface="Calibri"/>
                <a:ea typeface="Calibri"/>
                <a:cs typeface="Calibri"/>
                <a:sym typeface="Calibri"/>
              </a:rPr>
              <a:t>Slide 4</a:t>
            </a:r>
            <a:r>
              <a:rPr lang="en" sz="1200">
                <a:solidFill>
                  <a:schemeClr val="dk1"/>
                </a:solidFill>
                <a:latin typeface="Calibri"/>
                <a:ea typeface="Calibri"/>
                <a:cs typeface="Calibri"/>
                <a:sym typeface="Calibri"/>
              </a:rPr>
              <a:t> and share an overview of module 1.1.</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4b47f3643b_0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4b47f3643b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 </a:t>
            </a:r>
            <a:r>
              <a:rPr lang="en" sz="1200" b="1">
                <a:solidFill>
                  <a:schemeClr val="dk1"/>
                </a:solidFill>
                <a:latin typeface="Calibri"/>
                <a:ea typeface="Calibri"/>
                <a:cs typeface="Calibri"/>
                <a:sym typeface="Calibri"/>
              </a:rPr>
              <a:t>Slide 5 </a:t>
            </a:r>
            <a:r>
              <a:rPr lang="en" sz="1200">
                <a:solidFill>
                  <a:schemeClr val="dk1"/>
                </a:solidFill>
                <a:latin typeface="Calibri"/>
                <a:ea typeface="Calibri"/>
                <a:cs typeface="Calibri"/>
                <a:sym typeface="Calibri"/>
              </a:rPr>
              <a:t>ask students to get into groups of three (preferably). These will be the groups that they work with through the remainder of their project.</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If you prefer, pre-select which students will be working together.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4b47f3643b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4b47f3643b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6</a:t>
            </a:r>
            <a:r>
              <a:rPr lang="en" sz="1200">
                <a:solidFill>
                  <a:schemeClr val="dk1"/>
                </a:solidFill>
                <a:latin typeface="Calibri"/>
                <a:ea typeface="Calibri"/>
                <a:cs typeface="Calibri"/>
                <a:sym typeface="Calibri"/>
              </a:rPr>
              <a:t>, where students are introduced to their digital </a:t>
            </a:r>
            <a:r>
              <a:rPr lang="en" sz="120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Science Journal</a:t>
            </a:r>
            <a:r>
              <a:rPr lang="en" sz="1200">
                <a:solidFill>
                  <a:schemeClr val="dk1"/>
                </a:solidFill>
                <a:latin typeface="Calibri"/>
                <a:ea typeface="Calibri"/>
                <a:cs typeface="Calibri"/>
                <a:sym typeface="Calibri"/>
              </a:rPr>
              <a:t>. Their Science Journal will be used as a central document to share instructional tasks, capture their reflections, and provide brainstorming documents throughout the lessons.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4eb829474b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4eb82947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7 </a:t>
            </a:r>
            <a:r>
              <a:rPr lang="en" sz="1200">
                <a:solidFill>
                  <a:schemeClr val="dk1"/>
                </a:solidFill>
                <a:latin typeface="Calibri"/>
                <a:ea typeface="Calibri"/>
                <a:cs typeface="Calibri"/>
                <a:sym typeface="Calibri"/>
              </a:rPr>
              <a:t>and tell students that their first team task is to reflect on some initial questions. Invite students to reflect in their groups on the following questions:</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 you interact with the ocean? What values do you place on the ocean?</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your community interact with the ocean? What values do they place on the ocean?</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impact do you think climate change will have on the way communities interact with the ocean? </a:t>
            </a:r>
            <a:endParaRPr sz="1200">
              <a:solidFill>
                <a:schemeClr val="dk1"/>
              </a:solidFill>
              <a:latin typeface="Calibri"/>
              <a:ea typeface="Calibri"/>
              <a:cs typeface="Calibri"/>
              <a:sym typeface="Calibri"/>
            </a:endParaRPr>
          </a:p>
          <a:p>
            <a:pPr marL="9144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200" b="1">
                <a:solidFill>
                  <a:schemeClr val="dk1"/>
                </a:solidFill>
                <a:latin typeface="Calibri"/>
                <a:ea typeface="Calibri"/>
                <a:cs typeface="Calibri"/>
                <a:sym typeface="Calibri"/>
              </a:rPr>
              <a:t>As students discuss in their groups, walk around and observe the topics being discussed. If needed, provide additional probing questions to keep the conversation going. </a:t>
            </a:r>
            <a:endParaRPr sz="1200" b="1">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 you think the oceans are important to you or the people you know? Why or why not?</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activities might you or the people you know do at the ocean?</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Could the activities people do change over time with climate change? How?</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have you heard happen to our ocean communities due to climate change events (e.g. rising sea levels, extreme weather)?</a:t>
            </a:r>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4b47f3643b_0_1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4b47f3643b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time winds down, invite students to gather back together for a class discussion. Advance to </a:t>
            </a:r>
            <a:r>
              <a:rPr lang="en" sz="1200" b="1">
                <a:solidFill>
                  <a:schemeClr val="dk1"/>
                </a:solidFill>
                <a:latin typeface="Calibri"/>
                <a:ea typeface="Calibri"/>
                <a:cs typeface="Calibri"/>
                <a:sym typeface="Calibri"/>
              </a:rPr>
              <a:t>Slide 8</a:t>
            </a:r>
            <a:r>
              <a:rPr lang="en" sz="1200">
                <a:solidFill>
                  <a:schemeClr val="dk1"/>
                </a:solidFill>
                <a:latin typeface="Calibri"/>
                <a:ea typeface="Calibri"/>
                <a:cs typeface="Calibri"/>
                <a:sym typeface="Calibri"/>
              </a:rPr>
              <a:t> and share the following questions. </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did you and your team discuss?</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is the ocean important to you or others in your community?</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types of challenges may the ocean face?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4b47f3643b_0_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4b47f3643b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a:t>
            </a:r>
            <a:r>
              <a:rPr lang="en" sz="1200" b="1">
                <a:solidFill>
                  <a:schemeClr val="dk1"/>
                </a:solidFill>
                <a:latin typeface="Calibri"/>
                <a:ea typeface="Calibri"/>
                <a:cs typeface="Calibri"/>
                <a:sym typeface="Calibri"/>
              </a:rPr>
              <a:t> Slide 9</a:t>
            </a:r>
            <a:r>
              <a:rPr lang="en" sz="1200">
                <a:solidFill>
                  <a:schemeClr val="dk1"/>
                </a:solidFill>
                <a:latin typeface="Calibri"/>
                <a:ea typeface="Calibri"/>
                <a:cs typeface="Calibri"/>
                <a:sym typeface="Calibri"/>
              </a:rPr>
              <a:t> to give students an overview of the day, researching how Southern California’s ocean may be impacted by climate change through Gemini (a generative AI tool) and Google (a search engine).</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Explain to students that in order to investigate how climate change is impacting the ocean, they will be exploring two types of tools, a search engine like Google, and a generative AI tool like Gemini.</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Since they are already familiar with searching for information through platforms like Google, tell students that they will begin by learning more about  generative artificial intelligence (or genAI). </a:t>
            </a: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4b47f3643b_0_6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4b47f3643b_0_6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To gauge what students may know about generative AI, advance to </a:t>
            </a:r>
            <a:r>
              <a:rPr lang="en" sz="1200" b="1">
                <a:solidFill>
                  <a:schemeClr val="dk1"/>
                </a:solidFill>
                <a:latin typeface="Calibri"/>
                <a:ea typeface="Calibri"/>
                <a:cs typeface="Calibri"/>
                <a:sym typeface="Calibri"/>
              </a:rPr>
              <a:t>Slide 10</a:t>
            </a:r>
            <a:r>
              <a:rPr lang="en" sz="1200">
                <a:solidFill>
                  <a:schemeClr val="dk1"/>
                </a:solidFill>
                <a:latin typeface="Calibri"/>
                <a:ea typeface="Calibri"/>
                <a:cs typeface="Calibri"/>
                <a:sym typeface="Calibri"/>
              </a:rPr>
              <a:t> and ask:</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 you know any platforms that are considered Generative AI? What are they?</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these platforms do? What can they generate? </a:t>
            </a:r>
            <a:r>
              <a:rPr lang="en" sz="1200" i="1">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914400" lvl="0" indent="0" algn="l" rtl="0">
              <a:lnSpc>
                <a:spcPct val="115000"/>
              </a:lnSpc>
              <a:spcBef>
                <a:spcPts val="0"/>
              </a:spcBef>
              <a:spcAft>
                <a:spcPts val="0"/>
              </a:spcAft>
              <a:buClr>
                <a:schemeClr val="dk1"/>
              </a:buClr>
              <a:buSzPts val="1100"/>
              <a:buFont typeface="Arial"/>
              <a:buNone/>
            </a:pPr>
            <a:r>
              <a:rPr lang="en" sz="1200" i="1">
                <a:solidFill>
                  <a:schemeClr val="dk1"/>
                </a:solidFill>
                <a:latin typeface="Calibri"/>
                <a:ea typeface="Calibri"/>
                <a:cs typeface="Calibri"/>
                <a:sym typeface="Calibri"/>
              </a:rPr>
              <a:t>Students may share examples like ChatGPT, Bing, MagicSchoolAI, etc. as potential platforms and share that they can provide text, images, or simply, answers.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4b47f3643b_0_6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4b47f3643b_0_6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11</a:t>
            </a:r>
            <a:r>
              <a:rPr lang="en" sz="1200">
                <a:solidFill>
                  <a:schemeClr val="dk1"/>
                </a:solidFill>
                <a:latin typeface="Calibri"/>
                <a:ea typeface="Calibri"/>
                <a:cs typeface="Calibri"/>
                <a:sym typeface="Calibri"/>
              </a:rPr>
              <a:t>, and share that Generative AI is a type of machine intelligence that can create (or generate) new content, such as text, images, music, or video.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4b47f3643b_0_7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4b47f3643b_0_7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Watch the video from 00:00 - 01:12 to provide an overview of large language models. </a:t>
            </a:r>
            <a:r>
              <a:rPr lang="en" u="sng">
                <a:solidFill>
                  <a:schemeClr val="hlink"/>
                </a:solidFill>
                <a:hlinkClick r:id="rId3"/>
              </a:rPr>
              <a:t>https://www.youtube.com/watch?v=LPZh9BOjkQs&amp;t=1s&amp;ab_channel=3Blue1Brown</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12</a:t>
            </a:r>
            <a:r>
              <a:rPr lang="en" sz="1200">
                <a:solidFill>
                  <a:schemeClr val="dk1"/>
                </a:solidFill>
                <a:latin typeface="Calibri"/>
                <a:ea typeface="Calibri"/>
                <a:cs typeface="Calibri"/>
                <a:sym typeface="Calibri"/>
              </a:rPr>
              <a:t> and inform students that they will interact specifically with Large Language Models (LLM), a form of generative AI that can generate text. To understand how LLMs work, they will explore it by  </a:t>
            </a:r>
            <a:r>
              <a:rPr lang="en" sz="12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watching a video</a:t>
            </a:r>
            <a:r>
              <a:rPr lang="en" sz="1200">
                <a:solidFill>
                  <a:schemeClr val="dk1"/>
                </a:solidFill>
                <a:latin typeface="Calibri"/>
                <a:ea typeface="Calibri"/>
                <a:cs typeface="Calibri"/>
                <a:sym typeface="Calibri"/>
              </a:rPr>
              <a:t>. [0:00 - 1:12; watch the video from the beginning to the </a:t>
            </a:r>
            <a:r>
              <a:rPr lang="en" sz="1200" b="1">
                <a:solidFill>
                  <a:schemeClr val="dk1"/>
                </a:solidFill>
                <a:latin typeface="Calibri"/>
                <a:ea typeface="Calibri"/>
                <a:cs typeface="Calibri"/>
                <a:sym typeface="Calibri"/>
              </a:rPr>
              <a:t>1:12 </a:t>
            </a:r>
            <a:r>
              <a:rPr lang="en" sz="1200">
                <a:solidFill>
                  <a:schemeClr val="dk1"/>
                </a:solidFill>
                <a:latin typeface="Calibri"/>
                <a:ea typeface="Calibri"/>
                <a:cs typeface="Calibri"/>
                <a:sym typeface="Calibri"/>
              </a:rPr>
              <a:t>mark]</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4eb829474b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4eb829474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students have watched the video, move on to </a:t>
            </a:r>
            <a:r>
              <a:rPr lang="en" sz="1200" b="1">
                <a:solidFill>
                  <a:schemeClr val="dk1"/>
                </a:solidFill>
                <a:latin typeface="Calibri"/>
                <a:ea typeface="Calibri"/>
                <a:cs typeface="Calibri"/>
                <a:sym typeface="Calibri"/>
              </a:rPr>
              <a:t>Slide 13 </a:t>
            </a:r>
            <a:r>
              <a:rPr lang="en" sz="1200">
                <a:solidFill>
                  <a:schemeClr val="dk1"/>
                </a:solidFill>
                <a:latin typeface="Calibri"/>
                <a:ea typeface="Calibri"/>
                <a:cs typeface="Calibri"/>
                <a:sym typeface="Calibri"/>
              </a:rPr>
              <a:t>and ask the following questions: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are large language models? What makes them “large”?</a:t>
            </a:r>
            <a:endParaRPr sz="1200">
              <a:solidFill>
                <a:schemeClr val="dk1"/>
              </a:solidFill>
              <a:latin typeface="Calibri"/>
              <a:ea typeface="Calibri"/>
              <a:cs typeface="Calibri"/>
              <a:sym typeface="Calibri"/>
            </a:endParaRPr>
          </a:p>
          <a:p>
            <a:pPr marL="914400" lvl="0" indent="0" algn="l" rtl="0">
              <a:lnSpc>
                <a:spcPct val="115000"/>
              </a:lnSpc>
              <a:spcBef>
                <a:spcPts val="0"/>
              </a:spcBef>
              <a:spcAft>
                <a:spcPts val="0"/>
              </a:spcAft>
              <a:buClr>
                <a:schemeClr val="dk1"/>
              </a:buClr>
              <a:buSzPts val="1100"/>
              <a:buFont typeface="Arial"/>
              <a:buNone/>
            </a:pPr>
            <a:r>
              <a:rPr lang="en" sz="1200" i="1">
                <a:solidFill>
                  <a:schemeClr val="dk1"/>
                </a:solidFill>
                <a:latin typeface="Calibri"/>
                <a:ea typeface="Calibri"/>
                <a:cs typeface="Calibri"/>
                <a:sym typeface="Calibri"/>
              </a:rPr>
              <a:t>Large Language Models are trained on a very large amount of text data often pulled from the Internet. If a human was to read the text used to train the current version of ChatGPT, it’d take about 3500 years</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we were building a chatbot model to sound like you, what types of data could the chatbot be trained on? </a:t>
            </a:r>
            <a:endParaRPr sz="1200">
              <a:solidFill>
                <a:schemeClr val="dk1"/>
              </a:solidFill>
              <a:latin typeface="Calibri"/>
              <a:ea typeface="Calibri"/>
              <a:cs typeface="Calibri"/>
              <a:sym typeface="Calibri"/>
            </a:endParaRPr>
          </a:p>
          <a:p>
            <a:pPr marL="914400" lvl="0" indent="0" algn="l" rtl="0">
              <a:lnSpc>
                <a:spcPct val="115000"/>
              </a:lnSpc>
              <a:spcBef>
                <a:spcPts val="0"/>
              </a:spcBef>
              <a:spcAft>
                <a:spcPts val="0"/>
              </a:spcAft>
              <a:buNone/>
            </a:pPr>
            <a:r>
              <a:rPr lang="en" sz="1200" i="1">
                <a:solidFill>
                  <a:schemeClr val="dk1"/>
                </a:solidFill>
                <a:latin typeface="Calibri"/>
                <a:ea typeface="Calibri"/>
                <a:cs typeface="Calibri"/>
                <a:sym typeface="Calibri"/>
              </a:rPr>
              <a:t>The chatbots would be trained on your daily conversations and written text, so it can predict the words to sound like you.</a:t>
            </a:r>
            <a:endParaRPr sz="1200" i="1">
              <a:solidFill>
                <a:schemeClr val="dk1"/>
              </a:solidFill>
              <a:latin typeface="Calibri"/>
              <a:ea typeface="Calibri"/>
              <a:cs typeface="Calibri"/>
              <a:sym typeface="Calibri"/>
            </a:endParaRPr>
          </a:p>
          <a:p>
            <a:pPr marL="914400" lvl="0" indent="0" algn="l" rtl="0">
              <a:lnSpc>
                <a:spcPct val="115000"/>
              </a:lnSpc>
              <a:spcBef>
                <a:spcPts val="0"/>
              </a:spcBef>
              <a:spcAft>
                <a:spcPts val="0"/>
              </a:spcAft>
              <a:buNone/>
            </a:pPr>
            <a:endParaRPr sz="1200" i="1">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Explain to students that their team's task is to search for information on how climate change is impacting the ocean in Southern California using a large language model (e.g., </a:t>
            </a:r>
            <a:r>
              <a:rPr lang="en" sz="120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Gemini</a:t>
            </a:r>
            <a:r>
              <a:rPr lang="en" sz="1200">
                <a:solidFill>
                  <a:schemeClr val="dk1"/>
                </a:solidFill>
                <a:latin typeface="Calibri"/>
                <a:ea typeface="Calibri"/>
                <a:cs typeface="Calibri"/>
                <a:sym typeface="Calibri"/>
              </a:rPr>
              <a:t>) and Google search.</a:t>
            </a:r>
            <a:endParaRPr sz="1200" i="1">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4eb829474b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4eb829474b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Before they begin searching, advance to</a:t>
            </a:r>
            <a:r>
              <a:rPr lang="en" sz="1200" b="1">
                <a:solidFill>
                  <a:schemeClr val="dk1"/>
                </a:solidFill>
                <a:latin typeface="Calibri"/>
                <a:ea typeface="Calibri"/>
                <a:cs typeface="Calibri"/>
                <a:sym typeface="Calibri"/>
              </a:rPr>
              <a:t> Slide 14</a:t>
            </a:r>
            <a:r>
              <a:rPr lang="en" sz="1200">
                <a:solidFill>
                  <a:schemeClr val="dk1"/>
                </a:solidFill>
                <a:latin typeface="Calibri"/>
                <a:ea typeface="Calibri"/>
                <a:cs typeface="Calibri"/>
                <a:sym typeface="Calibri"/>
              </a:rPr>
              <a:t>, where students will see the CLEAR framework, a framework used to effectively create question prompts for generative AI. Share that an effective question follows the CLEAR framework and is: </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C</a:t>
            </a:r>
            <a:r>
              <a:rPr lang="en" sz="1200">
                <a:solidFill>
                  <a:schemeClr val="dk1"/>
                </a:solidFill>
                <a:latin typeface="Calibri"/>
                <a:ea typeface="Calibri"/>
                <a:cs typeface="Calibri"/>
                <a:sym typeface="Calibri"/>
              </a:rPr>
              <a:t>oncise: uses only essential words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L</a:t>
            </a:r>
            <a:r>
              <a:rPr lang="en" sz="1200">
                <a:solidFill>
                  <a:schemeClr val="dk1"/>
                </a:solidFill>
                <a:latin typeface="Calibri"/>
                <a:ea typeface="Calibri"/>
                <a:cs typeface="Calibri"/>
                <a:sym typeface="Calibri"/>
              </a:rPr>
              <a:t>ogical: has a logical and structured order to your prompt</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E</a:t>
            </a:r>
            <a:r>
              <a:rPr lang="en" sz="1200">
                <a:solidFill>
                  <a:schemeClr val="dk1"/>
                </a:solidFill>
                <a:latin typeface="Calibri"/>
                <a:ea typeface="Calibri"/>
                <a:cs typeface="Calibri"/>
                <a:sym typeface="Calibri"/>
              </a:rPr>
              <a:t>xplicit: provides exact instructions about your desired result</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A</a:t>
            </a:r>
            <a:r>
              <a:rPr lang="en" sz="1200">
                <a:solidFill>
                  <a:schemeClr val="dk1"/>
                </a:solidFill>
                <a:latin typeface="Calibri"/>
                <a:ea typeface="Calibri"/>
                <a:cs typeface="Calibri"/>
                <a:sym typeface="Calibri"/>
              </a:rPr>
              <a:t>daptive: provides room to further the conversation or make improvements to your question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R</a:t>
            </a:r>
            <a:r>
              <a:rPr lang="en" sz="1200">
                <a:solidFill>
                  <a:schemeClr val="dk1"/>
                </a:solidFill>
                <a:latin typeface="Calibri"/>
                <a:ea typeface="Calibri"/>
                <a:cs typeface="Calibri"/>
                <a:sym typeface="Calibri"/>
              </a:rPr>
              <a:t>eflective: provides space to interpret the result and make sense of it. Does the provided answer make sense?</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See T</a:t>
            </a:r>
            <a:r>
              <a:rPr lang="en" sz="1200" u="sng">
                <a:solidFill>
                  <a:schemeClr val="hlink"/>
                </a:solidFill>
                <a:latin typeface="Calibri"/>
                <a:ea typeface="Calibri"/>
                <a:cs typeface="Calibri"/>
                <a:sym typeface="Calibri"/>
                <a:hlinkClick r:id="rId3"/>
              </a:rPr>
              <a:t>eacher Facilitation Guide</a:t>
            </a:r>
            <a:r>
              <a:rPr lang="en" sz="1200">
                <a:solidFill>
                  <a:schemeClr val="dk1"/>
                </a:solidFill>
                <a:latin typeface="Calibri"/>
                <a:ea typeface="Calibri"/>
                <a:cs typeface="Calibri"/>
                <a:sym typeface="Calibri"/>
              </a:rPr>
              <a:t> (Under Content Review and Core Concepts) for guiding questions on CLEAR Framework.</a:t>
            </a:r>
            <a:endParaRPr sz="12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4eed52c1aa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4eed52c1aa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To see an example of a question that uses the CLEAR framework, advance to </a:t>
            </a:r>
            <a:r>
              <a:rPr lang="en" sz="1200" b="1">
                <a:solidFill>
                  <a:schemeClr val="dk1"/>
                </a:solidFill>
                <a:latin typeface="Calibri"/>
                <a:ea typeface="Calibri"/>
                <a:cs typeface="Calibri"/>
                <a:sym typeface="Calibri"/>
              </a:rPr>
              <a:t>Slide 15</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4b47f3643b_0_7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4b47f3643b_0_7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16</a:t>
            </a:r>
            <a:r>
              <a:rPr lang="en" sz="1200">
                <a:solidFill>
                  <a:schemeClr val="dk1"/>
                </a:solidFill>
                <a:latin typeface="Calibri"/>
                <a:ea typeface="Calibri"/>
                <a:cs typeface="Calibri"/>
                <a:sym typeface="Calibri"/>
              </a:rPr>
              <a:t> and share a final few tips that students should keep in mind while searching for information:</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Consider the accuracy of the source. Is the information provided accurate or outdated?</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Check additional sources and make sure that the sources are reputable.</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the response is unclear, ask for clarification and examples.</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Test varying prompts or search terms to make sure that the answers are consistent.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4b47f3643b_0_7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4b47f3643b_0_7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17 </a:t>
            </a:r>
            <a:r>
              <a:rPr lang="en" sz="1200">
                <a:solidFill>
                  <a:schemeClr val="dk1"/>
                </a:solidFill>
                <a:latin typeface="Calibri"/>
                <a:ea typeface="Calibri"/>
                <a:cs typeface="Calibri"/>
                <a:sym typeface="Calibri"/>
              </a:rPr>
              <a:t>and invite students to start using both generative AI (Gemini) and Google to investigate how climate change is impacting the ocean. </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Remind students to keep the following questions in mind during their search:</a:t>
            </a:r>
            <a:endParaRPr sz="1200">
              <a:solidFill>
                <a:schemeClr val="dk1"/>
              </a:solidFill>
              <a:latin typeface="Calibri"/>
              <a:ea typeface="Calibri"/>
              <a:cs typeface="Calibri"/>
              <a:sym typeface="Calibri"/>
            </a:endParaRPr>
          </a:p>
          <a:p>
            <a:pPr marL="8572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has climate change impacted the ocean in Southern California over time?</a:t>
            </a:r>
            <a:endParaRPr sz="1200">
              <a:solidFill>
                <a:schemeClr val="dk1"/>
              </a:solidFill>
              <a:latin typeface="Calibri"/>
              <a:ea typeface="Calibri"/>
              <a:cs typeface="Calibri"/>
              <a:sym typeface="Calibri"/>
            </a:endParaRPr>
          </a:p>
          <a:p>
            <a:pPr marL="8572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might climate change impact the way communities connect with the ocean? </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If student teams have not done so, invite them to test both platforms using similar questions to investigate the similarities and differences in responses.</a:t>
            </a:r>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4b47f3643b_0_7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4b47f3643b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finish their information search, bring the class back together to share what they have learned. </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Move forward to </a:t>
            </a:r>
            <a:r>
              <a:rPr lang="en" sz="1200" b="1">
                <a:solidFill>
                  <a:schemeClr val="dk1"/>
                </a:solidFill>
                <a:latin typeface="Calibri"/>
                <a:ea typeface="Calibri"/>
                <a:cs typeface="Calibri"/>
                <a:sym typeface="Calibri"/>
              </a:rPr>
              <a:t>Slide 18</a:t>
            </a:r>
            <a:r>
              <a:rPr lang="en" sz="1200">
                <a:solidFill>
                  <a:schemeClr val="dk1"/>
                </a:solidFill>
                <a:latin typeface="Calibri"/>
                <a:ea typeface="Calibri"/>
                <a:cs typeface="Calibri"/>
                <a:sym typeface="Calibri"/>
              </a:rPr>
              <a:t> and invite students to share their experiences on the differences in the interactions and outputs between using Gemini versus Google. </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Consider the following questions to facilitate student discussion:</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platforms did you use?</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Was the way you searched for information different depending on the platform? How?</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type of responses did you get?</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did you evaluate if the information provided was accurate and reliable?</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think are the strengths and weaknesses of a generative AI platform like Gemini and a search engine like Google?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4b47f3643b_0_7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4b47f3643b_0_7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19</a:t>
            </a:r>
            <a:r>
              <a:rPr lang="en" sz="1200">
                <a:solidFill>
                  <a:schemeClr val="dk1"/>
                </a:solidFill>
                <a:latin typeface="Calibri"/>
                <a:ea typeface="Calibri"/>
                <a:cs typeface="Calibri"/>
                <a:sym typeface="Calibri"/>
              </a:rPr>
              <a:t> and invite students to add to their science journal, reflecting on what else they might need to know in order to develop a model that shows how climate change is affecting Southern California’s ocean.</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you finish up for the day, thank the students for their time and ask them to reflect on these questions on </a:t>
            </a:r>
            <a:r>
              <a:rPr lang="en" sz="1200" b="1" u="sng">
                <a:solidFill>
                  <a:schemeClr val="hlink"/>
                </a:solidFill>
                <a:latin typeface="Calibri"/>
                <a:ea typeface="Calibri"/>
                <a:cs typeface="Calibri"/>
                <a:sym typeface="Calibri"/>
                <a:hlinkClick r:id="rId3"/>
              </a:rPr>
              <a:t>Module 1.1: How is Our Ocean Changing? Student Reflection</a:t>
            </a:r>
            <a:r>
              <a:rPr lang="en" sz="1200" u="sng">
                <a:solidFill>
                  <a:schemeClr val="hlink"/>
                </a:solidFill>
                <a:latin typeface="Calibri"/>
                <a:ea typeface="Calibri"/>
                <a:cs typeface="Calibri"/>
                <a:sym typeface="Calibri"/>
                <a:hlinkClick r:id="rId3"/>
              </a:rPr>
              <a:t> (p. 2)</a:t>
            </a:r>
            <a:r>
              <a:rPr lang="en" sz="1200">
                <a:solidFill>
                  <a:schemeClr val="dk1"/>
                </a:solidFill>
                <a:latin typeface="Calibri"/>
                <a:ea typeface="Calibri"/>
                <a:cs typeface="Calibri"/>
                <a:sym typeface="Calibri"/>
              </a:rPr>
              <a:t> of their Science Journals:</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has your understanding of how climate change affects Southern California’s ocean changed after completing Module 1.1?</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information are you missing that can help you construct a model of how climate change is impacting Southern California’s ocean?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other sources or people could help you learn more information about what you want to know?</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4b47f3643b_0_8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4b47f3643b_0_8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a:t>
            </a:r>
            <a:r>
              <a:rPr lang="en" sz="1200" b="1">
                <a:solidFill>
                  <a:schemeClr val="dk1"/>
                </a:solidFill>
                <a:latin typeface="Calibri"/>
                <a:ea typeface="Calibri"/>
                <a:cs typeface="Calibri"/>
                <a:sym typeface="Calibri"/>
              </a:rPr>
              <a:t> Slide 20</a:t>
            </a:r>
            <a:r>
              <a:rPr lang="en" sz="1200">
                <a:solidFill>
                  <a:schemeClr val="dk1"/>
                </a:solidFill>
                <a:latin typeface="Calibri"/>
                <a:ea typeface="Calibri"/>
                <a:cs typeface="Calibri"/>
                <a:sym typeface="Calibri"/>
              </a:rPr>
              <a:t>. Thank the students for their time today. Recap with students that today, they used generative AI and search engines to gather information. Their goal by the end of their time with this project will be to construct a model showing how climate change is impacting Southern California’s ocean. To do so, their next step is to gather additional information by using a different source of data collection, such as interviews.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with footer">
  <p:cSld name="ONE_COLUMN_TEXT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rmAutofit lnSpcReduction="1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2" name="Google Shape;52;p13"/>
          <p:cNvSpPr txBox="1">
            <a:spLocks noGrp="1"/>
          </p:cNvSpPr>
          <p:nvPr>
            <p:ph type="title"/>
          </p:nvPr>
        </p:nvSpPr>
        <p:spPr>
          <a:xfrm>
            <a:off x="228600" y="2236650"/>
            <a:ext cx="3551400" cy="670200"/>
          </a:xfrm>
          <a:prstGeom prst="rect">
            <a:avLst/>
          </a:prstGeom>
        </p:spPr>
        <p:txBody>
          <a:bodyPr spcFirstLastPara="1" wrap="square" lIns="91425" tIns="91425" rIns="91425" bIns="91425" anchor="ctr" anchorCtr="0">
            <a:norm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53" name="Google Shape;53;p13"/>
          <p:cNvSpPr txBox="1">
            <a:spLocks noGrp="1"/>
          </p:cNvSpPr>
          <p:nvPr>
            <p:ph type="subTitle" idx="1"/>
          </p:nvPr>
        </p:nvSpPr>
        <p:spPr>
          <a:xfrm>
            <a:off x="4572000" y="1004700"/>
            <a:ext cx="4343400" cy="3134100"/>
          </a:xfrm>
          <a:prstGeom prst="rect">
            <a:avLst/>
          </a:prstGeom>
        </p:spPr>
        <p:txBody>
          <a:bodyPr spcFirstLastPara="1" wrap="square" lIns="91425" tIns="91425" rIns="91425" bIns="91425" anchor="t" anchorCtr="0">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3"/>
          <p:cNvSpPr txBox="1">
            <a:spLocks noGrp="1"/>
          </p:cNvSpPr>
          <p:nvPr>
            <p:ph type="body" idx="2"/>
          </p:nvPr>
        </p:nvSpPr>
        <p:spPr>
          <a:xfrm>
            <a:off x="228600" y="4679000"/>
            <a:ext cx="4343400" cy="3243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cxnSp>
        <p:nvCxnSpPr>
          <p:cNvPr id="55" name="Google Shape;55;p13"/>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dontchangethislink.peardeckmagic.zone?eyJ0eXBlIjoiZ29vZ2xlLXNsaWRlcy1hZGRvbi1yZXNwb25zZS1mb290ZXIiLCJsYXN0RWRpdGVkQnkiOiIxMDI4ODIwNTk2OTkzMjk2Mjk0NTQiLCJwcmVzZW50YXRpb25JZCI6IjEzMnZXM0dkdkNnTm5KZ2Mxc1h3eDFIbk1UeEgzSUI2ZDQ3dnVqMTdRRUVVIiwiY29udGVudElkIjoiY3VzdG9tLXJlc3BvbnNlLWZyZWVSZXNwb25zZS10ZXh0Iiwic2xpZGVJZCI6ImczNGViODI5NDc0Yl8wXzIzIiwiY29udGVudEluc3RhbmNlSWQiOiIxMzJ2VzNHZHZDZ05uSmdjMXNYd3gxSG5NVHhIM0lCNmQ0N3Z1ajE3UUVFVS80YmFlMjU4OC0zYWUwLTQ1YmUtYTQ2My05YTIxN2ZlMzM5ZTUifQ==pearId=magic-pear-metadata-identifier"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dontchangethislink.peardeckmagic.zone?eyJ0eXBlIjoiZ29vZ2xlLXNsaWRlcy1hZGRvbi1yZXNwb25zZS1mb290ZXIiLCJsYXN0RWRpdGVkQnkiOiIxMDI4ODIwNTk2OTkzMjk2Mjk0NTQiLCJwcmVzZW50YXRpb25JZCI6IjEzMnZXM0dkdkNnTm5KZ2Mxc1h3eDFIbk1UeEgzSUI2ZDQ3dnVqMTdRRUVVIiwiY29udGVudElkIjoiY3VzdG9tLXJlc3BvbnNlLWZyZWVSZXNwb25zZS10ZXh0Iiwic2xpZGVJZCI6ImczNGI0N2YzNjQzYl8wXzE5OSIsImNvbnRlbnRJbnN0YW5jZUlkIjoiMTMydlczR2R2Q2dObkpnYzFzWHd4MUhuTVR4SDNJQjZkNDd2dWoxN1FFRVUvOThjYmNhZDktOWM0Yy00MzAzLWI2YTktNzMwNDUxNDk0ZjJiIn0=pearId=magic-pear-metadata-identifier"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www.youtube.com/watch?v=LPZh9BOjkQs"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hyperlink" Target="http://dontchangethislink.peardeckmagic.zone?eyJ0eXBlIjoiZ29vZ2xlLXNsaWRlcy1hZGRvbi1yZXNwb25zZS1mb290ZXIiLCJsYXN0RWRpdGVkQnkiOiIxMDI4ODIwNTk2OTkzMjk2Mjk0NTQiLCJwcmVzZW50YXRpb25JZCI6IjEzMnZXM0dkdkNnTm5KZ2Mxc1h3eDFIbk1UeEgzSUI2ZDQ3dnVqMTdRRUVVIiwiY29udGVudElkIjoiY3VzdG9tLXJlc3BvbnNlLWZyZWVSZXNwb25zZS10ZXh0Iiwic2xpZGVJZCI6ImczNGViODI5NDc0Yl8wXzM5IiwiY29udGVudEluc3RhbmNlSWQiOiIxMzJ2VzNHZHZDZ05uSmdjMXNYd3gxSG5NVHhIM0lCNmQ0N3Z1ajE3UUVFVS83MzYzY2FkMy0zNmQzLTQ1ZGItOGZkOC0yODdlODM4MTVjNDAifQ==pearId=magic-pear-metadata-identifier"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dontchangethislink.peardeckmagic.zone?eyJ0eXBlIjoiZ29vZ2xlLXNsaWRlcy1hZGRvbi1yZXNwb25zZS1mb290ZXIiLCJsYXN0RWRpdGVkQnkiOiIxMDI4ODIwNTk2OTkzMjk2Mjk0NTQiLCJwcmVzZW50YXRpb25JZCI6IjEzMnZXM0dkdkNnTm5KZ2Mxc1h3eDFIbk1UeEgzSUI2ZDQ3dnVqMTdRRUVVIiwiY29udGVudElkIjoiY3VzdG9tLXJlc3BvbnNlLWZyZWVSZXNwb25zZS10ZXh0Iiwic2xpZGVJZCI6ImczNGVlZDUyYzFhYV8wXzQ2IiwiY29udGVudEluc3RhbmNlSWQiOiIxMzJ2VzNHZHZDZ05uSmdjMXNYd3gxSG5NVHhIM0lCNmQ0N3Z1ajE3UUVFVS81Y2Q4NmE3Mi0zNGM3LTRlM2YtYmY5ZS02ZTgxZTU0N2E3ZmEifQ==pearId=magic-pear-metadata-identifier"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dontchangethislink.peardeckmagic.zone?eyJ0eXBlIjoiZ29vZ2xlLXNsaWRlcy1hZGRvbi1yZXNwb25zZS1mb290ZXIiLCJsYXN0RWRpdGVkQnkiOiIxMDI4ODIwNTk2OTkzMjk2Mjk0NTQiLCJwcmVzZW50YXRpb25JZCI6IjEzMnZXM0dkdkNnTm5KZ2Mxc1h3eDFIbk1UeEgzSUI2ZDQ3dnVqMTdRRUVVIiwiY29udGVudElkIjoiY3VzdG9tLXJlc3BvbnNlLWZyZWVSZXNwb25zZS10ZXh0Iiwic2xpZGVJZCI6ImczNGI0N2YzNjQzYl8wXzczNyIsImNvbnRlbnRJbnN0YW5jZUlkIjoiMTMydlczR2R2Q2dObkpnYzFzWHd4MUhuTVR4SDNJQjZkNDd2dWoxN1FFRVUvOTQ2NTE5Y2ItMTVkMi00YzI0LTkwMzctYzU0MzE5Y2E3ZDc3In0=pearId=magic-pear-metadata-identifier"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454425" y="1435725"/>
            <a:ext cx="3551400" cy="1010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3100" b="1">
                <a:solidFill>
                  <a:srgbClr val="541900"/>
                </a:solidFill>
              </a:rPr>
              <a:t>How is Our Ocean Changing?</a:t>
            </a:r>
            <a:endParaRPr sz="3100" b="1">
              <a:solidFill>
                <a:srgbClr val="541900"/>
              </a:solidFill>
            </a:endParaRPr>
          </a:p>
        </p:txBody>
      </p:sp>
      <p:sp>
        <p:nvSpPr>
          <p:cNvPr id="61" name="Google Shape;61;p14"/>
          <p:cNvSpPr txBox="1">
            <a:spLocks noGrp="1"/>
          </p:cNvSpPr>
          <p:nvPr>
            <p:ph type="body" idx="4294967295"/>
          </p:nvPr>
        </p:nvSpPr>
        <p:spPr>
          <a:xfrm>
            <a:off x="2116425" y="2445775"/>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1200"/>
              </a:spcAft>
              <a:buNone/>
            </a:pPr>
            <a:r>
              <a:rPr lang="en" sz="1200">
                <a:solidFill>
                  <a:srgbClr val="355E3B"/>
                </a:solidFill>
                <a:latin typeface="Arial"/>
                <a:ea typeface="Arial"/>
                <a:cs typeface="Arial"/>
                <a:sym typeface="Arial"/>
              </a:rPr>
              <a:t>Module </a:t>
            </a:r>
            <a:r>
              <a:rPr lang="en" sz="1200">
                <a:solidFill>
                  <a:srgbClr val="355E3B"/>
                </a:solidFill>
              </a:rPr>
              <a:t>1.1</a:t>
            </a:r>
            <a:endParaRPr sz="1200">
              <a:solidFill>
                <a:srgbClr val="355E3B"/>
              </a:solidFill>
              <a:latin typeface="Arial"/>
              <a:ea typeface="Arial"/>
              <a:cs typeface="Arial"/>
              <a:sym typeface="Arial"/>
            </a:endParaRPr>
          </a:p>
        </p:txBody>
      </p:sp>
      <p:sp>
        <p:nvSpPr>
          <p:cNvPr id="62" name="Google Shape;62;p14"/>
          <p:cNvSpPr/>
          <p:nvPr/>
        </p:nvSpPr>
        <p:spPr>
          <a:xfrm>
            <a:off x="4919100" y="2400"/>
            <a:ext cx="4224900" cy="5143500"/>
          </a:xfrm>
          <a:prstGeom prst="rect">
            <a:avLst/>
          </a:prstGeom>
          <a:solidFill>
            <a:srgbClr val="9FA61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p>
        </p:txBody>
      </p:sp>
      <p:pic>
        <p:nvPicPr>
          <p:cNvPr id="63" name="Google Shape;63;p14" title="PXL_20231129_163549125.MP~2.jpg"/>
          <p:cNvPicPr preferRelativeResize="0"/>
          <p:nvPr/>
        </p:nvPicPr>
        <p:blipFill rotWithShape="1">
          <a:blip r:embed="rId3">
            <a:alphaModFix/>
          </a:blip>
          <a:srcRect l="25750"/>
          <a:stretch/>
        </p:blipFill>
        <p:spPr>
          <a:xfrm>
            <a:off x="4207625" y="2400"/>
            <a:ext cx="5072527" cy="5166359"/>
          </a:xfrm>
          <a:prstGeom prst="rect">
            <a:avLst/>
          </a:prstGeom>
          <a:noFill/>
          <a:ln>
            <a:noFill/>
          </a:ln>
        </p:spPr>
      </p:pic>
      <p:sp>
        <p:nvSpPr>
          <p:cNvPr id="64" name="Google Shape;64;p14"/>
          <p:cNvSpPr txBox="1"/>
          <p:nvPr/>
        </p:nvSpPr>
        <p:spPr>
          <a:xfrm>
            <a:off x="2492525" y="4640425"/>
            <a:ext cx="1490700" cy="6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rPr>
              <a:t>Crystal Cove State Park</a:t>
            </a:r>
            <a:endParaRPr sz="800" b="1">
              <a:solidFill>
                <a:schemeClr val="dk2"/>
              </a:solidFill>
            </a:endParaRPr>
          </a:p>
          <a:p>
            <a:pPr marL="0" lvl="0" indent="0" algn="l" rtl="0">
              <a:spcBef>
                <a:spcPts val="0"/>
              </a:spcBef>
              <a:spcAft>
                <a:spcPts val="0"/>
              </a:spcAft>
              <a:buNone/>
            </a:pPr>
            <a:r>
              <a:rPr lang="en" sz="800" b="1">
                <a:solidFill>
                  <a:schemeClr val="dk2"/>
                </a:solidFill>
              </a:rPr>
              <a:t>Newport Beach, California</a:t>
            </a:r>
            <a:endParaRPr sz="800" b="1">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68"/>
        <p:cNvGrpSpPr/>
        <p:nvPr/>
      </p:nvGrpSpPr>
      <p:grpSpPr>
        <a:xfrm>
          <a:off x="0" y="0"/>
          <a:ext cx="0" cy="0"/>
          <a:chOff x="0" y="0"/>
          <a:chExt cx="0" cy="0"/>
        </a:xfrm>
      </p:grpSpPr>
      <p:sp>
        <p:nvSpPr>
          <p:cNvPr id="69" name="Google Shape;69;p15"/>
          <p:cNvSpPr txBox="1">
            <a:spLocks noGrp="1"/>
          </p:cNvSpPr>
          <p:nvPr>
            <p:ph type="body" idx="1"/>
          </p:nvPr>
        </p:nvSpPr>
        <p:spPr>
          <a:xfrm>
            <a:off x="2941350" y="1222350"/>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rgbClr val="355E3B"/>
                </a:solidFill>
              </a:rPr>
              <a:t>About the AISciComm Program:</a:t>
            </a:r>
            <a:endParaRPr sz="2100">
              <a:solidFill>
                <a:srgbClr val="355E3B"/>
              </a:solidFill>
            </a:endParaRPr>
          </a:p>
          <a:p>
            <a:pPr marL="0" lvl="0" indent="0" algn="l" rtl="0">
              <a:spcBef>
                <a:spcPts val="1200"/>
              </a:spcBef>
              <a:spcAft>
                <a:spcPts val="1200"/>
              </a:spcAft>
              <a:buNone/>
            </a:pPr>
            <a:endParaRPr sz="1500" i="1">
              <a:solidFill>
                <a:schemeClr val="dk1"/>
              </a:solidFill>
            </a:endParaRPr>
          </a:p>
        </p:txBody>
      </p:sp>
      <p:sp>
        <p:nvSpPr>
          <p:cNvPr id="70" name="Google Shape;70;p15"/>
          <p:cNvSpPr txBox="1">
            <a:spLocks noGrp="1"/>
          </p:cNvSpPr>
          <p:nvPr>
            <p:ph type="title"/>
          </p:nvPr>
        </p:nvSpPr>
        <p:spPr>
          <a:xfrm>
            <a:off x="2902500" y="64025"/>
            <a:ext cx="6253500" cy="112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rgbClr val="541900"/>
                </a:solidFill>
              </a:rPr>
              <a:t>Agents for Inclusive Science Communication (AISciComm)</a:t>
            </a:r>
            <a:endParaRPr sz="3300" b="1">
              <a:solidFill>
                <a:srgbClr val="541900"/>
              </a:solidFill>
            </a:endParaRPr>
          </a:p>
        </p:txBody>
      </p:sp>
      <p:sp>
        <p:nvSpPr>
          <p:cNvPr id="71" name="Google Shape;71;p15"/>
          <p:cNvSpPr txBox="1">
            <a:spLocks noGrp="1"/>
          </p:cNvSpPr>
          <p:nvPr>
            <p:ph type="body" idx="2"/>
          </p:nvPr>
        </p:nvSpPr>
        <p:spPr>
          <a:xfrm>
            <a:off x="2941350" y="1566450"/>
            <a:ext cx="6253500" cy="2948100"/>
          </a:xfrm>
          <a:prstGeom prst="rect">
            <a:avLst/>
          </a:prstGeom>
        </p:spPr>
        <p:txBody>
          <a:bodyPr spcFirstLastPara="1" wrap="square" lIns="91425" tIns="91425" rIns="91425" bIns="91425" anchor="t" anchorCtr="0">
            <a:normAutofit/>
          </a:bodyPr>
          <a:lstStyle/>
          <a:p>
            <a:pPr marL="457200" lvl="0" indent="-355600" algn="l" rtl="0">
              <a:lnSpc>
                <a:spcPct val="100000"/>
              </a:lnSpc>
              <a:spcBef>
                <a:spcPts val="0"/>
              </a:spcBef>
              <a:spcAft>
                <a:spcPts val="0"/>
              </a:spcAft>
              <a:buClr>
                <a:srgbClr val="541900"/>
              </a:buClr>
              <a:buSzPts val="2000"/>
              <a:buFont typeface="Arial"/>
              <a:buChar char="●"/>
            </a:pPr>
            <a:r>
              <a:rPr lang="en" sz="2000">
                <a:solidFill>
                  <a:schemeClr val="dk1"/>
                </a:solidFill>
              </a:rPr>
              <a:t>This research project explores how climate change is affecting Southern California’s ocean and how different tools such as generative AI models can help us investigate scientific questions.</a:t>
            </a:r>
            <a:br>
              <a:rPr lang="en" sz="2000">
                <a:solidFill>
                  <a:schemeClr val="dk1"/>
                </a:solidFill>
              </a:rPr>
            </a:br>
            <a:endParaRPr sz="2000">
              <a:solidFill>
                <a:schemeClr val="dk1"/>
              </a:solidFill>
            </a:endParaRPr>
          </a:p>
          <a:p>
            <a:pPr marL="457200" lvl="0" indent="-355600" algn="l" rtl="0">
              <a:lnSpc>
                <a:spcPct val="100000"/>
              </a:lnSpc>
              <a:spcBef>
                <a:spcPts val="0"/>
              </a:spcBef>
              <a:spcAft>
                <a:spcPts val="0"/>
              </a:spcAft>
              <a:buClr>
                <a:srgbClr val="541900"/>
              </a:buClr>
              <a:buSzPts val="2000"/>
              <a:buFont typeface="Arial"/>
              <a:buChar char="●"/>
            </a:pPr>
            <a:r>
              <a:rPr lang="en" sz="2000">
                <a:solidFill>
                  <a:schemeClr val="dk1"/>
                </a:solidFill>
              </a:rPr>
              <a:t>We aim to evaluate if using an AI-guided approach can help improve our science communication skills and AI literacy.</a:t>
            </a:r>
            <a:endParaRPr sz="2000">
              <a:solidFill>
                <a:schemeClr val="dk1"/>
              </a:solidFill>
            </a:endParaRPr>
          </a:p>
        </p:txBody>
      </p:sp>
      <p:sp>
        <p:nvSpPr>
          <p:cNvPr id="72" name="Google Shape;72;p15"/>
          <p:cNvSpPr txBox="1">
            <a:spLocks noGrp="1"/>
          </p:cNvSpPr>
          <p:nvPr>
            <p:ph type="body" idx="1"/>
          </p:nvPr>
        </p:nvSpPr>
        <p:spPr>
          <a:xfrm>
            <a:off x="5633175" y="4514550"/>
            <a:ext cx="3190200" cy="512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2</a:t>
            </a:fld>
            <a:endParaRPr sz="1200">
              <a:solidFill>
                <a:srgbClr val="000000"/>
              </a:solidFill>
            </a:endParaRPr>
          </a:p>
          <a:p>
            <a:pPr marL="0" lvl="0" indent="0" algn="r" rtl="0">
              <a:spcBef>
                <a:spcPts val="1200"/>
              </a:spcBef>
              <a:spcAft>
                <a:spcPts val="1200"/>
              </a:spcAft>
              <a:buNone/>
            </a:pPr>
            <a:endParaRPr sz="1200">
              <a:solidFill>
                <a:schemeClr val="dk1"/>
              </a:solidFill>
            </a:endParaRPr>
          </a:p>
        </p:txBody>
      </p:sp>
      <p:pic>
        <p:nvPicPr>
          <p:cNvPr id="73" name="Google Shape;73;p15" title="image000000 (1).jpg"/>
          <p:cNvPicPr preferRelativeResize="0"/>
          <p:nvPr/>
        </p:nvPicPr>
        <p:blipFill rotWithShape="1">
          <a:blip r:embed="rId3">
            <a:alphaModFix/>
          </a:blip>
          <a:srcRect l="8664" r="12571"/>
          <a:stretch/>
        </p:blipFill>
        <p:spPr>
          <a:xfrm>
            <a:off x="159025" y="0"/>
            <a:ext cx="2666901" cy="4514550"/>
          </a:xfrm>
          <a:prstGeom prst="rect">
            <a:avLst/>
          </a:prstGeom>
          <a:noFill/>
          <a:ln>
            <a:noFill/>
          </a:ln>
        </p:spPr>
      </p:pic>
      <p:sp>
        <p:nvSpPr>
          <p:cNvPr id="74" name="Google Shape;74;p15"/>
          <p:cNvSpPr txBox="1"/>
          <p:nvPr/>
        </p:nvSpPr>
        <p:spPr>
          <a:xfrm>
            <a:off x="130325" y="4640425"/>
            <a:ext cx="1490700" cy="6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rPr>
              <a:t>Crystal Cove State Park</a:t>
            </a:r>
            <a:endParaRPr sz="800" b="1">
              <a:solidFill>
                <a:schemeClr val="dk2"/>
              </a:solidFill>
            </a:endParaRPr>
          </a:p>
          <a:p>
            <a:pPr marL="0" lvl="0" indent="0" algn="l" rtl="0">
              <a:spcBef>
                <a:spcPts val="0"/>
              </a:spcBef>
              <a:spcAft>
                <a:spcPts val="0"/>
              </a:spcAft>
              <a:buNone/>
            </a:pPr>
            <a:r>
              <a:rPr lang="en" sz="800" b="1">
                <a:solidFill>
                  <a:schemeClr val="dk2"/>
                </a:solidFill>
              </a:rPr>
              <a:t>Newport Beach, California</a:t>
            </a:r>
            <a:endParaRPr sz="800" b="1">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78"/>
        <p:cNvGrpSpPr/>
        <p:nvPr/>
      </p:nvGrpSpPr>
      <p:grpSpPr>
        <a:xfrm>
          <a:off x="0" y="0"/>
          <a:ext cx="0" cy="0"/>
          <a:chOff x="0" y="0"/>
          <a:chExt cx="0" cy="0"/>
        </a:xfrm>
      </p:grpSpPr>
      <p:sp>
        <p:nvSpPr>
          <p:cNvPr id="79" name="Google Shape;79;p16"/>
          <p:cNvSpPr txBox="1">
            <a:spLocks noGrp="1"/>
          </p:cNvSpPr>
          <p:nvPr>
            <p:ph type="body" idx="1"/>
          </p:nvPr>
        </p:nvSpPr>
        <p:spPr>
          <a:xfrm>
            <a:off x="311700" y="1341000"/>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rgbClr val="355E3B"/>
                </a:solidFill>
              </a:rPr>
              <a:t>AISciComm is a collaborative effort between the following organizations.</a:t>
            </a:r>
            <a:endParaRPr sz="2100">
              <a:solidFill>
                <a:srgbClr val="355E3B"/>
              </a:solidFill>
            </a:endParaRPr>
          </a:p>
          <a:p>
            <a:pPr marL="0" lvl="0" indent="0" algn="l" rtl="0">
              <a:spcBef>
                <a:spcPts val="1200"/>
              </a:spcBef>
              <a:spcAft>
                <a:spcPts val="1200"/>
              </a:spcAft>
              <a:buNone/>
            </a:pPr>
            <a:endParaRPr sz="1500" i="1">
              <a:solidFill>
                <a:schemeClr val="dk1"/>
              </a:solidFill>
            </a:endParaRPr>
          </a:p>
        </p:txBody>
      </p:sp>
      <p:sp>
        <p:nvSpPr>
          <p:cNvPr id="80" name="Google Shape;80;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Who is Involved?</a:t>
            </a:r>
            <a:endParaRPr sz="4500" b="1">
              <a:solidFill>
                <a:srgbClr val="541900"/>
              </a:solidFill>
            </a:endParaRPr>
          </a:p>
        </p:txBody>
      </p:sp>
      <p:sp>
        <p:nvSpPr>
          <p:cNvPr id="81" name="Google Shape;81;p16"/>
          <p:cNvSpPr txBox="1">
            <a:spLocks noGrp="1"/>
          </p:cNvSpPr>
          <p:nvPr>
            <p:ph type="body" idx="2"/>
          </p:nvPr>
        </p:nvSpPr>
        <p:spPr>
          <a:xfrm>
            <a:off x="311700" y="2236975"/>
            <a:ext cx="4543500" cy="2906400"/>
          </a:xfrm>
          <a:prstGeom prst="rect">
            <a:avLst/>
          </a:prstGeom>
        </p:spPr>
        <p:txBody>
          <a:bodyPr spcFirstLastPara="1" wrap="square" lIns="91425" tIns="91425" rIns="91425" bIns="91425" anchor="t" anchorCtr="0">
            <a:normAutofit/>
          </a:bodyPr>
          <a:lstStyle/>
          <a:p>
            <a:pPr marL="457200" lvl="0" indent="-361950" algn="l" rtl="0">
              <a:lnSpc>
                <a:spcPct val="100000"/>
              </a:lnSpc>
              <a:spcBef>
                <a:spcPts val="0"/>
              </a:spcBef>
              <a:spcAft>
                <a:spcPts val="0"/>
              </a:spcAft>
              <a:buClr>
                <a:srgbClr val="541900"/>
              </a:buClr>
              <a:buSzPts val="2100"/>
              <a:buFont typeface="Arial"/>
              <a:buChar char="●"/>
            </a:pPr>
            <a:r>
              <a:rPr lang="en" sz="2100">
                <a:solidFill>
                  <a:schemeClr val="dk1"/>
                </a:solidFill>
              </a:rPr>
              <a:t>Inside the Outdoors</a:t>
            </a:r>
            <a:endParaRPr sz="2100">
              <a:solidFill>
                <a:schemeClr val="dk1"/>
              </a:solidFill>
            </a:endParaRPr>
          </a:p>
          <a:p>
            <a:pPr marL="457200" lvl="0" indent="-361950" algn="l" rtl="0">
              <a:lnSpc>
                <a:spcPct val="100000"/>
              </a:lnSpc>
              <a:spcBef>
                <a:spcPts val="0"/>
              </a:spcBef>
              <a:spcAft>
                <a:spcPts val="0"/>
              </a:spcAft>
              <a:buClr>
                <a:srgbClr val="541900"/>
              </a:buClr>
              <a:buSzPts val="2100"/>
              <a:buFont typeface="Arial"/>
              <a:buChar char="●"/>
            </a:pPr>
            <a:r>
              <a:rPr lang="en" sz="2100">
                <a:solidFill>
                  <a:schemeClr val="dk1"/>
                </a:solidFill>
              </a:rPr>
              <a:t>Orange County Department of Education </a:t>
            </a:r>
            <a:endParaRPr sz="2100">
              <a:solidFill>
                <a:schemeClr val="dk1"/>
              </a:solidFill>
            </a:endParaRPr>
          </a:p>
          <a:p>
            <a:pPr marL="457200" lvl="0" indent="-361950" algn="l" rtl="0">
              <a:lnSpc>
                <a:spcPct val="100000"/>
              </a:lnSpc>
              <a:spcBef>
                <a:spcPts val="0"/>
              </a:spcBef>
              <a:spcAft>
                <a:spcPts val="0"/>
              </a:spcAft>
              <a:buClr>
                <a:srgbClr val="541900"/>
              </a:buClr>
              <a:buSzPts val="2100"/>
              <a:buFont typeface="Arial"/>
              <a:buChar char="●"/>
            </a:pPr>
            <a:r>
              <a:rPr lang="en" sz="2100">
                <a:solidFill>
                  <a:schemeClr val="dk1"/>
                </a:solidFill>
              </a:rPr>
              <a:t>University of California, Irvine </a:t>
            </a:r>
            <a:endParaRPr sz="2100">
              <a:solidFill>
                <a:schemeClr val="dk1"/>
              </a:solidFill>
            </a:endParaRPr>
          </a:p>
          <a:p>
            <a:pPr marL="457200" lvl="0" indent="-361950" algn="l" rtl="0">
              <a:lnSpc>
                <a:spcPct val="100000"/>
              </a:lnSpc>
              <a:spcBef>
                <a:spcPts val="0"/>
              </a:spcBef>
              <a:spcAft>
                <a:spcPts val="0"/>
              </a:spcAft>
              <a:buClr>
                <a:srgbClr val="541900"/>
              </a:buClr>
              <a:buSzPts val="2100"/>
              <a:buFont typeface="Arial"/>
              <a:buChar char="●"/>
            </a:pPr>
            <a:r>
              <a:rPr lang="en" sz="2100">
                <a:solidFill>
                  <a:schemeClr val="dk1"/>
                </a:solidFill>
              </a:rPr>
              <a:t>University of North Carolina of Chapel Hill </a:t>
            </a:r>
            <a:endParaRPr sz="2100"/>
          </a:p>
        </p:txBody>
      </p:sp>
      <p:pic>
        <p:nvPicPr>
          <p:cNvPr id="82" name="Google Shape;82;p16"/>
          <p:cNvPicPr preferRelativeResize="0"/>
          <p:nvPr/>
        </p:nvPicPr>
        <p:blipFill>
          <a:blip r:embed="rId3">
            <a:alphaModFix/>
          </a:blip>
          <a:stretch>
            <a:fillRect/>
          </a:stretch>
        </p:blipFill>
        <p:spPr>
          <a:xfrm>
            <a:off x="6898850" y="3105450"/>
            <a:ext cx="1289949" cy="1102075"/>
          </a:xfrm>
          <a:prstGeom prst="rect">
            <a:avLst/>
          </a:prstGeom>
          <a:noFill/>
          <a:ln>
            <a:noFill/>
          </a:ln>
        </p:spPr>
      </p:pic>
      <p:pic>
        <p:nvPicPr>
          <p:cNvPr id="83" name="Google Shape;83;p16" title="ITO-logo-col-clear.png"/>
          <p:cNvPicPr preferRelativeResize="0"/>
          <p:nvPr/>
        </p:nvPicPr>
        <p:blipFill>
          <a:blip r:embed="rId4">
            <a:alphaModFix/>
          </a:blip>
          <a:stretch>
            <a:fillRect/>
          </a:stretch>
        </p:blipFill>
        <p:spPr>
          <a:xfrm>
            <a:off x="5379877" y="1462675"/>
            <a:ext cx="1289950" cy="1329621"/>
          </a:xfrm>
          <a:prstGeom prst="rect">
            <a:avLst/>
          </a:prstGeom>
          <a:noFill/>
          <a:ln>
            <a:noFill/>
          </a:ln>
        </p:spPr>
      </p:pic>
      <p:pic>
        <p:nvPicPr>
          <p:cNvPr id="84" name="Google Shape;84;p16" title="University_of_California,_Irvine_seal.svg.png"/>
          <p:cNvPicPr preferRelativeResize="0"/>
          <p:nvPr/>
        </p:nvPicPr>
        <p:blipFill>
          <a:blip r:embed="rId5">
            <a:alphaModFix/>
          </a:blip>
          <a:stretch>
            <a:fillRect/>
          </a:stretch>
        </p:blipFill>
        <p:spPr>
          <a:xfrm>
            <a:off x="5436249" y="3044249"/>
            <a:ext cx="1233549" cy="1233576"/>
          </a:xfrm>
          <a:prstGeom prst="rect">
            <a:avLst/>
          </a:prstGeom>
          <a:noFill/>
          <a:ln>
            <a:noFill/>
          </a:ln>
        </p:spPr>
      </p:pic>
      <p:pic>
        <p:nvPicPr>
          <p:cNvPr id="85" name="Google Shape;85;p16" title="OCDE orange county department of education logo.png"/>
          <p:cNvPicPr preferRelativeResize="0"/>
          <p:nvPr/>
        </p:nvPicPr>
        <p:blipFill>
          <a:blip r:embed="rId6">
            <a:alphaModFix/>
          </a:blip>
          <a:stretch>
            <a:fillRect/>
          </a:stretch>
        </p:blipFill>
        <p:spPr>
          <a:xfrm>
            <a:off x="6898850" y="1480550"/>
            <a:ext cx="1289950" cy="1289950"/>
          </a:xfrm>
          <a:prstGeom prst="rect">
            <a:avLst/>
          </a:prstGeom>
          <a:noFill/>
          <a:ln>
            <a:noFill/>
          </a:ln>
        </p:spPr>
      </p:pic>
      <p:sp>
        <p:nvSpPr>
          <p:cNvPr id="86" name="Google Shape;86;p16"/>
          <p:cNvSpPr txBox="1">
            <a:spLocks noGrp="1"/>
          </p:cNvSpPr>
          <p:nvPr>
            <p:ph type="body" idx="1"/>
          </p:nvPr>
        </p:nvSpPr>
        <p:spPr>
          <a:xfrm>
            <a:off x="311700" y="4495075"/>
            <a:ext cx="3190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3</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0"/>
        <p:cNvGrpSpPr/>
        <p:nvPr/>
      </p:nvGrpSpPr>
      <p:grpSpPr>
        <a:xfrm>
          <a:off x="0" y="0"/>
          <a:ext cx="0" cy="0"/>
          <a:chOff x="0" y="0"/>
          <a:chExt cx="0" cy="0"/>
        </a:xfrm>
      </p:grpSpPr>
      <p:sp>
        <p:nvSpPr>
          <p:cNvPr id="91" name="Google Shape;91;p17"/>
          <p:cNvSpPr txBox="1">
            <a:spLocks noGrp="1"/>
          </p:cNvSpPr>
          <p:nvPr>
            <p:ph type="body" idx="1"/>
          </p:nvPr>
        </p:nvSpPr>
        <p:spPr>
          <a:xfrm>
            <a:off x="311700" y="847675"/>
            <a:ext cx="4521900" cy="512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a:solidFill>
                  <a:srgbClr val="355E3B"/>
                </a:solidFill>
              </a:rPr>
              <a:t>During module 1.1, you will:</a:t>
            </a:r>
            <a:endParaRPr sz="2000">
              <a:solidFill>
                <a:srgbClr val="355E3B"/>
              </a:solidFill>
            </a:endParaRPr>
          </a:p>
        </p:txBody>
      </p:sp>
      <p:sp>
        <p:nvSpPr>
          <p:cNvPr id="92" name="Google Shape;92;p17"/>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100" b="1">
                <a:solidFill>
                  <a:srgbClr val="541900"/>
                </a:solidFill>
              </a:rPr>
              <a:t>Module Overview</a:t>
            </a:r>
            <a:endParaRPr sz="4100" b="1">
              <a:solidFill>
                <a:srgbClr val="541900"/>
              </a:solidFill>
            </a:endParaRPr>
          </a:p>
        </p:txBody>
      </p:sp>
      <p:sp>
        <p:nvSpPr>
          <p:cNvPr id="93" name="Google Shape;93;p17"/>
          <p:cNvSpPr txBox="1">
            <a:spLocks noGrp="1"/>
          </p:cNvSpPr>
          <p:nvPr>
            <p:ph type="body" idx="4294967295"/>
          </p:nvPr>
        </p:nvSpPr>
        <p:spPr>
          <a:xfrm>
            <a:off x="235500" y="1360075"/>
            <a:ext cx="4521900" cy="2906400"/>
          </a:xfrm>
          <a:prstGeom prst="rect">
            <a:avLst/>
          </a:prstGeom>
        </p:spPr>
        <p:txBody>
          <a:bodyPr spcFirstLastPara="1" wrap="square" lIns="91425" tIns="91425" rIns="91425" bIns="91425" anchor="t" anchorCtr="0">
            <a:normAutofit/>
          </a:bodyPr>
          <a:lstStyle/>
          <a:p>
            <a:pPr marL="457200" lvl="0" indent="-355600" algn="l" rtl="0">
              <a:lnSpc>
                <a:spcPct val="115000"/>
              </a:lnSpc>
              <a:spcBef>
                <a:spcPts val="0"/>
              </a:spcBef>
              <a:spcAft>
                <a:spcPts val="0"/>
              </a:spcAft>
              <a:buClr>
                <a:srgbClr val="541900"/>
              </a:buClr>
              <a:buSzPts val="2000"/>
              <a:buChar char="●"/>
            </a:pPr>
            <a:r>
              <a:rPr lang="en" sz="2000">
                <a:solidFill>
                  <a:schemeClr val="dk1"/>
                </a:solidFill>
              </a:rPr>
              <a:t>Consider how climate change is impacting Southern California’s ocean.</a:t>
            </a:r>
            <a:endParaRPr sz="2000">
              <a:solidFill>
                <a:schemeClr val="dk1"/>
              </a:solidFill>
            </a:endParaRPr>
          </a:p>
          <a:p>
            <a:pPr marL="457200" lvl="0" indent="-355600" algn="l" rtl="0">
              <a:lnSpc>
                <a:spcPct val="115000"/>
              </a:lnSpc>
              <a:spcBef>
                <a:spcPts val="0"/>
              </a:spcBef>
              <a:spcAft>
                <a:spcPts val="0"/>
              </a:spcAft>
              <a:buClr>
                <a:srgbClr val="541900"/>
              </a:buClr>
              <a:buSzPts val="2000"/>
              <a:buChar char="●"/>
            </a:pPr>
            <a:r>
              <a:rPr lang="en" sz="2000">
                <a:solidFill>
                  <a:schemeClr val="dk1"/>
                </a:solidFill>
              </a:rPr>
              <a:t>Identify values that local communities place on the ocean. </a:t>
            </a:r>
            <a:endParaRPr sz="2000">
              <a:solidFill>
                <a:schemeClr val="dk1"/>
              </a:solidFill>
            </a:endParaRPr>
          </a:p>
          <a:p>
            <a:pPr marL="457200" lvl="0" indent="-355600" algn="l" rtl="0">
              <a:lnSpc>
                <a:spcPct val="115000"/>
              </a:lnSpc>
              <a:spcBef>
                <a:spcPts val="0"/>
              </a:spcBef>
              <a:spcAft>
                <a:spcPts val="0"/>
              </a:spcAft>
              <a:buClr>
                <a:srgbClr val="541900"/>
              </a:buClr>
              <a:buSzPts val="2000"/>
              <a:buChar char="●"/>
            </a:pPr>
            <a:r>
              <a:rPr lang="en" sz="2000">
                <a:solidFill>
                  <a:schemeClr val="dk1"/>
                </a:solidFill>
              </a:rPr>
              <a:t>Explore research methods using generative AI and search engines.</a:t>
            </a:r>
            <a:endParaRPr sz="2000">
              <a:solidFill>
                <a:schemeClr val="dk1"/>
              </a:solidFill>
            </a:endParaRPr>
          </a:p>
        </p:txBody>
      </p:sp>
      <p:pic>
        <p:nvPicPr>
          <p:cNvPr id="94" name="Google Shape;94;p17" title="PXL_20231208_203932984~2.jpg"/>
          <p:cNvPicPr preferRelativeResize="0"/>
          <p:nvPr/>
        </p:nvPicPr>
        <p:blipFill rotWithShape="1">
          <a:blip r:embed="rId3">
            <a:alphaModFix/>
          </a:blip>
          <a:srcRect l="36387" t="3026"/>
          <a:stretch/>
        </p:blipFill>
        <p:spPr>
          <a:xfrm>
            <a:off x="4978400" y="0"/>
            <a:ext cx="4054825" cy="4654026"/>
          </a:xfrm>
          <a:prstGeom prst="rect">
            <a:avLst/>
          </a:prstGeom>
          <a:noFill/>
          <a:ln>
            <a:noFill/>
          </a:ln>
        </p:spPr>
      </p:pic>
      <p:sp>
        <p:nvSpPr>
          <p:cNvPr id="95" name="Google Shape;95;p17"/>
          <p:cNvSpPr txBox="1"/>
          <p:nvPr/>
        </p:nvSpPr>
        <p:spPr>
          <a:xfrm>
            <a:off x="6269900" y="4654025"/>
            <a:ext cx="1490700" cy="60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2"/>
                </a:solidFill>
              </a:rPr>
              <a:t>Crystal Cove State Park</a:t>
            </a:r>
            <a:endParaRPr sz="800" b="1">
              <a:solidFill>
                <a:schemeClr val="dk2"/>
              </a:solidFill>
            </a:endParaRPr>
          </a:p>
          <a:p>
            <a:pPr marL="0" lvl="0" indent="0" algn="ctr" rtl="0">
              <a:spcBef>
                <a:spcPts val="0"/>
              </a:spcBef>
              <a:spcAft>
                <a:spcPts val="0"/>
              </a:spcAft>
              <a:buNone/>
            </a:pPr>
            <a:r>
              <a:rPr lang="en" sz="800" b="1">
                <a:solidFill>
                  <a:schemeClr val="dk2"/>
                </a:solidFill>
              </a:rPr>
              <a:t>Newport Beach, California</a:t>
            </a:r>
            <a:endParaRPr sz="800" b="1">
              <a:solidFill>
                <a:schemeClr val="dk2"/>
              </a:solidFill>
            </a:endParaRPr>
          </a:p>
        </p:txBody>
      </p:sp>
      <p:sp>
        <p:nvSpPr>
          <p:cNvPr id="96" name="Google Shape;96;p17"/>
          <p:cNvSpPr txBox="1">
            <a:spLocks noGrp="1"/>
          </p:cNvSpPr>
          <p:nvPr>
            <p:ph type="body" idx="1"/>
          </p:nvPr>
        </p:nvSpPr>
        <p:spPr>
          <a:xfrm>
            <a:off x="311700" y="4495075"/>
            <a:ext cx="3190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4</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311700" y="445025"/>
            <a:ext cx="5048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100" b="1">
                <a:solidFill>
                  <a:srgbClr val="541900"/>
                </a:solidFill>
              </a:rPr>
              <a:t>Divide into your project teams!</a:t>
            </a:r>
            <a:endParaRPr sz="4100" b="1">
              <a:solidFill>
                <a:srgbClr val="541900"/>
              </a:solidFill>
            </a:endParaRPr>
          </a:p>
        </p:txBody>
      </p:sp>
      <p:sp>
        <p:nvSpPr>
          <p:cNvPr id="102" name="Google Shape;102;p18"/>
          <p:cNvSpPr txBox="1">
            <a:spLocks noGrp="1"/>
          </p:cNvSpPr>
          <p:nvPr>
            <p:ph type="body" idx="1"/>
          </p:nvPr>
        </p:nvSpPr>
        <p:spPr>
          <a:xfrm>
            <a:off x="311700" y="1999050"/>
            <a:ext cx="4343400" cy="216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rgbClr val="355E3B"/>
                </a:solidFill>
              </a:rPr>
              <a:t>Break up into teams of three to four students.</a:t>
            </a:r>
            <a:endParaRPr sz="4100" b="1">
              <a:solidFill>
                <a:srgbClr val="541900"/>
              </a:solidFill>
            </a:endParaRPr>
          </a:p>
          <a:p>
            <a:pPr marL="0" lvl="0" indent="0" algn="l" rtl="0">
              <a:spcBef>
                <a:spcPts val="1200"/>
              </a:spcBef>
              <a:spcAft>
                <a:spcPts val="1200"/>
              </a:spcAft>
              <a:buNone/>
            </a:pPr>
            <a:r>
              <a:rPr lang="en" sz="2000">
                <a:solidFill>
                  <a:schemeClr val="dk1"/>
                </a:solidFill>
              </a:rPr>
              <a:t>This will be your collaborative team for the entirety of the AISciComm project.</a:t>
            </a:r>
            <a:endParaRPr sz="2000">
              <a:solidFill>
                <a:schemeClr val="dk1"/>
              </a:solidFill>
            </a:endParaRPr>
          </a:p>
        </p:txBody>
      </p:sp>
      <p:pic>
        <p:nvPicPr>
          <p:cNvPr id="103" name="Google Shape;103;p18" title="staff.PNG"/>
          <p:cNvPicPr preferRelativeResize="0"/>
          <p:nvPr/>
        </p:nvPicPr>
        <p:blipFill rotWithShape="1">
          <a:blip r:embed="rId3">
            <a:alphaModFix/>
          </a:blip>
          <a:srcRect t="3129"/>
          <a:stretch/>
        </p:blipFill>
        <p:spPr>
          <a:xfrm>
            <a:off x="4653925" y="0"/>
            <a:ext cx="4343401" cy="4718476"/>
          </a:xfrm>
          <a:prstGeom prst="rect">
            <a:avLst/>
          </a:prstGeom>
          <a:noFill/>
          <a:ln>
            <a:noFill/>
          </a:ln>
        </p:spPr>
      </p:pic>
      <p:sp>
        <p:nvSpPr>
          <p:cNvPr id="104" name="Google Shape;104;p18"/>
          <p:cNvSpPr txBox="1">
            <a:spLocks noGrp="1"/>
          </p:cNvSpPr>
          <p:nvPr>
            <p:ph type="body" idx="1"/>
          </p:nvPr>
        </p:nvSpPr>
        <p:spPr>
          <a:xfrm>
            <a:off x="311700" y="4495075"/>
            <a:ext cx="3190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5</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sp>
        <p:nvSpPr>
          <p:cNvPr id="105" name="Google Shape;105;p18"/>
          <p:cNvSpPr txBox="1"/>
          <p:nvPr/>
        </p:nvSpPr>
        <p:spPr>
          <a:xfrm>
            <a:off x="5965100" y="4654025"/>
            <a:ext cx="1822800" cy="60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2"/>
                </a:solidFill>
              </a:rPr>
              <a:t>Shipley Nature Center</a:t>
            </a:r>
            <a:endParaRPr sz="800" b="1">
              <a:solidFill>
                <a:schemeClr val="dk2"/>
              </a:solidFill>
            </a:endParaRPr>
          </a:p>
          <a:p>
            <a:pPr marL="0" lvl="0" indent="0" algn="ctr" rtl="0">
              <a:spcBef>
                <a:spcPts val="0"/>
              </a:spcBef>
              <a:spcAft>
                <a:spcPts val="0"/>
              </a:spcAft>
              <a:buNone/>
            </a:pPr>
            <a:r>
              <a:rPr lang="en" sz="800" b="1">
                <a:solidFill>
                  <a:schemeClr val="dk2"/>
                </a:solidFill>
              </a:rPr>
              <a:t>Huntington Beach, California</a:t>
            </a:r>
            <a:endParaRPr sz="800" b="1">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297475" y="197150"/>
            <a:ext cx="5033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Introducing your Science Journal</a:t>
            </a:r>
            <a:endParaRPr sz="4500" b="1">
              <a:solidFill>
                <a:srgbClr val="541900"/>
              </a:solidFill>
            </a:endParaRPr>
          </a:p>
        </p:txBody>
      </p:sp>
      <p:sp>
        <p:nvSpPr>
          <p:cNvPr id="111" name="Google Shape;111;p19"/>
          <p:cNvSpPr txBox="1">
            <a:spLocks noGrp="1"/>
          </p:cNvSpPr>
          <p:nvPr>
            <p:ph type="body" idx="4294967295"/>
          </p:nvPr>
        </p:nvSpPr>
        <p:spPr>
          <a:xfrm>
            <a:off x="311700" y="1903650"/>
            <a:ext cx="4491000" cy="290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000" dirty="0">
                <a:solidFill>
                  <a:schemeClr val="dk1"/>
                </a:solidFill>
              </a:rPr>
              <a:t>Science Journals will be used for the following during this program….</a:t>
            </a:r>
            <a:br>
              <a:rPr lang="en" sz="2000" dirty="0">
                <a:solidFill>
                  <a:schemeClr val="dk1"/>
                </a:solidFill>
              </a:rPr>
            </a:br>
            <a:endParaRPr sz="2000" dirty="0">
              <a:solidFill>
                <a:schemeClr val="dk1"/>
              </a:solidFill>
            </a:endParaRPr>
          </a:p>
          <a:p>
            <a:pPr marL="457200" lvl="0" indent="-355600" algn="l" rtl="0">
              <a:lnSpc>
                <a:spcPct val="100000"/>
              </a:lnSpc>
              <a:spcBef>
                <a:spcPts val="0"/>
              </a:spcBef>
              <a:spcAft>
                <a:spcPts val="0"/>
              </a:spcAft>
              <a:buClr>
                <a:schemeClr val="dk1"/>
              </a:buClr>
              <a:buSzPts val="2000"/>
              <a:buChar char="●"/>
            </a:pPr>
            <a:r>
              <a:rPr lang="en" sz="2000" dirty="0">
                <a:solidFill>
                  <a:schemeClr val="dk1"/>
                </a:solidFill>
              </a:rPr>
              <a:t>Instructional tasks</a:t>
            </a:r>
            <a:endParaRPr sz="2000" dirty="0">
              <a:solidFill>
                <a:schemeClr val="dk1"/>
              </a:solidFill>
            </a:endParaRPr>
          </a:p>
          <a:p>
            <a:pPr marL="457200" lvl="0" indent="-355600" algn="l" rtl="0">
              <a:lnSpc>
                <a:spcPct val="100000"/>
              </a:lnSpc>
              <a:spcBef>
                <a:spcPts val="0"/>
              </a:spcBef>
              <a:spcAft>
                <a:spcPts val="0"/>
              </a:spcAft>
              <a:buClr>
                <a:schemeClr val="dk1"/>
              </a:buClr>
              <a:buSzPts val="2000"/>
              <a:buChar char="●"/>
            </a:pPr>
            <a:r>
              <a:rPr lang="en" sz="2000" dirty="0">
                <a:solidFill>
                  <a:schemeClr val="dk1"/>
                </a:solidFill>
              </a:rPr>
              <a:t>Reflections</a:t>
            </a:r>
            <a:endParaRPr sz="2000" dirty="0">
              <a:solidFill>
                <a:schemeClr val="dk1"/>
              </a:solidFill>
            </a:endParaRPr>
          </a:p>
          <a:p>
            <a:pPr marL="457200" lvl="0" indent="-355600" algn="l" rtl="0">
              <a:lnSpc>
                <a:spcPct val="100000"/>
              </a:lnSpc>
              <a:spcBef>
                <a:spcPts val="0"/>
              </a:spcBef>
              <a:spcAft>
                <a:spcPts val="0"/>
              </a:spcAft>
              <a:buClr>
                <a:schemeClr val="dk1"/>
              </a:buClr>
              <a:buSzPts val="2000"/>
              <a:buChar char="●"/>
            </a:pPr>
            <a:r>
              <a:rPr lang="en" sz="2000" dirty="0">
                <a:solidFill>
                  <a:schemeClr val="dk1"/>
                </a:solidFill>
              </a:rPr>
              <a:t>Brainstorming documents</a:t>
            </a:r>
            <a:endParaRPr sz="2000" dirty="0">
              <a:solidFill>
                <a:schemeClr val="dk1"/>
              </a:solidFill>
            </a:endParaRPr>
          </a:p>
          <a:p>
            <a:pPr marL="0" lvl="0" indent="0" algn="l" rtl="0">
              <a:lnSpc>
                <a:spcPct val="100000"/>
              </a:lnSpc>
              <a:spcBef>
                <a:spcPts val="0"/>
              </a:spcBef>
              <a:spcAft>
                <a:spcPts val="0"/>
              </a:spcAft>
              <a:buNone/>
            </a:pPr>
            <a:endParaRPr sz="2000" dirty="0">
              <a:solidFill>
                <a:schemeClr val="dk1"/>
              </a:solidFill>
            </a:endParaRPr>
          </a:p>
          <a:p>
            <a:pPr marL="0" lvl="0" indent="0" algn="l" rtl="0">
              <a:lnSpc>
                <a:spcPct val="100000"/>
              </a:lnSpc>
              <a:spcBef>
                <a:spcPts val="0"/>
              </a:spcBef>
              <a:spcAft>
                <a:spcPts val="0"/>
              </a:spcAft>
              <a:buNone/>
            </a:pPr>
            <a:r>
              <a:rPr lang="en" sz="2000" u="sng" dirty="0">
                <a:solidFill>
                  <a:schemeClr val="hlink"/>
                </a:solidFill>
              </a:rPr>
              <a:t>Link to science journal</a:t>
            </a:r>
            <a:endParaRPr sz="2000" dirty="0">
              <a:solidFill>
                <a:schemeClr val="dk1"/>
              </a:solidFill>
            </a:endParaRPr>
          </a:p>
        </p:txBody>
      </p:sp>
      <p:pic>
        <p:nvPicPr>
          <p:cNvPr id="112" name="Google Shape;112;p19"/>
          <p:cNvPicPr preferRelativeResize="0"/>
          <p:nvPr/>
        </p:nvPicPr>
        <p:blipFill rotWithShape="1">
          <a:blip r:embed="rId3">
            <a:alphaModFix/>
          </a:blip>
          <a:srcRect l="1423" t="1385" r="3103" b="1763"/>
          <a:stretch/>
        </p:blipFill>
        <p:spPr>
          <a:xfrm>
            <a:off x="5360400" y="0"/>
            <a:ext cx="3783599" cy="5143501"/>
          </a:xfrm>
          <a:prstGeom prst="rect">
            <a:avLst/>
          </a:prstGeom>
          <a:noFill/>
          <a:ln>
            <a:noFill/>
          </a:ln>
        </p:spPr>
      </p:pic>
      <p:sp>
        <p:nvSpPr>
          <p:cNvPr id="113" name="Google Shape;113;p19"/>
          <p:cNvSpPr txBox="1">
            <a:spLocks noGrp="1"/>
          </p:cNvSpPr>
          <p:nvPr>
            <p:ph type="body" idx="1"/>
          </p:nvPr>
        </p:nvSpPr>
        <p:spPr>
          <a:xfrm>
            <a:off x="311700" y="4495075"/>
            <a:ext cx="3190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6</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sp>
        <p:nvSpPr>
          <p:cNvPr id="114" name="Google Shape;114;p19"/>
          <p:cNvSpPr txBox="1"/>
          <p:nvPr/>
        </p:nvSpPr>
        <p:spPr>
          <a:xfrm>
            <a:off x="3679100" y="4577825"/>
            <a:ext cx="1822800" cy="60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2"/>
                </a:solidFill>
              </a:rPr>
              <a:t>Shipley Nature Center</a:t>
            </a:r>
            <a:endParaRPr sz="800" b="1">
              <a:solidFill>
                <a:schemeClr val="dk2"/>
              </a:solidFill>
            </a:endParaRPr>
          </a:p>
          <a:p>
            <a:pPr marL="0" lvl="0" indent="0" algn="ctr" rtl="0">
              <a:spcBef>
                <a:spcPts val="0"/>
              </a:spcBef>
              <a:spcAft>
                <a:spcPts val="0"/>
              </a:spcAft>
              <a:buNone/>
            </a:pPr>
            <a:r>
              <a:rPr lang="en" sz="800" b="1">
                <a:solidFill>
                  <a:schemeClr val="dk2"/>
                </a:solidFill>
              </a:rPr>
              <a:t>Huntington Beach, California</a:t>
            </a:r>
            <a:endParaRPr sz="800" b="1">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18"/>
        <p:cNvGrpSpPr/>
        <p:nvPr/>
      </p:nvGrpSpPr>
      <p:grpSpPr>
        <a:xfrm>
          <a:off x="0" y="0"/>
          <a:ext cx="0" cy="0"/>
          <a:chOff x="0" y="0"/>
          <a:chExt cx="0" cy="0"/>
        </a:xfrm>
      </p:grpSpPr>
      <p:sp>
        <p:nvSpPr>
          <p:cNvPr id="119" name="Google Shape;119;p20"/>
          <p:cNvSpPr txBox="1">
            <a:spLocks noGrp="1"/>
          </p:cNvSpPr>
          <p:nvPr>
            <p:ph type="title"/>
          </p:nvPr>
        </p:nvSpPr>
        <p:spPr>
          <a:xfrm>
            <a:off x="3119625" y="0"/>
            <a:ext cx="569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Discuss</a:t>
            </a:r>
            <a:endParaRPr sz="4500" b="1">
              <a:solidFill>
                <a:srgbClr val="541900"/>
              </a:solidFill>
            </a:endParaRPr>
          </a:p>
        </p:txBody>
      </p:sp>
      <p:sp>
        <p:nvSpPr>
          <p:cNvPr id="120" name="Google Shape;120;p20"/>
          <p:cNvSpPr txBox="1">
            <a:spLocks noGrp="1"/>
          </p:cNvSpPr>
          <p:nvPr>
            <p:ph type="body" idx="4294967295"/>
          </p:nvPr>
        </p:nvSpPr>
        <p:spPr>
          <a:xfrm>
            <a:off x="3166575" y="725100"/>
            <a:ext cx="5695500" cy="31005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000">
                <a:solidFill>
                  <a:srgbClr val="355E3B"/>
                </a:solidFill>
              </a:rPr>
              <a:t>Begin by discussing the following questions with your team.</a:t>
            </a:r>
            <a:endParaRPr sz="2000">
              <a:solidFill>
                <a:srgbClr val="355E3B"/>
              </a:solidFill>
            </a:endParaRPr>
          </a:p>
          <a:p>
            <a:pPr marL="0" lvl="0" indent="0" algn="l" rtl="0">
              <a:lnSpc>
                <a:spcPct val="100000"/>
              </a:lnSpc>
              <a:spcBef>
                <a:spcPts val="0"/>
              </a:spcBef>
              <a:spcAft>
                <a:spcPts val="0"/>
              </a:spcAft>
              <a:buNone/>
            </a:pPr>
            <a:endParaRPr sz="1400">
              <a:solidFill>
                <a:srgbClr val="355E3B"/>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How do you interact with the ocean? What values do you place on the ocean?</a:t>
            </a:r>
            <a:br>
              <a:rPr lang="en" sz="2000">
                <a:solidFill>
                  <a:schemeClr val="dk1"/>
                </a:solidFill>
              </a:rPr>
            </a:br>
            <a:endParaRPr sz="1400">
              <a:solidFill>
                <a:schemeClr val="dk1"/>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How does your community interact with the ocean? What values do they place on the ocean?</a:t>
            </a:r>
            <a:br>
              <a:rPr lang="en" sz="2000">
                <a:solidFill>
                  <a:schemeClr val="dk1"/>
                </a:solidFill>
              </a:rPr>
            </a:br>
            <a:endParaRPr sz="1400">
              <a:solidFill>
                <a:schemeClr val="dk1"/>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What impact do you think climate change will have on the way communities interact with the ocean? </a:t>
            </a:r>
            <a:endParaRPr sz="2000">
              <a:solidFill>
                <a:schemeClr val="dk1"/>
              </a:solidFill>
            </a:endParaRPr>
          </a:p>
          <a:p>
            <a:pPr marL="457200" lvl="0" indent="0" algn="l" rtl="0">
              <a:lnSpc>
                <a:spcPct val="100000"/>
              </a:lnSpc>
              <a:spcBef>
                <a:spcPts val="0"/>
              </a:spcBef>
              <a:spcAft>
                <a:spcPts val="0"/>
              </a:spcAft>
              <a:buNone/>
            </a:pPr>
            <a:endParaRPr sz="2000">
              <a:solidFill>
                <a:schemeClr val="dk1"/>
              </a:solidFill>
            </a:endParaRPr>
          </a:p>
        </p:txBody>
      </p:sp>
      <p:sp>
        <p:nvSpPr>
          <p:cNvPr id="121" name="Google Shape;121;p20"/>
          <p:cNvSpPr txBox="1">
            <a:spLocks noGrp="1"/>
          </p:cNvSpPr>
          <p:nvPr>
            <p:ph type="body" idx="1"/>
          </p:nvPr>
        </p:nvSpPr>
        <p:spPr>
          <a:xfrm>
            <a:off x="5645700" y="4495075"/>
            <a:ext cx="3190200" cy="512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7</a:t>
            </a:fld>
            <a:endParaRPr sz="1200">
              <a:solidFill>
                <a:srgbClr val="000000"/>
              </a:solidFill>
            </a:endParaRPr>
          </a:p>
          <a:p>
            <a:pPr marL="0" lvl="0" indent="0" algn="r" rtl="0">
              <a:spcBef>
                <a:spcPts val="1200"/>
              </a:spcBef>
              <a:spcAft>
                <a:spcPts val="1200"/>
              </a:spcAft>
              <a:buNone/>
            </a:pPr>
            <a:endParaRPr sz="1200">
              <a:solidFill>
                <a:schemeClr val="dk1"/>
              </a:solidFill>
            </a:endParaRPr>
          </a:p>
        </p:txBody>
      </p:sp>
      <p:pic>
        <p:nvPicPr>
          <p:cNvPr id="122" name="Google Shape;122;p20" title="MLK Beach clean up.PNG"/>
          <p:cNvPicPr preferRelativeResize="0"/>
          <p:nvPr/>
        </p:nvPicPr>
        <p:blipFill rotWithShape="1">
          <a:blip r:embed="rId3">
            <a:alphaModFix/>
          </a:blip>
          <a:srcRect l="40903" r="13420"/>
          <a:stretch/>
        </p:blipFill>
        <p:spPr>
          <a:xfrm>
            <a:off x="-70575" y="0"/>
            <a:ext cx="3132466" cy="5143500"/>
          </a:xfrm>
          <a:prstGeom prst="rect">
            <a:avLst/>
          </a:prstGeom>
          <a:noFill/>
          <a:ln>
            <a:noFill/>
          </a:ln>
        </p:spPr>
      </p:pic>
      <p:sp>
        <p:nvSpPr>
          <p:cNvPr id="123" name="Google Shape;123;p20"/>
          <p:cNvSpPr txBox="1"/>
          <p:nvPr/>
        </p:nvSpPr>
        <p:spPr>
          <a:xfrm>
            <a:off x="3025925" y="4564225"/>
            <a:ext cx="1490700" cy="6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rPr>
              <a:t>Beach Clean Up</a:t>
            </a:r>
            <a:endParaRPr sz="800" b="1">
              <a:solidFill>
                <a:schemeClr val="dk2"/>
              </a:solidFill>
            </a:endParaRPr>
          </a:p>
          <a:p>
            <a:pPr marL="0" lvl="0" indent="0" algn="l" rtl="0">
              <a:spcBef>
                <a:spcPts val="0"/>
              </a:spcBef>
              <a:spcAft>
                <a:spcPts val="0"/>
              </a:spcAft>
              <a:buNone/>
            </a:pPr>
            <a:r>
              <a:rPr lang="en" sz="800" b="1">
                <a:solidFill>
                  <a:schemeClr val="dk2"/>
                </a:solidFill>
              </a:rPr>
              <a:t>Newport Beach, California</a:t>
            </a:r>
            <a:endParaRPr sz="800" b="1">
              <a:solidFill>
                <a:schemeClr val="dk2"/>
              </a:solidFill>
            </a:endParaRPr>
          </a:p>
        </p:txBody>
      </p:sp>
      <p:sp>
        <p:nvSpPr>
          <p:cNvPr id="124" name="Google Shape;124;p20">
            <a:hlinkClick r:id="rId4"/>
          </p:cNvPr>
          <p:cNvSpPr/>
          <p:nvPr/>
        </p:nvSpPr>
        <p:spPr>
          <a:xfrm>
            <a:off x="0" y="5207000"/>
            <a:ext cx="12600" cy="12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3588300" y="140225"/>
            <a:ext cx="2172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Share</a:t>
            </a:r>
            <a:endParaRPr sz="4500" b="1">
              <a:solidFill>
                <a:srgbClr val="541900"/>
              </a:solidFill>
            </a:endParaRPr>
          </a:p>
        </p:txBody>
      </p:sp>
      <p:sp>
        <p:nvSpPr>
          <p:cNvPr id="130" name="Google Shape;130;p21"/>
          <p:cNvSpPr txBox="1">
            <a:spLocks noGrp="1"/>
          </p:cNvSpPr>
          <p:nvPr>
            <p:ph type="body" idx="4294967295"/>
          </p:nvPr>
        </p:nvSpPr>
        <p:spPr>
          <a:xfrm>
            <a:off x="3610750" y="1118550"/>
            <a:ext cx="5244600" cy="3356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a:solidFill>
                  <a:srgbClr val="355E3B"/>
                </a:solidFill>
              </a:rPr>
              <a:t>When you’re done discussing with your team, share your thoughts with the class.</a:t>
            </a:r>
            <a:endParaRPr sz="2000">
              <a:solidFill>
                <a:srgbClr val="355E3B"/>
              </a:solidFill>
            </a:endParaRPr>
          </a:p>
          <a:p>
            <a:pPr marL="0" lvl="0" indent="0" algn="l" rtl="0">
              <a:lnSpc>
                <a:spcPct val="115000"/>
              </a:lnSpc>
              <a:spcBef>
                <a:spcPts val="0"/>
              </a:spcBef>
              <a:spcAft>
                <a:spcPts val="0"/>
              </a:spcAft>
              <a:buNone/>
            </a:pPr>
            <a:endParaRPr sz="2000">
              <a:solidFill>
                <a:srgbClr val="355E3B"/>
              </a:solidFill>
            </a:endParaRPr>
          </a:p>
          <a:p>
            <a:pPr marL="457200" lvl="0" indent="-355600" algn="l" rtl="0">
              <a:lnSpc>
                <a:spcPct val="115000"/>
              </a:lnSpc>
              <a:spcBef>
                <a:spcPts val="0"/>
              </a:spcBef>
              <a:spcAft>
                <a:spcPts val="0"/>
              </a:spcAft>
              <a:buClr>
                <a:srgbClr val="541900"/>
              </a:buClr>
              <a:buSzPts val="2000"/>
              <a:buChar char="●"/>
            </a:pPr>
            <a:r>
              <a:rPr lang="en" sz="2000">
                <a:solidFill>
                  <a:schemeClr val="dk1"/>
                </a:solidFill>
              </a:rPr>
              <a:t>What did you and your team discuss?</a:t>
            </a:r>
            <a:endParaRPr sz="2000">
              <a:solidFill>
                <a:schemeClr val="dk1"/>
              </a:solidFill>
            </a:endParaRPr>
          </a:p>
          <a:p>
            <a:pPr marL="914400" lvl="0" indent="0" algn="l" rtl="0">
              <a:lnSpc>
                <a:spcPct val="115000"/>
              </a:lnSpc>
              <a:spcBef>
                <a:spcPts val="0"/>
              </a:spcBef>
              <a:spcAft>
                <a:spcPts val="0"/>
              </a:spcAft>
              <a:buNone/>
            </a:pPr>
            <a:endParaRPr sz="800">
              <a:solidFill>
                <a:schemeClr val="dk1"/>
              </a:solidFill>
            </a:endParaRPr>
          </a:p>
          <a:p>
            <a:pPr marL="457200" lvl="0" indent="-355600" algn="l" rtl="0">
              <a:lnSpc>
                <a:spcPct val="115000"/>
              </a:lnSpc>
              <a:spcBef>
                <a:spcPts val="0"/>
              </a:spcBef>
              <a:spcAft>
                <a:spcPts val="0"/>
              </a:spcAft>
              <a:buClr>
                <a:srgbClr val="541900"/>
              </a:buClr>
              <a:buSzPts val="2000"/>
              <a:buChar char="●"/>
            </a:pPr>
            <a:r>
              <a:rPr lang="en" sz="2000">
                <a:solidFill>
                  <a:schemeClr val="dk1"/>
                </a:solidFill>
              </a:rPr>
              <a:t>How is the ocean important to you or others in your community?</a:t>
            </a:r>
            <a:endParaRPr sz="2000">
              <a:solidFill>
                <a:schemeClr val="dk1"/>
              </a:solidFill>
            </a:endParaRPr>
          </a:p>
          <a:p>
            <a:pPr marL="914400" lvl="0" indent="0" algn="l" rtl="0">
              <a:lnSpc>
                <a:spcPct val="115000"/>
              </a:lnSpc>
              <a:spcBef>
                <a:spcPts val="0"/>
              </a:spcBef>
              <a:spcAft>
                <a:spcPts val="0"/>
              </a:spcAft>
              <a:buNone/>
            </a:pPr>
            <a:endParaRPr sz="800">
              <a:solidFill>
                <a:schemeClr val="dk1"/>
              </a:solidFill>
            </a:endParaRPr>
          </a:p>
          <a:p>
            <a:pPr marL="457200" lvl="0" indent="-355600" algn="l" rtl="0">
              <a:lnSpc>
                <a:spcPct val="115000"/>
              </a:lnSpc>
              <a:spcBef>
                <a:spcPts val="0"/>
              </a:spcBef>
              <a:spcAft>
                <a:spcPts val="0"/>
              </a:spcAft>
              <a:buClr>
                <a:srgbClr val="541900"/>
              </a:buClr>
              <a:buSzPts val="2000"/>
              <a:buChar char="●"/>
            </a:pPr>
            <a:r>
              <a:rPr lang="en" sz="2000">
                <a:solidFill>
                  <a:schemeClr val="dk1"/>
                </a:solidFill>
              </a:rPr>
              <a:t>What types of challenges may the ocean face?</a:t>
            </a:r>
            <a:endParaRPr sz="2000">
              <a:solidFill>
                <a:schemeClr val="dk1"/>
              </a:solidFill>
            </a:endParaRPr>
          </a:p>
          <a:p>
            <a:pPr marL="457200" lvl="0" indent="-228600" algn="l" rtl="0">
              <a:lnSpc>
                <a:spcPct val="100000"/>
              </a:lnSpc>
              <a:spcBef>
                <a:spcPts val="0"/>
              </a:spcBef>
              <a:spcAft>
                <a:spcPts val="0"/>
              </a:spcAft>
              <a:buNone/>
            </a:pPr>
            <a:endParaRPr sz="2000">
              <a:solidFill>
                <a:schemeClr val="dk1"/>
              </a:solidFill>
            </a:endParaRPr>
          </a:p>
        </p:txBody>
      </p:sp>
      <p:sp>
        <p:nvSpPr>
          <p:cNvPr id="131" name="Google Shape;131;p21"/>
          <p:cNvSpPr txBox="1">
            <a:spLocks noGrp="1"/>
          </p:cNvSpPr>
          <p:nvPr>
            <p:ph type="body" idx="1"/>
          </p:nvPr>
        </p:nvSpPr>
        <p:spPr>
          <a:xfrm>
            <a:off x="5645700" y="4418875"/>
            <a:ext cx="3190200" cy="512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8</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pic>
        <p:nvPicPr>
          <p:cNvPr id="132" name="Google Shape;132;p21" title="IMG_1477.jpeg"/>
          <p:cNvPicPr preferRelativeResize="0"/>
          <p:nvPr/>
        </p:nvPicPr>
        <p:blipFill rotWithShape="1">
          <a:blip r:embed="rId3">
            <a:alphaModFix/>
          </a:blip>
          <a:srcRect r="11300"/>
          <a:stretch/>
        </p:blipFill>
        <p:spPr>
          <a:xfrm>
            <a:off x="1550" y="0"/>
            <a:ext cx="3421551" cy="5143501"/>
          </a:xfrm>
          <a:prstGeom prst="rect">
            <a:avLst/>
          </a:prstGeom>
          <a:noFill/>
          <a:ln>
            <a:noFill/>
          </a:ln>
        </p:spPr>
      </p:pic>
      <p:sp>
        <p:nvSpPr>
          <p:cNvPr id="133" name="Google Shape;133;p21"/>
          <p:cNvSpPr txBox="1"/>
          <p:nvPr/>
        </p:nvSpPr>
        <p:spPr>
          <a:xfrm>
            <a:off x="3406925" y="4640425"/>
            <a:ext cx="1490700" cy="6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rPr>
              <a:t>Crystal Cove State Park</a:t>
            </a:r>
            <a:endParaRPr sz="800" b="1">
              <a:solidFill>
                <a:schemeClr val="dk2"/>
              </a:solidFill>
            </a:endParaRPr>
          </a:p>
          <a:p>
            <a:pPr marL="0" lvl="0" indent="0" algn="l" rtl="0">
              <a:spcBef>
                <a:spcPts val="0"/>
              </a:spcBef>
              <a:spcAft>
                <a:spcPts val="0"/>
              </a:spcAft>
              <a:buNone/>
            </a:pPr>
            <a:r>
              <a:rPr lang="en" sz="800" b="1">
                <a:solidFill>
                  <a:schemeClr val="dk2"/>
                </a:solidFill>
              </a:rPr>
              <a:t>Newport Beach, California</a:t>
            </a:r>
            <a:endParaRPr sz="800" b="1">
              <a:solidFill>
                <a:schemeClr val="dk2"/>
              </a:solidFill>
            </a:endParaRPr>
          </a:p>
        </p:txBody>
      </p:sp>
      <p:sp>
        <p:nvSpPr>
          <p:cNvPr id="134" name="Google Shape;134;p21">
            <a:hlinkClick r:id="rId4"/>
          </p:cNvPr>
          <p:cNvSpPr/>
          <p:nvPr/>
        </p:nvSpPr>
        <p:spPr>
          <a:xfrm>
            <a:off x="0" y="5207000"/>
            <a:ext cx="12600" cy="12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38"/>
        <p:cNvGrpSpPr/>
        <p:nvPr/>
      </p:nvGrpSpPr>
      <p:grpSpPr>
        <a:xfrm>
          <a:off x="0" y="0"/>
          <a:ext cx="0" cy="0"/>
          <a:chOff x="0" y="0"/>
          <a:chExt cx="0" cy="0"/>
        </a:xfrm>
      </p:grpSpPr>
      <p:sp>
        <p:nvSpPr>
          <p:cNvPr id="139" name="Google Shape;139;p22"/>
          <p:cNvSpPr txBox="1">
            <a:spLocks noGrp="1"/>
          </p:cNvSpPr>
          <p:nvPr>
            <p:ph type="body" idx="1"/>
          </p:nvPr>
        </p:nvSpPr>
        <p:spPr>
          <a:xfrm>
            <a:off x="311700" y="11963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a:solidFill>
                  <a:srgbClr val="355E3B"/>
                </a:solidFill>
              </a:rPr>
              <a:t>Our goal today is to research how Southern California’s ocean may be impacted due to climate change.</a:t>
            </a:r>
            <a:endParaRPr sz="2000">
              <a:solidFill>
                <a:srgbClr val="355E3B"/>
              </a:solidFill>
            </a:endParaRPr>
          </a:p>
        </p:txBody>
      </p:sp>
      <p:sp>
        <p:nvSpPr>
          <p:cNvPr id="140" name="Google Shape;140;p22"/>
          <p:cNvSpPr txBox="1">
            <a:spLocks noGrp="1"/>
          </p:cNvSpPr>
          <p:nvPr>
            <p:ph type="title"/>
          </p:nvPr>
        </p:nvSpPr>
        <p:spPr>
          <a:xfrm>
            <a:off x="311700" y="4450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Let’s Investigate!</a:t>
            </a:r>
            <a:endParaRPr sz="4200" b="1">
              <a:solidFill>
                <a:srgbClr val="541900"/>
              </a:solidFill>
            </a:endParaRPr>
          </a:p>
        </p:txBody>
      </p:sp>
      <p:sp>
        <p:nvSpPr>
          <p:cNvPr id="141" name="Google Shape;141;p22"/>
          <p:cNvSpPr txBox="1">
            <a:spLocks noGrp="1"/>
          </p:cNvSpPr>
          <p:nvPr>
            <p:ph type="body" idx="2"/>
          </p:nvPr>
        </p:nvSpPr>
        <p:spPr>
          <a:xfrm>
            <a:off x="311700" y="2432100"/>
            <a:ext cx="4543500" cy="18102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2000">
                <a:solidFill>
                  <a:schemeClr val="dk1"/>
                </a:solidFill>
              </a:rPr>
              <a:t>To research this, you will use two tools</a:t>
            </a:r>
            <a:endParaRPr sz="2000">
              <a:solidFill>
                <a:schemeClr val="dk1"/>
              </a:solidFill>
            </a:endParaRPr>
          </a:p>
          <a:p>
            <a:pPr marL="457200" lvl="0" indent="-355600" algn="l" rtl="0">
              <a:lnSpc>
                <a:spcPct val="100000"/>
              </a:lnSpc>
              <a:spcBef>
                <a:spcPts val="0"/>
              </a:spcBef>
              <a:spcAft>
                <a:spcPts val="0"/>
              </a:spcAft>
              <a:buClr>
                <a:srgbClr val="541900"/>
              </a:buClr>
              <a:buSzPts val="2000"/>
              <a:buFont typeface="Arial"/>
              <a:buAutoNum type="arabicPeriod"/>
            </a:pPr>
            <a:r>
              <a:rPr lang="en" sz="2000">
                <a:solidFill>
                  <a:schemeClr val="dk1"/>
                </a:solidFill>
              </a:rPr>
              <a:t>Gemini - a generative artificial intelligence tool</a:t>
            </a:r>
            <a:endParaRPr sz="2000">
              <a:solidFill>
                <a:schemeClr val="dk1"/>
              </a:solidFill>
            </a:endParaRPr>
          </a:p>
          <a:p>
            <a:pPr marL="457200" lvl="0" indent="-355600" algn="l" rtl="0">
              <a:lnSpc>
                <a:spcPct val="100000"/>
              </a:lnSpc>
              <a:spcBef>
                <a:spcPts val="0"/>
              </a:spcBef>
              <a:spcAft>
                <a:spcPts val="0"/>
              </a:spcAft>
              <a:buClr>
                <a:srgbClr val="541900"/>
              </a:buClr>
              <a:buSzPts val="2000"/>
              <a:buFont typeface="Arial"/>
              <a:buAutoNum type="arabicPeriod"/>
            </a:pPr>
            <a:r>
              <a:rPr lang="en" sz="2000">
                <a:solidFill>
                  <a:schemeClr val="dk1"/>
                </a:solidFill>
              </a:rPr>
              <a:t>Google - a search engine</a:t>
            </a:r>
            <a:endParaRPr sz="2000">
              <a:solidFill>
                <a:schemeClr val="dk1"/>
              </a:solidFill>
            </a:endParaRPr>
          </a:p>
        </p:txBody>
      </p:sp>
      <p:pic>
        <p:nvPicPr>
          <p:cNvPr id="142" name="Google Shape;142;p22"/>
          <p:cNvPicPr preferRelativeResize="0"/>
          <p:nvPr/>
        </p:nvPicPr>
        <p:blipFill rotWithShape="1">
          <a:blip r:embed="rId3">
            <a:alphaModFix/>
          </a:blip>
          <a:srcRect r="50259" b="1507"/>
          <a:stretch/>
        </p:blipFill>
        <p:spPr>
          <a:xfrm>
            <a:off x="5429650" y="0"/>
            <a:ext cx="3658849" cy="2432095"/>
          </a:xfrm>
          <a:prstGeom prst="rect">
            <a:avLst/>
          </a:prstGeom>
          <a:noFill/>
          <a:ln>
            <a:noFill/>
          </a:ln>
        </p:spPr>
      </p:pic>
      <p:pic>
        <p:nvPicPr>
          <p:cNvPr id="143" name="Google Shape;143;p22"/>
          <p:cNvPicPr preferRelativeResize="0"/>
          <p:nvPr/>
        </p:nvPicPr>
        <p:blipFill rotWithShape="1">
          <a:blip r:embed="rId3">
            <a:alphaModFix/>
          </a:blip>
          <a:srcRect l="50260" t="2383" r="164" b="1509"/>
          <a:stretch/>
        </p:blipFill>
        <p:spPr>
          <a:xfrm>
            <a:off x="5429650" y="2374950"/>
            <a:ext cx="3658849" cy="2373325"/>
          </a:xfrm>
          <a:prstGeom prst="rect">
            <a:avLst/>
          </a:prstGeom>
          <a:noFill/>
          <a:ln>
            <a:noFill/>
          </a:ln>
        </p:spPr>
      </p:pic>
      <p:sp>
        <p:nvSpPr>
          <p:cNvPr id="144" name="Google Shape;144;p22"/>
          <p:cNvSpPr txBox="1"/>
          <p:nvPr/>
        </p:nvSpPr>
        <p:spPr>
          <a:xfrm>
            <a:off x="5367525" y="4648795"/>
            <a:ext cx="3658800" cy="1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rPr>
              <a:t>Cottons Point, San Clemente </a:t>
            </a:r>
            <a:r>
              <a:rPr lang="en" sz="800">
                <a:solidFill>
                  <a:schemeClr val="dk2"/>
                </a:solidFill>
              </a:rPr>
              <a:t>https://engineering.uci.edu/news/2023/6/californias-beaches-are-eroding-heres-how-save-them</a:t>
            </a:r>
            <a:endParaRPr sz="800">
              <a:solidFill>
                <a:schemeClr val="dk2"/>
              </a:solidFill>
            </a:endParaRPr>
          </a:p>
        </p:txBody>
      </p:sp>
      <p:sp>
        <p:nvSpPr>
          <p:cNvPr id="145" name="Google Shape;145;p22"/>
          <p:cNvSpPr txBox="1">
            <a:spLocks noGrp="1"/>
          </p:cNvSpPr>
          <p:nvPr>
            <p:ph type="body" idx="1"/>
          </p:nvPr>
        </p:nvSpPr>
        <p:spPr>
          <a:xfrm>
            <a:off x="311700" y="4495075"/>
            <a:ext cx="3190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9</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49"/>
        <p:cNvGrpSpPr/>
        <p:nvPr/>
      </p:nvGrpSpPr>
      <p:grpSpPr>
        <a:xfrm>
          <a:off x="0" y="0"/>
          <a:ext cx="0" cy="0"/>
          <a:chOff x="0" y="0"/>
          <a:chExt cx="0" cy="0"/>
        </a:xfrm>
      </p:grpSpPr>
      <p:sp>
        <p:nvSpPr>
          <p:cNvPr id="150" name="Google Shape;150;p23"/>
          <p:cNvSpPr txBox="1">
            <a:spLocks noGrp="1"/>
          </p:cNvSpPr>
          <p:nvPr>
            <p:ph type="title"/>
          </p:nvPr>
        </p:nvSpPr>
        <p:spPr>
          <a:xfrm>
            <a:off x="137900" y="518600"/>
            <a:ext cx="535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Generative AI</a:t>
            </a:r>
            <a:endParaRPr sz="4500" b="1">
              <a:solidFill>
                <a:srgbClr val="541900"/>
              </a:solidFill>
            </a:endParaRPr>
          </a:p>
        </p:txBody>
      </p:sp>
      <p:sp>
        <p:nvSpPr>
          <p:cNvPr id="151" name="Google Shape;151;p23"/>
          <p:cNvSpPr txBox="1">
            <a:spLocks noGrp="1"/>
          </p:cNvSpPr>
          <p:nvPr>
            <p:ph type="body" idx="1"/>
          </p:nvPr>
        </p:nvSpPr>
        <p:spPr>
          <a:xfrm>
            <a:off x="218525" y="1318400"/>
            <a:ext cx="4769400" cy="310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rgbClr val="355E3B"/>
                </a:solidFill>
              </a:rPr>
              <a:t>As a class, answer the following questions.</a:t>
            </a:r>
            <a:endParaRPr sz="2000">
              <a:solidFill>
                <a:srgbClr val="355E3B"/>
              </a:solidFill>
            </a:endParaRPr>
          </a:p>
          <a:p>
            <a:pPr marL="457200" lvl="0" indent="-355600" algn="l" rtl="0">
              <a:spcBef>
                <a:spcPts val="1200"/>
              </a:spcBef>
              <a:spcAft>
                <a:spcPts val="0"/>
              </a:spcAft>
              <a:buClr>
                <a:srgbClr val="541900"/>
              </a:buClr>
              <a:buSzPts val="2000"/>
              <a:buChar char="●"/>
            </a:pPr>
            <a:r>
              <a:rPr lang="en" sz="2000">
                <a:solidFill>
                  <a:schemeClr val="dk1"/>
                </a:solidFill>
              </a:rPr>
              <a:t>Do you know any platforms that are considered Generative AI? What are they?</a:t>
            </a:r>
            <a:endParaRPr sz="2000">
              <a:solidFill>
                <a:schemeClr val="dk1"/>
              </a:solidFill>
            </a:endParaRPr>
          </a:p>
          <a:p>
            <a:pPr marL="457200" lvl="0" indent="-355600" algn="l" rtl="0">
              <a:spcBef>
                <a:spcPts val="0"/>
              </a:spcBef>
              <a:spcAft>
                <a:spcPts val="0"/>
              </a:spcAft>
              <a:buClr>
                <a:srgbClr val="541900"/>
              </a:buClr>
              <a:buSzPts val="2000"/>
              <a:buChar char="●"/>
            </a:pPr>
            <a:r>
              <a:rPr lang="en" sz="2000">
                <a:solidFill>
                  <a:schemeClr val="dk1"/>
                </a:solidFill>
              </a:rPr>
              <a:t>What do these platforms do? What can they generate?</a:t>
            </a:r>
            <a:endParaRPr sz="2000">
              <a:solidFill>
                <a:schemeClr val="dk1"/>
              </a:solidFill>
            </a:endParaRPr>
          </a:p>
          <a:p>
            <a:pPr marL="0" lvl="0" indent="0" algn="l" rtl="0">
              <a:spcBef>
                <a:spcPts val="1200"/>
              </a:spcBef>
              <a:spcAft>
                <a:spcPts val="1200"/>
              </a:spcAft>
              <a:buNone/>
            </a:pPr>
            <a:endParaRPr sz="2000" i="1">
              <a:solidFill>
                <a:srgbClr val="355E3B"/>
              </a:solidFill>
            </a:endParaRPr>
          </a:p>
        </p:txBody>
      </p:sp>
      <p:pic>
        <p:nvPicPr>
          <p:cNvPr id="152" name="Google Shape;152;p23"/>
          <p:cNvPicPr preferRelativeResize="0"/>
          <p:nvPr/>
        </p:nvPicPr>
        <p:blipFill>
          <a:blip r:embed="rId3">
            <a:alphaModFix/>
          </a:blip>
          <a:stretch>
            <a:fillRect/>
          </a:stretch>
        </p:blipFill>
        <p:spPr>
          <a:xfrm>
            <a:off x="5233652" y="538538"/>
            <a:ext cx="3804572" cy="3804572"/>
          </a:xfrm>
          <a:prstGeom prst="rect">
            <a:avLst/>
          </a:prstGeom>
          <a:noFill/>
          <a:ln>
            <a:noFill/>
          </a:ln>
        </p:spPr>
      </p:pic>
      <p:sp>
        <p:nvSpPr>
          <p:cNvPr id="153" name="Google Shape;153;p23"/>
          <p:cNvSpPr txBox="1"/>
          <p:nvPr/>
        </p:nvSpPr>
        <p:spPr>
          <a:xfrm>
            <a:off x="5233650" y="4343100"/>
            <a:ext cx="3804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595959"/>
                </a:solidFill>
              </a:rPr>
              <a:t>Image created with ChatGPT</a:t>
            </a:r>
            <a:br>
              <a:rPr lang="en" sz="1000">
                <a:solidFill>
                  <a:srgbClr val="595959"/>
                </a:solidFill>
              </a:rPr>
            </a:br>
            <a:r>
              <a:rPr lang="en" sz="1000" i="1">
                <a:solidFill>
                  <a:srgbClr val="595959"/>
                </a:solidFill>
              </a:rPr>
              <a:t>Prompt: Generate an image that answer the question “what is generative AI?” with icons, including text, images, music, and video.</a:t>
            </a:r>
            <a:endParaRPr sz="1700" i="1">
              <a:solidFill>
                <a:srgbClr val="595959"/>
              </a:solidFill>
            </a:endParaRPr>
          </a:p>
        </p:txBody>
      </p:sp>
      <p:sp>
        <p:nvSpPr>
          <p:cNvPr id="154" name="Google Shape;154;p23"/>
          <p:cNvSpPr txBox="1">
            <a:spLocks noGrp="1"/>
          </p:cNvSpPr>
          <p:nvPr>
            <p:ph type="body" idx="1"/>
          </p:nvPr>
        </p:nvSpPr>
        <p:spPr>
          <a:xfrm>
            <a:off x="311700" y="4495075"/>
            <a:ext cx="3190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10</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58"/>
        <p:cNvGrpSpPr/>
        <p:nvPr/>
      </p:nvGrpSpPr>
      <p:grpSpPr>
        <a:xfrm>
          <a:off x="0" y="0"/>
          <a:ext cx="0" cy="0"/>
          <a:chOff x="0" y="0"/>
          <a:chExt cx="0" cy="0"/>
        </a:xfrm>
      </p:grpSpPr>
      <p:sp>
        <p:nvSpPr>
          <p:cNvPr id="159" name="Google Shape;159;p24"/>
          <p:cNvSpPr txBox="1">
            <a:spLocks noGrp="1"/>
          </p:cNvSpPr>
          <p:nvPr>
            <p:ph type="title"/>
          </p:nvPr>
        </p:nvSpPr>
        <p:spPr>
          <a:xfrm>
            <a:off x="311700" y="445025"/>
            <a:ext cx="4722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b="1">
                <a:solidFill>
                  <a:srgbClr val="541900"/>
                </a:solidFill>
              </a:rPr>
              <a:t>What is generative artificial intelligence (GenAI)?</a:t>
            </a:r>
            <a:endParaRPr sz="3600" b="1">
              <a:solidFill>
                <a:srgbClr val="541900"/>
              </a:solidFill>
            </a:endParaRPr>
          </a:p>
        </p:txBody>
      </p:sp>
      <p:sp>
        <p:nvSpPr>
          <p:cNvPr id="160" name="Google Shape;160;p24"/>
          <p:cNvSpPr txBox="1">
            <a:spLocks noGrp="1"/>
          </p:cNvSpPr>
          <p:nvPr>
            <p:ph type="subTitle" idx="4294967295"/>
          </p:nvPr>
        </p:nvSpPr>
        <p:spPr>
          <a:xfrm>
            <a:off x="311725" y="2571750"/>
            <a:ext cx="4722900" cy="14529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a:solidFill>
                  <a:schemeClr val="dk1"/>
                </a:solidFill>
              </a:rPr>
              <a:t>Generative AI is a type of </a:t>
            </a:r>
            <a:r>
              <a:rPr lang="en" sz="2000" b="1">
                <a:solidFill>
                  <a:srgbClr val="9FA617"/>
                </a:solidFill>
              </a:rPr>
              <a:t>machine intelligence</a:t>
            </a:r>
            <a:r>
              <a:rPr lang="en" sz="2000">
                <a:solidFill>
                  <a:schemeClr val="dk1"/>
                </a:solidFill>
              </a:rPr>
              <a:t> that can </a:t>
            </a:r>
            <a:r>
              <a:rPr lang="en" sz="2000" b="1">
                <a:solidFill>
                  <a:srgbClr val="9FA617"/>
                </a:solidFill>
              </a:rPr>
              <a:t>create </a:t>
            </a:r>
            <a:r>
              <a:rPr lang="en" sz="2000">
                <a:solidFill>
                  <a:schemeClr val="dk1"/>
                </a:solidFill>
              </a:rPr>
              <a:t>(or generate)</a:t>
            </a:r>
            <a:r>
              <a:rPr lang="en" sz="2000" b="1">
                <a:solidFill>
                  <a:srgbClr val="9FA617"/>
                </a:solidFill>
              </a:rPr>
              <a:t> new content</a:t>
            </a:r>
            <a:r>
              <a:rPr lang="en" sz="2000">
                <a:solidFill>
                  <a:schemeClr val="dk1"/>
                </a:solidFill>
              </a:rPr>
              <a:t>, such as text, images, music, or video.</a:t>
            </a:r>
            <a:endParaRPr sz="2000">
              <a:solidFill>
                <a:schemeClr val="dk1"/>
              </a:solidFill>
            </a:endParaRPr>
          </a:p>
        </p:txBody>
      </p:sp>
      <p:pic>
        <p:nvPicPr>
          <p:cNvPr id="161" name="Google Shape;161;p24"/>
          <p:cNvPicPr preferRelativeResize="0"/>
          <p:nvPr/>
        </p:nvPicPr>
        <p:blipFill>
          <a:blip r:embed="rId3">
            <a:alphaModFix/>
          </a:blip>
          <a:stretch>
            <a:fillRect/>
          </a:stretch>
        </p:blipFill>
        <p:spPr>
          <a:xfrm>
            <a:off x="5233652" y="538538"/>
            <a:ext cx="3804572" cy="3804572"/>
          </a:xfrm>
          <a:prstGeom prst="rect">
            <a:avLst/>
          </a:prstGeom>
          <a:noFill/>
          <a:ln>
            <a:noFill/>
          </a:ln>
        </p:spPr>
      </p:pic>
      <p:sp>
        <p:nvSpPr>
          <p:cNvPr id="162" name="Google Shape;162;p24"/>
          <p:cNvSpPr txBox="1"/>
          <p:nvPr/>
        </p:nvSpPr>
        <p:spPr>
          <a:xfrm>
            <a:off x="5233650" y="4343100"/>
            <a:ext cx="3804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595959"/>
                </a:solidFill>
              </a:rPr>
              <a:t>Image created with ChatGPT</a:t>
            </a:r>
            <a:br>
              <a:rPr lang="en" sz="1000">
                <a:solidFill>
                  <a:srgbClr val="595959"/>
                </a:solidFill>
              </a:rPr>
            </a:br>
            <a:r>
              <a:rPr lang="en" sz="1000" i="1">
                <a:solidFill>
                  <a:srgbClr val="595959"/>
                </a:solidFill>
              </a:rPr>
              <a:t>Prompt: Generate an image that answer the question “what is generative AI?” with icons, including text, images, music, and video.</a:t>
            </a:r>
            <a:endParaRPr sz="1700" i="1">
              <a:solidFill>
                <a:srgbClr val="595959"/>
              </a:solidFill>
            </a:endParaRPr>
          </a:p>
        </p:txBody>
      </p:sp>
      <p:sp>
        <p:nvSpPr>
          <p:cNvPr id="163" name="Google Shape;163;p24"/>
          <p:cNvSpPr txBox="1">
            <a:spLocks noGrp="1"/>
          </p:cNvSpPr>
          <p:nvPr>
            <p:ph type="body" idx="1"/>
          </p:nvPr>
        </p:nvSpPr>
        <p:spPr>
          <a:xfrm>
            <a:off x="311700" y="4495075"/>
            <a:ext cx="3190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11</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67"/>
        <p:cNvGrpSpPr/>
        <p:nvPr/>
      </p:nvGrpSpPr>
      <p:grpSpPr>
        <a:xfrm>
          <a:off x="0" y="0"/>
          <a:ext cx="0" cy="0"/>
          <a:chOff x="0" y="0"/>
          <a:chExt cx="0" cy="0"/>
        </a:xfrm>
      </p:grpSpPr>
      <p:sp>
        <p:nvSpPr>
          <p:cNvPr id="168" name="Google Shape;168;p25"/>
          <p:cNvSpPr txBox="1">
            <a:spLocks noGrp="1"/>
          </p:cNvSpPr>
          <p:nvPr>
            <p:ph type="title"/>
          </p:nvPr>
        </p:nvSpPr>
        <p:spPr>
          <a:xfrm>
            <a:off x="0" y="215925"/>
            <a:ext cx="914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b="1">
                <a:solidFill>
                  <a:srgbClr val="541900"/>
                </a:solidFill>
              </a:rPr>
              <a:t>Large Language Models: One form of Gen AI</a:t>
            </a:r>
            <a:endParaRPr sz="3000" b="1">
              <a:solidFill>
                <a:srgbClr val="541900"/>
              </a:solidFill>
            </a:endParaRPr>
          </a:p>
        </p:txBody>
      </p:sp>
      <p:pic>
        <p:nvPicPr>
          <p:cNvPr id="169" name="Google Shape;169;p25" descr="Dig deeper here: https://www.youtube.com/playlist?list=PLZHQObOWTQDNU6R1_67000Dx_ZCJB-3pi&#10;Technical details as a talk: https://youtu.be/KJtZARuO3JY&#10;This was made for an exhibit at the Computer History Museum: https://computerhistory.org/&#10;Instead of sponsored ad reads, these lessons are funded directly by viewers: https://3b1b.co/support&#10;&#10;No secret end-screen vlog for this one, the end-screen real estate was all full!&#10;&#10;------------------&#10;&#10;These animations are largely made using a custom Python library, manim.  See the FAQ comments here:&#10;https://3b1b.co/faq#manim&#10;https://github.com/3b1b/manim&#10;https://github.com/ManimCommunity/manim/&#10;&#10;All code for specific videos is visible here:&#10;https://github.com/3b1b/videos/&#10;&#10;The music is by Vincent Rubinetti.&#10;https://www.vincentrubinetti.com&#10;https://vincerubinetti.bandcamp.com/album/the-music-of-3blue1brown&#10;https://open.spotify.com/album/1dVyjwS8FBqXhRunaG5W5u&#10;&#10;------------------&#10;&#10;3blue1brown is a channel about animating math, in all senses of the word animate. If you're reading the bottom of a video description, I'm guessing you're more interested than the average viewer in lessons here. It would mean a lot to me if you chose to stay up to date on new ones, either by subscribing here on YouTube or otherwise following on whichever platform below you check most regularly.&#10;&#10;Mailing list: https://3blue1brown.substack.com&#10;Twitter: https://twitter.com/3blue1brown&#10;Instagram: https://www.instagram.com/3blue1brown&#10;Reddit: https://www.reddit.com/r/3blue1brown&#10;Facebook: https://www.facebook.com/3blue1brown&#10;Patreon: https://patreon.com/3blue1brown&#10;Website: https://www.3blue1brown.com" title="Large Language Models explained briefly">
            <a:hlinkClick r:id="rId3"/>
          </p:cNvPr>
          <p:cNvPicPr preferRelativeResize="0"/>
          <p:nvPr/>
        </p:nvPicPr>
        <p:blipFill>
          <a:blip r:embed="rId4">
            <a:alphaModFix/>
          </a:blip>
          <a:stretch>
            <a:fillRect/>
          </a:stretch>
        </p:blipFill>
        <p:spPr>
          <a:xfrm>
            <a:off x="1009974" y="1136225"/>
            <a:ext cx="7124045" cy="4007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73"/>
        <p:cNvGrpSpPr/>
        <p:nvPr/>
      </p:nvGrpSpPr>
      <p:grpSpPr>
        <a:xfrm>
          <a:off x="0" y="0"/>
          <a:ext cx="0" cy="0"/>
          <a:chOff x="0" y="0"/>
          <a:chExt cx="0" cy="0"/>
        </a:xfrm>
      </p:grpSpPr>
      <p:sp>
        <p:nvSpPr>
          <p:cNvPr id="174" name="Google Shape;174;p26"/>
          <p:cNvSpPr txBox="1">
            <a:spLocks noGrp="1"/>
          </p:cNvSpPr>
          <p:nvPr>
            <p:ph type="title"/>
          </p:nvPr>
        </p:nvSpPr>
        <p:spPr>
          <a:xfrm>
            <a:off x="311700" y="58800"/>
            <a:ext cx="4455300" cy="121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b="1">
                <a:solidFill>
                  <a:srgbClr val="541900"/>
                </a:solidFill>
              </a:rPr>
              <a:t>Reflecting on Large Language Models</a:t>
            </a:r>
            <a:endParaRPr sz="3600" b="1">
              <a:solidFill>
                <a:srgbClr val="541900"/>
              </a:solidFill>
            </a:endParaRPr>
          </a:p>
        </p:txBody>
      </p:sp>
      <p:sp>
        <p:nvSpPr>
          <p:cNvPr id="175" name="Google Shape;175;p26"/>
          <p:cNvSpPr txBox="1">
            <a:spLocks noGrp="1"/>
          </p:cNvSpPr>
          <p:nvPr>
            <p:ph type="body" idx="1"/>
          </p:nvPr>
        </p:nvSpPr>
        <p:spPr>
          <a:xfrm>
            <a:off x="311700" y="44950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1.1 How is Our Ocean Changing?</a:t>
            </a:r>
            <a:br>
              <a:rPr lang="en" sz="1200">
                <a:solidFill>
                  <a:schemeClr val="dk1"/>
                </a:solidFill>
              </a:rPr>
            </a:br>
            <a:r>
              <a:rPr lang="en" sz="1200">
                <a:solidFill>
                  <a:schemeClr val="dk1"/>
                </a:solidFill>
              </a:rPr>
              <a:t>Slide 13</a:t>
            </a:r>
            <a:endParaRPr sz="1200">
              <a:solidFill>
                <a:schemeClr val="dk1"/>
              </a:solidFill>
            </a:endParaRPr>
          </a:p>
        </p:txBody>
      </p:sp>
      <p:sp>
        <p:nvSpPr>
          <p:cNvPr id="176" name="Google Shape;176;p26"/>
          <p:cNvSpPr txBox="1">
            <a:spLocks noGrp="1"/>
          </p:cNvSpPr>
          <p:nvPr>
            <p:ph type="body" idx="1"/>
          </p:nvPr>
        </p:nvSpPr>
        <p:spPr>
          <a:xfrm>
            <a:off x="350400" y="1203000"/>
            <a:ext cx="4909800" cy="335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rgbClr val="355E3B"/>
                </a:solidFill>
              </a:rPr>
              <a:t>After you’ve watched the video on LLMs, answer the following questions with your team.</a:t>
            </a:r>
            <a:endParaRPr sz="2000">
              <a:solidFill>
                <a:srgbClr val="355E3B"/>
              </a:solidFill>
            </a:endParaRPr>
          </a:p>
          <a:p>
            <a:pPr marL="457200" lvl="0" indent="-355600" algn="l" rtl="0">
              <a:spcBef>
                <a:spcPts val="1200"/>
              </a:spcBef>
              <a:spcAft>
                <a:spcPts val="0"/>
              </a:spcAft>
              <a:buClr>
                <a:srgbClr val="541900"/>
              </a:buClr>
              <a:buSzPts val="2000"/>
              <a:buChar char="●"/>
            </a:pPr>
            <a:r>
              <a:rPr lang="en" sz="2000">
                <a:solidFill>
                  <a:schemeClr val="dk1"/>
                </a:solidFill>
              </a:rPr>
              <a:t>What are large language models? What makes them “large”?</a:t>
            </a:r>
            <a:endParaRPr sz="2000">
              <a:solidFill>
                <a:schemeClr val="dk1"/>
              </a:solidFill>
            </a:endParaRPr>
          </a:p>
          <a:p>
            <a:pPr marL="457200" lvl="0" indent="-355600" algn="l" rtl="0">
              <a:spcBef>
                <a:spcPts val="0"/>
              </a:spcBef>
              <a:spcAft>
                <a:spcPts val="0"/>
              </a:spcAft>
              <a:buClr>
                <a:srgbClr val="541900"/>
              </a:buClr>
              <a:buSzPts val="2000"/>
              <a:buChar char="●"/>
            </a:pPr>
            <a:r>
              <a:rPr lang="en" sz="2000">
                <a:solidFill>
                  <a:schemeClr val="dk1"/>
                </a:solidFill>
              </a:rPr>
              <a:t>If we were to build a chatbot model that sounds like you, what types of data could the chatbot be trained on?</a:t>
            </a:r>
            <a:endParaRPr sz="2000">
              <a:solidFill>
                <a:schemeClr val="dk1"/>
              </a:solidFill>
            </a:endParaRPr>
          </a:p>
          <a:p>
            <a:pPr marL="0" lvl="0" indent="0" algn="l" rtl="0">
              <a:spcBef>
                <a:spcPts val="1200"/>
              </a:spcBef>
              <a:spcAft>
                <a:spcPts val="1200"/>
              </a:spcAft>
              <a:buNone/>
            </a:pPr>
            <a:endParaRPr sz="2000" i="1">
              <a:solidFill>
                <a:srgbClr val="355E3B"/>
              </a:solidFill>
            </a:endParaRPr>
          </a:p>
        </p:txBody>
      </p:sp>
      <p:pic>
        <p:nvPicPr>
          <p:cNvPr id="177" name="Google Shape;177;p26" title="ChatGPT Image Apr 16, 2025, 01_53_27 PM.png"/>
          <p:cNvPicPr preferRelativeResize="0"/>
          <p:nvPr/>
        </p:nvPicPr>
        <p:blipFill rotWithShape="1">
          <a:blip r:embed="rId3">
            <a:alphaModFix/>
          </a:blip>
          <a:srcRect l="2902" r="2562" b="-1895"/>
          <a:stretch/>
        </p:blipFill>
        <p:spPr>
          <a:xfrm>
            <a:off x="5192350" y="234825"/>
            <a:ext cx="3770650" cy="4064251"/>
          </a:xfrm>
          <a:prstGeom prst="rect">
            <a:avLst/>
          </a:prstGeom>
          <a:noFill/>
          <a:ln>
            <a:noFill/>
          </a:ln>
        </p:spPr>
      </p:pic>
      <p:sp>
        <p:nvSpPr>
          <p:cNvPr id="178" name="Google Shape;178;p26"/>
          <p:cNvSpPr txBox="1"/>
          <p:nvPr/>
        </p:nvSpPr>
        <p:spPr>
          <a:xfrm>
            <a:off x="5233650" y="4343100"/>
            <a:ext cx="3804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595959"/>
                </a:solidFill>
              </a:rPr>
              <a:t>Image created with ChatGPT</a:t>
            </a:r>
            <a:br>
              <a:rPr lang="en" sz="1000">
                <a:solidFill>
                  <a:srgbClr val="595959"/>
                </a:solidFill>
              </a:rPr>
            </a:br>
            <a:r>
              <a:rPr lang="en" sz="1000" i="1">
                <a:solidFill>
                  <a:srgbClr val="595959"/>
                </a:solidFill>
              </a:rPr>
              <a:t>Prompt: Create an illustrated image of a large language model receiving large amounts of data</a:t>
            </a:r>
            <a:endParaRPr sz="1700" i="1">
              <a:solidFill>
                <a:srgbClr val="595959"/>
              </a:solidFill>
            </a:endParaRPr>
          </a:p>
        </p:txBody>
      </p:sp>
      <p:sp>
        <p:nvSpPr>
          <p:cNvPr id="179" name="Google Shape;179;p26">
            <a:hlinkClick r:id="rId4"/>
          </p:cNvPr>
          <p:cNvSpPr/>
          <p:nvPr/>
        </p:nvSpPr>
        <p:spPr>
          <a:xfrm>
            <a:off x="0" y="5207000"/>
            <a:ext cx="12600" cy="12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83"/>
        <p:cNvGrpSpPr/>
        <p:nvPr/>
      </p:nvGrpSpPr>
      <p:grpSpPr>
        <a:xfrm>
          <a:off x="0" y="0"/>
          <a:ext cx="0" cy="0"/>
          <a:chOff x="0" y="0"/>
          <a:chExt cx="0" cy="0"/>
        </a:xfrm>
      </p:grpSpPr>
      <p:sp>
        <p:nvSpPr>
          <p:cNvPr id="184" name="Google Shape;184;p27"/>
          <p:cNvSpPr txBox="1">
            <a:spLocks noGrp="1"/>
          </p:cNvSpPr>
          <p:nvPr>
            <p:ph type="title"/>
          </p:nvPr>
        </p:nvSpPr>
        <p:spPr>
          <a:xfrm>
            <a:off x="159300" y="2164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b="1">
                <a:solidFill>
                  <a:srgbClr val="541900"/>
                </a:solidFill>
              </a:rPr>
              <a:t>Create effective </a:t>
            </a:r>
            <a:r>
              <a:rPr lang="en" sz="4000" b="1">
                <a:solidFill>
                  <a:srgbClr val="9FA617"/>
                </a:solidFill>
              </a:rPr>
              <a:t>prompts</a:t>
            </a:r>
            <a:r>
              <a:rPr lang="en" sz="4000" b="1">
                <a:solidFill>
                  <a:srgbClr val="541900"/>
                </a:solidFill>
              </a:rPr>
              <a:t> for LLMs</a:t>
            </a:r>
            <a:endParaRPr sz="4000" b="1">
              <a:solidFill>
                <a:srgbClr val="541900"/>
              </a:solidFill>
            </a:endParaRPr>
          </a:p>
        </p:txBody>
      </p:sp>
      <p:sp>
        <p:nvSpPr>
          <p:cNvPr id="185" name="Google Shape;185;p27"/>
          <p:cNvSpPr txBox="1">
            <a:spLocks noGrp="1"/>
          </p:cNvSpPr>
          <p:nvPr>
            <p:ph type="body" idx="4294967295"/>
          </p:nvPr>
        </p:nvSpPr>
        <p:spPr>
          <a:xfrm>
            <a:off x="311700" y="949200"/>
            <a:ext cx="8373300" cy="339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900" dirty="0">
                <a:solidFill>
                  <a:srgbClr val="355E3B"/>
                </a:solidFill>
              </a:rPr>
              <a:t>When prompting GenAI, make sure you use a CLEAR prompt that:</a:t>
            </a:r>
            <a:endParaRPr sz="1900" dirty="0">
              <a:solidFill>
                <a:srgbClr val="355E3B"/>
              </a:solidFill>
            </a:endParaRPr>
          </a:p>
          <a:p>
            <a:pPr marL="0" lvl="0" indent="0" algn="l" rtl="0">
              <a:lnSpc>
                <a:spcPct val="100000"/>
              </a:lnSpc>
              <a:spcBef>
                <a:spcPts val="0"/>
              </a:spcBef>
              <a:spcAft>
                <a:spcPts val="0"/>
              </a:spcAft>
              <a:buClr>
                <a:schemeClr val="dk1"/>
              </a:buClr>
              <a:buSzPts val="1100"/>
              <a:buFont typeface="Arial"/>
              <a:buNone/>
            </a:pPr>
            <a:endParaRPr sz="1900" dirty="0">
              <a:solidFill>
                <a:srgbClr val="355E3B"/>
              </a:solidFill>
            </a:endParaRPr>
          </a:p>
          <a:p>
            <a:pPr marL="0" lvl="0" indent="0" algn="l" rtl="0">
              <a:lnSpc>
                <a:spcPct val="100000"/>
              </a:lnSpc>
              <a:spcBef>
                <a:spcPts val="0"/>
              </a:spcBef>
              <a:spcAft>
                <a:spcPts val="0"/>
              </a:spcAft>
              <a:buClr>
                <a:schemeClr val="dk1"/>
              </a:buClr>
              <a:buSzPts val="1100"/>
              <a:buFont typeface="Arial"/>
              <a:buNone/>
            </a:pPr>
            <a:r>
              <a:rPr lang="en" sz="1900" b="1" dirty="0">
                <a:solidFill>
                  <a:srgbClr val="9FA617"/>
                </a:solidFill>
              </a:rPr>
              <a:t>Concise</a:t>
            </a:r>
            <a:r>
              <a:rPr lang="en" sz="1900" dirty="0">
                <a:solidFill>
                  <a:srgbClr val="133817"/>
                </a:solidFill>
              </a:rPr>
              <a:t>: uses only essential words</a:t>
            </a:r>
            <a:endParaRPr sz="1900" i="1" dirty="0">
              <a:solidFill>
                <a:srgbClr val="133817"/>
              </a:solidFill>
            </a:endParaRPr>
          </a:p>
          <a:p>
            <a:pPr marL="0" lvl="0" indent="0" algn="l" rtl="0">
              <a:lnSpc>
                <a:spcPct val="100000"/>
              </a:lnSpc>
              <a:spcBef>
                <a:spcPts val="0"/>
              </a:spcBef>
              <a:spcAft>
                <a:spcPts val="0"/>
              </a:spcAft>
              <a:buClr>
                <a:schemeClr val="dk1"/>
              </a:buClr>
              <a:buSzPts val="1100"/>
              <a:buFont typeface="Arial"/>
              <a:buNone/>
            </a:pPr>
            <a:r>
              <a:rPr lang="en" sz="1900" b="1" dirty="0">
                <a:solidFill>
                  <a:srgbClr val="9FA617"/>
                </a:solidFill>
              </a:rPr>
              <a:t>Logical</a:t>
            </a:r>
            <a:r>
              <a:rPr lang="en" sz="1900" dirty="0">
                <a:solidFill>
                  <a:srgbClr val="133817"/>
                </a:solidFill>
              </a:rPr>
              <a:t>: has a logical structured order to your prompt</a:t>
            </a:r>
            <a:endParaRPr sz="1900" i="1" dirty="0">
              <a:solidFill>
                <a:srgbClr val="133817"/>
              </a:solidFill>
            </a:endParaRPr>
          </a:p>
          <a:p>
            <a:pPr marL="0" lvl="0" indent="0" algn="l" rtl="0">
              <a:lnSpc>
                <a:spcPct val="100000"/>
              </a:lnSpc>
              <a:spcBef>
                <a:spcPts val="0"/>
              </a:spcBef>
              <a:spcAft>
                <a:spcPts val="0"/>
              </a:spcAft>
              <a:buClr>
                <a:schemeClr val="dk1"/>
              </a:buClr>
              <a:buSzPts val="1100"/>
              <a:buFont typeface="Arial"/>
              <a:buNone/>
            </a:pPr>
            <a:r>
              <a:rPr lang="en" sz="1900" b="1" dirty="0">
                <a:solidFill>
                  <a:srgbClr val="9FA617"/>
                </a:solidFill>
              </a:rPr>
              <a:t>Explicit</a:t>
            </a:r>
            <a:r>
              <a:rPr lang="en" sz="1900" dirty="0">
                <a:solidFill>
                  <a:srgbClr val="133817"/>
                </a:solidFill>
              </a:rPr>
              <a:t>: provides exact instructions about your desired result</a:t>
            </a:r>
            <a:endParaRPr sz="1900" i="1" dirty="0">
              <a:solidFill>
                <a:srgbClr val="133817"/>
              </a:solidFill>
            </a:endParaRPr>
          </a:p>
          <a:p>
            <a:pPr marL="0" lvl="0" indent="0" algn="l" rtl="0">
              <a:lnSpc>
                <a:spcPct val="100000"/>
              </a:lnSpc>
              <a:spcBef>
                <a:spcPts val="0"/>
              </a:spcBef>
              <a:spcAft>
                <a:spcPts val="0"/>
              </a:spcAft>
              <a:buClr>
                <a:schemeClr val="dk1"/>
              </a:buClr>
              <a:buSzPts val="1100"/>
              <a:buFont typeface="Arial"/>
              <a:buNone/>
            </a:pPr>
            <a:r>
              <a:rPr lang="en" sz="1900" b="1" dirty="0">
                <a:solidFill>
                  <a:srgbClr val="9FA617"/>
                </a:solidFill>
              </a:rPr>
              <a:t>Adaptive</a:t>
            </a:r>
            <a:r>
              <a:rPr lang="en" sz="1900" dirty="0">
                <a:solidFill>
                  <a:srgbClr val="133817"/>
                </a:solidFill>
              </a:rPr>
              <a:t>: provides room to further the conversation or make improvements to your question</a:t>
            </a:r>
            <a:endParaRPr sz="1900" i="1" dirty="0">
              <a:solidFill>
                <a:srgbClr val="133817"/>
              </a:solidFill>
            </a:endParaRPr>
          </a:p>
          <a:p>
            <a:pPr marL="0" lvl="0" indent="0" algn="l" rtl="0">
              <a:lnSpc>
                <a:spcPct val="100000"/>
              </a:lnSpc>
              <a:spcBef>
                <a:spcPts val="0"/>
              </a:spcBef>
              <a:spcAft>
                <a:spcPts val="0"/>
              </a:spcAft>
              <a:buClr>
                <a:schemeClr val="dk1"/>
              </a:buClr>
              <a:buSzPts val="1100"/>
              <a:buFont typeface="Arial"/>
              <a:buNone/>
            </a:pPr>
            <a:r>
              <a:rPr lang="en" sz="1900" b="1" dirty="0">
                <a:solidFill>
                  <a:srgbClr val="9FA617"/>
                </a:solidFill>
              </a:rPr>
              <a:t>Reflective</a:t>
            </a:r>
            <a:r>
              <a:rPr lang="en" sz="1900" dirty="0">
                <a:solidFill>
                  <a:srgbClr val="133817"/>
                </a:solidFill>
              </a:rPr>
              <a:t>: provides space to interpret the result and make sense of it. Does the provided answer make sense?</a:t>
            </a:r>
            <a:endParaRPr sz="1900" b="1" i="1" dirty="0">
              <a:solidFill>
                <a:srgbClr val="355E3B"/>
              </a:solidFill>
            </a:endParaRPr>
          </a:p>
          <a:p>
            <a:pPr marL="0" lvl="0" indent="0" algn="l" rtl="0">
              <a:lnSpc>
                <a:spcPct val="100000"/>
              </a:lnSpc>
              <a:spcBef>
                <a:spcPts val="0"/>
              </a:spcBef>
              <a:spcAft>
                <a:spcPts val="0"/>
              </a:spcAft>
              <a:buNone/>
            </a:pPr>
            <a:endParaRPr sz="1900" dirty="0">
              <a:solidFill>
                <a:schemeClr val="dk1"/>
              </a:solidFill>
            </a:endParaRPr>
          </a:p>
        </p:txBody>
      </p:sp>
      <p:sp>
        <p:nvSpPr>
          <p:cNvPr id="186" name="Google Shape;186;p27"/>
          <p:cNvSpPr txBox="1">
            <a:spLocks noGrp="1"/>
          </p:cNvSpPr>
          <p:nvPr>
            <p:ph type="body" idx="1"/>
          </p:nvPr>
        </p:nvSpPr>
        <p:spPr>
          <a:xfrm>
            <a:off x="311700" y="4495075"/>
            <a:ext cx="3190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14</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90"/>
        <p:cNvGrpSpPr/>
        <p:nvPr/>
      </p:nvGrpSpPr>
      <p:grpSpPr>
        <a:xfrm>
          <a:off x="0" y="0"/>
          <a:ext cx="0" cy="0"/>
          <a:chOff x="0" y="0"/>
          <a:chExt cx="0" cy="0"/>
        </a:xfrm>
      </p:grpSpPr>
      <p:sp>
        <p:nvSpPr>
          <p:cNvPr id="191" name="Google Shape;191;p28"/>
          <p:cNvSpPr txBox="1">
            <a:spLocks noGrp="1"/>
          </p:cNvSpPr>
          <p:nvPr>
            <p:ph type="title"/>
          </p:nvPr>
        </p:nvSpPr>
        <p:spPr>
          <a:xfrm>
            <a:off x="159300" y="2164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b="1">
                <a:solidFill>
                  <a:srgbClr val="541900"/>
                </a:solidFill>
              </a:rPr>
              <a:t>Create effective </a:t>
            </a:r>
            <a:r>
              <a:rPr lang="en" sz="4000" b="1">
                <a:solidFill>
                  <a:srgbClr val="9FA617"/>
                </a:solidFill>
              </a:rPr>
              <a:t>prompts</a:t>
            </a:r>
            <a:r>
              <a:rPr lang="en" sz="4000" b="1">
                <a:solidFill>
                  <a:srgbClr val="541900"/>
                </a:solidFill>
              </a:rPr>
              <a:t> for LLMs</a:t>
            </a:r>
            <a:endParaRPr sz="4000" b="1">
              <a:solidFill>
                <a:srgbClr val="541900"/>
              </a:solidFill>
            </a:endParaRPr>
          </a:p>
        </p:txBody>
      </p:sp>
      <p:sp>
        <p:nvSpPr>
          <p:cNvPr id="192" name="Google Shape;192;p28"/>
          <p:cNvSpPr txBox="1">
            <a:spLocks noGrp="1"/>
          </p:cNvSpPr>
          <p:nvPr>
            <p:ph type="body" idx="4294967295"/>
          </p:nvPr>
        </p:nvSpPr>
        <p:spPr>
          <a:xfrm>
            <a:off x="311700" y="949200"/>
            <a:ext cx="8373300" cy="339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900">
                <a:solidFill>
                  <a:srgbClr val="355E3B"/>
                </a:solidFill>
              </a:rPr>
              <a:t>Can you come up with a prompt that shows the CLEAR principles?</a:t>
            </a:r>
            <a:endParaRPr sz="1900">
              <a:solidFill>
                <a:srgbClr val="355E3B"/>
              </a:solidFill>
            </a:endParaRPr>
          </a:p>
          <a:p>
            <a:pPr marL="0" lvl="0" indent="0" algn="l" rtl="0">
              <a:lnSpc>
                <a:spcPct val="100000"/>
              </a:lnSpc>
              <a:spcBef>
                <a:spcPts val="0"/>
              </a:spcBef>
              <a:spcAft>
                <a:spcPts val="0"/>
              </a:spcAft>
              <a:buClr>
                <a:schemeClr val="dk1"/>
              </a:buClr>
              <a:buSzPts val="1100"/>
              <a:buFont typeface="Arial"/>
              <a:buNone/>
            </a:pPr>
            <a:endParaRPr sz="1900">
              <a:solidFill>
                <a:srgbClr val="355E3B"/>
              </a:solidFill>
            </a:endParaRPr>
          </a:p>
          <a:p>
            <a:pPr marL="0" lvl="0" indent="0" algn="l" rtl="0">
              <a:lnSpc>
                <a:spcPct val="100000"/>
              </a:lnSpc>
              <a:spcBef>
                <a:spcPts val="0"/>
              </a:spcBef>
              <a:spcAft>
                <a:spcPts val="0"/>
              </a:spcAft>
              <a:buClr>
                <a:schemeClr val="dk1"/>
              </a:buClr>
              <a:buSzPts val="1100"/>
              <a:buFont typeface="Arial"/>
              <a:buNone/>
            </a:pPr>
            <a:r>
              <a:rPr lang="en" sz="1900" b="1">
                <a:solidFill>
                  <a:srgbClr val="9FA617"/>
                </a:solidFill>
              </a:rPr>
              <a:t>Concise</a:t>
            </a:r>
            <a:r>
              <a:rPr lang="en" sz="1900">
                <a:solidFill>
                  <a:srgbClr val="133817"/>
                </a:solidFill>
              </a:rPr>
              <a:t>: uses only essential words</a:t>
            </a:r>
            <a:endParaRPr sz="1900" i="1">
              <a:solidFill>
                <a:srgbClr val="133817"/>
              </a:solidFill>
            </a:endParaRPr>
          </a:p>
          <a:p>
            <a:pPr marL="0" lvl="0" indent="0" algn="l" rtl="0">
              <a:lnSpc>
                <a:spcPct val="100000"/>
              </a:lnSpc>
              <a:spcBef>
                <a:spcPts val="0"/>
              </a:spcBef>
              <a:spcAft>
                <a:spcPts val="0"/>
              </a:spcAft>
              <a:buClr>
                <a:schemeClr val="dk1"/>
              </a:buClr>
              <a:buSzPts val="1100"/>
              <a:buFont typeface="Arial"/>
              <a:buNone/>
            </a:pPr>
            <a:r>
              <a:rPr lang="en" sz="1900" b="1">
                <a:solidFill>
                  <a:srgbClr val="9FA617"/>
                </a:solidFill>
              </a:rPr>
              <a:t>Logical</a:t>
            </a:r>
            <a:r>
              <a:rPr lang="en" sz="1900">
                <a:solidFill>
                  <a:srgbClr val="133817"/>
                </a:solidFill>
              </a:rPr>
              <a:t>: has a logical structured order to your prompt</a:t>
            </a:r>
            <a:endParaRPr sz="1900" i="1">
              <a:solidFill>
                <a:srgbClr val="133817"/>
              </a:solidFill>
            </a:endParaRPr>
          </a:p>
          <a:p>
            <a:pPr marL="0" lvl="0" indent="0" algn="l" rtl="0">
              <a:lnSpc>
                <a:spcPct val="100000"/>
              </a:lnSpc>
              <a:spcBef>
                <a:spcPts val="0"/>
              </a:spcBef>
              <a:spcAft>
                <a:spcPts val="0"/>
              </a:spcAft>
              <a:buClr>
                <a:schemeClr val="dk1"/>
              </a:buClr>
              <a:buSzPts val="1100"/>
              <a:buFont typeface="Arial"/>
              <a:buNone/>
            </a:pPr>
            <a:r>
              <a:rPr lang="en" sz="1900" b="1">
                <a:solidFill>
                  <a:srgbClr val="9FA617"/>
                </a:solidFill>
              </a:rPr>
              <a:t>Explicit</a:t>
            </a:r>
            <a:r>
              <a:rPr lang="en" sz="1900">
                <a:solidFill>
                  <a:srgbClr val="133817"/>
                </a:solidFill>
              </a:rPr>
              <a:t>: provides exact instructions about your desired result</a:t>
            </a:r>
            <a:endParaRPr sz="1900" i="1">
              <a:solidFill>
                <a:srgbClr val="133817"/>
              </a:solidFill>
            </a:endParaRPr>
          </a:p>
          <a:p>
            <a:pPr marL="0" lvl="0" indent="0" algn="l" rtl="0">
              <a:lnSpc>
                <a:spcPct val="100000"/>
              </a:lnSpc>
              <a:spcBef>
                <a:spcPts val="0"/>
              </a:spcBef>
              <a:spcAft>
                <a:spcPts val="0"/>
              </a:spcAft>
              <a:buClr>
                <a:schemeClr val="dk1"/>
              </a:buClr>
              <a:buSzPts val="1100"/>
              <a:buFont typeface="Arial"/>
              <a:buNone/>
            </a:pPr>
            <a:r>
              <a:rPr lang="en" sz="1900" b="1">
                <a:solidFill>
                  <a:srgbClr val="9FA617"/>
                </a:solidFill>
              </a:rPr>
              <a:t>Adaptive</a:t>
            </a:r>
            <a:r>
              <a:rPr lang="en" sz="1900">
                <a:solidFill>
                  <a:srgbClr val="133817"/>
                </a:solidFill>
              </a:rPr>
              <a:t>: provides room to further the conversation or make improvements to your question</a:t>
            </a:r>
            <a:endParaRPr sz="1900" i="1">
              <a:solidFill>
                <a:srgbClr val="133817"/>
              </a:solidFill>
            </a:endParaRPr>
          </a:p>
          <a:p>
            <a:pPr marL="0" lvl="0" indent="0" algn="l" rtl="0">
              <a:lnSpc>
                <a:spcPct val="100000"/>
              </a:lnSpc>
              <a:spcBef>
                <a:spcPts val="0"/>
              </a:spcBef>
              <a:spcAft>
                <a:spcPts val="0"/>
              </a:spcAft>
              <a:buClr>
                <a:schemeClr val="dk1"/>
              </a:buClr>
              <a:buSzPts val="1100"/>
              <a:buFont typeface="Arial"/>
              <a:buNone/>
            </a:pPr>
            <a:r>
              <a:rPr lang="en" sz="1900" b="1">
                <a:solidFill>
                  <a:srgbClr val="9FA617"/>
                </a:solidFill>
              </a:rPr>
              <a:t>Reflective</a:t>
            </a:r>
            <a:r>
              <a:rPr lang="en" sz="1900">
                <a:solidFill>
                  <a:srgbClr val="133817"/>
                </a:solidFill>
              </a:rPr>
              <a:t>: provides space to interpret the result and make sense of it. Does the provided answer make sense?</a:t>
            </a:r>
            <a:endParaRPr sz="1900">
              <a:solidFill>
                <a:srgbClr val="133817"/>
              </a:solidFill>
            </a:endParaRPr>
          </a:p>
          <a:p>
            <a:pPr marL="0" lvl="0" indent="0" algn="l" rtl="0">
              <a:lnSpc>
                <a:spcPct val="100000"/>
              </a:lnSpc>
              <a:spcBef>
                <a:spcPts val="0"/>
              </a:spcBef>
              <a:spcAft>
                <a:spcPts val="0"/>
              </a:spcAft>
              <a:buClr>
                <a:schemeClr val="dk1"/>
              </a:buClr>
              <a:buSzPts val="1100"/>
              <a:buFont typeface="Arial"/>
              <a:buNone/>
            </a:pPr>
            <a:endParaRPr sz="1100">
              <a:solidFill>
                <a:srgbClr val="133817"/>
              </a:solidFill>
            </a:endParaRPr>
          </a:p>
          <a:p>
            <a:pPr marL="0" lvl="0" indent="0" algn="l" rtl="0">
              <a:lnSpc>
                <a:spcPct val="100000"/>
              </a:lnSpc>
              <a:spcBef>
                <a:spcPts val="0"/>
              </a:spcBef>
              <a:spcAft>
                <a:spcPts val="0"/>
              </a:spcAft>
              <a:buClr>
                <a:schemeClr val="dk1"/>
              </a:buClr>
              <a:buSzPts val="1100"/>
              <a:buFont typeface="Arial"/>
              <a:buNone/>
            </a:pPr>
            <a:r>
              <a:rPr lang="en" sz="1900" b="1" i="1">
                <a:solidFill>
                  <a:srgbClr val="355E3B"/>
                </a:solidFill>
              </a:rPr>
              <a:t>Example: How does climate change affect sea levels, and what does that mean for people living near the coast?</a:t>
            </a:r>
            <a:endParaRPr sz="1900" b="1" i="1">
              <a:solidFill>
                <a:srgbClr val="355E3B"/>
              </a:solidFill>
            </a:endParaRPr>
          </a:p>
          <a:p>
            <a:pPr marL="0" lvl="0" indent="0" algn="l" rtl="0">
              <a:lnSpc>
                <a:spcPct val="100000"/>
              </a:lnSpc>
              <a:spcBef>
                <a:spcPts val="0"/>
              </a:spcBef>
              <a:spcAft>
                <a:spcPts val="0"/>
              </a:spcAft>
              <a:buNone/>
            </a:pPr>
            <a:endParaRPr sz="1900">
              <a:solidFill>
                <a:schemeClr val="dk1"/>
              </a:solidFill>
            </a:endParaRPr>
          </a:p>
        </p:txBody>
      </p:sp>
      <p:sp>
        <p:nvSpPr>
          <p:cNvPr id="193" name="Google Shape;193;p28"/>
          <p:cNvSpPr txBox="1">
            <a:spLocks noGrp="1"/>
          </p:cNvSpPr>
          <p:nvPr>
            <p:ph type="body" idx="1"/>
          </p:nvPr>
        </p:nvSpPr>
        <p:spPr>
          <a:xfrm>
            <a:off x="311700" y="4495075"/>
            <a:ext cx="3190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15</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sp>
        <p:nvSpPr>
          <p:cNvPr id="194" name="Google Shape;194;p28">
            <a:hlinkClick r:id="rId3"/>
          </p:cNvPr>
          <p:cNvSpPr/>
          <p:nvPr/>
        </p:nvSpPr>
        <p:spPr>
          <a:xfrm>
            <a:off x="0" y="5207000"/>
            <a:ext cx="12600" cy="12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98"/>
        <p:cNvGrpSpPr/>
        <p:nvPr/>
      </p:nvGrpSpPr>
      <p:grpSpPr>
        <a:xfrm>
          <a:off x="0" y="0"/>
          <a:ext cx="0" cy="0"/>
          <a:chOff x="0" y="0"/>
          <a:chExt cx="0" cy="0"/>
        </a:xfrm>
      </p:grpSpPr>
      <p:sp>
        <p:nvSpPr>
          <p:cNvPr id="199" name="Google Shape;199;p29"/>
          <p:cNvSpPr txBox="1">
            <a:spLocks noGrp="1"/>
          </p:cNvSpPr>
          <p:nvPr>
            <p:ph type="title"/>
          </p:nvPr>
        </p:nvSpPr>
        <p:spPr>
          <a:xfrm>
            <a:off x="235500" y="140225"/>
            <a:ext cx="8373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Tips to keep in mind.</a:t>
            </a:r>
            <a:endParaRPr sz="4500" b="1">
              <a:solidFill>
                <a:srgbClr val="541900"/>
              </a:solidFill>
            </a:endParaRPr>
          </a:p>
        </p:txBody>
      </p:sp>
      <p:sp>
        <p:nvSpPr>
          <p:cNvPr id="200" name="Google Shape;200;p29"/>
          <p:cNvSpPr txBox="1">
            <a:spLocks noGrp="1"/>
          </p:cNvSpPr>
          <p:nvPr>
            <p:ph type="body" idx="4294967295"/>
          </p:nvPr>
        </p:nvSpPr>
        <p:spPr>
          <a:xfrm>
            <a:off x="311700" y="949200"/>
            <a:ext cx="8297100" cy="290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2000">
                <a:solidFill>
                  <a:srgbClr val="355E3B"/>
                </a:solidFill>
              </a:rPr>
              <a:t>While you use Gemini and search on Google, keep the following tips in mind.</a:t>
            </a:r>
            <a:endParaRPr sz="2000">
              <a:solidFill>
                <a:srgbClr val="355E3B"/>
              </a:solidFill>
            </a:endParaRPr>
          </a:p>
          <a:p>
            <a:pPr marL="0" lvl="0" indent="0" algn="l" rtl="0">
              <a:lnSpc>
                <a:spcPct val="100000"/>
              </a:lnSpc>
              <a:spcBef>
                <a:spcPts val="0"/>
              </a:spcBef>
              <a:spcAft>
                <a:spcPts val="0"/>
              </a:spcAft>
              <a:buClr>
                <a:schemeClr val="dk1"/>
              </a:buClr>
              <a:buSzPts val="1100"/>
              <a:buFont typeface="Arial"/>
              <a:buNone/>
            </a:pPr>
            <a:endParaRPr sz="2000">
              <a:solidFill>
                <a:srgbClr val="355E3B"/>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Consider the accuracy of the source. Is the information provided accurate or outdated?</a:t>
            </a:r>
            <a:endParaRPr sz="2000">
              <a:solidFill>
                <a:schemeClr val="dk1"/>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Check additional sources and make sure that the sources are reputable.</a:t>
            </a:r>
            <a:endParaRPr sz="2000">
              <a:solidFill>
                <a:schemeClr val="dk1"/>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If the response is unclear, ask for clarification and examples.</a:t>
            </a:r>
            <a:endParaRPr sz="2000">
              <a:solidFill>
                <a:schemeClr val="dk1"/>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Test varying prompts or search terms to make sure that the answers are consistent.</a:t>
            </a:r>
            <a:endParaRPr sz="200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2000">
              <a:solidFill>
                <a:srgbClr val="133817"/>
              </a:solidFill>
            </a:endParaRPr>
          </a:p>
          <a:p>
            <a:pPr marL="0" lvl="0" indent="0" algn="l" rtl="0">
              <a:lnSpc>
                <a:spcPct val="100000"/>
              </a:lnSpc>
              <a:spcBef>
                <a:spcPts val="0"/>
              </a:spcBef>
              <a:spcAft>
                <a:spcPts val="0"/>
              </a:spcAft>
              <a:buNone/>
            </a:pPr>
            <a:endParaRPr sz="2000">
              <a:solidFill>
                <a:schemeClr val="dk1"/>
              </a:solidFill>
            </a:endParaRPr>
          </a:p>
        </p:txBody>
      </p:sp>
      <p:sp>
        <p:nvSpPr>
          <p:cNvPr id="201" name="Google Shape;201;p29"/>
          <p:cNvSpPr txBox="1">
            <a:spLocks noGrp="1"/>
          </p:cNvSpPr>
          <p:nvPr>
            <p:ph type="body" idx="1"/>
          </p:nvPr>
        </p:nvSpPr>
        <p:spPr>
          <a:xfrm>
            <a:off x="311700" y="4495075"/>
            <a:ext cx="3190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16</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05"/>
        <p:cNvGrpSpPr/>
        <p:nvPr/>
      </p:nvGrpSpPr>
      <p:grpSpPr>
        <a:xfrm>
          <a:off x="0" y="0"/>
          <a:ext cx="0" cy="0"/>
          <a:chOff x="0" y="0"/>
          <a:chExt cx="0" cy="0"/>
        </a:xfrm>
      </p:grpSpPr>
      <p:sp>
        <p:nvSpPr>
          <p:cNvPr id="206" name="Google Shape;206;p30"/>
          <p:cNvSpPr txBox="1">
            <a:spLocks noGrp="1"/>
          </p:cNvSpPr>
          <p:nvPr>
            <p:ph type="title"/>
          </p:nvPr>
        </p:nvSpPr>
        <p:spPr>
          <a:xfrm>
            <a:off x="3836725" y="199725"/>
            <a:ext cx="8520600" cy="89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It’s research time!</a:t>
            </a:r>
            <a:endParaRPr sz="4500" b="1">
              <a:solidFill>
                <a:srgbClr val="541900"/>
              </a:solidFill>
            </a:endParaRPr>
          </a:p>
        </p:txBody>
      </p:sp>
      <p:sp>
        <p:nvSpPr>
          <p:cNvPr id="207" name="Google Shape;207;p30"/>
          <p:cNvSpPr txBox="1">
            <a:spLocks noGrp="1"/>
          </p:cNvSpPr>
          <p:nvPr>
            <p:ph type="body" idx="4294967295"/>
          </p:nvPr>
        </p:nvSpPr>
        <p:spPr>
          <a:xfrm>
            <a:off x="3893100" y="1989900"/>
            <a:ext cx="5033100" cy="2430600"/>
          </a:xfrm>
          <a:prstGeom prst="rect">
            <a:avLst/>
          </a:prstGeom>
        </p:spPr>
        <p:txBody>
          <a:bodyPr spcFirstLastPara="1" wrap="square" lIns="91425" tIns="91425" rIns="91425" bIns="91425" anchor="t" anchorCtr="0">
            <a:noAutofit/>
          </a:bodyPr>
          <a:lstStyle/>
          <a:p>
            <a:pPr marL="457200" lvl="0" indent="-355600" algn="l" rtl="0">
              <a:lnSpc>
                <a:spcPct val="100000"/>
              </a:lnSpc>
              <a:spcBef>
                <a:spcPts val="0"/>
              </a:spcBef>
              <a:spcAft>
                <a:spcPts val="0"/>
              </a:spcAft>
              <a:buClr>
                <a:schemeClr val="dk1"/>
              </a:buClr>
              <a:buSzPts val="2000"/>
              <a:buChar char="●"/>
            </a:pPr>
            <a:r>
              <a:rPr lang="en" sz="2000">
                <a:solidFill>
                  <a:schemeClr val="dk1"/>
                </a:solidFill>
              </a:rPr>
              <a:t>How has climate change impacted the ocean in Southern California over time?</a:t>
            </a:r>
            <a:endParaRPr sz="2000">
              <a:solidFill>
                <a:schemeClr val="dk1"/>
              </a:solidFill>
            </a:endParaRPr>
          </a:p>
          <a:p>
            <a:pPr marL="457200" lvl="0" indent="0" algn="l" rtl="0">
              <a:lnSpc>
                <a:spcPct val="100000"/>
              </a:lnSpc>
              <a:spcBef>
                <a:spcPts val="0"/>
              </a:spcBef>
              <a:spcAft>
                <a:spcPts val="0"/>
              </a:spcAft>
              <a:buNone/>
            </a:pPr>
            <a:endParaRPr sz="1000">
              <a:solidFill>
                <a:schemeClr val="dk1"/>
              </a:solidFill>
            </a:endParaRPr>
          </a:p>
          <a:p>
            <a:pPr marL="457200" lvl="0" indent="-355600" algn="l" rtl="0">
              <a:lnSpc>
                <a:spcPct val="100000"/>
              </a:lnSpc>
              <a:spcBef>
                <a:spcPts val="0"/>
              </a:spcBef>
              <a:spcAft>
                <a:spcPts val="0"/>
              </a:spcAft>
              <a:buClr>
                <a:schemeClr val="dk1"/>
              </a:buClr>
              <a:buSzPts val="2000"/>
              <a:buChar char="●"/>
            </a:pPr>
            <a:r>
              <a:rPr lang="en" sz="2000">
                <a:solidFill>
                  <a:schemeClr val="dk1"/>
                </a:solidFill>
              </a:rPr>
              <a:t>How might climate change impact the way your community interacts with the ocean?</a:t>
            </a:r>
            <a:endParaRPr sz="2000">
              <a:solidFill>
                <a:schemeClr val="dk1"/>
              </a:solidFill>
            </a:endParaRPr>
          </a:p>
          <a:p>
            <a:pPr marL="457200" lvl="0" indent="-228600" algn="l" rtl="0">
              <a:lnSpc>
                <a:spcPct val="100000"/>
              </a:lnSpc>
              <a:spcBef>
                <a:spcPts val="0"/>
              </a:spcBef>
              <a:spcAft>
                <a:spcPts val="0"/>
              </a:spcAft>
              <a:buNone/>
            </a:pPr>
            <a:endParaRPr sz="2000">
              <a:solidFill>
                <a:schemeClr val="dk1"/>
              </a:solidFill>
            </a:endParaRPr>
          </a:p>
        </p:txBody>
      </p:sp>
      <p:sp>
        <p:nvSpPr>
          <p:cNvPr id="208" name="Google Shape;208;p30"/>
          <p:cNvSpPr txBox="1">
            <a:spLocks noGrp="1"/>
          </p:cNvSpPr>
          <p:nvPr>
            <p:ph type="body" idx="1"/>
          </p:nvPr>
        </p:nvSpPr>
        <p:spPr>
          <a:xfrm>
            <a:off x="3893100" y="1036200"/>
            <a:ext cx="4878000" cy="89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100" i="1">
                <a:solidFill>
                  <a:srgbClr val="355E3B"/>
                </a:solidFill>
              </a:rPr>
              <a:t>As you research, keep the following questions in mind.</a:t>
            </a:r>
            <a:endParaRPr sz="2100" i="1">
              <a:solidFill>
                <a:srgbClr val="355E3B"/>
              </a:solidFill>
            </a:endParaRPr>
          </a:p>
          <a:p>
            <a:pPr marL="0" lvl="0" indent="0" algn="l" rtl="0">
              <a:spcBef>
                <a:spcPts val="1200"/>
              </a:spcBef>
              <a:spcAft>
                <a:spcPts val="1200"/>
              </a:spcAft>
              <a:buNone/>
            </a:pPr>
            <a:endParaRPr sz="1500" i="1">
              <a:solidFill>
                <a:srgbClr val="355E3B"/>
              </a:solidFill>
            </a:endParaRPr>
          </a:p>
        </p:txBody>
      </p:sp>
      <p:sp>
        <p:nvSpPr>
          <p:cNvPr id="209" name="Google Shape;209;p30"/>
          <p:cNvSpPr txBox="1">
            <a:spLocks noGrp="1"/>
          </p:cNvSpPr>
          <p:nvPr>
            <p:ph type="body" idx="1"/>
          </p:nvPr>
        </p:nvSpPr>
        <p:spPr>
          <a:xfrm>
            <a:off x="3893100" y="4495075"/>
            <a:ext cx="4878000" cy="512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17</a:t>
            </a:fld>
            <a:endParaRPr sz="1200">
              <a:solidFill>
                <a:srgbClr val="000000"/>
              </a:solidFill>
            </a:endParaRPr>
          </a:p>
          <a:p>
            <a:pPr marL="0" lvl="0" indent="0" algn="r" rtl="0">
              <a:spcBef>
                <a:spcPts val="1200"/>
              </a:spcBef>
              <a:spcAft>
                <a:spcPts val="1200"/>
              </a:spcAft>
              <a:buNone/>
            </a:pPr>
            <a:endParaRPr sz="1200">
              <a:solidFill>
                <a:schemeClr val="dk1"/>
              </a:solidFill>
            </a:endParaRPr>
          </a:p>
        </p:txBody>
      </p:sp>
      <p:pic>
        <p:nvPicPr>
          <p:cNvPr id="210" name="Google Shape;210;p30" title="image000000 (2).jpg"/>
          <p:cNvPicPr preferRelativeResize="0"/>
          <p:nvPr/>
        </p:nvPicPr>
        <p:blipFill rotWithShape="1">
          <a:blip r:embed="rId3">
            <a:alphaModFix/>
          </a:blip>
          <a:srcRect l="3400"/>
          <a:stretch/>
        </p:blipFill>
        <p:spPr>
          <a:xfrm>
            <a:off x="0" y="0"/>
            <a:ext cx="3726601" cy="5143501"/>
          </a:xfrm>
          <a:prstGeom prst="rect">
            <a:avLst/>
          </a:prstGeom>
          <a:noFill/>
          <a:ln>
            <a:noFill/>
          </a:ln>
        </p:spPr>
      </p:pic>
      <p:sp>
        <p:nvSpPr>
          <p:cNvPr id="211" name="Google Shape;211;p30"/>
          <p:cNvSpPr txBox="1"/>
          <p:nvPr/>
        </p:nvSpPr>
        <p:spPr>
          <a:xfrm>
            <a:off x="3711725" y="4640425"/>
            <a:ext cx="1490700" cy="6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rPr>
              <a:t>Crystal Cove State Park</a:t>
            </a:r>
            <a:endParaRPr sz="800" b="1">
              <a:solidFill>
                <a:schemeClr val="dk2"/>
              </a:solidFill>
            </a:endParaRPr>
          </a:p>
          <a:p>
            <a:pPr marL="0" lvl="0" indent="0" algn="l" rtl="0">
              <a:spcBef>
                <a:spcPts val="0"/>
              </a:spcBef>
              <a:spcAft>
                <a:spcPts val="0"/>
              </a:spcAft>
              <a:buNone/>
            </a:pPr>
            <a:r>
              <a:rPr lang="en" sz="800" b="1">
                <a:solidFill>
                  <a:schemeClr val="dk2"/>
                </a:solidFill>
              </a:rPr>
              <a:t>Newport Beach, California</a:t>
            </a:r>
            <a:endParaRPr sz="800" b="1">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15"/>
        <p:cNvGrpSpPr/>
        <p:nvPr/>
      </p:nvGrpSpPr>
      <p:grpSpPr>
        <a:xfrm>
          <a:off x="0" y="0"/>
          <a:ext cx="0" cy="0"/>
          <a:chOff x="0" y="0"/>
          <a:chExt cx="0" cy="0"/>
        </a:xfrm>
      </p:grpSpPr>
      <p:sp>
        <p:nvSpPr>
          <p:cNvPr id="216" name="Google Shape;216;p31"/>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Share</a:t>
            </a:r>
            <a:endParaRPr sz="4500" b="1">
              <a:solidFill>
                <a:srgbClr val="541900"/>
              </a:solidFill>
            </a:endParaRPr>
          </a:p>
        </p:txBody>
      </p:sp>
      <p:sp>
        <p:nvSpPr>
          <p:cNvPr id="217" name="Google Shape;217;p31"/>
          <p:cNvSpPr txBox="1">
            <a:spLocks noGrp="1"/>
          </p:cNvSpPr>
          <p:nvPr>
            <p:ph type="body" idx="4294967295"/>
          </p:nvPr>
        </p:nvSpPr>
        <p:spPr>
          <a:xfrm>
            <a:off x="311700" y="1646200"/>
            <a:ext cx="8068500" cy="2430600"/>
          </a:xfrm>
          <a:prstGeom prst="rect">
            <a:avLst/>
          </a:prstGeom>
        </p:spPr>
        <p:txBody>
          <a:bodyPr spcFirstLastPara="1" wrap="square" lIns="91425" tIns="91425" rIns="91425" bIns="91425" anchor="t" anchorCtr="0">
            <a:noAutofit/>
          </a:bodyPr>
          <a:lstStyle/>
          <a:p>
            <a:pPr marL="457200" lvl="0" indent="-349250" algn="l" rtl="0">
              <a:lnSpc>
                <a:spcPct val="100000"/>
              </a:lnSpc>
              <a:spcBef>
                <a:spcPts val="0"/>
              </a:spcBef>
              <a:spcAft>
                <a:spcPts val="0"/>
              </a:spcAft>
              <a:buClr>
                <a:srgbClr val="541900"/>
              </a:buClr>
              <a:buSzPts val="1900"/>
              <a:buFont typeface="Arial"/>
              <a:buChar char="●"/>
            </a:pPr>
            <a:r>
              <a:rPr lang="en" sz="1900">
                <a:solidFill>
                  <a:schemeClr val="dk1"/>
                </a:solidFill>
              </a:rPr>
              <a:t>What platforms did you use?</a:t>
            </a:r>
            <a:endParaRPr sz="1900">
              <a:solidFill>
                <a:schemeClr val="dk1"/>
              </a:solidFill>
            </a:endParaRPr>
          </a:p>
          <a:p>
            <a:pPr marL="457200" lvl="0" indent="-349250" algn="l" rtl="0">
              <a:lnSpc>
                <a:spcPct val="100000"/>
              </a:lnSpc>
              <a:spcBef>
                <a:spcPts val="0"/>
              </a:spcBef>
              <a:spcAft>
                <a:spcPts val="0"/>
              </a:spcAft>
              <a:buClr>
                <a:srgbClr val="541900"/>
              </a:buClr>
              <a:buSzPts val="1900"/>
              <a:buFont typeface="Arial"/>
              <a:buChar char="●"/>
            </a:pPr>
            <a:r>
              <a:rPr lang="en" sz="1900">
                <a:solidFill>
                  <a:schemeClr val="dk1"/>
                </a:solidFill>
              </a:rPr>
              <a:t>Was the way you searched for information different depending on the platform? How?</a:t>
            </a:r>
            <a:endParaRPr sz="1900">
              <a:solidFill>
                <a:schemeClr val="dk1"/>
              </a:solidFill>
            </a:endParaRPr>
          </a:p>
          <a:p>
            <a:pPr marL="457200" lvl="0" indent="-349250" algn="l" rtl="0">
              <a:lnSpc>
                <a:spcPct val="100000"/>
              </a:lnSpc>
              <a:spcBef>
                <a:spcPts val="0"/>
              </a:spcBef>
              <a:spcAft>
                <a:spcPts val="0"/>
              </a:spcAft>
              <a:buClr>
                <a:srgbClr val="541900"/>
              </a:buClr>
              <a:buSzPts val="1900"/>
              <a:buFont typeface="Arial"/>
              <a:buChar char="●"/>
            </a:pPr>
            <a:r>
              <a:rPr lang="en" sz="1900">
                <a:solidFill>
                  <a:schemeClr val="dk1"/>
                </a:solidFill>
              </a:rPr>
              <a:t>What type of responses did you get?</a:t>
            </a:r>
            <a:endParaRPr sz="1900">
              <a:solidFill>
                <a:schemeClr val="dk1"/>
              </a:solidFill>
            </a:endParaRPr>
          </a:p>
          <a:p>
            <a:pPr marL="457200" lvl="0" indent="-349250" algn="l" rtl="0">
              <a:lnSpc>
                <a:spcPct val="100000"/>
              </a:lnSpc>
              <a:spcBef>
                <a:spcPts val="0"/>
              </a:spcBef>
              <a:spcAft>
                <a:spcPts val="0"/>
              </a:spcAft>
              <a:buClr>
                <a:srgbClr val="541900"/>
              </a:buClr>
              <a:buSzPts val="1900"/>
              <a:buFont typeface="Arial"/>
              <a:buChar char="●"/>
            </a:pPr>
            <a:r>
              <a:rPr lang="en" sz="1900">
                <a:solidFill>
                  <a:schemeClr val="dk1"/>
                </a:solidFill>
              </a:rPr>
              <a:t>How did you evaluate if the information provided was accurate and reliable?</a:t>
            </a:r>
            <a:endParaRPr sz="1900">
              <a:solidFill>
                <a:schemeClr val="dk1"/>
              </a:solidFill>
            </a:endParaRPr>
          </a:p>
          <a:p>
            <a:pPr marL="457200" lvl="0" indent="-349250" algn="l" rtl="0">
              <a:lnSpc>
                <a:spcPct val="100000"/>
              </a:lnSpc>
              <a:spcBef>
                <a:spcPts val="0"/>
              </a:spcBef>
              <a:spcAft>
                <a:spcPts val="0"/>
              </a:spcAft>
              <a:buClr>
                <a:srgbClr val="541900"/>
              </a:buClr>
              <a:buSzPts val="1900"/>
              <a:buFont typeface="Arial"/>
              <a:buChar char="●"/>
            </a:pPr>
            <a:r>
              <a:rPr lang="en" sz="1900">
                <a:solidFill>
                  <a:schemeClr val="dk1"/>
                </a:solidFill>
              </a:rPr>
              <a:t>What do you think are the strengths and weaknesses of a generative AI platform like Gemini and a search engine like Google?</a:t>
            </a:r>
            <a:endParaRPr sz="1900">
              <a:solidFill>
                <a:schemeClr val="dk1"/>
              </a:solidFill>
            </a:endParaRPr>
          </a:p>
          <a:p>
            <a:pPr marL="457200" lvl="0" indent="-228600" algn="l" rtl="0">
              <a:lnSpc>
                <a:spcPct val="100000"/>
              </a:lnSpc>
              <a:spcBef>
                <a:spcPts val="0"/>
              </a:spcBef>
              <a:spcAft>
                <a:spcPts val="0"/>
              </a:spcAft>
              <a:buNone/>
            </a:pPr>
            <a:endParaRPr sz="1900">
              <a:solidFill>
                <a:schemeClr val="dk1"/>
              </a:solidFill>
            </a:endParaRPr>
          </a:p>
        </p:txBody>
      </p:sp>
      <p:sp>
        <p:nvSpPr>
          <p:cNvPr id="218" name="Google Shape;218;p31"/>
          <p:cNvSpPr txBox="1">
            <a:spLocks noGrp="1"/>
          </p:cNvSpPr>
          <p:nvPr>
            <p:ph type="body" idx="1"/>
          </p:nvPr>
        </p:nvSpPr>
        <p:spPr>
          <a:xfrm>
            <a:off x="311700" y="807600"/>
            <a:ext cx="6245100" cy="6861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i="1">
                <a:solidFill>
                  <a:srgbClr val="355E3B"/>
                </a:solidFill>
              </a:rPr>
              <a:t>Share your experiences with the class. Use the following questions to guide your ideas.</a:t>
            </a:r>
            <a:endParaRPr i="1">
              <a:solidFill>
                <a:srgbClr val="355E3B"/>
              </a:solidFill>
            </a:endParaRPr>
          </a:p>
        </p:txBody>
      </p:sp>
      <p:sp>
        <p:nvSpPr>
          <p:cNvPr id="219" name="Google Shape;219;p31"/>
          <p:cNvSpPr txBox="1">
            <a:spLocks noGrp="1"/>
          </p:cNvSpPr>
          <p:nvPr>
            <p:ph type="body" idx="1"/>
          </p:nvPr>
        </p:nvSpPr>
        <p:spPr>
          <a:xfrm>
            <a:off x="311700" y="4495075"/>
            <a:ext cx="3190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18</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sp>
        <p:nvSpPr>
          <p:cNvPr id="220" name="Google Shape;220;p31">
            <a:hlinkClick r:id="rId3"/>
          </p:cNvPr>
          <p:cNvSpPr/>
          <p:nvPr/>
        </p:nvSpPr>
        <p:spPr>
          <a:xfrm>
            <a:off x="0" y="5207000"/>
            <a:ext cx="12600" cy="12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24"/>
        <p:cNvGrpSpPr/>
        <p:nvPr/>
      </p:nvGrpSpPr>
      <p:grpSpPr>
        <a:xfrm>
          <a:off x="0" y="0"/>
          <a:ext cx="0" cy="0"/>
          <a:chOff x="0" y="0"/>
          <a:chExt cx="0" cy="0"/>
        </a:xfrm>
      </p:grpSpPr>
      <p:sp>
        <p:nvSpPr>
          <p:cNvPr id="225" name="Google Shape;225;p32"/>
          <p:cNvSpPr txBox="1">
            <a:spLocks noGrp="1"/>
          </p:cNvSpPr>
          <p:nvPr>
            <p:ph type="body" idx="1"/>
          </p:nvPr>
        </p:nvSpPr>
        <p:spPr>
          <a:xfrm>
            <a:off x="83100" y="815325"/>
            <a:ext cx="4543500" cy="10569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900" i="1">
                <a:solidFill>
                  <a:srgbClr val="355E3B"/>
                </a:solidFill>
              </a:rPr>
              <a:t>In your science journal (p.2), take a couple of minutes to reflect on your experiences during Module 1.1</a:t>
            </a:r>
            <a:endParaRPr sz="1900" i="1">
              <a:solidFill>
                <a:srgbClr val="355E3B"/>
              </a:solidFill>
            </a:endParaRPr>
          </a:p>
        </p:txBody>
      </p:sp>
      <p:sp>
        <p:nvSpPr>
          <p:cNvPr id="226" name="Google Shape;226;p32"/>
          <p:cNvSpPr txBox="1">
            <a:spLocks noGrp="1"/>
          </p:cNvSpPr>
          <p:nvPr>
            <p:ph type="title"/>
          </p:nvPr>
        </p:nvSpPr>
        <p:spPr>
          <a:xfrm>
            <a:off x="83100" y="640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Reflect</a:t>
            </a:r>
            <a:endParaRPr sz="4200" b="1">
              <a:solidFill>
                <a:srgbClr val="541900"/>
              </a:solidFill>
            </a:endParaRPr>
          </a:p>
        </p:txBody>
      </p:sp>
      <p:sp>
        <p:nvSpPr>
          <p:cNvPr id="227" name="Google Shape;227;p32"/>
          <p:cNvSpPr txBox="1">
            <a:spLocks noGrp="1"/>
          </p:cNvSpPr>
          <p:nvPr>
            <p:ph type="body" idx="2"/>
          </p:nvPr>
        </p:nvSpPr>
        <p:spPr>
          <a:xfrm>
            <a:off x="129725" y="2024625"/>
            <a:ext cx="4543500" cy="23181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Arial"/>
              <a:buChar char="●"/>
            </a:pPr>
            <a:r>
              <a:rPr lang="en">
                <a:solidFill>
                  <a:schemeClr val="dk1"/>
                </a:solidFill>
              </a:rPr>
              <a:t>How has your understanding of how climate change affects Southern California’s ocean changed after completing Module 1.1?</a:t>
            </a:r>
            <a:endParaRPr>
              <a:solidFill>
                <a:schemeClr val="dk1"/>
              </a:solidFill>
            </a:endParaRPr>
          </a:p>
          <a:p>
            <a:pPr marL="457200" lvl="0" indent="-317500" algn="l" rtl="0">
              <a:lnSpc>
                <a:spcPct val="115000"/>
              </a:lnSpc>
              <a:spcBef>
                <a:spcPts val="0"/>
              </a:spcBef>
              <a:spcAft>
                <a:spcPts val="0"/>
              </a:spcAft>
              <a:buClr>
                <a:schemeClr val="dk1"/>
              </a:buClr>
              <a:buSzPts val="1400"/>
              <a:buFont typeface="Arial"/>
              <a:buChar char="●"/>
            </a:pPr>
            <a:r>
              <a:rPr lang="en">
                <a:solidFill>
                  <a:schemeClr val="dk1"/>
                </a:solidFill>
              </a:rPr>
              <a:t>What information are you missing that can help you construct a model of how climate change is impacting Southern California’s ocean?</a:t>
            </a:r>
            <a:endParaRPr>
              <a:solidFill>
                <a:schemeClr val="dk1"/>
              </a:solidFill>
            </a:endParaRPr>
          </a:p>
          <a:p>
            <a:pPr marL="457200" lvl="0" indent="-317500" algn="l" rtl="0">
              <a:lnSpc>
                <a:spcPct val="115000"/>
              </a:lnSpc>
              <a:spcBef>
                <a:spcPts val="0"/>
              </a:spcBef>
              <a:spcAft>
                <a:spcPts val="0"/>
              </a:spcAft>
              <a:buClr>
                <a:schemeClr val="dk1"/>
              </a:buClr>
              <a:buSzPts val="1400"/>
              <a:buFont typeface="Arial"/>
              <a:buChar char="●"/>
            </a:pPr>
            <a:r>
              <a:rPr lang="en">
                <a:solidFill>
                  <a:schemeClr val="dk1"/>
                </a:solidFill>
              </a:rPr>
              <a:t>What other sources or people could help you learn more information about what you want to know?</a:t>
            </a:r>
            <a:endParaRPr sz="2100">
              <a:solidFill>
                <a:schemeClr val="dk1"/>
              </a:solidFill>
            </a:endParaRPr>
          </a:p>
        </p:txBody>
      </p:sp>
      <p:sp>
        <p:nvSpPr>
          <p:cNvPr id="228" name="Google Shape;228;p32"/>
          <p:cNvSpPr txBox="1">
            <a:spLocks noGrp="1"/>
          </p:cNvSpPr>
          <p:nvPr>
            <p:ph type="body" idx="1"/>
          </p:nvPr>
        </p:nvSpPr>
        <p:spPr>
          <a:xfrm>
            <a:off x="235500" y="4495075"/>
            <a:ext cx="3190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a:ea typeface="Arial"/>
                <a:cs typeface="Arial"/>
                <a:sym typeface="Arial"/>
              </a:rPr>
              <a:t>Module </a:t>
            </a:r>
            <a:r>
              <a:rPr lang="en" sz="1200">
                <a:solidFill>
                  <a:schemeClr val="dk1"/>
                </a:solidFill>
              </a:rPr>
              <a:t>1.1 How is Our Ocean Changing?</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fld id="{00000000-1234-1234-1234-123412341234}" type="slidenum">
              <a:rPr lang="en" sz="1200">
                <a:solidFill>
                  <a:srgbClr val="000000"/>
                </a:solidFill>
              </a:rPr>
              <a:t>19</a:t>
            </a:fld>
            <a:endParaRPr sz="1200">
              <a:solidFill>
                <a:srgbClr val="000000"/>
              </a:solidFill>
            </a:endParaRPr>
          </a:p>
          <a:p>
            <a:pPr marL="0" lvl="0" indent="0" algn="l" rtl="0">
              <a:spcBef>
                <a:spcPts val="1200"/>
              </a:spcBef>
              <a:spcAft>
                <a:spcPts val="1200"/>
              </a:spcAft>
              <a:buNone/>
            </a:pPr>
            <a:endParaRPr sz="1200">
              <a:solidFill>
                <a:schemeClr val="dk1"/>
              </a:solidFill>
            </a:endParaRPr>
          </a:p>
        </p:txBody>
      </p:sp>
      <p:pic>
        <p:nvPicPr>
          <p:cNvPr id="229" name="Google Shape;229;p32"/>
          <p:cNvPicPr preferRelativeResize="0"/>
          <p:nvPr/>
        </p:nvPicPr>
        <p:blipFill rotWithShape="1">
          <a:blip r:embed="rId3">
            <a:alphaModFix/>
          </a:blip>
          <a:srcRect l="40" t="23662" r="-40" b="4287"/>
          <a:stretch/>
        </p:blipFill>
        <p:spPr>
          <a:xfrm>
            <a:off x="4972050" y="0"/>
            <a:ext cx="4023150" cy="4361101"/>
          </a:xfrm>
          <a:prstGeom prst="rect">
            <a:avLst/>
          </a:prstGeom>
          <a:noFill/>
          <a:ln>
            <a:noFill/>
          </a:ln>
        </p:spPr>
      </p:pic>
      <p:sp>
        <p:nvSpPr>
          <p:cNvPr id="230" name="Google Shape;230;p32"/>
          <p:cNvSpPr txBox="1"/>
          <p:nvPr/>
        </p:nvSpPr>
        <p:spPr>
          <a:xfrm>
            <a:off x="4895850" y="4351075"/>
            <a:ext cx="4023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595959"/>
                </a:solidFill>
              </a:rPr>
              <a:t>Image created with ChatGPT</a:t>
            </a:r>
            <a:br>
              <a:rPr lang="en" sz="1000">
                <a:solidFill>
                  <a:srgbClr val="595959"/>
                </a:solidFill>
              </a:rPr>
            </a:br>
            <a:r>
              <a:rPr lang="en" sz="1000" i="1">
                <a:solidFill>
                  <a:srgbClr val="595959"/>
                </a:solidFill>
              </a:rPr>
              <a:t>Prompt: Create an image about SoCal beaches.</a:t>
            </a:r>
            <a:endParaRPr sz="1700" i="1">
              <a:solidFill>
                <a:srgbClr val="59595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34"/>
        <p:cNvGrpSpPr/>
        <p:nvPr/>
      </p:nvGrpSpPr>
      <p:grpSpPr>
        <a:xfrm>
          <a:off x="0" y="0"/>
          <a:ext cx="0" cy="0"/>
          <a:chOff x="0" y="0"/>
          <a:chExt cx="0" cy="0"/>
        </a:xfrm>
      </p:grpSpPr>
      <p:sp>
        <p:nvSpPr>
          <p:cNvPr id="235" name="Google Shape;235;p33"/>
          <p:cNvSpPr txBox="1">
            <a:spLocks noGrp="1"/>
          </p:cNvSpPr>
          <p:nvPr>
            <p:ph type="title"/>
          </p:nvPr>
        </p:nvSpPr>
        <p:spPr>
          <a:xfrm>
            <a:off x="311700" y="2164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Thank you!</a:t>
            </a:r>
            <a:endParaRPr sz="4500" b="1">
              <a:solidFill>
                <a:srgbClr val="541900"/>
              </a:solidFill>
            </a:endParaRPr>
          </a:p>
        </p:txBody>
      </p:sp>
      <p:sp>
        <p:nvSpPr>
          <p:cNvPr id="236" name="Google Shape;236;p33"/>
          <p:cNvSpPr txBox="1"/>
          <p:nvPr/>
        </p:nvSpPr>
        <p:spPr>
          <a:xfrm>
            <a:off x="464100" y="1069800"/>
            <a:ext cx="852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If you have any questions, please feel free to reach out.</a:t>
            </a:r>
            <a:endParaRPr sz="1800">
              <a:solidFill>
                <a:schemeClr val="dk1"/>
              </a:solidFill>
            </a:endParaRPr>
          </a:p>
        </p:txBody>
      </p:sp>
      <p:sp>
        <p:nvSpPr>
          <p:cNvPr id="237" name="Google Shape;237;p33"/>
          <p:cNvSpPr txBox="1"/>
          <p:nvPr/>
        </p:nvSpPr>
        <p:spPr>
          <a:xfrm>
            <a:off x="470802" y="3030013"/>
            <a:ext cx="36402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Ha Nguyen, Ph.D.</a:t>
            </a:r>
            <a:endParaRPr sz="2200" b="1">
              <a:solidFill>
                <a:schemeClr val="dk1"/>
              </a:solidFill>
            </a:endParaRPr>
          </a:p>
          <a:p>
            <a:pPr marL="0" lvl="0" indent="0" algn="l" rtl="0">
              <a:spcBef>
                <a:spcPts val="0"/>
              </a:spcBef>
              <a:spcAft>
                <a:spcPts val="0"/>
              </a:spcAft>
              <a:buNone/>
            </a:pPr>
            <a:r>
              <a:rPr lang="en" sz="2200">
                <a:solidFill>
                  <a:schemeClr val="dk1"/>
                </a:solidFill>
              </a:rPr>
              <a:t>Assistant Professor, UNC</a:t>
            </a:r>
            <a:endParaRPr sz="2200">
              <a:solidFill>
                <a:schemeClr val="dk1"/>
              </a:solidFill>
            </a:endParaRPr>
          </a:p>
          <a:p>
            <a:pPr marL="0" lvl="0" indent="0" algn="l" rtl="0">
              <a:spcBef>
                <a:spcPts val="0"/>
              </a:spcBef>
              <a:spcAft>
                <a:spcPts val="0"/>
              </a:spcAft>
              <a:buNone/>
            </a:pPr>
            <a:r>
              <a:rPr lang="en" sz="2200">
                <a:solidFill>
                  <a:schemeClr val="dk1"/>
                </a:solidFill>
              </a:rPr>
              <a:t>ha.nguyen@unc.edu</a:t>
            </a:r>
            <a:endParaRPr sz="2200">
              <a:solidFill>
                <a:schemeClr val="dk1"/>
              </a:solidFill>
            </a:endParaRPr>
          </a:p>
        </p:txBody>
      </p:sp>
      <p:sp>
        <p:nvSpPr>
          <p:cNvPr id="238" name="Google Shape;238;p33"/>
          <p:cNvSpPr txBox="1"/>
          <p:nvPr/>
        </p:nvSpPr>
        <p:spPr>
          <a:xfrm>
            <a:off x="470800" y="1590462"/>
            <a:ext cx="34551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Erick Valdez</a:t>
            </a:r>
            <a:endParaRPr sz="2200" b="1">
              <a:solidFill>
                <a:schemeClr val="dk1"/>
              </a:solidFill>
            </a:endParaRPr>
          </a:p>
          <a:p>
            <a:pPr marL="0" lvl="0" indent="0" algn="l" rtl="0">
              <a:spcBef>
                <a:spcPts val="0"/>
              </a:spcBef>
              <a:spcAft>
                <a:spcPts val="0"/>
              </a:spcAft>
              <a:buNone/>
            </a:pPr>
            <a:r>
              <a:rPr lang="en" sz="2200">
                <a:solidFill>
                  <a:schemeClr val="dk1"/>
                </a:solidFill>
              </a:rPr>
              <a:t>Inside the Outdoors</a:t>
            </a:r>
            <a:endParaRPr sz="2200">
              <a:solidFill>
                <a:schemeClr val="dk1"/>
              </a:solidFill>
            </a:endParaRPr>
          </a:p>
          <a:p>
            <a:pPr marL="0" lvl="0" indent="0" algn="l" rtl="0">
              <a:spcBef>
                <a:spcPts val="0"/>
              </a:spcBef>
              <a:spcAft>
                <a:spcPts val="0"/>
              </a:spcAft>
              <a:buNone/>
            </a:pPr>
            <a:r>
              <a:rPr lang="en" sz="2200">
                <a:solidFill>
                  <a:schemeClr val="dk1"/>
                </a:solidFill>
              </a:rPr>
              <a:t>evaldez@ocde.us</a:t>
            </a:r>
            <a:endParaRPr sz="2200">
              <a:solidFill>
                <a:schemeClr val="dk1"/>
              </a:solidFill>
            </a:endParaRPr>
          </a:p>
        </p:txBody>
      </p:sp>
      <p:pic>
        <p:nvPicPr>
          <p:cNvPr id="239" name="Google Shape;239;p33"/>
          <p:cNvPicPr preferRelativeResize="0"/>
          <p:nvPr/>
        </p:nvPicPr>
        <p:blipFill>
          <a:blip r:embed="rId3">
            <a:alphaModFix/>
          </a:blip>
          <a:stretch>
            <a:fillRect/>
          </a:stretch>
        </p:blipFill>
        <p:spPr>
          <a:xfrm>
            <a:off x="6872825" y="3227125"/>
            <a:ext cx="1289949" cy="1102075"/>
          </a:xfrm>
          <a:prstGeom prst="rect">
            <a:avLst/>
          </a:prstGeom>
          <a:noFill/>
          <a:ln>
            <a:noFill/>
          </a:ln>
        </p:spPr>
      </p:pic>
      <p:pic>
        <p:nvPicPr>
          <p:cNvPr id="240" name="Google Shape;240;p33" title="ITO-logo-col-clear.png"/>
          <p:cNvPicPr preferRelativeResize="0"/>
          <p:nvPr/>
        </p:nvPicPr>
        <p:blipFill>
          <a:blip r:embed="rId4">
            <a:alphaModFix/>
          </a:blip>
          <a:stretch>
            <a:fillRect/>
          </a:stretch>
        </p:blipFill>
        <p:spPr>
          <a:xfrm>
            <a:off x="5353852" y="1584350"/>
            <a:ext cx="1289950" cy="1329621"/>
          </a:xfrm>
          <a:prstGeom prst="rect">
            <a:avLst/>
          </a:prstGeom>
          <a:noFill/>
          <a:ln>
            <a:noFill/>
          </a:ln>
        </p:spPr>
      </p:pic>
      <p:pic>
        <p:nvPicPr>
          <p:cNvPr id="241" name="Google Shape;241;p33" title="University_of_California,_Irvine_seal.svg.png"/>
          <p:cNvPicPr preferRelativeResize="0"/>
          <p:nvPr/>
        </p:nvPicPr>
        <p:blipFill>
          <a:blip r:embed="rId5">
            <a:alphaModFix/>
          </a:blip>
          <a:stretch>
            <a:fillRect/>
          </a:stretch>
        </p:blipFill>
        <p:spPr>
          <a:xfrm>
            <a:off x="5410224" y="3165924"/>
            <a:ext cx="1233549" cy="1233576"/>
          </a:xfrm>
          <a:prstGeom prst="rect">
            <a:avLst/>
          </a:prstGeom>
          <a:noFill/>
          <a:ln>
            <a:noFill/>
          </a:ln>
        </p:spPr>
      </p:pic>
      <p:pic>
        <p:nvPicPr>
          <p:cNvPr id="242" name="Google Shape;242;p33" title="OCDE orange county department of education logo.png"/>
          <p:cNvPicPr preferRelativeResize="0"/>
          <p:nvPr/>
        </p:nvPicPr>
        <p:blipFill>
          <a:blip r:embed="rId6">
            <a:alphaModFix/>
          </a:blip>
          <a:stretch>
            <a:fillRect/>
          </a:stretch>
        </p:blipFill>
        <p:spPr>
          <a:xfrm>
            <a:off x="6872825" y="1602225"/>
            <a:ext cx="1289950" cy="1289950"/>
          </a:xfrm>
          <a:prstGeom prst="rect">
            <a:avLst/>
          </a:prstGeom>
          <a:noFill/>
          <a:ln>
            <a:noFill/>
          </a:ln>
        </p:spPr>
      </p:pic>
      <p:sp>
        <p:nvSpPr>
          <p:cNvPr id="243" name="Google Shape;243;p33"/>
          <p:cNvSpPr txBox="1">
            <a:spLocks noGrp="1"/>
          </p:cNvSpPr>
          <p:nvPr>
            <p:ph type="body" idx="1"/>
          </p:nvPr>
        </p:nvSpPr>
        <p:spPr>
          <a:xfrm>
            <a:off x="464100" y="4495075"/>
            <a:ext cx="4343400" cy="763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rgbClr val="000000"/>
                </a:solidFill>
              </a:rPr>
              <a:t>Module 1.1 How is Our Ocean Changing?</a:t>
            </a:r>
            <a:endParaRPr sz="1200">
              <a:solidFill>
                <a:srgbClr val="000000"/>
              </a:solidFill>
            </a:endParaRPr>
          </a:p>
          <a:p>
            <a:pPr marL="0" lvl="0" indent="0" algn="l" rtl="0">
              <a:lnSpc>
                <a:spcPct val="100000"/>
              </a:lnSpc>
              <a:spcBef>
                <a:spcPts val="200"/>
              </a:spcBef>
              <a:spcAft>
                <a:spcPts val="0"/>
              </a:spcAft>
              <a:buClr>
                <a:schemeClr val="dk1"/>
              </a:buClr>
              <a:buSzPts val="1100"/>
              <a:buFont typeface="Arial"/>
              <a:buNone/>
            </a:pPr>
            <a:r>
              <a:rPr lang="en" sz="1200">
                <a:solidFill>
                  <a:srgbClr val="000000"/>
                </a:solidFill>
              </a:rPr>
              <a:t>Slide </a:t>
            </a:r>
            <a:fld id="{00000000-1234-1234-1234-123412341234}" type="slidenum">
              <a:rPr lang="en" sz="1200">
                <a:solidFill>
                  <a:srgbClr val="000000"/>
                </a:solidFill>
              </a:rPr>
              <a:t>20</a:t>
            </a:fld>
            <a:endParaRPr sz="1200">
              <a:solidFill>
                <a:srgbClr val="000000"/>
              </a:solidFill>
            </a:endParaRPr>
          </a:p>
          <a:p>
            <a:pPr marL="0" lvl="0" indent="0" algn="l" rtl="0">
              <a:spcBef>
                <a:spcPts val="200"/>
              </a:spcBef>
              <a:spcAft>
                <a:spcPts val="1200"/>
              </a:spcAft>
              <a:buNone/>
            </a:pPr>
            <a:endParaRPr sz="120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3242</Words>
  <Application>Microsoft Macintosh PowerPoint</Application>
  <PresentationFormat>On-screen Show (16:9)</PresentationFormat>
  <Paragraphs>250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Simple Light</vt:lpstr>
      <vt:lpstr>How is Our Ocean Changing?</vt:lpstr>
      <vt:lpstr>Agents for Inclusive Science Communication (AISciComm)</vt:lpstr>
      <vt:lpstr>Who is Involved?</vt:lpstr>
      <vt:lpstr>Module Overview</vt:lpstr>
      <vt:lpstr>Divide into your project teams!</vt:lpstr>
      <vt:lpstr>Introducing your Science Journal</vt:lpstr>
      <vt:lpstr>Discuss</vt:lpstr>
      <vt:lpstr>Share</vt:lpstr>
      <vt:lpstr>Let’s Investigate!</vt:lpstr>
      <vt:lpstr>Generative AI</vt:lpstr>
      <vt:lpstr>What is generative artificial intelligence (GenAI)?</vt:lpstr>
      <vt:lpstr>Large Language Models: One form of Gen AI</vt:lpstr>
      <vt:lpstr>Reflecting on Large Language Models</vt:lpstr>
      <vt:lpstr>Create effective prompts for LLMs</vt:lpstr>
      <vt:lpstr>Create effective prompts for LLMs</vt:lpstr>
      <vt:lpstr>Tips to keep in mind.</vt:lpstr>
      <vt:lpstr>It’s research time!</vt:lpstr>
      <vt:lpstr>Share</vt:lpstr>
      <vt:lpstr>Reflect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Ha</cp:lastModifiedBy>
  <cp:revision>1</cp:revision>
  <dcterms:modified xsi:type="dcterms:W3CDTF">2026-08-20T03:26:32Z</dcterms:modified>
</cp:coreProperties>
</file>