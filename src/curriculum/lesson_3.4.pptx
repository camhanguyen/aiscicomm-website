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5E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2"/>
  </p:normalViewPr>
  <p:slideViewPr>
    <p:cSldViewPr snapToGrid="0">
      <p:cViewPr varScale="1">
        <p:scale>
          <a:sx n="153" d="100"/>
          <a:sy n="153" d="100"/>
        </p:scale>
        <p:origin x="536"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google.com/document/d/1jAqOEjbIsMi7fDmMVMyYVi6RjwXn8FwGmn1_CxcH2RY/edit?tab=t.0"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sagemodeler.concord.org/app/#shared=https%3A%2F%2Fcfm-shared.concord.org%2FH6HdF1yAjn4VAvJZXZ3n%2Ffile.json" TargetMode="External"/><Relationship Id="rId5" Type="http://schemas.openxmlformats.org/officeDocument/2006/relationships/hyperlink" Target="https://docs.google.com/document/d/1NQplRnxSCbyx3_bRrn2RFss4idBnjNDbi_aoZhufFBE/edit?tab=t.0#heading=h.degmnocpirr1" TargetMode="External"/><Relationship Id="rId4" Type="http://schemas.openxmlformats.org/officeDocument/2006/relationships/hyperlink" Target="https://docs.google.com/document/d/1UndupAAsxXThMWqwfrnMWLxA3dpkoK1Unx8y0T5mxfk/edit?tab=t.0#heading=h.66wasdi8eqf3"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ocs.google.com/presentation/d/1R0zkp2xs8a8dN1ANJEXb3VXaOPwKGn-NxAg0_ELxO2c/edit?slide=id.g3aaebfcfed8_0_0#slide=id.g3aaebfcfed8_0_0"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ocs.google.com/presentation/d/1chrodT00DJcT8Q6Z5foa-Vi6AxEebI86lOtK9h5EAZQ/edit?slide=id.g3aaec1b3456_0_64#slide=id.g3aaec1b3456_0_64"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docs.google.com/document/d/1OYL8P-VmXLmU2aZGeU95RMUtoRudtTbaGO24rFNaL1A/edit?tab=t.0"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google.com/document/d/1jAqOEjbIsMi7fDmMVMyYVi6RjwXn8FwGmn1_CxcH2RY/edit?tab=t.0"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sagemodeler.concord.org/app/#shared=https%3A%2F%2Fcfm-shared.concord.org%2FH6HdF1yAjn4VAvJZXZ3n%2Ffile.json" TargetMode="External"/><Relationship Id="rId5" Type="http://schemas.openxmlformats.org/officeDocument/2006/relationships/hyperlink" Target="https://docs.google.com/document/d/1NQplRnxSCbyx3_bRrn2RFss4idBnjNDbi_aoZhufFBE/edit?tab=t.0#heading=h.degmnocpirr1" TargetMode="External"/><Relationship Id="rId4" Type="http://schemas.openxmlformats.org/officeDocument/2006/relationships/hyperlink" Target="https://docs.google.com/document/d/1UndupAAsxXThMWqwfrnMWLxA3dpkoK1Unx8y0T5mxfk/edit?tab=t.0#heading=h.66wasdi8eqf3"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youtube.com/watch?v=ogZkV-Yj7Hc"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sagemodeler.concord.org/app/#shared=https%3A%2F%2Fcfm-shared.concord.org%2FH6HdF1yAjn4VAvJZXZ3n%2Ffile.json" TargetMode="Externa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sagemodeler.concord.org/app/#shared=https%3A%2F%2Fcfm-shared.concord.org%2FH6HdF1yAjn4VAvJZXZ3n%2Ffile.json"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docs.google.com/document/d/1OYL8P-VmXLmU2aZGeU95RMUtoRudtTbaGO24rFNaL1A/edit?tab=t.0"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19.xml"/><Relationship Id="rId1" Type="http://schemas.openxmlformats.org/officeDocument/2006/relationships/notesMaster" Target="../notesMasters/notesMaster1.xml"/><Relationship Id="rId5" Type="http://schemas.openxmlformats.org/officeDocument/2006/relationships/hyperlink" Target="https://docs.google.com/presentation/d/1chrodT00DJcT8Q6Z5foa-Vi6AxEebI86lOtK9h5EAZQ/edit?slide=id.g3aaec1b3456_0_112#slide=id.g3aaec1b3456_0_112" TargetMode="External"/><Relationship Id="rId4" Type="http://schemas.openxmlformats.org/officeDocument/2006/relationships/hyperlink" Target="https://docs.google.com/presentation/d/1R0zkp2xs8a8dN1ANJEXb3VXaOPwKGn-NxAg0_ELxO2c/edit?slide=id.g3aaebfcfed8_1_0#slide=id.g3aaebfcfed8_1_0" TargetMode="Externa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b32f63960a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32f63960a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Link to </a:t>
            </a:r>
            <a:r>
              <a:rPr lang="en" u="sng">
                <a:solidFill>
                  <a:schemeClr val="hlink"/>
                </a:solidFill>
                <a:hlinkClick r:id="rId3"/>
              </a:rPr>
              <a:t>Module 3.4 Lesson Plan</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BEFORE YOU START TEACHING</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the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Teacher Facilitation Guide</a:t>
            </a:r>
            <a:r>
              <a:rPr lang="en" sz="1200">
                <a:solidFill>
                  <a:schemeClr val="dk1"/>
                </a:solidFill>
                <a:latin typeface="Calibri"/>
                <a:ea typeface="Calibri"/>
                <a:cs typeface="Calibri"/>
                <a:sym typeface="Calibri"/>
              </a:rPr>
              <a:t> for an overview of content and the curriculum as well as helpful facilitation suggestions.</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For </a:t>
            </a:r>
            <a:r>
              <a:rPr lang="en" sz="1200" b="1">
                <a:solidFill>
                  <a:schemeClr val="dk1"/>
                </a:solidFill>
                <a:latin typeface="Calibri"/>
                <a:ea typeface="Calibri"/>
                <a:cs typeface="Calibri"/>
                <a:sym typeface="Calibri"/>
              </a:rPr>
              <a:t>Lesson 3.4</a:t>
            </a:r>
            <a:r>
              <a:rPr lang="en" sz="1200">
                <a:solidFill>
                  <a:schemeClr val="dk1"/>
                </a:solidFill>
                <a:latin typeface="Calibri"/>
                <a:ea typeface="Calibri"/>
                <a:cs typeface="Calibri"/>
                <a:sym typeface="Calibri"/>
              </a:rPr>
              <a:t>, review </a:t>
            </a:r>
            <a:r>
              <a:rPr lang="en" sz="1200" u="sng">
                <a:solidFill>
                  <a:srgbClr val="1155CC"/>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Student SageModeler Instructions</a:t>
            </a:r>
            <a:r>
              <a:rPr lang="en" sz="1200">
                <a:solidFill>
                  <a:schemeClr val="dk1"/>
                </a:solidFill>
                <a:latin typeface="Calibri"/>
                <a:ea typeface="Calibri"/>
                <a:cs typeface="Calibri"/>
                <a:sym typeface="Calibri"/>
              </a:rPr>
              <a:t> (also in Science Journal, p. 51) to model or support students. Review </a:t>
            </a:r>
            <a:r>
              <a:rPr lang="en" sz="1200" u="sng">
                <a:solidFill>
                  <a:srgbClr val="1155CC"/>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SageModeler Ocean Foodweb Preset Model</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Include a numbered list of general steps to set up the investigation before students arrive.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This can also include other things that educators should do or think about before starting the lesson, such as checking for safety concerns.</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__________</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Open the Ocean Acidification slideshow to </a:t>
            </a:r>
            <a:r>
              <a:rPr lang="en" sz="1200" b="1">
                <a:solidFill>
                  <a:schemeClr val="dk1"/>
                </a:solidFill>
                <a:latin typeface="Calibri"/>
                <a:ea typeface="Calibri"/>
                <a:cs typeface="Calibri"/>
                <a:sym typeface="Calibri"/>
              </a:rPr>
              <a:t>Slide 1</a:t>
            </a:r>
            <a:r>
              <a:rPr lang="en" sz="1200">
                <a:solidFill>
                  <a:schemeClr val="dk1"/>
                </a:solidFill>
                <a:latin typeface="Calibri"/>
                <a:ea typeface="Calibri"/>
                <a:cs typeface="Calibri"/>
                <a:sym typeface="Calibri"/>
              </a:rPr>
              <a:t> where students will see a notice that this lesson is a student-led lesson, meaning that they will move through it with their team within the next two sessions.</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b4b9de4a7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b4b9de4a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Move on to </a:t>
            </a:r>
            <a:r>
              <a:rPr lang="en" sz="1200" b="1">
                <a:solidFill>
                  <a:schemeClr val="dk1"/>
                </a:solidFill>
                <a:latin typeface="Calibri"/>
                <a:ea typeface="Calibri"/>
                <a:cs typeface="Calibri"/>
                <a:sym typeface="Calibri"/>
              </a:rPr>
              <a:t>Slide 2 </a:t>
            </a:r>
            <a:r>
              <a:rPr lang="en" sz="1200">
                <a:solidFill>
                  <a:schemeClr val="dk1"/>
                </a:solidFill>
                <a:latin typeface="Calibri"/>
                <a:ea typeface="Calibri"/>
                <a:cs typeface="Calibri"/>
                <a:sym typeface="Calibri"/>
              </a:rPr>
              <a:t>where students will see the two day overview for module 3.4.</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aaebfcfe4c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aaebfcfe4c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When student teams are ready, advance to </a:t>
            </a:r>
            <a:r>
              <a:rPr lang="en" sz="1200" b="1">
                <a:solidFill>
                  <a:schemeClr val="dk1"/>
                </a:solidFill>
                <a:latin typeface="Calibri"/>
                <a:ea typeface="Calibri"/>
                <a:cs typeface="Calibri"/>
                <a:sym typeface="Calibri"/>
              </a:rPr>
              <a:t>Slide 3</a:t>
            </a:r>
            <a:r>
              <a:rPr lang="en" sz="1200">
                <a:solidFill>
                  <a:schemeClr val="dk1"/>
                </a:solidFill>
                <a:latin typeface="Calibri"/>
                <a:ea typeface="Calibri"/>
                <a:cs typeface="Calibri"/>
                <a:sym typeface="Calibri"/>
              </a:rPr>
              <a:t> where they will see an image of a shell that is placed in an acidic solution (vinegar). Students are then asked to take 5 minutes to discuss with their group and answer the following questions.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AutoNum type="alphaLcPeriod"/>
            </a:pPr>
            <a:r>
              <a:rPr lang="en" sz="1200">
                <a:solidFill>
                  <a:schemeClr val="dk1"/>
                </a:solidFill>
                <a:latin typeface="Calibri"/>
                <a:ea typeface="Calibri"/>
                <a:cs typeface="Calibri"/>
                <a:sym typeface="Calibri"/>
              </a:rPr>
              <a:t>What do you think is happening in this image?</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AutoNum type="alphaLcPeriod"/>
            </a:pPr>
            <a:r>
              <a:rPr lang="en" sz="1200">
                <a:solidFill>
                  <a:schemeClr val="dk1"/>
                </a:solidFill>
                <a:latin typeface="Calibri"/>
                <a:ea typeface="Calibri"/>
                <a:cs typeface="Calibri"/>
                <a:sym typeface="Calibri"/>
              </a:rPr>
              <a:t>Is what you are observing a natural occurrence? </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AutoNum type="alphaLcPeriod"/>
            </a:pPr>
            <a:r>
              <a:rPr lang="en" sz="1200">
                <a:solidFill>
                  <a:schemeClr val="dk1"/>
                </a:solidFill>
                <a:latin typeface="Calibri"/>
                <a:ea typeface="Calibri"/>
                <a:cs typeface="Calibri"/>
                <a:sym typeface="Calibri"/>
              </a:rPr>
              <a:t>Why might communities want to understand this scenario?</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0" algn="l" rtl="0">
              <a:spcBef>
                <a:spcPts val="0"/>
              </a:spcBef>
              <a:spcAft>
                <a:spcPts val="0"/>
              </a:spcAft>
              <a:buNone/>
            </a:pPr>
            <a:r>
              <a:rPr lang="en" sz="1200">
                <a:solidFill>
                  <a:schemeClr val="dk1"/>
                </a:solidFill>
                <a:latin typeface="Calibri"/>
                <a:ea typeface="Calibri"/>
                <a:cs typeface="Calibri"/>
                <a:sym typeface="Calibri"/>
              </a:rPr>
              <a:t>Gather the students as a class and ask students to share their responses with the class. At this point it is not important for them to be accurate with responses, you just want to gauge what they are noticing.</a:t>
            </a: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aaec1b3456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aaec1b3456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4</a:t>
            </a:r>
            <a:r>
              <a:rPr lang="en" sz="1200">
                <a:solidFill>
                  <a:schemeClr val="dk1"/>
                </a:solidFill>
                <a:latin typeface="Calibri"/>
                <a:ea typeface="Calibri"/>
                <a:cs typeface="Calibri"/>
                <a:sym typeface="Calibri"/>
              </a:rPr>
              <a:t> and have students think back to their previous lessons in this module and ask:</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role do you think carbon dioxide might play in this process? </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happens when carbon dioxide interacts with ocean water?</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aaec1b3456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aaec1b3456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 students have discussed, have them advance to </a:t>
            </a:r>
            <a:r>
              <a:rPr lang="en" sz="1200" b="1">
                <a:solidFill>
                  <a:schemeClr val="dk1"/>
                </a:solidFill>
                <a:latin typeface="Calibri"/>
                <a:ea typeface="Calibri"/>
                <a:cs typeface="Calibri"/>
                <a:sym typeface="Calibri"/>
              </a:rPr>
              <a:t>Slide 5 </a:t>
            </a:r>
            <a:r>
              <a:rPr lang="en" sz="1200">
                <a:solidFill>
                  <a:schemeClr val="dk1"/>
                </a:solidFill>
                <a:latin typeface="Calibri"/>
                <a:ea typeface="Calibri"/>
                <a:cs typeface="Calibri"/>
                <a:sym typeface="Calibri"/>
              </a:rPr>
              <a:t>where more information is shared with students about carbon dioxide interacting with ocean water.</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i="1">
                <a:solidFill>
                  <a:schemeClr val="dk1"/>
                </a:solidFill>
                <a:latin typeface="Calibri"/>
                <a:ea typeface="Calibri"/>
                <a:cs typeface="Calibri"/>
                <a:sym typeface="Calibri"/>
              </a:rPr>
              <a:t>The image shows a shell that has been placed in an acidic solution. Our ocean leans towards a more basic pH but through reactions with atmospheric carbon dioxide, the ocean becomes slightly acidic. This is natural, but humans have impacted this reaction through the emissions of carbon dioxide.</a:t>
            </a:r>
            <a:endParaRPr sz="1200" i="1">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Stay on  </a:t>
            </a:r>
            <a:r>
              <a:rPr lang="en" sz="1200" b="1">
                <a:solidFill>
                  <a:schemeClr val="dk1"/>
                </a:solidFill>
                <a:latin typeface="Calibri"/>
                <a:ea typeface="Calibri"/>
                <a:cs typeface="Calibri"/>
                <a:sym typeface="Calibri"/>
              </a:rPr>
              <a:t>Slide 5</a:t>
            </a:r>
            <a:r>
              <a:rPr lang="en" sz="1200">
                <a:solidFill>
                  <a:schemeClr val="dk1"/>
                </a:solidFill>
                <a:latin typeface="Calibri"/>
                <a:ea typeface="Calibri"/>
                <a:cs typeface="Calibri"/>
                <a:sym typeface="Calibri"/>
              </a:rPr>
              <a:t> where students will be told that over the next two lessons, they will investigate how this might happen through a process called ocean acidification. This includes how humans have accelerated its process and how it can impact coastal accessibility for communities.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aaebfcfe4c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aaebfcfe4c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6 </a:t>
            </a:r>
            <a:r>
              <a:rPr lang="en" sz="1200">
                <a:solidFill>
                  <a:schemeClr val="dk1"/>
                </a:solidFill>
                <a:latin typeface="Calibri"/>
                <a:ea typeface="Calibri"/>
                <a:cs typeface="Calibri"/>
                <a:sym typeface="Calibri"/>
              </a:rPr>
              <a:t>and let students know that to further explore the impacts that ocean acidification has on our oceans, they are going to set up an experiment. </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 </a:t>
            </a:r>
            <a:r>
              <a:rPr lang="en" sz="1200" b="1">
                <a:solidFill>
                  <a:schemeClr val="dk1"/>
                </a:solidFill>
                <a:latin typeface="Calibri"/>
                <a:ea typeface="Calibri"/>
                <a:cs typeface="Calibri"/>
                <a:sym typeface="Calibri"/>
              </a:rPr>
              <a:t>Slide 6, </a:t>
            </a:r>
            <a:r>
              <a:rPr lang="en" sz="1200">
                <a:solidFill>
                  <a:schemeClr val="dk1"/>
                </a:solidFill>
                <a:latin typeface="Calibri"/>
                <a:ea typeface="Calibri"/>
                <a:cs typeface="Calibri"/>
                <a:sym typeface="Calibri"/>
              </a:rPr>
              <a:t>students will be introduced to a set up for an experiment, where they will see how varying ocean pH levels affect organisms living in the ocean, just like the image they saw earlier.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aaebfcfe4c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aaebfcfe4c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7 </a:t>
            </a:r>
            <a:r>
              <a:rPr lang="en" sz="1200">
                <a:solidFill>
                  <a:schemeClr val="dk1"/>
                </a:solidFill>
                <a:latin typeface="Calibri"/>
                <a:ea typeface="Calibri"/>
                <a:cs typeface="Calibri"/>
                <a:sym typeface="Calibri"/>
              </a:rPr>
              <a:t>and have students set up the experiment following the experiment set up instructions.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aaec1b3456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aaec1b3456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the experiment is set up, advance to </a:t>
            </a:r>
            <a:r>
              <a:rPr lang="en" sz="1200" b="1">
                <a:solidFill>
                  <a:schemeClr val="dk1"/>
                </a:solidFill>
                <a:latin typeface="Calibri"/>
                <a:ea typeface="Calibri"/>
                <a:cs typeface="Calibri"/>
                <a:sym typeface="Calibri"/>
              </a:rPr>
              <a:t>Slide 8 </a:t>
            </a:r>
            <a:r>
              <a:rPr lang="en" sz="1200">
                <a:solidFill>
                  <a:schemeClr val="dk1"/>
                </a:solidFill>
                <a:latin typeface="Calibri"/>
                <a:ea typeface="Calibri"/>
                <a:cs typeface="Calibri"/>
                <a:sym typeface="Calibri"/>
              </a:rPr>
              <a:t>and ask students to turn to </a:t>
            </a:r>
            <a:r>
              <a:rPr lang="en" sz="1200" b="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3.4 Ocean Acidification (Student Task, p. 46-49)</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in their Science Journals. Here they will see an observation sheet for their experiment set up.</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 this observation sheet, students will see two modeling areas, one for the basic solution and one for the acidic solution. Have students take a moment to draw a model of what they think is happening in each of the solutions under the </a:t>
            </a:r>
            <a:r>
              <a:rPr lang="en" sz="1200" b="1">
                <a:solidFill>
                  <a:schemeClr val="dk1"/>
                </a:solidFill>
                <a:latin typeface="Calibri"/>
                <a:ea typeface="Calibri"/>
                <a:cs typeface="Calibri"/>
                <a:sym typeface="Calibri"/>
              </a:rPr>
              <a:t>“Start of Experiment" </a:t>
            </a:r>
            <a:r>
              <a:rPr lang="en" sz="1200">
                <a:solidFill>
                  <a:schemeClr val="dk1"/>
                </a:solidFill>
                <a:latin typeface="Calibri"/>
                <a:ea typeface="Calibri"/>
                <a:cs typeface="Calibri"/>
                <a:sym typeface="Calibri"/>
              </a:rPr>
              <a:t>section.</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 students are drawing a model, walk around and ask probing and pressing questions to support their thinking.</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you think is happening in the solutions?</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processes or reactions are happening?</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Are there any similarities between the two? Differences?</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aaec1b3456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aaec1b3456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finish their initial model, advance to </a:t>
            </a:r>
            <a:r>
              <a:rPr lang="en" sz="1200" b="1">
                <a:solidFill>
                  <a:schemeClr val="dk1"/>
                </a:solidFill>
                <a:latin typeface="Calibri"/>
                <a:ea typeface="Calibri"/>
                <a:cs typeface="Calibri"/>
                <a:sym typeface="Calibri"/>
              </a:rPr>
              <a:t>Slide 9</a:t>
            </a:r>
            <a:r>
              <a:rPr lang="en" sz="1200">
                <a:solidFill>
                  <a:schemeClr val="dk1"/>
                </a:solidFill>
                <a:latin typeface="Calibri"/>
                <a:ea typeface="Calibri"/>
                <a:cs typeface="Calibri"/>
                <a:sym typeface="Calibri"/>
              </a:rPr>
              <a:t> and have them make a prediction on what they think will happen to the shell in each solution.</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you predict will happen to the shells in each solution? Why?</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i="1">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 students are making their predictions, walk around to answer questions they may have. If students need support making a prediction, provide a sentence frame to get them started.</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i="1">
                <a:solidFill>
                  <a:schemeClr val="dk1"/>
                </a:solidFill>
                <a:latin typeface="Calibri"/>
                <a:ea typeface="Calibri"/>
                <a:cs typeface="Calibri"/>
                <a:sym typeface="Calibri"/>
              </a:rPr>
              <a:t>We predict that the shell in the [ basic / acidic ] solution will [what will happen] because [why you think it will happen]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aaec1b3456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aec1b3456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 students have made their predictions, advance to </a:t>
            </a:r>
            <a:r>
              <a:rPr lang="en" sz="1200" b="1">
                <a:solidFill>
                  <a:schemeClr val="dk1"/>
                </a:solidFill>
                <a:latin typeface="Calibri"/>
                <a:ea typeface="Calibri"/>
                <a:cs typeface="Calibri"/>
                <a:sym typeface="Calibri"/>
              </a:rPr>
              <a:t>Slide 10</a:t>
            </a:r>
            <a:r>
              <a:rPr lang="en" sz="1200">
                <a:solidFill>
                  <a:schemeClr val="dk1"/>
                </a:solidFill>
                <a:latin typeface="Calibri"/>
                <a:ea typeface="Calibri"/>
                <a:cs typeface="Calibri"/>
                <a:sym typeface="Calibri"/>
              </a:rPr>
              <a:t>, where students will have instructions to store their experiment for day two.</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you reach the end of the class period, bring the students back together for a class conversation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See Module 3.3 &amp; 3.4 Introduction Slides, Slide 5</a:t>
            </a:r>
            <a:r>
              <a:rPr lang="en" sz="1200">
                <a:solidFill>
                  <a:schemeClr val="dk1"/>
                </a:solidFill>
                <a:latin typeface="Calibri"/>
                <a:ea typeface="Calibri"/>
                <a:cs typeface="Calibri"/>
                <a:sym typeface="Calibri"/>
              </a:rPr>
              <a:t>). As not all students did the exact same activity, get at least one student from each exploration to share responses to the following questions with the class.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did you do today?</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were some of the most surprising findings you gained from today?</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share their experiences, ask the following questions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specific data do you think is still missing to further your understanding? </a:t>
            </a:r>
            <a:endParaRPr sz="1200">
              <a:solidFill>
                <a:schemeClr val="dk1"/>
              </a:solidFill>
              <a:latin typeface="Calibri"/>
              <a:ea typeface="Calibri"/>
              <a:cs typeface="Calibri"/>
              <a:sym typeface="Calibri"/>
            </a:endParaRPr>
          </a:p>
          <a:p>
            <a:pPr marL="1371600" lvl="2"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might help strengthen your understanding of carbon dioxide’s impact on sea level rise?</a:t>
            </a:r>
            <a:endParaRPr sz="1200">
              <a:solidFill>
                <a:schemeClr val="dk1"/>
              </a:solidFill>
              <a:latin typeface="Calibri"/>
              <a:ea typeface="Calibri"/>
              <a:cs typeface="Calibri"/>
              <a:sym typeface="Calibri"/>
            </a:endParaRPr>
          </a:p>
          <a:p>
            <a:pPr marL="1371600" lvl="2"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might help strengthen your understanding of carbon dioxide’s impact on ocean acidification?</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Where might you collect this data?</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aaec1b3456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aaec1b3456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wrap up for the day, send groups back to their slideshow to reflect on the process of learning about ocean acidification and creating their experiment models  (</a:t>
            </a:r>
            <a:r>
              <a:rPr lang="en" sz="1200" u="sng">
                <a:solidFill>
                  <a:schemeClr val="hlink"/>
                </a:solidFill>
                <a:latin typeface="Calibri"/>
                <a:ea typeface="Calibri"/>
                <a:cs typeface="Calibri"/>
                <a:sym typeface="Calibri"/>
                <a:hlinkClick r:id="rId3"/>
              </a:rPr>
              <a:t>Lesson 3.4, slide 10</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457200" lvl="0" indent="-22860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11</a:t>
            </a:r>
            <a:r>
              <a:rPr lang="en" sz="1200">
                <a:solidFill>
                  <a:schemeClr val="dk1"/>
                </a:solidFill>
                <a:latin typeface="Calibri"/>
                <a:ea typeface="Calibri"/>
                <a:cs typeface="Calibri"/>
                <a:sym typeface="Calibri"/>
              </a:rPr>
              <a:t> and have student teams work together to answer the following questions together on Day 1: </a:t>
            </a:r>
            <a:r>
              <a:rPr lang="en" sz="1200" b="1" u="sng">
                <a:solidFill>
                  <a:schemeClr val="hlink"/>
                </a:solidFill>
                <a:latin typeface="Calibri"/>
                <a:ea typeface="Calibri"/>
                <a:cs typeface="Calibri"/>
                <a:sym typeface="Calibri"/>
                <a:hlinkClick r:id="rId4"/>
              </a:rPr>
              <a:t>Module 3.4 Ocean Acidification (Student Reflection)</a:t>
            </a:r>
            <a:r>
              <a:rPr lang="en" sz="1200">
                <a:solidFill>
                  <a:schemeClr val="dk1"/>
                </a:solidFill>
                <a:latin typeface="Calibri"/>
                <a:ea typeface="Calibri"/>
                <a:cs typeface="Calibri"/>
                <a:sym typeface="Calibri"/>
              </a:rPr>
              <a:t>, p. 50 in their Science Journals.</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new information or evidence changed your thinking about how CO₂ affects ocean ecosystems?</a:t>
            </a:r>
            <a:endParaRPr sz="1200">
              <a:solidFill>
                <a:schemeClr val="dk1"/>
              </a:solidFill>
              <a:latin typeface="Calibri"/>
              <a:ea typeface="Calibri"/>
              <a:cs typeface="Calibri"/>
              <a:sym typeface="Calibri"/>
            </a:endParaRPr>
          </a:p>
          <a:p>
            <a:pPr marL="9144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questions do you still have about ocean acidification? </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Thank students for their participation today and inform them that in the next session, they will continue to learn more about ocean acidification!</a:t>
            </a:r>
            <a:endParaRPr sz="12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aec1b3456_0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aaec1b3456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Link to </a:t>
            </a:r>
            <a:r>
              <a:rPr lang="en" u="sng">
                <a:solidFill>
                  <a:schemeClr val="hlink"/>
                </a:solidFill>
                <a:hlinkClick r:id="rId3"/>
              </a:rPr>
              <a:t>Module 3.4 Lesson Plan</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BEFORE YOU START TEACHING</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the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Teacher Facilitation Guide</a:t>
            </a:r>
            <a:r>
              <a:rPr lang="en" sz="1200">
                <a:solidFill>
                  <a:schemeClr val="dk1"/>
                </a:solidFill>
                <a:latin typeface="Calibri"/>
                <a:ea typeface="Calibri"/>
                <a:cs typeface="Calibri"/>
                <a:sym typeface="Calibri"/>
              </a:rPr>
              <a:t> for an overview of content and the curriculum as well as helpful facilitation suggestions.</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For </a:t>
            </a:r>
            <a:r>
              <a:rPr lang="en" sz="1200" b="1">
                <a:solidFill>
                  <a:schemeClr val="dk1"/>
                </a:solidFill>
                <a:latin typeface="Calibri"/>
                <a:ea typeface="Calibri"/>
                <a:cs typeface="Calibri"/>
                <a:sym typeface="Calibri"/>
              </a:rPr>
              <a:t>Lesson 3.4</a:t>
            </a:r>
            <a:r>
              <a:rPr lang="en" sz="1200">
                <a:solidFill>
                  <a:schemeClr val="dk1"/>
                </a:solidFill>
                <a:latin typeface="Calibri"/>
                <a:ea typeface="Calibri"/>
                <a:cs typeface="Calibri"/>
                <a:sym typeface="Calibri"/>
              </a:rPr>
              <a:t>, review </a:t>
            </a:r>
            <a:r>
              <a:rPr lang="en" sz="1200" u="sng">
                <a:solidFill>
                  <a:srgbClr val="1155CC"/>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Student SageModeler Instructions</a:t>
            </a:r>
            <a:r>
              <a:rPr lang="en" sz="1200">
                <a:solidFill>
                  <a:schemeClr val="dk1"/>
                </a:solidFill>
                <a:latin typeface="Calibri"/>
                <a:ea typeface="Calibri"/>
                <a:cs typeface="Calibri"/>
                <a:sym typeface="Calibri"/>
              </a:rPr>
              <a:t> (also in Science Journal, p. 51) to model or support students. Review </a:t>
            </a:r>
            <a:r>
              <a:rPr lang="en" sz="1200" u="sng">
                <a:solidFill>
                  <a:srgbClr val="1155CC"/>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SageModeler Ocean Foodweb Preset Model</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Include a numbered list of general steps to set up the investigation before students arrive.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This can also include other things that educators should do or think about before starting the lesson, such as checking for safety concerns.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__________</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Welcome the students back for day two of their Ocean Acidification investigation. Have students open the slideshow to </a:t>
            </a:r>
            <a:r>
              <a:rPr lang="en" sz="1200" b="1">
                <a:solidFill>
                  <a:schemeClr val="dk1"/>
                </a:solidFill>
                <a:latin typeface="Calibri"/>
                <a:ea typeface="Calibri"/>
                <a:cs typeface="Calibri"/>
                <a:sym typeface="Calibri"/>
              </a:rPr>
              <a:t>Slide 12 </a:t>
            </a:r>
            <a:r>
              <a:rPr lang="en" sz="1200">
                <a:solidFill>
                  <a:schemeClr val="dk1"/>
                </a:solidFill>
                <a:latin typeface="Calibri"/>
                <a:ea typeface="Calibri"/>
                <a:cs typeface="Calibri"/>
                <a:sym typeface="Calibri"/>
              </a:rPr>
              <a:t>where day two starts.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aaebfcfe4c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aaebfcfe4c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When students are ready, tell them that the first task they have is to watch a quick video to further learn about Ocean Acidification. Advance to </a:t>
            </a:r>
            <a:r>
              <a:rPr lang="en" sz="1200" b="1">
                <a:solidFill>
                  <a:schemeClr val="dk1"/>
                </a:solidFill>
                <a:latin typeface="Calibri"/>
                <a:ea typeface="Calibri"/>
                <a:cs typeface="Calibri"/>
                <a:sym typeface="Calibri"/>
              </a:rPr>
              <a:t>Slide 13</a:t>
            </a:r>
            <a:r>
              <a:rPr lang="en" sz="1200">
                <a:solidFill>
                  <a:schemeClr val="dk1"/>
                </a:solidFill>
                <a:latin typeface="Calibri"/>
                <a:ea typeface="Calibri"/>
                <a:cs typeface="Calibri"/>
                <a:sym typeface="Calibri"/>
              </a:rPr>
              <a:t> where students will play the video,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What is Ocean Acidification?</a:t>
            </a:r>
            <a:r>
              <a:rPr lang="en" sz="1200">
                <a:solidFill>
                  <a:schemeClr val="dk1"/>
                </a:solidFill>
                <a:latin typeface="Calibri"/>
                <a:ea typeface="Calibri"/>
                <a:cs typeface="Calibri"/>
                <a:sym typeface="Calibri"/>
              </a:rPr>
              <a:t> [2:05].</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b4b9de4a76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b4b9de4a76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 the students have watched the video, advance to </a:t>
            </a:r>
            <a:r>
              <a:rPr lang="en" sz="1200" b="1">
                <a:solidFill>
                  <a:schemeClr val="dk1"/>
                </a:solidFill>
                <a:latin typeface="Calibri"/>
                <a:ea typeface="Calibri"/>
                <a:cs typeface="Calibri"/>
                <a:sym typeface="Calibri"/>
              </a:rPr>
              <a:t>Slide 14, </a:t>
            </a:r>
            <a:r>
              <a:rPr lang="en" sz="1200">
                <a:solidFill>
                  <a:schemeClr val="dk1"/>
                </a:solidFill>
                <a:latin typeface="Calibri"/>
                <a:ea typeface="Calibri"/>
                <a:cs typeface="Calibri"/>
                <a:sym typeface="Calibri"/>
              </a:rPr>
              <a:t>where they will see the same image of the shell in an acidic solution from day one to see how their thinking has changed. As a group, have students answer the following questions.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you think is happening in this image? Why is it happening?</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Is what you are observing a natural occurrence? </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Why might communities want to understand this scenario?</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aaebfcfe4c_0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aaebfcfe4c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Have students share with their group and when they are ready, they can advance to </a:t>
            </a:r>
            <a:r>
              <a:rPr lang="en" sz="1200" b="1">
                <a:solidFill>
                  <a:schemeClr val="dk1"/>
                </a:solidFill>
                <a:latin typeface="Calibri"/>
                <a:ea typeface="Calibri"/>
                <a:cs typeface="Calibri"/>
                <a:sym typeface="Calibri"/>
              </a:rPr>
              <a:t>Slide 15. </a:t>
            </a:r>
            <a:r>
              <a:rPr lang="en" sz="1200">
                <a:solidFill>
                  <a:schemeClr val="dk1"/>
                </a:solidFill>
                <a:latin typeface="Calibri"/>
                <a:ea typeface="Calibri"/>
                <a:cs typeface="Calibri"/>
                <a:sym typeface="Calibri"/>
              </a:rPr>
              <a:t>Where they will see their goal for today.</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Today, you will further explore your experiment and use the information you gather to plan how you want to update your SageModeler model to describe how ocean acidification impacts the values your community places on Southern California’s ocean.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aaec1b3456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aaec1b3456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When students are ready, advance to </a:t>
            </a:r>
            <a:r>
              <a:rPr lang="en" sz="1200" b="1">
                <a:solidFill>
                  <a:schemeClr val="dk1"/>
                </a:solidFill>
                <a:latin typeface="Calibri"/>
                <a:ea typeface="Calibri"/>
                <a:cs typeface="Calibri"/>
                <a:sym typeface="Calibri"/>
              </a:rPr>
              <a:t>Slide 16</a:t>
            </a:r>
            <a:r>
              <a:rPr lang="en" sz="1200">
                <a:solidFill>
                  <a:schemeClr val="dk1"/>
                </a:solidFill>
                <a:latin typeface="Calibri"/>
                <a:ea typeface="Calibri"/>
                <a:cs typeface="Calibri"/>
                <a:sym typeface="Calibri"/>
              </a:rPr>
              <a:t> and have students open their Science Journal to </a:t>
            </a:r>
            <a:r>
              <a:rPr lang="en" sz="1200" b="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3.4 Ocean Acidification (Student Task) p. 46-49</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where they made observations in the previous lesson</a:t>
            </a:r>
            <a:r>
              <a:rPr lang="en" sz="1200" b="1">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Have students bring out their experiments from day one and make observations on how they have changed, drawing and labeling their observations in the section that reads </a:t>
            </a:r>
            <a:r>
              <a:rPr lang="en" sz="1200" b="1">
                <a:solidFill>
                  <a:schemeClr val="dk1"/>
                </a:solidFill>
                <a:latin typeface="Calibri"/>
                <a:ea typeface="Calibri"/>
                <a:cs typeface="Calibri"/>
                <a:sym typeface="Calibri"/>
              </a:rPr>
              <a:t>“Day Two of Experiment”. </a:t>
            </a:r>
            <a:endParaRPr sz="1200" b="1">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b="1">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 students are drawing their observations, go around and ask probing and pressing questions.</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you notice? How is this different from the beginning of the experiment?</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processes or reactions happened? What do you think caused this to happen?</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are the two experiments different? Similar?</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0" algn="l" rtl="0">
              <a:spcBef>
                <a:spcPts val="0"/>
              </a:spcBef>
              <a:spcAft>
                <a:spcPts val="0"/>
              </a:spcAft>
              <a:buNone/>
            </a:pPr>
            <a:r>
              <a:rPr lang="en" sz="1200">
                <a:solidFill>
                  <a:schemeClr val="dk1"/>
                </a:solidFill>
                <a:latin typeface="Calibri"/>
                <a:ea typeface="Calibri"/>
                <a:cs typeface="Calibri"/>
                <a:sym typeface="Calibri"/>
              </a:rPr>
              <a:t>Once students have finished filling out their observation sheets, have them clean up the experiments and ask them to move to </a:t>
            </a:r>
            <a:r>
              <a:rPr lang="en" sz="1200" b="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3.4: Impact of Carbon Dioxide Emissions on the Ocean’s pH and foodweb (</a:t>
            </a:r>
            <a:r>
              <a:rPr lang="en" sz="1200" b="1" i="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Day 2: Sage Modeler Instructions)</a:t>
            </a:r>
            <a:r>
              <a:rPr lang="en" sz="1200">
                <a:solidFill>
                  <a:schemeClr val="dk1"/>
                </a:solidFill>
                <a:latin typeface="Calibri"/>
                <a:ea typeface="Calibri"/>
                <a:cs typeface="Calibri"/>
                <a:sym typeface="Calibri"/>
              </a:rPr>
              <a:t>, p. 51 in their Science Journals. Here they will be asked to think about how to apply all the information they have gathered together through exploring a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pre-set SageModeler model</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aaebfcfe4c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aaebfcfe4c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17 </a:t>
            </a:r>
            <a:r>
              <a:rPr lang="en" sz="1200">
                <a:solidFill>
                  <a:schemeClr val="dk1"/>
                </a:solidFill>
                <a:latin typeface="Calibri"/>
                <a:ea typeface="Calibri"/>
                <a:cs typeface="Calibri"/>
                <a:sym typeface="Calibri"/>
              </a:rPr>
              <a:t>where students will see a link to visit a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preset SageModeler model.</a:t>
            </a:r>
            <a:r>
              <a:rPr lang="en" sz="1200">
                <a:solidFill>
                  <a:schemeClr val="dk1"/>
                </a:solidFill>
                <a:latin typeface="Calibri"/>
                <a:ea typeface="Calibri"/>
                <a:cs typeface="Calibri"/>
                <a:sym typeface="Calibri"/>
              </a:rPr>
              <a:t> Here they will be asked to think about how to apply all the information they have gathered.</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Open the SageModeler model and ask the students to follow along with their Science Journal on </a:t>
            </a:r>
            <a:r>
              <a:rPr lang="en" sz="1200" b="1"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Module 3.4: Impact of Carbon Dioxide Emissions on the Ocean’s pH and foodweb (</a:t>
            </a:r>
            <a:r>
              <a:rPr lang="en" sz="1200" b="1" i="1"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Day 2: Sage Modeler Instructions)</a:t>
            </a:r>
            <a:r>
              <a:rPr lang="en" sz="1200" b="1"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a:t>
            </a:r>
            <a:r>
              <a:rPr lang="en" sz="1200" b="1">
                <a:solidFill>
                  <a:schemeClr val="dk1"/>
                </a:solidFill>
                <a:latin typeface="Calibri"/>
                <a:ea typeface="Calibri"/>
                <a:cs typeface="Calibri"/>
                <a:sym typeface="Calibri"/>
              </a:rPr>
              <a:t> p. 51. </a:t>
            </a:r>
            <a:r>
              <a:rPr lang="en" sz="1200">
                <a:solidFill>
                  <a:schemeClr val="dk1"/>
                </a:solidFill>
                <a:latin typeface="Calibri"/>
                <a:ea typeface="Calibri"/>
                <a:cs typeface="Calibri"/>
                <a:sym typeface="Calibri"/>
              </a:rPr>
              <a:t>As students are investigating the model, walk around and provide support by asking probing questions.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does carbon dioxide get introduced into the Earth’s system in the model?</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happens to the sea water as it comes in contact with carbon dioxide?</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can you manipulate this model to reflect the basic solution and acidic solution scenarios you observed during your experiment?</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does increasing the amount of carbon dioxide impact the living organisms in this model?</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aaebfcfe4c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aaebfcfe4c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are finishing up, advance to </a:t>
            </a:r>
            <a:r>
              <a:rPr lang="en" sz="1200" b="1">
                <a:solidFill>
                  <a:schemeClr val="dk1"/>
                </a:solidFill>
                <a:latin typeface="Calibri"/>
                <a:ea typeface="Calibri"/>
                <a:cs typeface="Calibri"/>
                <a:sym typeface="Calibri"/>
              </a:rPr>
              <a:t>Slide 18</a:t>
            </a:r>
            <a:r>
              <a:rPr lang="en" sz="1200">
                <a:solidFill>
                  <a:schemeClr val="dk1"/>
                </a:solidFill>
                <a:latin typeface="Calibri"/>
                <a:ea typeface="Calibri"/>
                <a:cs typeface="Calibri"/>
                <a:sym typeface="Calibri"/>
              </a:rPr>
              <a:t> and ask them.</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does a change to the ocean’s pH level affect the value your community places on Southern California’s ocean?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b32cbd2d3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b32cbd2d3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wrap up their investigation, advance to </a:t>
            </a:r>
            <a:r>
              <a:rPr lang="en" sz="1200" b="1">
                <a:solidFill>
                  <a:schemeClr val="dk1"/>
                </a:solidFill>
                <a:latin typeface="Calibri"/>
                <a:ea typeface="Calibri"/>
                <a:cs typeface="Calibri"/>
                <a:sym typeface="Calibri"/>
              </a:rPr>
              <a:t>Slide 19 </a:t>
            </a:r>
            <a:r>
              <a:rPr lang="en" sz="1200">
                <a:solidFill>
                  <a:schemeClr val="dk1"/>
                </a:solidFill>
                <a:latin typeface="Calibri"/>
                <a:ea typeface="Calibri"/>
                <a:cs typeface="Calibri"/>
                <a:sym typeface="Calibri"/>
              </a:rPr>
              <a:t>and tell students that their next step is to create a plan to update their SageModeler model from Module 2 with their newfound knowledge during their investigation.</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Have students open their Science Journal in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3.4: Ocean Acidifications (</a:t>
            </a:r>
            <a:r>
              <a:rPr lang="en" sz="1200" i="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Planning to Update Our SageModler Model</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 (p.54)</a:t>
            </a:r>
            <a:r>
              <a:rPr lang="en" sz="1200">
                <a:solidFill>
                  <a:schemeClr val="dk1"/>
                </a:solidFill>
                <a:latin typeface="Calibri"/>
                <a:ea typeface="Calibri"/>
                <a:cs typeface="Calibri"/>
                <a:sym typeface="Calibri"/>
              </a:rPr>
              <a:t> where they will have a table to help them think through their updates. As students work together, walk around the groups and support them in answering the questions.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investigation did you take part in?</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did your thinking change as a result of this investigation? What new information did you learn?</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you want to add, remove, or update in your SageModeler model?</a:t>
            </a:r>
            <a:endParaRPr sz="1200">
              <a:solidFill>
                <a:schemeClr val="dk1"/>
              </a:solidFill>
              <a:latin typeface="Calibri"/>
              <a:ea typeface="Calibri"/>
              <a:cs typeface="Calibri"/>
              <a:sym typeface="Calibri"/>
            </a:endParaRPr>
          </a:p>
          <a:p>
            <a:pPr marL="914400" lvl="0" indent="0" algn="l" rtl="0">
              <a:spcBef>
                <a:spcPts val="0"/>
              </a:spcBef>
              <a:spcAft>
                <a:spcPts val="0"/>
              </a:spcAft>
              <a:buNone/>
            </a:pPr>
            <a:r>
              <a:rPr lang="en" sz="1200" i="1">
                <a:solidFill>
                  <a:schemeClr val="dk1"/>
                </a:solidFill>
                <a:latin typeface="Calibri"/>
                <a:ea typeface="Calibri"/>
                <a:cs typeface="Calibri"/>
                <a:sym typeface="Calibri"/>
              </a:rPr>
              <a:t>Students may need support in thinking about how to expand their original model, invite students to take a look back at their materials from module 3 so far and look at what components they investigated. </a:t>
            </a:r>
            <a:endParaRPr sz="1200" i="1">
              <a:solidFill>
                <a:schemeClr val="dk1"/>
              </a:solidFill>
              <a:latin typeface="Calibri"/>
              <a:ea typeface="Calibri"/>
              <a:cs typeface="Calibri"/>
              <a:sym typeface="Calibri"/>
            </a:endParaRPr>
          </a:p>
          <a:p>
            <a:pPr marL="914400" lvl="0" indent="0" algn="l" rtl="0">
              <a:spcBef>
                <a:spcPts val="0"/>
              </a:spcBef>
              <a:spcAft>
                <a:spcPts val="0"/>
              </a:spcAft>
              <a:buNone/>
            </a:pPr>
            <a:endParaRPr sz="1200">
              <a:solidFill>
                <a:schemeClr val="dk1"/>
              </a:solidFill>
              <a:latin typeface="Calibri"/>
              <a:ea typeface="Calibri"/>
              <a:cs typeface="Calibri"/>
              <a:sym typeface="Calibri"/>
            </a:endParaRPr>
          </a:p>
          <a:p>
            <a:pPr marL="914400" lvl="0" indent="0" algn="l" rtl="0">
              <a:spcBef>
                <a:spcPts val="0"/>
              </a:spcBef>
              <a:spcAft>
                <a:spcPts val="0"/>
              </a:spcAft>
              <a:buNone/>
            </a:pPr>
            <a:r>
              <a:rPr lang="en" sz="1200">
                <a:solidFill>
                  <a:schemeClr val="dk1"/>
                </a:solidFill>
                <a:latin typeface="Calibri"/>
                <a:ea typeface="Calibri"/>
                <a:cs typeface="Calibri"/>
                <a:sym typeface="Calibri"/>
              </a:rPr>
              <a:t>Some options may include</a:t>
            </a:r>
            <a:endParaRPr sz="1200">
              <a:solidFill>
                <a:schemeClr val="dk1"/>
              </a:solidFill>
              <a:latin typeface="Calibri"/>
              <a:ea typeface="Calibri"/>
              <a:cs typeface="Calibri"/>
              <a:sym typeface="Calibri"/>
            </a:endParaRPr>
          </a:p>
          <a:p>
            <a:pPr marL="1371600" lvl="0" indent="-304800" algn="l" rtl="0">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For all investigations:</a:t>
            </a:r>
            <a:r>
              <a:rPr lang="en" sz="1200">
                <a:solidFill>
                  <a:schemeClr val="dk1"/>
                </a:solidFill>
                <a:latin typeface="Calibri"/>
                <a:ea typeface="Calibri"/>
                <a:cs typeface="Calibri"/>
                <a:sym typeface="Calibri"/>
              </a:rPr>
              <a:t> carbon dioxide emissions and atmospheric carbon dioxide.</a:t>
            </a:r>
            <a:endParaRPr sz="1200">
              <a:solidFill>
                <a:schemeClr val="dk1"/>
              </a:solidFill>
              <a:latin typeface="Calibri"/>
              <a:ea typeface="Calibri"/>
              <a:cs typeface="Calibri"/>
              <a:sym typeface="Calibri"/>
            </a:endParaRPr>
          </a:p>
          <a:p>
            <a:pPr marL="1371600" lvl="0" indent="-304800" algn="l" rtl="0">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For sea level rise and coastal erosion investigations:</a:t>
            </a:r>
            <a:r>
              <a:rPr lang="en" sz="1200">
                <a:solidFill>
                  <a:schemeClr val="dk1"/>
                </a:solidFill>
                <a:latin typeface="Calibri"/>
                <a:ea typeface="Calibri"/>
                <a:cs typeface="Calibri"/>
                <a:sym typeface="Calibri"/>
              </a:rPr>
              <a:t> melting land ice, shoreline width, or flooding</a:t>
            </a:r>
            <a:endParaRPr sz="1200">
              <a:solidFill>
                <a:schemeClr val="dk1"/>
              </a:solidFill>
              <a:latin typeface="Calibri"/>
              <a:ea typeface="Calibri"/>
              <a:cs typeface="Calibri"/>
              <a:sym typeface="Calibri"/>
            </a:endParaRPr>
          </a:p>
          <a:p>
            <a:pPr marL="1371600" lvl="0" indent="-304800" algn="l" rtl="0">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For ocean acidification investigations:</a:t>
            </a:r>
            <a:r>
              <a:rPr lang="en" sz="1200">
                <a:solidFill>
                  <a:schemeClr val="dk1"/>
                </a:solidFill>
                <a:latin typeface="Calibri"/>
                <a:ea typeface="Calibri"/>
                <a:cs typeface="Calibri"/>
                <a:sym typeface="Calibri"/>
              </a:rPr>
              <a:t> ocean pH levels, organisms with calcium carbonate shells, or connections back to the food chain that impacts their value, for example, availability of fish.</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i="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have created their plan, bring the class back together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Reference AISciComm Module 3.3 &amp; 3.4 Introduction Slides, slide </a:t>
            </a:r>
            <a:r>
              <a:rPr lang="en" sz="1200">
                <a:solidFill>
                  <a:schemeClr val="dk1"/>
                </a:solidFill>
                <a:latin typeface="Calibri"/>
                <a:ea typeface="Calibri"/>
                <a:cs typeface="Calibri"/>
                <a:sym typeface="Calibri"/>
              </a:rPr>
              <a:t>7) and have them share out with the class if time permits. Since different students will have different investigations and their models share different values, focus on the following question.</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value does your SageModeler model center on?</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investigation did you take part in? (sea level rise or ocean acidification)’</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 you want to update your SageModeler model as a result of your investigation? How does this impact connect with the value your model centers? </a:t>
            </a: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Then, return to </a:t>
            </a:r>
            <a:r>
              <a:rPr lang="en" sz="1200" u="sng">
                <a:solidFill>
                  <a:srgbClr val="1155CC"/>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AISciComm Module 3.4 Slides, slide 20</a:t>
            </a:r>
            <a:endParaRPr sz="12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aaec1b3456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aaec1b3456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wrap up for the day, their final task for the day is to reflect on what they did.</a:t>
            </a:r>
            <a:endParaRPr sz="1200">
              <a:solidFill>
                <a:schemeClr val="dk1"/>
              </a:solidFill>
              <a:latin typeface="Calibri"/>
              <a:ea typeface="Calibri"/>
              <a:cs typeface="Calibri"/>
              <a:sym typeface="Calibri"/>
            </a:endParaRPr>
          </a:p>
          <a:p>
            <a:pPr marL="4572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20</a:t>
            </a:r>
            <a:r>
              <a:rPr lang="en" sz="1200">
                <a:solidFill>
                  <a:schemeClr val="dk1"/>
                </a:solidFill>
                <a:latin typeface="Calibri"/>
                <a:ea typeface="Calibri"/>
                <a:cs typeface="Calibri"/>
                <a:sym typeface="Calibri"/>
              </a:rPr>
              <a:t> and have student teams work together to answer the following questions together in </a:t>
            </a:r>
            <a:r>
              <a:rPr lang="en" sz="1200" b="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3.4 Ocean Acidification (Day 2: Student Reflection),</a:t>
            </a:r>
            <a:r>
              <a:rPr lang="en" sz="1200" b="1">
                <a:solidFill>
                  <a:schemeClr val="dk1"/>
                </a:solidFill>
                <a:latin typeface="Calibri"/>
                <a:ea typeface="Calibri"/>
                <a:cs typeface="Calibri"/>
                <a:sym typeface="Calibri"/>
              </a:rPr>
              <a:t> p.55 </a:t>
            </a:r>
            <a:r>
              <a:rPr lang="en" sz="1200">
                <a:solidFill>
                  <a:schemeClr val="dk1"/>
                </a:solidFill>
                <a:latin typeface="Calibri"/>
                <a:ea typeface="Calibri"/>
                <a:cs typeface="Calibri"/>
                <a:sym typeface="Calibri"/>
              </a:rPr>
              <a:t>of their Science Journals.</a:t>
            </a:r>
            <a:endParaRPr sz="1200">
              <a:solidFill>
                <a:schemeClr val="dk1"/>
              </a:solidFill>
              <a:latin typeface="Calibri"/>
              <a:ea typeface="Calibri"/>
              <a:cs typeface="Calibri"/>
              <a:sym typeface="Calibri"/>
            </a:endParaRPr>
          </a:p>
          <a:p>
            <a:pPr marL="97155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does ocean acidification affect the ocean food web and the people who depend on it?</a:t>
            </a:r>
            <a:endParaRPr sz="1200">
              <a:solidFill>
                <a:schemeClr val="dk1"/>
              </a:solidFill>
              <a:latin typeface="Calibri"/>
              <a:ea typeface="Calibri"/>
              <a:cs typeface="Calibri"/>
              <a:sym typeface="Calibri"/>
            </a:endParaRPr>
          </a:p>
          <a:p>
            <a:pPr marL="97155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questions do you still have about ocean acidification?</a:t>
            </a:r>
            <a:endParaRPr sz="1200">
              <a:solidFill>
                <a:schemeClr val="dk1"/>
              </a:solidFill>
              <a:latin typeface="Calibri"/>
              <a:ea typeface="Calibri"/>
              <a:cs typeface="Calibri"/>
              <a:sym typeface="Calibri"/>
            </a:endParaRPr>
          </a:p>
          <a:p>
            <a:pPr marL="97155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updates do you plan to make to your SageModeler in the next lesson to strengthen your model?</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Thank students for their participation today and inform them that in the next session, they will come back to their SageModeler model and update it with their newfound knowledge from their investigations.</a:t>
            </a:r>
            <a:endParaRPr sz="12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4ac343a9b0_0_55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4ac343a9b0_0_5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with footer">
  <p:cSld name="ONE_COLUMN_TEXT_1">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rmAutofit lnSpcReduction="1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2" name="Google Shape;52;p13"/>
          <p:cNvSpPr txBox="1">
            <a:spLocks noGrp="1"/>
          </p:cNvSpPr>
          <p:nvPr>
            <p:ph type="title"/>
          </p:nvPr>
        </p:nvSpPr>
        <p:spPr>
          <a:xfrm>
            <a:off x="228600" y="2236650"/>
            <a:ext cx="3551400" cy="670200"/>
          </a:xfrm>
          <a:prstGeom prst="rect">
            <a:avLst/>
          </a:prstGeom>
        </p:spPr>
        <p:txBody>
          <a:bodyPr spcFirstLastPara="1" wrap="square" lIns="91425" tIns="91425" rIns="91425" bIns="91425" anchor="ctr" anchorCtr="0">
            <a:norm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53" name="Google Shape;53;p13"/>
          <p:cNvSpPr txBox="1">
            <a:spLocks noGrp="1"/>
          </p:cNvSpPr>
          <p:nvPr>
            <p:ph type="subTitle" idx="1"/>
          </p:nvPr>
        </p:nvSpPr>
        <p:spPr>
          <a:xfrm>
            <a:off x="4572000" y="1004700"/>
            <a:ext cx="4343400" cy="3134100"/>
          </a:xfrm>
          <a:prstGeom prst="rect">
            <a:avLst/>
          </a:prstGeom>
        </p:spPr>
        <p:txBody>
          <a:bodyPr spcFirstLastPara="1" wrap="square" lIns="91425" tIns="91425" rIns="91425" bIns="91425" anchor="t" anchorCtr="0">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13"/>
          <p:cNvSpPr txBox="1">
            <a:spLocks noGrp="1"/>
          </p:cNvSpPr>
          <p:nvPr>
            <p:ph type="body" idx="2"/>
          </p:nvPr>
        </p:nvSpPr>
        <p:spPr>
          <a:xfrm>
            <a:off x="228600" y="4679000"/>
            <a:ext cx="4343400" cy="3243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cxnSp>
        <p:nvCxnSpPr>
          <p:cNvPr id="55" name="Google Shape;55;p13"/>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www.youtube.com/watch?v=ogZkV-Yj7Hc"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sagemodeler.concord.org/app/#shared=https%3A%2F%2Fcfm-shared.concord.org%2FH6HdF1yAjn4VAvJZXZ3n%2Ffile.json"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idx="4294967295"/>
          </p:nvPr>
        </p:nvSpPr>
        <p:spPr>
          <a:xfrm>
            <a:off x="236575" y="1372150"/>
            <a:ext cx="3939300" cy="1521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4500" b="1">
                <a:solidFill>
                  <a:srgbClr val="541900"/>
                </a:solidFill>
              </a:rPr>
              <a:t>Ocean Acidification</a:t>
            </a:r>
            <a:endParaRPr sz="4500" b="1">
              <a:solidFill>
                <a:srgbClr val="541900"/>
              </a:solidFill>
            </a:endParaRPr>
          </a:p>
        </p:txBody>
      </p:sp>
      <p:sp>
        <p:nvSpPr>
          <p:cNvPr id="61" name="Google Shape;61;p14"/>
          <p:cNvSpPr txBox="1">
            <a:spLocks noGrp="1"/>
          </p:cNvSpPr>
          <p:nvPr>
            <p:ph type="body" idx="4294967295"/>
          </p:nvPr>
        </p:nvSpPr>
        <p:spPr>
          <a:xfrm>
            <a:off x="2286475" y="2742725"/>
            <a:ext cx="1889400" cy="6702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r>
              <a:rPr lang="en" sz="1200" b="1">
                <a:solidFill>
                  <a:srgbClr val="355E3B"/>
                </a:solidFill>
              </a:rPr>
              <a:t>Module 3.4 | Day 1</a:t>
            </a:r>
            <a:endParaRPr sz="1200" b="1">
              <a:solidFill>
                <a:srgbClr val="355E3B"/>
              </a:solidFill>
            </a:endParaRPr>
          </a:p>
        </p:txBody>
      </p:sp>
      <p:sp>
        <p:nvSpPr>
          <p:cNvPr id="62" name="Google Shape;62;p14"/>
          <p:cNvSpPr txBox="1"/>
          <p:nvPr/>
        </p:nvSpPr>
        <p:spPr>
          <a:xfrm>
            <a:off x="2026650" y="4658700"/>
            <a:ext cx="5090700" cy="32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000000"/>
                </a:solidFill>
              </a:rPr>
              <a:t>AISciComm | Mo</a:t>
            </a:r>
            <a:r>
              <a:rPr lang="en" sz="1200">
                <a:solidFill>
                  <a:schemeClr val="dk1"/>
                </a:solidFill>
              </a:rPr>
              <a:t>dule 3.4 Ocean Acidification</a:t>
            </a:r>
            <a:endParaRPr sz="1200">
              <a:solidFill>
                <a:schemeClr val="dk1"/>
              </a:solidFill>
            </a:endParaRPr>
          </a:p>
          <a:p>
            <a:pPr marL="0" lvl="0" indent="0" algn="l" rtl="0">
              <a:lnSpc>
                <a:spcPct val="115000"/>
              </a:lnSpc>
              <a:spcBef>
                <a:spcPts val="0"/>
              </a:spcBef>
              <a:spcAft>
                <a:spcPts val="1200"/>
              </a:spcAft>
              <a:buNone/>
            </a:pPr>
            <a:endParaRPr sz="1200">
              <a:solidFill>
                <a:srgbClr val="000000"/>
              </a:solidFill>
            </a:endParaRPr>
          </a:p>
        </p:txBody>
      </p:sp>
      <p:sp>
        <p:nvSpPr>
          <p:cNvPr id="63" name="Google Shape;63;p14"/>
          <p:cNvSpPr txBox="1"/>
          <p:nvPr/>
        </p:nvSpPr>
        <p:spPr>
          <a:xfrm>
            <a:off x="4746175" y="3649275"/>
            <a:ext cx="4224900" cy="376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800" b="1">
                <a:solidFill>
                  <a:srgbClr val="595959"/>
                </a:solidFill>
              </a:rPr>
              <a:t>San Diego, CA</a:t>
            </a:r>
            <a:endParaRPr sz="800" b="1">
              <a:solidFill>
                <a:srgbClr val="595959"/>
              </a:solidFill>
            </a:endParaRPr>
          </a:p>
          <a:p>
            <a:pPr marL="0" lvl="0" indent="0" algn="r" rtl="0">
              <a:spcBef>
                <a:spcPts val="0"/>
              </a:spcBef>
              <a:spcAft>
                <a:spcPts val="0"/>
              </a:spcAft>
              <a:buNone/>
            </a:pPr>
            <a:r>
              <a:rPr lang="en" sz="800" b="1">
                <a:solidFill>
                  <a:srgbClr val="595959"/>
                </a:solidFill>
              </a:rPr>
              <a:t>Photo Credit: UC San Diego, Jacobs School of Engineering</a:t>
            </a:r>
            <a:endParaRPr sz="800" b="1">
              <a:solidFill>
                <a:srgbClr val="595959"/>
              </a:solidFill>
            </a:endParaRPr>
          </a:p>
        </p:txBody>
      </p:sp>
      <p:pic>
        <p:nvPicPr>
          <p:cNvPr id="64" name="Google Shape;64;p14"/>
          <p:cNvPicPr preferRelativeResize="0"/>
          <p:nvPr/>
        </p:nvPicPr>
        <p:blipFill>
          <a:blip r:embed="rId3">
            <a:alphaModFix/>
          </a:blip>
          <a:stretch>
            <a:fillRect/>
          </a:stretch>
        </p:blipFill>
        <p:spPr>
          <a:xfrm>
            <a:off x="4307750" y="785150"/>
            <a:ext cx="4663324" cy="291457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68"/>
        <p:cNvGrpSpPr/>
        <p:nvPr/>
      </p:nvGrpSpPr>
      <p:grpSpPr>
        <a:xfrm>
          <a:off x="0" y="0"/>
          <a:ext cx="0" cy="0"/>
          <a:chOff x="0" y="0"/>
          <a:chExt cx="0" cy="0"/>
        </a:xfrm>
      </p:grpSpPr>
      <p:sp>
        <p:nvSpPr>
          <p:cNvPr id="69" name="Google Shape;69;p15"/>
          <p:cNvSpPr txBox="1">
            <a:spLocks noGrp="1"/>
          </p:cNvSpPr>
          <p:nvPr>
            <p:ph type="body" idx="1"/>
          </p:nvPr>
        </p:nvSpPr>
        <p:spPr>
          <a:xfrm>
            <a:off x="311700" y="11524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i="1">
                <a:solidFill>
                  <a:srgbClr val="355E3B"/>
                </a:solidFill>
              </a:rPr>
              <a:t>During this lesson, you will work with your team to build additional background knowledge on how CO₂ impacts ocean chemistry, such as ocean acidification and ultimately food web interactions.</a:t>
            </a:r>
            <a:endParaRPr sz="2000" i="1">
              <a:solidFill>
                <a:srgbClr val="355E3B"/>
              </a:solidFill>
            </a:endParaRPr>
          </a:p>
        </p:txBody>
      </p:sp>
      <p:sp>
        <p:nvSpPr>
          <p:cNvPr id="70" name="Google Shape;70;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Lesson Overview</a:t>
            </a:r>
            <a:endParaRPr sz="4500" b="1">
              <a:solidFill>
                <a:srgbClr val="541900"/>
              </a:solidFill>
            </a:endParaRPr>
          </a:p>
        </p:txBody>
      </p:sp>
      <p:sp>
        <p:nvSpPr>
          <p:cNvPr id="71" name="Google Shape;71;p15"/>
          <p:cNvSpPr txBox="1">
            <a:spLocks noGrp="1"/>
          </p:cNvSpPr>
          <p:nvPr>
            <p:ph type="body" idx="4294967295"/>
          </p:nvPr>
        </p:nvSpPr>
        <p:spPr>
          <a:xfrm>
            <a:off x="311700" y="2301600"/>
            <a:ext cx="8373300" cy="2906400"/>
          </a:xfrm>
          <a:prstGeom prst="rect">
            <a:avLst/>
          </a:prstGeom>
        </p:spPr>
        <p:txBody>
          <a:bodyPr spcFirstLastPara="1" wrap="square" lIns="91425" tIns="91425" rIns="91425" bIns="91425" anchor="t" anchorCtr="0">
            <a:normAutofit/>
          </a:bodyPr>
          <a:lstStyle/>
          <a:p>
            <a:pPr marL="0" lvl="0" indent="0" algn="l" rtl="0">
              <a:lnSpc>
                <a:spcPct val="115000"/>
              </a:lnSpc>
              <a:spcBef>
                <a:spcPts val="1000"/>
              </a:spcBef>
              <a:spcAft>
                <a:spcPts val="0"/>
              </a:spcAft>
              <a:buNone/>
            </a:pPr>
            <a:r>
              <a:rPr lang="en" sz="2000">
                <a:solidFill>
                  <a:schemeClr val="dk1"/>
                </a:solidFill>
              </a:rPr>
              <a:t>During the lesson, you will:</a:t>
            </a:r>
            <a:endParaRPr sz="2000">
              <a:solidFill>
                <a:schemeClr val="dk1"/>
              </a:solidFill>
            </a:endParaRPr>
          </a:p>
          <a:p>
            <a:pPr marL="457200" lvl="0" indent="-355600" algn="l" rtl="0">
              <a:lnSpc>
                <a:spcPct val="115000"/>
              </a:lnSpc>
              <a:spcBef>
                <a:spcPts val="1000"/>
              </a:spcBef>
              <a:spcAft>
                <a:spcPts val="0"/>
              </a:spcAft>
              <a:buClr>
                <a:schemeClr val="dk1"/>
              </a:buClr>
              <a:buSzPts val="2000"/>
              <a:buChar char="●"/>
            </a:pPr>
            <a:r>
              <a:rPr lang="en" sz="2000">
                <a:solidFill>
                  <a:schemeClr val="dk1"/>
                </a:solidFill>
              </a:rPr>
              <a:t>Explore how acidifying ocean conditions mpact shelled organisms and how this has an impact on the greater ecosystem.</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Use this information to create a plan to update your SageModeler model from Module 2.</a:t>
            </a:r>
            <a:endParaRPr sz="2000">
              <a:solidFill>
                <a:schemeClr val="dk1"/>
              </a:solidFill>
            </a:endParaRPr>
          </a:p>
        </p:txBody>
      </p:sp>
      <p:sp>
        <p:nvSpPr>
          <p:cNvPr id="72" name="Google Shape;72;p15"/>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2</a:t>
            </a:r>
            <a:endParaRPr sz="12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76"/>
        <p:cNvGrpSpPr/>
        <p:nvPr/>
      </p:nvGrpSpPr>
      <p:grpSpPr>
        <a:xfrm>
          <a:off x="0" y="0"/>
          <a:ext cx="0" cy="0"/>
          <a:chOff x="0" y="0"/>
          <a:chExt cx="0" cy="0"/>
        </a:xfrm>
      </p:grpSpPr>
      <p:sp>
        <p:nvSpPr>
          <p:cNvPr id="77" name="Google Shape;77;p16"/>
          <p:cNvSpPr txBox="1">
            <a:spLocks noGrp="1"/>
          </p:cNvSpPr>
          <p:nvPr>
            <p:ph type="body" idx="4294967295"/>
          </p:nvPr>
        </p:nvSpPr>
        <p:spPr>
          <a:xfrm>
            <a:off x="4655100" y="1974900"/>
            <a:ext cx="3726600" cy="30309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chemeClr val="dk1"/>
              </a:buClr>
              <a:buSzPts val="2000"/>
              <a:buChar char="●"/>
            </a:pPr>
            <a:r>
              <a:rPr lang="en" sz="2000">
                <a:solidFill>
                  <a:schemeClr val="dk1"/>
                </a:solidFill>
              </a:rPr>
              <a:t>What do you think is happening in this image?</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Is what you are observing a natural occurrence?</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Why might communities want to understand this scenario?</a:t>
            </a:r>
            <a:endParaRPr sz="2000">
              <a:solidFill>
                <a:schemeClr val="dk1"/>
              </a:solidFill>
            </a:endParaRPr>
          </a:p>
        </p:txBody>
      </p:sp>
      <p:sp>
        <p:nvSpPr>
          <p:cNvPr id="78" name="Google Shape;78;p16"/>
          <p:cNvSpPr txBox="1">
            <a:spLocks noGrp="1"/>
          </p:cNvSpPr>
          <p:nvPr>
            <p:ph type="title"/>
          </p:nvPr>
        </p:nvSpPr>
        <p:spPr>
          <a:xfrm>
            <a:off x="4519475" y="69732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rgbClr val="541900"/>
                </a:solidFill>
              </a:rPr>
              <a:t>Make an Observation</a:t>
            </a:r>
            <a:endParaRPr sz="3000" b="1">
              <a:solidFill>
                <a:srgbClr val="541900"/>
              </a:solidFill>
            </a:endParaRPr>
          </a:p>
          <a:p>
            <a:pPr marL="0" lvl="0" indent="0" algn="l" rtl="0">
              <a:lnSpc>
                <a:spcPct val="115000"/>
              </a:lnSpc>
              <a:spcBef>
                <a:spcPts val="0"/>
              </a:spcBef>
              <a:spcAft>
                <a:spcPts val="1200"/>
              </a:spcAft>
              <a:buNone/>
            </a:pPr>
            <a:r>
              <a:rPr lang="en" sz="2000" i="1">
                <a:solidFill>
                  <a:srgbClr val="355E3B"/>
                </a:solidFill>
              </a:rPr>
              <a:t>With your team, take a moment to observe the image on the left.</a:t>
            </a:r>
            <a:endParaRPr sz="3000" b="1">
              <a:solidFill>
                <a:srgbClr val="541900"/>
              </a:solidFill>
            </a:endParaRPr>
          </a:p>
        </p:txBody>
      </p:sp>
      <p:pic>
        <p:nvPicPr>
          <p:cNvPr id="79" name="Google Shape;79;p16"/>
          <p:cNvPicPr preferRelativeResize="0"/>
          <p:nvPr/>
        </p:nvPicPr>
        <p:blipFill>
          <a:blip r:embed="rId3">
            <a:alphaModFix/>
          </a:blip>
          <a:stretch>
            <a:fillRect/>
          </a:stretch>
        </p:blipFill>
        <p:spPr>
          <a:xfrm>
            <a:off x="311700" y="1018588"/>
            <a:ext cx="4151050" cy="3106325"/>
          </a:xfrm>
          <a:prstGeom prst="rect">
            <a:avLst/>
          </a:prstGeom>
          <a:noFill/>
          <a:ln>
            <a:noFill/>
          </a:ln>
        </p:spPr>
      </p:pic>
      <p:sp>
        <p:nvSpPr>
          <p:cNvPr id="80" name="Google Shape;80;p16"/>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3.4 Ocean Acidification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3</a:t>
            </a:r>
            <a:endParaRPr sz="1200">
              <a:solidFill>
                <a:schemeClr val="dk1"/>
              </a:solidFill>
              <a:latin typeface="Arial"/>
              <a:ea typeface="Arial"/>
              <a:cs typeface="Arial"/>
              <a:sym typeface="Arial"/>
            </a:endParaRPr>
          </a:p>
        </p:txBody>
      </p:sp>
      <p:sp>
        <p:nvSpPr>
          <p:cNvPr id="81" name="Google Shape;81;p16"/>
          <p:cNvSpPr txBox="1"/>
          <p:nvPr/>
        </p:nvSpPr>
        <p:spPr>
          <a:xfrm>
            <a:off x="237850" y="4038075"/>
            <a:ext cx="42249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595959"/>
                </a:solidFill>
              </a:rPr>
              <a:t>Photo Credit: Little Bins, Little Hands</a:t>
            </a:r>
            <a:endParaRPr sz="800">
              <a:solidFill>
                <a:srgbClr val="59595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85"/>
        <p:cNvGrpSpPr/>
        <p:nvPr/>
      </p:nvGrpSpPr>
      <p:grpSpPr>
        <a:xfrm>
          <a:off x="0" y="0"/>
          <a:ext cx="0" cy="0"/>
          <a:chOff x="0" y="0"/>
          <a:chExt cx="0" cy="0"/>
        </a:xfrm>
      </p:grpSpPr>
      <p:sp>
        <p:nvSpPr>
          <p:cNvPr id="86" name="Google Shape;86;p17"/>
          <p:cNvSpPr txBox="1">
            <a:spLocks noGrp="1"/>
          </p:cNvSpPr>
          <p:nvPr>
            <p:ph type="body" idx="4294967295"/>
          </p:nvPr>
        </p:nvSpPr>
        <p:spPr>
          <a:xfrm>
            <a:off x="4655100" y="1383675"/>
            <a:ext cx="3726600" cy="30309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i="1">
                <a:solidFill>
                  <a:srgbClr val="355E3B"/>
                </a:solidFill>
              </a:rPr>
              <a:t>Using your understanding from lesson 3.2, answer the following:</a:t>
            </a:r>
            <a:endParaRPr i="1">
              <a:solidFill>
                <a:srgbClr val="355E3B"/>
              </a:solidFill>
            </a:endParaRPr>
          </a:p>
          <a:p>
            <a:pPr marL="457200" lvl="0" indent="-342900" algn="l" rtl="0">
              <a:lnSpc>
                <a:spcPct val="115000"/>
              </a:lnSpc>
              <a:spcBef>
                <a:spcPts val="1000"/>
              </a:spcBef>
              <a:spcAft>
                <a:spcPts val="0"/>
              </a:spcAft>
              <a:buClr>
                <a:schemeClr val="dk1"/>
              </a:buClr>
              <a:buSzPts val="1800"/>
              <a:buChar char="●"/>
            </a:pPr>
            <a:r>
              <a:rPr lang="en">
                <a:solidFill>
                  <a:schemeClr val="dk1"/>
                </a:solidFill>
              </a:rPr>
              <a:t>What role do you think carbon dioxide might play in this process?</a:t>
            </a:r>
            <a:endParaRPr>
              <a:solidFill>
                <a:schemeClr val="dk1"/>
              </a:solidFill>
            </a:endParaRPr>
          </a:p>
          <a:p>
            <a:pPr marL="457200" lvl="0" indent="-342900" algn="l" rtl="0">
              <a:lnSpc>
                <a:spcPct val="115000"/>
              </a:lnSpc>
              <a:spcBef>
                <a:spcPts val="0"/>
              </a:spcBef>
              <a:spcAft>
                <a:spcPts val="0"/>
              </a:spcAft>
              <a:buClr>
                <a:schemeClr val="dk1"/>
              </a:buClr>
              <a:buSzPts val="1800"/>
              <a:buChar char="●"/>
            </a:pPr>
            <a:r>
              <a:rPr lang="en">
                <a:solidFill>
                  <a:schemeClr val="dk1"/>
                </a:solidFill>
              </a:rPr>
              <a:t>What happens when carbon dioxide interacts with ocean water?</a:t>
            </a:r>
            <a:endParaRPr>
              <a:solidFill>
                <a:schemeClr val="dk1"/>
              </a:solidFill>
            </a:endParaRPr>
          </a:p>
        </p:txBody>
      </p:sp>
      <p:sp>
        <p:nvSpPr>
          <p:cNvPr id="87" name="Google Shape;87;p17"/>
          <p:cNvSpPr txBox="1">
            <a:spLocks noGrp="1"/>
          </p:cNvSpPr>
          <p:nvPr>
            <p:ph type="title"/>
          </p:nvPr>
        </p:nvSpPr>
        <p:spPr>
          <a:xfrm>
            <a:off x="4519475" y="69732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500" b="1">
                <a:solidFill>
                  <a:srgbClr val="541900"/>
                </a:solidFill>
              </a:rPr>
              <a:t>Reflect </a:t>
            </a:r>
            <a:endParaRPr sz="3500" b="1">
              <a:solidFill>
                <a:srgbClr val="541900"/>
              </a:solidFill>
            </a:endParaRPr>
          </a:p>
        </p:txBody>
      </p:sp>
      <p:sp>
        <p:nvSpPr>
          <p:cNvPr id="88" name="Google Shape;88;p17"/>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3.4 Ocean Acidification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4</a:t>
            </a:r>
            <a:endParaRPr sz="1200">
              <a:solidFill>
                <a:schemeClr val="dk1"/>
              </a:solidFill>
              <a:latin typeface="Arial"/>
              <a:ea typeface="Arial"/>
              <a:cs typeface="Arial"/>
              <a:sym typeface="Arial"/>
            </a:endParaRPr>
          </a:p>
        </p:txBody>
      </p:sp>
      <p:pic>
        <p:nvPicPr>
          <p:cNvPr id="89" name="Google Shape;89;p17"/>
          <p:cNvPicPr preferRelativeResize="0"/>
          <p:nvPr/>
        </p:nvPicPr>
        <p:blipFill>
          <a:blip r:embed="rId3">
            <a:alphaModFix/>
          </a:blip>
          <a:stretch>
            <a:fillRect/>
          </a:stretch>
        </p:blipFill>
        <p:spPr>
          <a:xfrm>
            <a:off x="311700" y="1018588"/>
            <a:ext cx="4151050" cy="3106325"/>
          </a:xfrm>
          <a:prstGeom prst="rect">
            <a:avLst/>
          </a:prstGeom>
          <a:noFill/>
          <a:ln>
            <a:noFill/>
          </a:ln>
        </p:spPr>
      </p:pic>
      <p:sp>
        <p:nvSpPr>
          <p:cNvPr id="90" name="Google Shape;90;p17"/>
          <p:cNvSpPr txBox="1"/>
          <p:nvPr/>
        </p:nvSpPr>
        <p:spPr>
          <a:xfrm>
            <a:off x="237850" y="4038075"/>
            <a:ext cx="42249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595959"/>
                </a:solidFill>
              </a:rPr>
              <a:t>Photo Credit: Little Bins, Little Hands</a:t>
            </a:r>
            <a:endParaRPr sz="800">
              <a:solidFill>
                <a:srgbClr val="59595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94"/>
        <p:cNvGrpSpPr/>
        <p:nvPr/>
      </p:nvGrpSpPr>
      <p:grpSpPr>
        <a:xfrm>
          <a:off x="0" y="0"/>
          <a:ext cx="0" cy="0"/>
          <a:chOff x="0" y="0"/>
          <a:chExt cx="0" cy="0"/>
        </a:xfrm>
      </p:grpSpPr>
      <p:sp>
        <p:nvSpPr>
          <p:cNvPr id="95" name="Google Shape;95;p18"/>
          <p:cNvSpPr txBox="1">
            <a:spLocks noGrp="1"/>
          </p:cNvSpPr>
          <p:nvPr>
            <p:ph type="body" idx="4294967295"/>
          </p:nvPr>
        </p:nvSpPr>
        <p:spPr>
          <a:xfrm>
            <a:off x="4917650" y="1056300"/>
            <a:ext cx="3726600" cy="30309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2000" i="1">
                <a:solidFill>
                  <a:schemeClr val="dk1"/>
                </a:solidFill>
                <a:latin typeface="Calibri"/>
                <a:ea typeface="Calibri"/>
                <a:cs typeface="Calibri"/>
                <a:sym typeface="Calibri"/>
              </a:rPr>
              <a:t>The image shows a shell that has been placed in an acidic solution. Our ocean leans towards a more basic pH but through reactions with atmospheric carbon dioxide, the ocean becomes slightly acidic. This is natural, but humans have impacted this reaction through the emissions of carbon dioxide.</a:t>
            </a:r>
            <a:endParaRPr sz="2000">
              <a:solidFill>
                <a:schemeClr val="dk1"/>
              </a:solidFill>
            </a:endParaRPr>
          </a:p>
        </p:txBody>
      </p:sp>
      <p:sp>
        <p:nvSpPr>
          <p:cNvPr id="96" name="Google Shape;96;p18"/>
          <p:cNvSpPr txBox="1">
            <a:spLocks noGrp="1"/>
          </p:cNvSpPr>
          <p:nvPr>
            <p:ph type="title"/>
          </p:nvPr>
        </p:nvSpPr>
        <p:spPr>
          <a:xfrm>
            <a:off x="1679550" y="194275"/>
            <a:ext cx="5784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500" b="1">
                <a:solidFill>
                  <a:srgbClr val="541900"/>
                </a:solidFill>
              </a:rPr>
              <a:t>Shell in Acidic Solution</a:t>
            </a:r>
            <a:endParaRPr sz="3500" b="1">
              <a:solidFill>
                <a:srgbClr val="541900"/>
              </a:solidFill>
            </a:endParaRPr>
          </a:p>
        </p:txBody>
      </p:sp>
      <p:sp>
        <p:nvSpPr>
          <p:cNvPr id="97" name="Google Shape;97;p18"/>
          <p:cNvSpPr txBox="1"/>
          <p:nvPr/>
        </p:nvSpPr>
        <p:spPr>
          <a:xfrm>
            <a:off x="430200" y="4076250"/>
            <a:ext cx="42249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595959"/>
                </a:solidFill>
              </a:rPr>
              <a:t>Photo Credit: Little Bins, Little Hands</a:t>
            </a:r>
            <a:endParaRPr sz="800">
              <a:solidFill>
                <a:srgbClr val="595959"/>
              </a:solidFill>
            </a:endParaRPr>
          </a:p>
        </p:txBody>
      </p:sp>
      <p:sp>
        <p:nvSpPr>
          <p:cNvPr id="98" name="Google Shape;98;p18"/>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3.4 Ocean Acidification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5</a:t>
            </a:r>
            <a:endParaRPr sz="1200">
              <a:solidFill>
                <a:schemeClr val="dk1"/>
              </a:solidFill>
              <a:latin typeface="Arial"/>
              <a:ea typeface="Arial"/>
              <a:cs typeface="Arial"/>
              <a:sym typeface="Arial"/>
            </a:endParaRPr>
          </a:p>
        </p:txBody>
      </p:sp>
      <p:pic>
        <p:nvPicPr>
          <p:cNvPr id="99" name="Google Shape;99;p18"/>
          <p:cNvPicPr preferRelativeResize="0"/>
          <p:nvPr/>
        </p:nvPicPr>
        <p:blipFill>
          <a:blip r:embed="rId3">
            <a:alphaModFix/>
          </a:blip>
          <a:stretch>
            <a:fillRect/>
          </a:stretch>
        </p:blipFill>
        <p:spPr>
          <a:xfrm>
            <a:off x="504050" y="1018588"/>
            <a:ext cx="4151050" cy="3106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03"/>
        <p:cNvGrpSpPr/>
        <p:nvPr/>
      </p:nvGrpSpPr>
      <p:grpSpPr>
        <a:xfrm>
          <a:off x="0" y="0"/>
          <a:ext cx="0" cy="0"/>
          <a:chOff x="0" y="0"/>
          <a:chExt cx="0" cy="0"/>
        </a:xfrm>
      </p:grpSpPr>
      <p:sp>
        <p:nvSpPr>
          <p:cNvPr id="104" name="Google Shape;104;p19"/>
          <p:cNvSpPr txBox="1">
            <a:spLocks noGrp="1"/>
          </p:cNvSpPr>
          <p:nvPr>
            <p:ph type="title"/>
          </p:nvPr>
        </p:nvSpPr>
        <p:spPr>
          <a:xfrm>
            <a:off x="2300250" y="194275"/>
            <a:ext cx="4543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500" b="1">
                <a:solidFill>
                  <a:srgbClr val="541900"/>
                </a:solidFill>
              </a:rPr>
              <a:t>What’s Coming Next</a:t>
            </a:r>
            <a:endParaRPr sz="3500" b="1">
              <a:solidFill>
                <a:srgbClr val="541900"/>
              </a:solidFill>
            </a:endParaRPr>
          </a:p>
        </p:txBody>
      </p:sp>
      <p:sp>
        <p:nvSpPr>
          <p:cNvPr id="105" name="Google Shape;105;p19"/>
          <p:cNvSpPr txBox="1">
            <a:spLocks noGrp="1"/>
          </p:cNvSpPr>
          <p:nvPr>
            <p:ph type="body" idx="4294967295"/>
          </p:nvPr>
        </p:nvSpPr>
        <p:spPr>
          <a:xfrm>
            <a:off x="4387100" y="1056325"/>
            <a:ext cx="4462500" cy="30309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000" i="1">
                <a:solidFill>
                  <a:schemeClr val="dk1"/>
                </a:solidFill>
                <a:latin typeface="Calibri"/>
                <a:ea typeface="Calibri"/>
                <a:cs typeface="Calibri"/>
                <a:sym typeface="Calibri"/>
              </a:rPr>
              <a:t>We are going to take a closer look at </a:t>
            </a:r>
            <a:r>
              <a:rPr lang="en" sz="2000" b="1" i="1">
                <a:solidFill>
                  <a:schemeClr val="dk1"/>
                </a:solidFill>
                <a:latin typeface="Calibri"/>
                <a:ea typeface="Calibri"/>
                <a:cs typeface="Calibri"/>
                <a:sym typeface="Calibri"/>
              </a:rPr>
              <a:t>ocean acidification</a:t>
            </a:r>
            <a:r>
              <a:rPr lang="en" sz="2000" i="1">
                <a:solidFill>
                  <a:schemeClr val="dk1"/>
                </a:solidFill>
                <a:latin typeface="Calibri"/>
                <a:ea typeface="Calibri"/>
                <a:cs typeface="Calibri"/>
                <a:sym typeface="Calibri"/>
              </a:rPr>
              <a:t> and how it impacts ocean life. </a:t>
            </a:r>
            <a:endParaRPr sz="2000" i="1">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endParaRPr sz="2000" i="1">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r>
              <a:rPr lang="en" sz="2000" i="1">
                <a:solidFill>
                  <a:schemeClr val="dk1"/>
                </a:solidFill>
                <a:latin typeface="Calibri"/>
                <a:ea typeface="Calibri"/>
                <a:cs typeface="Calibri"/>
                <a:sym typeface="Calibri"/>
              </a:rPr>
              <a:t>You will be setting up an experiment to investigate what happen when ocean pH levels changes and how different pH levels affect marine organisms.</a:t>
            </a:r>
            <a:endParaRPr sz="2000" i="1">
              <a:solidFill>
                <a:schemeClr val="dk1"/>
              </a:solidFill>
              <a:latin typeface="Calibri"/>
              <a:ea typeface="Calibri"/>
              <a:cs typeface="Calibri"/>
              <a:sym typeface="Calibri"/>
            </a:endParaRPr>
          </a:p>
        </p:txBody>
      </p:sp>
      <p:sp>
        <p:nvSpPr>
          <p:cNvPr id="106" name="Google Shape;106;p19"/>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3.4 Ocean Acidification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6</a:t>
            </a:r>
            <a:endParaRPr sz="1200">
              <a:solidFill>
                <a:schemeClr val="dk1"/>
              </a:solidFill>
              <a:latin typeface="Arial"/>
              <a:ea typeface="Arial"/>
              <a:cs typeface="Arial"/>
              <a:sym typeface="Arial"/>
            </a:endParaRPr>
          </a:p>
        </p:txBody>
      </p:sp>
      <p:pic>
        <p:nvPicPr>
          <p:cNvPr id="107" name="Google Shape;107;p19" title="Screenshot 2025-12-22 at 2.59.46 PM.png"/>
          <p:cNvPicPr preferRelativeResize="0"/>
          <p:nvPr/>
        </p:nvPicPr>
        <p:blipFill>
          <a:blip r:embed="rId3">
            <a:alphaModFix/>
          </a:blip>
          <a:stretch>
            <a:fillRect/>
          </a:stretch>
        </p:blipFill>
        <p:spPr>
          <a:xfrm>
            <a:off x="393975" y="1133988"/>
            <a:ext cx="3851567" cy="2875525"/>
          </a:xfrm>
          <a:prstGeom prst="rect">
            <a:avLst/>
          </a:prstGeom>
          <a:noFill/>
          <a:ln>
            <a:noFill/>
          </a:ln>
        </p:spPr>
      </p:pic>
      <p:sp>
        <p:nvSpPr>
          <p:cNvPr id="108" name="Google Shape;108;p19"/>
          <p:cNvSpPr txBox="1"/>
          <p:nvPr/>
        </p:nvSpPr>
        <p:spPr>
          <a:xfrm>
            <a:off x="311700" y="3950200"/>
            <a:ext cx="42249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595959"/>
                </a:solidFill>
              </a:rPr>
              <a:t>Photo Credit: Little Bins, Little Hands</a:t>
            </a:r>
            <a:endParaRPr sz="800">
              <a:solidFill>
                <a:srgbClr val="59595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12"/>
        <p:cNvGrpSpPr/>
        <p:nvPr/>
      </p:nvGrpSpPr>
      <p:grpSpPr>
        <a:xfrm>
          <a:off x="0" y="0"/>
          <a:ext cx="0" cy="0"/>
          <a:chOff x="0" y="0"/>
          <a:chExt cx="0" cy="0"/>
        </a:xfrm>
      </p:grpSpPr>
      <p:sp>
        <p:nvSpPr>
          <p:cNvPr id="113" name="Google Shape;113;p20"/>
          <p:cNvSpPr txBox="1">
            <a:spLocks noGrp="1"/>
          </p:cNvSpPr>
          <p:nvPr>
            <p:ph type="title"/>
          </p:nvPr>
        </p:nvSpPr>
        <p:spPr>
          <a:xfrm>
            <a:off x="506400" y="194275"/>
            <a:ext cx="813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500" b="1">
                <a:solidFill>
                  <a:srgbClr val="541900"/>
                </a:solidFill>
              </a:rPr>
              <a:t>Ocean Acidification Experiment</a:t>
            </a:r>
            <a:endParaRPr sz="3500" b="1">
              <a:solidFill>
                <a:srgbClr val="541900"/>
              </a:solidFill>
            </a:endParaRPr>
          </a:p>
        </p:txBody>
      </p:sp>
      <p:sp>
        <p:nvSpPr>
          <p:cNvPr id="114" name="Google Shape;114;p20"/>
          <p:cNvSpPr txBox="1">
            <a:spLocks noGrp="1"/>
          </p:cNvSpPr>
          <p:nvPr>
            <p:ph type="body" idx="4294967295"/>
          </p:nvPr>
        </p:nvSpPr>
        <p:spPr>
          <a:xfrm>
            <a:off x="3283325" y="949050"/>
            <a:ext cx="5533500" cy="3245400"/>
          </a:xfrm>
          <a:prstGeom prst="rect">
            <a:avLst/>
          </a:prstGeom>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400" i="1">
                <a:solidFill>
                  <a:srgbClr val="355E3B"/>
                </a:solidFill>
                <a:latin typeface="Calibri"/>
                <a:ea typeface="Calibri"/>
                <a:cs typeface="Calibri"/>
                <a:sym typeface="Calibri"/>
              </a:rPr>
              <a:t>Our goal is to explore what happens to a shell when placed in two different solutions, one representing the ocean and one representing an extreme case of ocean acidification.</a:t>
            </a:r>
            <a:endParaRPr sz="1400" i="1">
              <a:solidFill>
                <a:srgbClr val="355E3B"/>
              </a:solidFill>
              <a:latin typeface="Calibri"/>
              <a:ea typeface="Calibri"/>
              <a:cs typeface="Calibri"/>
              <a:sym typeface="Calibri"/>
            </a:endParaRPr>
          </a:p>
          <a:p>
            <a:pPr marL="0" lvl="0" indent="0" algn="l" rtl="0">
              <a:lnSpc>
                <a:spcPct val="100000"/>
              </a:lnSpc>
              <a:spcBef>
                <a:spcPts val="0"/>
              </a:spcBef>
              <a:spcAft>
                <a:spcPts val="0"/>
              </a:spcAft>
              <a:buNone/>
            </a:pPr>
            <a:endParaRPr sz="1400">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r>
              <a:rPr lang="en" sz="2000" b="1">
                <a:solidFill>
                  <a:schemeClr val="dk1"/>
                </a:solidFill>
                <a:latin typeface="Calibri"/>
                <a:ea typeface="Calibri"/>
                <a:cs typeface="Calibri"/>
                <a:sym typeface="Calibri"/>
              </a:rPr>
              <a:t>Set Up Instructions:</a:t>
            </a:r>
            <a:endParaRPr sz="1200" b="1">
              <a:solidFill>
                <a:schemeClr val="dk1"/>
              </a:solidFill>
              <a:latin typeface="Calibri"/>
              <a:ea typeface="Calibri"/>
              <a:cs typeface="Calibri"/>
              <a:sym typeface="Calibri"/>
            </a:endParaRPr>
          </a:p>
          <a:p>
            <a:pPr marL="457200" lvl="0" indent="-336550" algn="l" rtl="0">
              <a:lnSpc>
                <a:spcPct val="100000"/>
              </a:lnSpc>
              <a:spcBef>
                <a:spcPts val="0"/>
              </a:spcBef>
              <a:spcAft>
                <a:spcPts val="0"/>
              </a:spcAft>
              <a:buClr>
                <a:schemeClr val="dk1"/>
              </a:buClr>
              <a:buSzPts val="1700"/>
              <a:buFont typeface="Calibri"/>
              <a:buAutoNum type="arabicPeriod"/>
            </a:pPr>
            <a:r>
              <a:rPr lang="en" sz="1700">
                <a:solidFill>
                  <a:schemeClr val="dk1"/>
                </a:solidFill>
                <a:latin typeface="Calibri"/>
                <a:ea typeface="Calibri"/>
                <a:cs typeface="Calibri"/>
                <a:sym typeface="Calibri"/>
              </a:rPr>
              <a:t>Grab two identical containers and label one “Basic Ocean Conditions” and one “Acidic Ocean Conditions”. </a:t>
            </a:r>
            <a:endParaRPr sz="1700">
              <a:solidFill>
                <a:schemeClr val="dk1"/>
              </a:solidFill>
              <a:latin typeface="Calibri"/>
              <a:ea typeface="Calibri"/>
              <a:cs typeface="Calibri"/>
              <a:sym typeface="Calibri"/>
            </a:endParaRPr>
          </a:p>
          <a:p>
            <a:pPr marL="457200" lvl="0" indent="-336550" algn="l" rtl="0">
              <a:lnSpc>
                <a:spcPct val="100000"/>
              </a:lnSpc>
              <a:spcBef>
                <a:spcPts val="0"/>
              </a:spcBef>
              <a:spcAft>
                <a:spcPts val="0"/>
              </a:spcAft>
              <a:buClr>
                <a:schemeClr val="dk1"/>
              </a:buClr>
              <a:buSzPts val="1700"/>
              <a:buFont typeface="Calibri"/>
              <a:buAutoNum type="arabicPeriod"/>
            </a:pPr>
            <a:r>
              <a:rPr lang="en" sz="1700">
                <a:solidFill>
                  <a:schemeClr val="dk1"/>
                </a:solidFill>
                <a:latin typeface="Calibri"/>
                <a:ea typeface="Calibri"/>
                <a:cs typeface="Calibri"/>
                <a:sym typeface="Calibri"/>
              </a:rPr>
              <a:t>Place a shell in each of the containers.</a:t>
            </a:r>
            <a:endParaRPr sz="1700">
              <a:solidFill>
                <a:schemeClr val="dk1"/>
              </a:solidFill>
              <a:latin typeface="Calibri"/>
              <a:ea typeface="Calibri"/>
              <a:cs typeface="Calibri"/>
              <a:sym typeface="Calibri"/>
            </a:endParaRPr>
          </a:p>
          <a:p>
            <a:pPr marL="457200" lvl="0" indent="-336550" algn="l" rtl="0">
              <a:lnSpc>
                <a:spcPct val="100000"/>
              </a:lnSpc>
              <a:spcBef>
                <a:spcPts val="0"/>
              </a:spcBef>
              <a:spcAft>
                <a:spcPts val="0"/>
              </a:spcAft>
              <a:buClr>
                <a:schemeClr val="dk1"/>
              </a:buClr>
              <a:buSzPts val="1700"/>
              <a:buFont typeface="Calibri"/>
              <a:buAutoNum type="arabicPeriod"/>
            </a:pPr>
            <a:r>
              <a:rPr lang="en" sz="1700">
                <a:solidFill>
                  <a:schemeClr val="dk1"/>
                </a:solidFill>
                <a:latin typeface="Calibri"/>
                <a:ea typeface="Calibri"/>
                <a:cs typeface="Calibri"/>
                <a:sym typeface="Calibri"/>
              </a:rPr>
              <a:t>Pour enough of the the “Basic Ocean Conditions” solution to cover the shell into its respective container.</a:t>
            </a:r>
            <a:endParaRPr sz="1700">
              <a:solidFill>
                <a:schemeClr val="dk1"/>
              </a:solidFill>
              <a:latin typeface="Calibri"/>
              <a:ea typeface="Calibri"/>
              <a:cs typeface="Calibri"/>
              <a:sym typeface="Calibri"/>
            </a:endParaRPr>
          </a:p>
          <a:p>
            <a:pPr marL="457200" lvl="0" indent="-336550" algn="l" rtl="0">
              <a:lnSpc>
                <a:spcPct val="100000"/>
              </a:lnSpc>
              <a:spcBef>
                <a:spcPts val="0"/>
              </a:spcBef>
              <a:spcAft>
                <a:spcPts val="0"/>
              </a:spcAft>
              <a:buClr>
                <a:schemeClr val="dk1"/>
              </a:buClr>
              <a:buSzPts val="1700"/>
              <a:buFont typeface="Calibri"/>
              <a:buAutoNum type="arabicPeriod"/>
            </a:pPr>
            <a:r>
              <a:rPr lang="en" sz="1700">
                <a:solidFill>
                  <a:schemeClr val="dk1"/>
                </a:solidFill>
                <a:latin typeface="Calibri"/>
                <a:ea typeface="Calibri"/>
                <a:cs typeface="Calibri"/>
                <a:sym typeface="Calibri"/>
              </a:rPr>
              <a:t>Repeat the process with the “Acidic Conditions”.</a:t>
            </a:r>
            <a:endParaRPr sz="1700">
              <a:solidFill>
                <a:schemeClr val="dk1"/>
              </a:solidFill>
              <a:latin typeface="Calibri"/>
              <a:ea typeface="Calibri"/>
              <a:cs typeface="Calibri"/>
              <a:sym typeface="Calibri"/>
            </a:endParaRPr>
          </a:p>
          <a:p>
            <a:pPr marL="457200" lvl="0" indent="0" algn="l" rtl="0">
              <a:lnSpc>
                <a:spcPct val="100000"/>
              </a:lnSpc>
              <a:spcBef>
                <a:spcPts val="0"/>
              </a:spcBef>
              <a:spcAft>
                <a:spcPts val="0"/>
              </a:spcAft>
              <a:buNone/>
            </a:pPr>
            <a:endParaRPr sz="2000">
              <a:solidFill>
                <a:schemeClr val="dk1"/>
              </a:solidFill>
              <a:latin typeface="Calibri"/>
              <a:ea typeface="Calibri"/>
              <a:cs typeface="Calibri"/>
              <a:sym typeface="Calibri"/>
            </a:endParaRPr>
          </a:p>
        </p:txBody>
      </p:sp>
      <p:sp>
        <p:nvSpPr>
          <p:cNvPr id="115" name="Google Shape;115;p20"/>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3.4 Ocean Acidification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7</a:t>
            </a:r>
            <a:endParaRPr sz="1200">
              <a:solidFill>
                <a:schemeClr val="dk1"/>
              </a:solidFill>
              <a:latin typeface="Arial"/>
              <a:ea typeface="Arial"/>
              <a:cs typeface="Arial"/>
              <a:sym typeface="Arial"/>
            </a:endParaRPr>
          </a:p>
        </p:txBody>
      </p:sp>
      <p:pic>
        <p:nvPicPr>
          <p:cNvPr id="116" name="Google Shape;116;p20" title="Screenshot 2025-12-22 at 3.05.25 PM.png"/>
          <p:cNvPicPr preferRelativeResize="0"/>
          <p:nvPr/>
        </p:nvPicPr>
        <p:blipFill>
          <a:blip r:embed="rId3">
            <a:alphaModFix/>
          </a:blip>
          <a:stretch>
            <a:fillRect/>
          </a:stretch>
        </p:blipFill>
        <p:spPr>
          <a:xfrm>
            <a:off x="656675" y="859288"/>
            <a:ext cx="2262142" cy="3424925"/>
          </a:xfrm>
          <a:prstGeom prst="rect">
            <a:avLst/>
          </a:prstGeom>
          <a:noFill/>
          <a:ln>
            <a:noFill/>
          </a:ln>
        </p:spPr>
      </p:pic>
      <p:sp>
        <p:nvSpPr>
          <p:cNvPr id="117" name="Google Shape;117;p20"/>
          <p:cNvSpPr txBox="1"/>
          <p:nvPr/>
        </p:nvSpPr>
        <p:spPr>
          <a:xfrm>
            <a:off x="579800" y="4194450"/>
            <a:ext cx="26559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595959"/>
                </a:solidFill>
              </a:rPr>
              <a:t>Photo Credit: Little Bins, Little Hands</a:t>
            </a:r>
            <a:endParaRPr sz="800">
              <a:solidFill>
                <a:srgbClr val="59595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21"/>
        <p:cNvGrpSpPr/>
        <p:nvPr/>
      </p:nvGrpSpPr>
      <p:grpSpPr>
        <a:xfrm>
          <a:off x="0" y="0"/>
          <a:ext cx="0" cy="0"/>
          <a:chOff x="0" y="0"/>
          <a:chExt cx="0" cy="0"/>
        </a:xfrm>
      </p:grpSpPr>
      <p:sp>
        <p:nvSpPr>
          <p:cNvPr id="122" name="Google Shape;122;p21"/>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8</a:t>
            </a:r>
            <a:endParaRPr sz="1200">
              <a:solidFill>
                <a:schemeClr val="dk1"/>
              </a:solidFill>
              <a:latin typeface="Arial"/>
              <a:ea typeface="Arial"/>
              <a:cs typeface="Arial"/>
              <a:sym typeface="Arial"/>
            </a:endParaRPr>
          </a:p>
        </p:txBody>
      </p:sp>
      <p:sp>
        <p:nvSpPr>
          <p:cNvPr id="123" name="Google Shape;123;p21"/>
          <p:cNvSpPr txBox="1">
            <a:spLocks noGrp="1"/>
          </p:cNvSpPr>
          <p:nvPr>
            <p:ph type="body" idx="4294967295"/>
          </p:nvPr>
        </p:nvSpPr>
        <p:spPr>
          <a:xfrm>
            <a:off x="4311475" y="899275"/>
            <a:ext cx="4505400" cy="3295200"/>
          </a:xfrm>
          <a:prstGeom prst="rect">
            <a:avLst/>
          </a:prstGeom>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000" i="1" dirty="0">
                <a:solidFill>
                  <a:srgbClr val="355E3B"/>
                </a:solidFill>
                <a:latin typeface="Calibri"/>
                <a:ea typeface="Calibri"/>
                <a:cs typeface="Calibri"/>
                <a:sym typeface="Calibri"/>
              </a:rPr>
              <a:t>In your </a:t>
            </a:r>
            <a:r>
              <a:rPr lang="en" sz="2000" i="1" dirty="0">
                <a:solidFill>
                  <a:schemeClr val="hlink"/>
                </a:solidFill>
                <a:latin typeface="Calibri"/>
                <a:ea typeface="Calibri"/>
                <a:cs typeface="Calibri"/>
                <a:sym typeface="Calibri"/>
              </a:rPr>
              <a:t>Science Journal</a:t>
            </a:r>
            <a:r>
              <a:rPr lang="en" sz="2000" i="1" dirty="0">
                <a:solidFill>
                  <a:srgbClr val="355E3B"/>
                </a:solidFill>
                <a:latin typeface="Calibri"/>
                <a:ea typeface="Calibri"/>
                <a:cs typeface="Calibri"/>
                <a:sym typeface="Calibri"/>
              </a:rPr>
              <a:t>, Module 3.4 (p.46-49), draw your predictions for the basic solution and the acidic solution. </a:t>
            </a:r>
            <a:endParaRPr sz="2000" i="1" dirty="0">
              <a:solidFill>
                <a:srgbClr val="355E3B"/>
              </a:solidFill>
              <a:latin typeface="Calibri"/>
              <a:ea typeface="Calibri"/>
              <a:cs typeface="Calibri"/>
              <a:sym typeface="Calibri"/>
            </a:endParaRPr>
          </a:p>
          <a:p>
            <a:pPr marL="0" lvl="0" indent="0" algn="l" rtl="0">
              <a:lnSpc>
                <a:spcPct val="100000"/>
              </a:lnSpc>
              <a:spcBef>
                <a:spcPts val="0"/>
              </a:spcBef>
              <a:spcAft>
                <a:spcPts val="0"/>
              </a:spcAft>
              <a:buNone/>
            </a:pPr>
            <a:r>
              <a:rPr lang="en" sz="2000" i="1" dirty="0">
                <a:solidFill>
                  <a:srgbClr val="355E3B"/>
                </a:solidFill>
                <a:latin typeface="Calibri"/>
                <a:ea typeface="Calibri"/>
                <a:cs typeface="Calibri"/>
                <a:sym typeface="Calibri"/>
              </a:rPr>
              <a:t>Ask yourself the following:</a:t>
            </a:r>
            <a:endParaRPr sz="2000" i="1" dirty="0">
              <a:solidFill>
                <a:srgbClr val="355E3B"/>
              </a:solidFill>
              <a:latin typeface="Calibri"/>
              <a:ea typeface="Calibri"/>
              <a:cs typeface="Calibri"/>
              <a:sym typeface="Calibri"/>
            </a:endParaRPr>
          </a:p>
          <a:p>
            <a:pPr marL="0" lvl="0" indent="0" algn="l" rtl="0">
              <a:lnSpc>
                <a:spcPct val="100000"/>
              </a:lnSpc>
              <a:spcBef>
                <a:spcPts val="0"/>
              </a:spcBef>
              <a:spcAft>
                <a:spcPts val="0"/>
              </a:spcAft>
              <a:buNone/>
            </a:pPr>
            <a:endParaRPr sz="1000" b="1" dirty="0">
              <a:solidFill>
                <a:schemeClr val="dk1"/>
              </a:solidFill>
              <a:latin typeface="Calibri"/>
              <a:ea typeface="Calibri"/>
              <a:cs typeface="Calibri"/>
              <a:sym typeface="Calibri"/>
            </a:endParaRPr>
          </a:p>
          <a:p>
            <a:pPr marL="457200" lvl="0" indent="-355600" algn="l" rtl="0">
              <a:lnSpc>
                <a:spcPct val="100000"/>
              </a:lnSpc>
              <a:spcBef>
                <a:spcPts val="0"/>
              </a:spcBef>
              <a:spcAft>
                <a:spcPts val="0"/>
              </a:spcAft>
              <a:buClr>
                <a:schemeClr val="dk1"/>
              </a:buClr>
              <a:buSzPts val="2000"/>
              <a:buFont typeface="Calibri"/>
              <a:buAutoNum type="arabicPeriod"/>
            </a:pPr>
            <a:r>
              <a:rPr lang="en" sz="2000" dirty="0">
                <a:solidFill>
                  <a:schemeClr val="dk1"/>
                </a:solidFill>
                <a:latin typeface="Calibri"/>
                <a:ea typeface="Calibri"/>
                <a:cs typeface="Calibri"/>
                <a:sym typeface="Calibri"/>
              </a:rPr>
              <a:t>What do you think is happening in the solutions?</a:t>
            </a:r>
            <a:endParaRPr sz="2000" dirty="0">
              <a:solidFill>
                <a:schemeClr val="dk1"/>
              </a:solidFill>
              <a:latin typeface="Calibri"/>
              <a:ea typeface="Calibri"/>
              <a:cs typeface="Calibri"/>
              <a:sym typeface="Calibri"/>
            </a:endParaRPr>
          </a:p>
          <a:p>
            <a:pPr marL="457200" lvl="0" indent="-355600" algn="l" rtl="0">
              <a:lnSpc>
                <a:spcPct val="100000"/>
              </a:lnSpc>
              <a:spcBef>
                <a:spcPts val="0"/>
              </a:spcBef>
              <a:spcAft>
                <a:spcPts val="0"/>
              </a:spcAft>
              <a:buClr>
                <a:schemeClr val="dk1"/>
              </a:buClr>
              <a:buSzPts val="2000"/>
              <a:buFont typeface="Calibri"/>
              <a:buAutoNum type="arabicPeriod"/>
            </a:pPr>
            <a:r>
              <a:rPr lang="en" sz="2000" dirty="0">
                <a:solidFill>
                  <a:schemeClr val="dk1"/>
                </a:solidFill>
                <a:latin typeface="Calibri"/>
                <a:ea typeface="Calibri"/>
                <a:cs typeface="Calibri"/>
                <a:sym typeface="Calibri"/>
              </a:rPr>
              <a:t>What processes or reactions are happening?</a:t>
            </a:r>
            <a:endParaRPr sz="2000" dirty="0">
              <a:solidFill>
                <a:schemeClr val="dk1"/>
              </a:solidFill>
              <a:latin typeface="Calibri"/>
              <a:ea typeface="Calibri"/>
              <a:cs typeface="Calibri"/>
              <a:sym typeface="Calibri"/>
            </a:endParaRPr>
          </a:p>
          <a:p>
            <a:pPr marL="457200" lvl="0" indent="-355600" algn="l" rtl="0">
              <a:lnSpc>
                <a:spcPct val="100000"/>
              </a:lnSpc>
              <a:spcBef>
                <a:spcPts val="0"/>
              </a:spcBef>
              <a:spcAft>
                <a:spcPts val="0"/>
              </a:spcAft>
              <a:buClr>
                <a:schemeClr val="dk1"/>
              </a:buClr>
              <a:buSzPts val="2000"/>
              <a:buFont typeface="Calibri"/>
              <a:buAutoNum type="arabicPeriod"/>
            </a:pPr>
            <a:r>
              <a:rPr lang="en" sz="2000" dirty="0">
                <a:solidFill>
                  <a:schemeClr val="dk1"/>
                </a:solidFill>
                <a:latin typeface="Calibri"/>
                <a:ea typeface="Calibri"/>
                <a:cs typeface="Calibri"/>
                <a:sym typeface="Calibri"/>
              </a:rPr>
              <a:t>Are there any similarities between the two? Differences?</a:t>
            </a:r>
            <a:endParaRPr sz="2000" dirty="0">
              <a:solidFill>
                <a:schemeClr val="dk1"/>
              </a:solidFill>
              <a:latin typeface="Calibri"/>
              <a:ea typeface="Calibri"/>
              <a:cs typeface="Calibri"/>
              <a:sym typeface="Calibri"/>
            </a:endParaRPr>
          </a:p>
        </p:txBody>
      </p:sp>
      <p:sp>
        <p:nvSpPr>
          <p:cNvPr id="124" name="Google Shape;124;p21"/>
          <p:cNvSpPr txBox="1">
            <a:spLocks noGrp="1"/>
          </p:cNvSpPr>
          <p:nvPr>
            <p:ph type="title"/>
          </p:nvPr>
        </p:nvSpPr>
        <p:spPr>
          <a:xfrm>
            <a:off x="315750" y="194275"/>
            <a:ext cx="8512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500" b="1">
                <a:solidFill>
                  <a:srgbClr val="541900"/>
                </a:solidFill>
              </a:rPr>
              <a:t>Day 1: Ocean Acidification Experiment</a:t>
            </a:r>
            <a:endParaRPr sz="3500" b="1">
              <a:solidFill>
                <a:srgbClr val="541900"/>
              </a:solidFill>
            </a:endParaRPr>
          </a:p>
        </p:txBody>
      </p:sp>
      <p:sp>
        <p:nvSpPr>
          <p:cNvPr id="125" name="Google Shape;125;p21"/>
          <p:cNvSpPr txBox="1"/>
          <p:nvPr/>
        </p:nvSpPr>
        <p:spPr>
          <a:xfrm>
            <a:off x="126075" y="3998250"/>
            <a:ext cx="31098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595959"/>
                </a:solidFill>
              </a:rPr>
              <a:t>Photo Credit: Little Bins, Little Hands</a:t>
            </a:r>
            <a:endParaRPr sz="800">
              <a:solidFill>
                <a:srgbClr val="595959"/>
              </a:solidFill>
            </a:endParaRPr>
          </a:p>
        </p:txBody>
      </p:sp>
      <p:pic>
        <p:nvPicPr>
          <p:cNvPr id="126" name="Google Shape;126;p21" title="Screenshot 2025-12-22 at 4.09.41 PM.png"/>
          <p:cNvPicPr preferRelativeResize="0"/>
          <p:nvPr/>
        </p:nvPicPr>
        <p:blipFill>
          <a:blip r:embed="rId3">
            <a:alphaModFix/>
          </a:blip>
          <a:stretch>
            <a:fillRect/>
          </a:stretch>
        </p:blipFill>
        <p:spPr>
          <a:xfrm>
            <a:off x="219625" y="1081175"/>
            <a:ext cx="4006676" cy="298115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30"/>
        <p:cNvGrpSpPr/>
        <p:nvPr/>
      </p:nvGrpSpPr>
      <p:grpSpPr>
        <a:xfrm>
          <a:off x="0" y="0"/>
          <a:ext cx="0" cy="0"/>
          <a:chOff x="0" y="0"/>
          <a:chExt cx="0" cy="0"/>
        </a:xfrm>
      </p:grpSpPr>
      <p:sp>
        <p:nvSpPr>
          <p:cNvPr id="131" name="Google Shape;131;p22"/>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9</a:t>
            </a:r>
            <a:endParaRPr sz="1200">
              <a:solidFill>
                <a:schemeClr val="dk1"/>
              </a:solidFill>
              <a:latin typeface="Arial"/>
              <a:ea typeface="Arial"/>
              <a:cs typeface="Arial"/>
              <a:sym typeface="Arial"/>
            </a:endParaRPr>
          </a:p>
        </p:txBody>
      </p:sp>
      <p:sp>
        <p:nvSpPr>
          <p:cNvPr id="132" name="Google Shape;132;p22"/>
          <p:cNvSpPr txBox="1">
            <a:spLocks noGrp="1"/>
          </p:cNvSpPr>
          <p:nvPr>
            <p:ph type="body" idx="4294967295"/>
          </p:nvPr>
        </p:nvSpPr>
        <p:spPr>
          <a:xfrm>
            <a:off x="472775" y="126075"/>
            <a:ext cx="8131200" cy="957900"/>
          </a:xfrm>
          <a:prstGeom prst="rect">
            <a:avLst/>
          </a:prstGeom>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2500" b="1">
                <a:solidFill>
                  <a:srgbClr val="541900"/>
                </a:solidFill>
                <a:latin typeface="Calibri"/>
                <a:ea typeface="Calibri"/>
                <a:cs typeface="Calibri"/>
                <a:sym typeface="Calibri"/>
              </a:rPr>
              <a:t>What do you predict will happen to the shells in each solution? Why?</a:t>
            </a:r>
            <a:endParaRPr sz="2500" b="1">
              <a:solidFill>
                <a:srgbClr val="541900"/>
              </a:solidFill>
              <a:latin typeface="Calibri"/>
              <a:ea typeface="Calibri"/>
              <a:cs typeface="Calibri"/>
              <a:sym typeface="Calibri"/>
            </a:endParaRPr>
          </a:p>
        </p:txBody>
      </p:sp>
      <p:sp>
        <p:nvSpPr>
          <p:cNvPr id="133" name="Google Shape;133;p22"/>
          <p:cNvSpPr txBox="1"/>
          <p:nvPr/>
        </p:nvSpPr>
        <p:spPr>
          <a:xfrm rot="-5400000">
            <a:off x="1488900" y="2768775"/>
            <a:ext cx="21933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595959"/>
                </a:solidFill>
              </a:rPr>
              <a:t>Photo Credit: Little Bins, Little Hands</a:t>
            </a:r>
            <a:endParaRPr sz="800">
              <a:solidFill>
                <a:srgbClr val="595959"/>
              </a:solidFill>
            </a:endParaRPr>
          </a:p>
        </p:txBody>
      </p:sp>
      <p:pic>
        <p:nvPicPr>
          <p:cNvPr id="134" name="Google Shape;134;p22" title="Screenshot 2025-12-22 at 4.09.41 PM.png"/>
          <p:cNvPicPr preferRelativeResize="0"/>
          <p:nvPr/>
        </p:nvPicPr>
        <p:blipFill>
          <a:blip r:embed="rId3">
            <a:alphaModFix/>
          </a:blip>
          <a:stretch>
            <a:fillRect/>
          </a:stretch>
        </p:blipFill>
        <p:spPr>
          <a:xfrm>
            <a:off x="2538900" y="1176400"/>
            <a:ext cx="3998926" cy="2975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38"/>
        <p:cNvGrpSpPr/>
        <p:nvPr/>
      </p:nvGrpSpPr>
      <p:grpSpPr>
        <a:xfrm>
          <a:off x="0" y="0"/>
          <a:ext cx="0" cy="0"/>
          <a:chOff x="0" y="0"/>
          <a:chExt cx="0" cy="0"/>
        </a:xfrm>
      </p:grpSpPr>
      <p:sp>
        <p:nvSpPr>
          <p:cNvPr id="139" name="Google Shape;139;p23"/>
          <p:cNvSpPr txBox="1">
            <a:spLocks noGrp="1"/>
          </p:cNvSpPr>
          <p:nvPr>
            <p:ph type="title"/>
          </p:nvPr>
        </p:nvSpPr>
        <p:spPr>
          <a:xfrm>
            <a:off x="506400" y="194275"/>
            <a:ext cx="8131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500" b="1">
                <a:solidFill>
                  <a:srgbClr val="541900"/>
                </a:solidFill>
              </a:rPr>
              <a:t>Ocean Acidification Experiment</a:t>
            </a:r>
            <a:endParaRPr sz="3500" b="1">
              <a:solidFill>
                <a:srgbClr val="541900"/>
              </a:solidFill>
            </a:endParaRPr>
          </a:p>
        </p:txBody>
      </p:sp>
      <p:sp>
        <p:nvSpPr>
          <p:cNvPr id="140" name="Google Shape;140;p23"/>
          <p:cNvSpPr txBox="1">
            <a:spLocks noGrp="1"/>
          </p:cNvSpPr>
          <p:nvPr>
            <p:ph type="body" idx="4294967295"/>
          </p:nvPr>
        </p:nvSpPr>
        <p:spPr>
          <a:xfrm>
            <a:off x="3283325" y="949050"/>
            <a:ext cx="5533500" cy="3245400"/>
          </a:xfrm>
          <a:prstGeom prst="rect">
            <a:avLst/>
          </a:prstGeom>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1400" i="1">
                <a:solidFill>
                  <a:srgbClr val="355E3B"/>
                </a:solidFill>
                <a:latin typeface="Calibri"/>
                <a:ea typeface="Calibri"/>
                <a:cs typeface="Calibri"/>
                <a:sym typeface="Calibri"/>
              </a:rPr>
              <a:t>Once you have made your initial observations on both the basic and acidic solutions, take a moment to store your containers in a safe place. You will observe them again in the following lesson.</a:t>
            </a:r>
            <a:endParaRPr sz="1400" i="1">
              <a:solidFill>
                <a:srgbClr val="355E3B"/>
              </a:solidFill>
              <a:latin typeface="Calibri"/>
              <a:ea typeface="Calibri"/>
              <a:cs typeface="Calibri"/>
              <a:sym typeface="Calibri"/>
            </a:endParaRPr>
          </a:p>
          <a:p>
            <a:pPr marL="0" lvl="0" indent="0" algn="l" rtl="0">
              <a:lnSpc>
                <a:spcPct val="100000"/>
              </a:lnSpc>
              <a:spcBef>
                <a:spcPts val="0"/>
              </a:spcBef>
              <a:spcAft>
                <a:spcPts val="0"/>
              </a:spcAft>
              <a:buNone/>
            </a:pPr>
            <a:endParaRPr sz="2000" b="1">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r>
              <a:rPr lang="en" sz="2000" b="1">
                <a:solidFill>
                  <a:schemeClr val="dk1"/>
                </a:solidFill>
                <a:latin typeface="Calibri"/>
                <a:ea typeface="Calibri"/>
                <a:cs typeface="Calibri"/>
                <a:sym typeface="Calibri"/>
              </a:rPr>
              <a:t>Storing Instructions:</a:t>
            </a:r>
            <a:endParaRPr sz="2000" b="1">
              <a:solidFill>
                <a:schemeClr val="dk1"/>
              </a:solidFill>
              <a:latin typeface="Calibri"/>
              <a:ea typeface="Calibri"/>
              <a:cs typeface="Calibri"/>
              <a:sym typeface="Calibri"/>
            </a:endParaRPr>
          </a:p>
          <a:p>
            <a:pPr marL="457200" lvl="0" indent="-317500" algn="l" rtl="0">
              <a:lnSpc>
                <a:spcPct val="100000"/>
              </a:lnSpc>
              <a:spcBef>
                <a:spcPts val="0"/>
              </a:spcBef>
              <a:spcAft>
                <a:spcPts val="0"/>
              </a:spcAft>
              <a:buClr>
                <a:schemeClr val="dk1"/>
              </a:buClr>
              <a:buSzPts val="1400"/>
              <a:buFont typeface="Calibri"/>
              <a:buAutoNum type="arabicPeriod"/>
            </a:pPr>
            <a:r>
              <a:rPr lang="en" sz="1400">
                <a:solidFill>
                  <a:schemeClr val="dk1"/>
                </a:solidFill>
                <a:latin typeface="Calibri"/>
                <a:ea typeface="Calibri"/>
                <a:cs typeface="Calibri"/>
                <a:sym typeface="Calibri"/>
              </a:rPr>
              <a:t>Using a post it note or tape, take a moment to add your group’s name to your experiment. If you have not labeled the containers with their solution type, now is the time to do so.</a:t>
            </a:r>
            <a:endParaRPr sz="1400">
              <a:solidFill>
                <a:schemeClr val="dk1"/>
              </a:solidFill>
              <a:latin typeface="Calibri"/>
              <a:ea typeface="Calibri"/>
              <a:cs typeface="Calibri"/>
              <a:sym typeface="Calibri"/>
            </a:endParaRPr>
          </a:p>
          <a:p>
            <a:pPr marL="457200" lvl="0" indent="-317500" algn="l" rtl="0">
              <a:lnSpc>
                <a:spcPct val="100000"/>
              </a:lnSpc>
              <a:spcBef>
                <a:spcPts val="0"/>
              </a:spcBef>
              <a:spcAft>
                <a:spcPts val="0"/>
              </a:spcAft>
              <a:buClr>
                <a:schemeClr val="dk1"/>
              </a:buClr>
              <a:buSzPts val="1400"/>
              <a:buFont typeface="Calibri"/>
              <a:buAutoNum type="arabicPeriod"/>
            </a:pPr>
            <a:r>
              <a:rPr lang="en" sz="1400">
                <a:solidFill>
                  <a:schemeClr val="dk1"/>
                </a:solidFill>
                <a:latin typeface="Calibri"/>
                <a:ea typeface="Calibri"/>
                <a:cs typeface="Calibri"/>
                <a:sym typeface="Calibri"/>
              </a:rPr>
              <a:t>Find a place within the classroom where you can leave your experiment for the day, you will revisit the experiment in the next lesson.</a:t>
            </a:r>
            <a:endParaRPr sz="1400">
              <a:solidFill>
                <a:schemeClr val="dk1"/>
              </a:solidFill>
              <a:latin typeface="Calibri"/>
              <a:ea typeface="Calibri"/>
              <a:cs typeface="Calibri"/>
              <a:sym typeface="Calibri"/>
            </a:endParaRPr>
          </a:p>
          <a:p>
            <a:pPr marL="457200" lvl="0" indent="0" algn="l" rtl="0">
              <a:lnSpc>
                <a:spcPct val="100000"/>
              </a:lnSpc>
              <a:spcBef>
                <a:spcPts val="0"/>
              </a:spcBef>
              <a:spcAft>
                <a:spcPts val="0"/>
              </a:spcAft>
              <a:buNone/>
            </a:pPr>
            <a:endParaRPr sz="2000">
              <a:solidFill>
                <a:schemeClr val="dk1"/>
              </a:solidFill>
              <a:latin typeface="Calibri"/>
              <a:ea typeface="Calibri"/>
              <a:cs typeface="Calibri"/>
              <a:sym typeface="Calibri"/>
            </a:endParaRPr>
          </a:p>
        </p:txBody>
      </p:sp>
      <p:sp>
        <p:nvSpPr>
          <p:cNvPr id="141" name="Google Shape;141;p23"/>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3.4 Ocean Acidification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10</a:t>
            </a:r>
            <a:endParaRPr sz="1200">
              <a:solidFill>
                <a:schemeClr val="dk1"/>
              </a:solidFill>
              <a:latin typeface="Arial"/>
              <a:ea typeface="Arial"/>
              <a:cs typeface="Arial"/>
              <a:sym typeface="Arial"/>
            </a:endParaRPr>
          </a:p>
        </p:txBody>
      </p:sp>
      <p:sp>
        <p:nvSpPr>
          <p:cNvPr id="142" name="Google Shape;142;p23"/>
          <p:cNvSpPr txBox="1"/>
          <p:nvPr/>
        </p:nvSpPr>
        <p:spPr>
          <a:xfrm>
            <a:off x="152700" y="3584250"/>
            <a:ext cx="26559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595959"/>
                </a:solidFill>
              </a:rPr>
              <a:t>Photo Credit: Little Bins, Little Hands</a:t>
            </a:r>
            <a:endParaRPr sz="800">
              <a:solidFill>
                <a:srgbClr val="595959"/>
              </a:solidFill>
            </a:endParaRPr>
          </a:p>
        </p:txBody>
      </p:sp>
      <p:pic>
        <p:nvPicPr>
          <p:cNvPr id="143" name="Google Shape;143;p23" title="Screenshot 2025-12-22 at 4.09.41 PM.png"/>
          <p:cNvPicPr preferRelativeResize="0"/>
          <p:nvPr/>
        </p:nvPicPr>
        <p:blipFill>
          <a:blip r:embed="rId3">
            <a:alphaModFix/>
          </a:blip>
          <a:stretch>
            <a:fillRect/>
          </a:stretch>
        </p:blipFill>
        <p:spPr>
          <a:xfrm>
            <a:off x="220225" y="1525075"/>
            <a:ext cx="2830676" cy="2106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47"/>
        <p:cNvGrpSpPr/>
        <p:nvPr/>
      </p:nvGrpSpPr>
      <p:grpSpPr>
        <a:xfrm>
          <a:off x="0" y="0"/>
          <a:ext cx="0" cy="0"/>
          <a:chOff x="0" y="0"/>
          <a:chExt cx="0" cy="0"/>
        </a:xfrm>
      </p:grpSpPr>
      <p:sp>
        <p:nvSpPr>
          <p:cNvPr id="148" name="Google Shape;148;p24"/>
          <p:cNvSpPr txBox="1">
            <a:spLocks noGrp="1"/>
          </p:cNvSpPr>
          <p:nvPr>
            <p:ph type="body" idx="1"/>
          </p:nvPr>
        </p:nvSpPr>
        <p:spPr>
          <a:xfrm>
            <a:off x="311700" y="1138325"/>
            <a:ext cx="8520600" cy="572700"/>
          </a:xfrm>
          <a:prstGeom prst="rect">
            <a:avLst/>
          </a:prstGeom>
        </p:spPr>
        <p:txBody>
          <a:bodyPr spcFirstLastPara="1" wrap="square" lIns="91425" tIns="91425" rIns="91425" bIns="91425" anchor="t" anchorCtr="0">
            <a:noAutofit/>
          </a:bodyPr>
          <a:lstStyle/>
          <a:p>
            <a:pPr marL="0" lvl="0" indent="0">
              <a:buClr>
                <a:schemeClr val="dk1"/>
              </a:buClr>
              <a:buSzPts val="1100"/>
              <a:buNone/>
            </a:pPr>
            <a:r>
              <a:rPr lang="en" sz="2000" i="1" dirty="0">
                <a:solidFill>
                  <a:srgbClr val="355E3B"/>
                </a:solidFill>
              </a:rPr>
              <a:t>In your </a:t>
            </a:r>
            <a:r>
              <a:rPr lang="en" sz="2000" i="1" dirty="0">
                <a:solidFill>
                  <a:schemeClr val="hlink"/>
                </a:solidFill>
                <a:latin typeface="Calibri"/>
                <a:ea typeface="Calibri"/>
                <a:cs typeface="Calibri"/>
                <a:sym typeface="Calibri"/>
              </a:rPr>
              <a:t>Science Journal </a:t>
            </a:r>
            <a:r>
              <a:rPr lang="en" sz="2000" i="1" dirty="0">
                <a:solidFill>
                  <a:srgbClr val="355E3B"/>
                </a:solidFill>
              </a:rPr>
              <a:t>(p. 50), take a couple of minutes to reflect on your experiences during Module 3.4, Day 1.</a:t>
            </a:r>
            <a:endParaRPr sz="2000" i="1" dirty="0">
              <a:solidFill>
                <a:srgbClr val="355E3B"/>
              </a:solidFill>
            </a:endParaRPr>
          </a:p>
          <a:p>
            <a:pPr marL="0" lvl="0" indent="0" algn="l" rtl="0">
              <a:spcBef>
                <a:spcPts val="1200"/>
              </a:spcBef>
              <a:spcAft>
                <a:spcPts val="1200"/>
              </a:spcAft>
              <a:buNone/>
            </a:pPr>
            <a:endParaRPr sz="2000" i="1" dirty="0">
              <a:solidFill>
                <a:srgbClr val="355E3B"/>
              </a:solidFill>
            </a:endParaRPr>
          </a:p>
        </p:txBody>
      </p:sp>
      <p:sp>
        <p:nvSpPr>
          <p:cNvPr id="149" name="Google Shape;149;p24"/>
          <p:cNvSpPr txBox="1">
            <a:spLocks noGrp="1"/>
          </p:cNvSpPr>
          <p:nvPr>
            <p:ph type="title"/>
          </p:nvPr>
        </p:nvSpPr>
        <p:spPr>
          <a:xfrm>
            <a:off x="311700" y="2675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Reflect</a:t>
            </a:r>
            <a:endParaRPr sz="4500" b="1">
              <a:solidFill>
                <a:srgbClr val="541900"/>
              </a:solidFill>
            </a:endParaRPr>
          </a:p>
        </p:txBody>
      </p:sp>
      <p:sp>
        <p:nvSpPr>
          <p:cNvPr id="150" name="Google Shape;150;p24"/>
          <p:cNvSpPr txBox="1">
            <a:spLocks noGrp="1"/>
          </p:cNvSpPr>
          <p:nvPr>
            <p:ph type="body" idx="4294967295"/>
          </p:nvPr>
        </p:nvSpPr>
        <p:spPr>
          <a:xfrm>
            <a:off x="311700" y="2009075"/>
            <a:ext cx="8373300" cy="1989000"/>
          </a:xfrm>
          <a:prstGeom prst="rect">
            <a:avLst/>
          </a:prstGeom>
        </p:spPr>
        <p:txBody>
          <a:bodyPr spcFirstLastPara="1" wrap="square" lIns="91425" tIns="91425" rIns="91425" bIns="91425" anchor="t" anchorCtr="0">
            <a:normAutofit/>
          </a:bodyPr>
          <a:lstStyle/>
          <a:p>
            <a:pPr marL="457200" lvl="0" indent="-355600" algn="l" rtl="0">
              <a:spcBef>
                <a:spcPts val="1200"/>
              </a:spcBef>
              <a:spcAft>
                <a:spcPts val="0"/>
              </a:spcAft>
              <a:buClr>
                <a:schemeClr val="dk1"/>
              </a:buClr>
              <a:buSzPts val="2000"/>
              <a:buFont typeface="Calibri"/>
              <a:buChar char="●"/>
            </a:pPr>
            <a:r>
              <a:rPr lang="en" sz="2000" dirty="0">
                <a:solidFill>
                  <a:schemeClr val="dk1"/>
                </a:solidFill>
                <a:latin typeface="Calibri"/>
                <a:ea typeface="Calibri"/>
                <a:cs typeface="Calibri"/>
                <a:sym typeface="Calibri"/>
              </a:rPr>
              <a:t>What new information or evidence changed your thinking about how CO₂ affects ocean ecosystems?</a:t>
            </a:r>
            <a:endParaRPr sz="2000" dirty="0">
              <a:solidFill>
                <a:schemeClr val="dk1"/>
              </a:solidFill>
              <a:latin typeface="Calibri"/>
              <a:ea typeface="Calibri"/>
              <a:cs typeface="Calibri"/>
              <a:sym typeface="Calibri"/>
            </a:endParaRPr>
          </a:p>
          <a:p>
            <a:pPr marL="457200" lvl="0" indent="-355600" algn="l" rtl="0">
              <a:spcBef>
                <a:spcPts val="0"/>
              </a:spcBef>
              <a:spcAft>
                <a:spcPts val="0"/>
              </a:spcAft>
              <a:buClr>
                <a:schemeClr val="dk1"/>
              </a:buClr>
              <a:buSzPts val="2000"/>
              <a:buFont typeface="Calibri"/>
              <a:buChar char="●"/>
            </a:pPr>
            <a:r>
              <a:rPr lang="en" sz="2000" dirty="0">
                <a:solidFill>
                  <a:schemeClr val="dk1"/>
                </a:solidFill>
                <a:latin typeface="Calibri"/>
                <a:ea typeface="Calibri"/>
                <a:cs typeface="Calibri"/>
                <a:sym typeface="Calibri"/>
              </a:rPr>
              <a:t>What questions do you still have about ocean acidification? </a:t>
            </a:r>
            <a:endParaRPr sz="2000" dirty="0">
              <a:solidFill>
                <a:schemeClr val="dk1"/>
              </a:solidFill>
              <a:latin typeface="Calibri"/>
              <a:ea typeface="Calibri"/>
              <a:cs typeface="Calibri"/>
              <a:sym typeface="Calibri"/>
            </a:endParaRPr>
          </a:p>
        </p:txBody>
      </p:sp>
      <p:sp>
        <p:nvSpPr>
          <p:cNvPr id="151" name="Google Shape;151;p24"/>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3.4 Ocean Acidification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11</a:t>
            </a:r>
            <a:endParaRPr sz="12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55"/>
        <p:cNvGrpSpPr/>
        <p:nvPr/>
      </p:nvGrpSpPr>
      <p:grpSpPr>
        <a:xfrm>
          <a:off x="0" y="0"/>
          <a:ext cx="0" cy="0"/>
          <a:chOff x="0" y="0"/>
          <a:chExt cx="0" cy="0"/>
        </a:xfrm>
      </p:grpSpPr>
      <p:sp>
        <p:nvSpPr>
          <p:cNvPr id="156" name="Google Shape;156;p25"/>
          <p:cNvSpPr txBox="1">
            <a:spLocks noGrp="1"/>
          </p:cNvSpPr>
          <p:nvPr>
            <p:ph type="title" idx="4294967295"/>
          </p:nvPr>
        </p:nvSpPr>
        <p:spPr>
          <a:xfrm>
            <a:off x="236575" y="1372150"/>
            <a:ext cx="3939300" cy="1521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4500" b="1">
                <a:solidFill>
                  <a:srgbClr val="541900"/>
                </a:solidFill>
              </a:rPr>
              <a:t>Ocean Acidification</a:t>
            </a:r>
            <a:endParaRPr sz="4500" b="1">
              <a:solidFill>
                <a:srgbClr val="541900"/>
              </a:solidFill>
            </a:endParaRPr>
          </a:p>
        </p:txBody>
      </p:sp>
      <p:sp>
        <p:nvSpPr>
          <p:cNvPr id="157" name="Google Shape;157;p25"/>
          <p:cNvSpPr txBox="1">
            <a:spLocks noGrp="1"/>
          </p:cNvSpPr>
          <p:nvPr>
            <p:ph type="body" idx="4294967295"/>
          </p:nvPr>
        </p:nvSpPr>
        <p:spPr>
          <a:xfrm>
            <a:off x="2286475" y="2742725"/>
            <a:ext cx="1889400" cy="6702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r>
              <a:rPr lang="en" sz="1200" b="1">
                <a:solidFill>
                  <a:srgbClr val="355E3B"/>
                </a:solidFill>
              </a:rPr>
              <a:t>Module 3.4 | Day 2</a:t>
            </a:r>
            <a:endParaRPr sz="1200" b="1">
              <a:solidFill>
                <a:srgbClr val="355E3B"/>
              </a:solidFill>
            </a:endParaRPr>
          </a:p>
        </p:txBody>
      </p:sp>
      <p:sp>
        <p:nvSpPr>
          <p:cNvPr id="158" name="Google Shape;158;p25"/>
          <p:cNvSpPr txBox="1"/>
          <p:nvPr/>
        </p:nvSpPr>
        <p:spPr>
          <a:xfrm>
            <a:off x="2026650" y="4583075"/>
            <a:ext cx="5090700" cy="32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000000"/>
                </a:solidFill>
              </a:rPr>
              <a:t>AISciComm | Mo</a:t>
            </a:r>
            <a:r>
              <a:rPr lang="en" sz="1200">
                <a:solidFill>
                  <a:schemeClr val="dk1"/>
                </a:solidFill>
              </a:rPr>
              <a:t>dule 3.4 Ocean Acidification</a:t>
            </a:r>
            <a:endParaRPr sz="1200">
              <a:solidFill>
                <a:schemeClr val="dk1"/>
              </a:solidFill>
            </a:endParaRPr>
          </a:p>
          <a:p>
            <a:pPr marL="0" lvl="0" indent="0" algn="ctr" rtl="0">
              <a:spcBef>
                <a:spcPts val="0"/>
              </a:spcBef>
              <a:spcAft>
                <a:spcPts val="0"/>
              </a:spcAft>
              <a:buNone/>
            </a:pPr>
            <a:r>
              <a:rPr lang="en" sz="1200">
                <a:solidFill>
                  <a:schemeClr val="dk1"/>
                </a:solidFill>
              </a:rPr>
              <a:t>Slide 12</a:t>
            </a:r>
            <a:endParaRPr sz="1200">
              <a:solidFill>
                <a:schemeClr val="dk1"/>
              </a:solidFill>
            </a:endParaRPr>
          </a:p>
          <a:p>
            <a:pPr marL="0" lvl="0" indent="0" algn="l" rtl="0">
              <a:lnSpc>
                <a:spcPct val="115000"/>
              </a:lnSpc>
              <a:spcBef>
                <a:spcPts val="0"/>
              </a:spcBef>
              <a:spcAft>
                <a:spcPts val="1200"/>
              </a:spcAft>
              <a:buNone/>
            </a:pPr>
            <a:endParaRPr sz="1200">
              <a:solidFill>
                <a:srgbClr val="000000"/>
              </a:solidFill>
            </a:endParaRPr>
          </a:p>
        </p:txBody>
      </p:sp>
      <p:sp>
        <p:nvSpPr>
          <p:cNvPr id="159" name="Google Shape;159;p25"/>
          <p:cNvSpPr txBox="1"/>
          <p:nvPr/>
        </p:nvSpPr>
        <p:spPr>
          <a:xfrm>
            <a:off x="4746175" y="3649275"/>
            <a:ext cx="4224900" cy="376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800" b="1">
                <a:solidFill>
                  <a:srgbClr val="595959"/>
                </a:solidFill>
              </a:rPr>
              <a:t>San Diego, CA</a:t>
            </a:r>
            <a:endParaRPr sz="800" b="1">
              <a:solidFill>
                <a:srgbClr val="595959"/>
              </a:solidFill>
            </a:endParaRPr>
          </a:p>
          <a:p>
            <a:pPr marL="0" lvl="0" indent="0" algn="r" rtl="0">
              <a:spcBef>
                <a:spcPts val="0"/>
              </a:spcBef>
              <a:spcAft>
                <a:spcPts val="0"/>
              </a:spcAft>
              <a:buNone/>
            </a:pPr>
            <a:r>
              <a:rPr lang="en" sz="800" b="1">
                <a:solidFill>
                  <a:srgbClr val="595959"/>
                </a:solidFill>
              </a:rPr>
              <a:t>Photo Credit: UC San Diego, Jacobs School of Engineering</a:t>
            </a:r>
            <a:endParaRPr sz="800" b="1">
              <a:solidFill>
                <a:srgbClr val="595959"/>
              </a:solidFill>
            </a:endParaRPr>
          </a:p>
        </p:txBody>
      </p:sp>
      <p:pic>
        <p:nvPicPr>
          <p:cNvPr id="160" name="Google Shape;160;p25"/>
          <p:cNvPicPr preferRelativeResize="0"/>
          <p:nvPr/>
        </p:nvPicPr>
        <p:blipFill>
          <a:blip r:embed="rId3">
            <a:alphaModFix/>
          </a:blip>
          <a:stretch>
            <a:fillRect/>
          </a:stretch>
        </p:blipFill>
        <p:spPr>
          <a:xfrm>
            <a:off x="4307750" y="785150"/>
            <a:ext cx="4663324" cy="291457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64"/>
        <p:cNvGrpSpPr/>
        <p:nvPr/>
      </p:nvGrpSpPr>
      <p:grpSpPr>
        <a:xfrm>
          <a:off x="0" y="0"/>
          <a:ext cx="0" cy="0"/>
          <a:chOff x="0" y="0"/>
          <a:chExt cx="0" cy="0"/>
        </a:xfrm>
      </p:grpSpPr>
      <p:sp>
        <p:nvSpPr>
          <p:cNvPr id="165" name="Google Shape;165;p26"/>
          <p:cNvSpPr txBox="1">
            <a:spLocks noGrp="1"/>
          </p:cNvSpPr>
          <p:nvPr>
            <p:ph type="title"/>
          </p:nvPr>
        </p:nvSpPr>
        <p:spPr>
          <a:xfrm>
            <a:off x="379950" y="194300"/>
            <a:ext cx="8384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300" b="1">
                <a:solidFill>
                  <a:srgbClr val="541900"/>
                </a:solidFill>
              </a:rPr>
              <a:t>What is Ocean Acidification?</a:t>
            </a:r>
            <a:endParaRPr sz="3300" b="1">
              <a:solidFill>
                <a:srgbClr val="541900"/>
              </a:solidFill>
            </a:endParaRPr>
          </a:p>
          <a:p>
            <a:pPr marL="0" lvl="0" indent="0" algn="l" rtl="0">
              <a:spcBef>
                <a:spcPts val="0"/>
              </a:spcBef>
              <a:spcAft>
                <a:spcPts val="0"/>
              </a:spcAft>
              <a:buNone/>
            </a:pPr>
            <a:r>
              <a:rPr lang="en" sz="1600" b="1" i="1">
                <a:solidFill>
                  <a:srgbClr val="355E3B"/>
                </a:solidFill>
              </a:rPr>
              <a:t>During this lesson, you will take a moment to learn more about ocean acidification and how it might impact the way your community values the ocean. To begin, watch the video below.</a:t>
            </a:r>
            <a:endParaRPr sz="1600" b="1" i="1">
              <a:solidFill>
                <a:srgbClr val="355E3B"/>
              </a:solidFill>
            </a:endParaRPr>
          </a:p>
        </p:txBody>
      </p:sp>
      <p:sp>
        <p:nvSpPr>
          <p:cNvPr id="166" name="Google Shape;166;p26"/>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3.4 Ocean Acidification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13</a:t>
            </a:r>
            <a:endParaRPr sz="1200">
              <a:solidFill>
                <a:schemeClr val="dk1"/>
              </a:solidFill>
              <a:latin typeface="Arial"/>
              <a:ea typeface="Arial"/>
              <a:cs typeface="Arial"/>
              <a:sym typeface="Arial"/>
            </a:endParaRPr>
          </a:p>
        </p:txBody>
      </p:sp>
      <p:pic>
        <p:nvPicPr>
          <p:cNvPr id="167" name="Google Shape;167;p26" descr="There’s a chemical change under way in our oceans. It's called ocean acidification. As the ocean absorbs carbon dioxide from the atmosphere, it's becoming more acidic—eroding the shells of marine life like oysters, clams, and urchins, which are vital to the food web. &#10;&#10;Scientists predict that ocean acidification could wipe out most coral reefs by the middle of this century, and it’s affecting other animals, too. The good news is that, if we reverse course, the ocean should regain its chemical balance. If not, well, the truth will be a lot scarier than fiction.&#10;&#10;Nationally syndicated cartoonist Jim Toomey, creator of Sherman's Lagoon, has joined forces with The Pew Charitable Trusts to illustrate &quot;ocean acidification&quot; and other terms associated with our oceans. &#10;&#10;Watch the full ocean terms video series: http://www.pewtrusts.org/en/research-and-analysis/collections/2016/01/cartoon-crash-course-a-visual-glossary-of-ocean-terminology &#10;&#10;*TRANSCRIPT*&#10;&#10;Invisible force invades world, slowly dissolving residents! Sounds like science fiction. Actually, it’s science nonfiction – otherwise known as reality – and it’s &#10;happening in our oceans right now. “It” is ocean acidification. &#10;&#10;“Huh?”&#10;&#10;The oceans absorbs about a third of the carbon dioxide that spews forth from our cars, power plants, factories and airplanes. That’s over 22 million tons of CO2 every day!  But the ocean doesn’t just “absorb” all that CO2.  There’s a chemical reaction at work here.&#10;&#10;Through processes involving hydrogen ions and other science-y nonfiction words, the ocean is becoming more acidic, and that in turn is eroding the shells of vital marine species including clams, oysters, urchins, and pteropods. &#10;&#10;Oh sure, I know what you’re thinking… “Who cares about a bunch of pteropods?” But these animals are part of the foundation of an enormous food web. And when little things change on a big scale, big changes are sure to follow. &#10;&#10;The chemical change in our seawater is also having an effect on corals. In fact, scientists say that ocean acidification could wipe out most coral reefs by the middle of this century.  &#10;&#10;It’s affecting larger animals, too. For example, certain fish have a harder time detecting predators. And that’s just for starters.&#10;&#10;The good news is that with less carbon pollution, the ocean should regain its chemical balance. &#10;&#10;If not, the truth will be a lot scarier than fiction.&#10;&#10;Pewtrusts.org/oceanacid" title="What Is Ocean Acidification? | A Cartoon Crash Course">
            <a:hlinkClick r:id="rId3"/>
          </p:cNvPr>
          <p:cNvPicPr preferRelativeResize="0"/>
          <p:nvPr/>
        </p:nvPicPr>
        <p:blipFill>
          <a:blip r:embed="rId4">
            <a:alphaModFix/>
          </a:blip>
          <a:stretch>
            <a:fillRect/>
          </a:stretch>
        </p:blipFill>
        <p:spPr>
          <a:xfrm>
            <a:off x="1997887" y="1541700"/>
            <a:ext cx="5148225" cy="28958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7"/>
                                        </p:tgtEl>
                                        <p:attrNameLst>
                                          <p:attrName>style.visibility</p:attrName>
                                        </p:attrNameLst>
                                      </p:cBhvr>
                                      <p:to>
                                        <p:strVal val="visible"/>
                                      </p:to>
                                    </p:set>
                                    <p:animEffect transition="in" filter="fade">
                                      <p:cBhvr>
                                        <p:cTn id="7" dur="1000"/>
                                        <p:tgtEl>
                                          <p:spTgt spid="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71"/>
        <p:cNvGrpSpPr/>
        <p:nvPr/>
      </p:nvGrpSpPr>
      <p:grpSpPr>
        <a:xfrm>
          <a:off x="0" y="0"/>
          <a:ext cx="0" cy="0"/>
          <a:chOff x="0" y="0"/>
          <a:chExt cx="0" cy="0"/>
        </a:xfrm>
      </p:grpSpPr>
      <p:sp>
        <p:nvSpPr>
          <p:cNvPr id="172" name="Google Shape;172;p27"/>
          <p:cNvSpPr txBox="1">
            <a:spLocks noGrp="1"/>
          </p:cNvSpPr>
          <p:nvPr>
            <p:ph type="body" idx="4294967295"/>
          </p:nvPr>
        </p:nvSpPr>
        <p:spPr>
          <a:xfrm>
            <a:off x="4655100" y="2233550"/>
            <a:ext cx="3726600" cy="30309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chemeClr val="dk1"/>
              </a:buClr>
              <a:buSzPts val="2000"/>
              <a:buChar char="●"/>
            </a:pPr>
            <a:r>
              <a:rPr lang="en" sz="2000">
                <a:solidFill>
                  <a:schemeClr val="dk1"/>
                </a:solidFill>
              </a:rPr>
              <a:t>What do you think is happening in this image?</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Is what you are observing a natural occurrence?</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Why might communities want to understand this scenario?</a:t>
            </a:r>
            <a:endParaRPr sz="2000">
              <a:solidFill>
                <a:schemeClr val="dk1"/>
              </a:solidFill>
            </a:endParaRPr>
          </a:p>
        </p:txBody>
      </p:sp>
      <p:sp>
        <p:nvSpPr>
          <p:cNvPr id="173" name="Google Shape;173;p27"/>
          <p:cNvSpPr txBox="1">
            <a:spLocks noGrp="1"/>
          </p:cNvSpPr>
          <p:nvPr>
            <p:ph type="title"/>
          </p:nvPr>
        </p:nvSpPr>
        <p:spPr>
          <a:xfrm>
            <a:off x="4519475" y="69732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rgbClr val="541900"/>
                </a:solidFill>
              </a:rPr>
              <a:t>Make an Observation</a:t>
            </a:r>
            <a:endParaRPr sz="3000" b="1">
              <a:solidFill>
                <a:srgbClr val="541900"/>
              </a:solidFill>
            </a:endParaRPr>
          </a:p>
          <a:p>
            <a:pPr marL="0" lvl="0" indent="0" algn="l" rtl="0">
              <a:lnSpc>
                <a:spcPct val="115000"/>
              </a:lnSpc>
              <a:spcBef>
                <a:spcPts val="0"/>
              </a:spcBef>
              <a:spcAft>
                <a:spcPts val="1200"/>
              </a:spcAft>
              <a:buNone/>
            </a:pPr>
            <a:r>
              <a:rPr lang="en" sz="2000" i="1">
                <a:solidFill>
                  <a:srgbClr val="355E3B"/>
                </a:solidFill>
              </a:rPr>
              <a:t>Now that you have more information, revisit the following image and answer the questions.</a:t>
            </a:r>
            <a:endParaRPr sz="3000" b="1">
              <a:solidFill>
                <a:srgbClr val="541900"/>
              </a:solidFill>
            </a:endParaRPr>
          </a:p>
        </p:txBody>
      </p:sp>
      <p:pic>
        <p:nvPicPr>
          <p:cNvPr id="174" name="Google Shape;174;p27"/>
          <p:cNvPicPr preferRelativeResize="0"/>
          <p:nvPr/>
        </p:nvPicPr>
        <p:blipFill>
          <a:blip r:embed="rId3">
            <a:alphaModFix/>
          </a:blip>
          <a:stretch>
            <a:fillRect/>
          </a:stretch>
        </p:blipFill>
        <p:spPr>
          <a:xfrm>
            <a:off x="311700" y="1018588"/>
            <a:ext cx="4151050" cy="3106325"/>
          </a:xfrm>
          <a:prstGeom prst="rect">
            <a:avLst/>
          </a:prstGeom>
          <a:noFill/>
          <a:ln>
            <a:noFill/>
          </a:ln>
        </p:spPr>
      </p:pic>
      <p:sp>
        <p:nvSpPr>
          <p:cNvPr id="175" name="Google Shape;175;p27"/>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3.4 Ocean Acidification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3</a:t>
            </a:r>
            <a:endParaRPr sz="1200">
              <a:solidFill>
                <a:schemeClr val="dk1"/>
              </a:solidFill>
              <a:latin typeface="Arial"/>
              <a:ea typeface="Arial"/>
              <a:cs typeface="Arial"/>
              <a:sym typeface="Arial"/>
            </a:endParaRPr>
          </a:p>
        </p:txBody>
      </p:sp>
      <p:sp>
        <p:nvSpPr>
          <p:cNvPr id="176" name="Google Shape;176;p27"/>
          <p:cNvSpPr txBox="1"/>
          <p:nvPr/>
        </p:nvSpPr>
        <p:spPr>
          <a:xfrm>
            <a:off x="237850" y="4038075"/>
            <a:ext cx="42249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595959"/>
                </a:solidFill>
              </a:rPr>
              <a:t>Photo Credit: Little Bins, Little Hands</a:t>
            </a:r>
            <a:endParaRPr sz="800">
              <a:solidFill>
                <a:srgbClr val="59595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80"/>
        <p:cNvGrpSpPr/>
        <p:nvPr/>
      </p:nvGrpSpPr>
      <p:grpSpPr>
        <a:xfrm>
          <a:off x="0" y="0"/>
          <a:ext cx="0" cy="0"/>
          <a:chOff x="0" y="0"/>
          <a:chExt cx="0" cy="0"/>
        </a:xfrm>
      </p:grpSpPr>
      <p:sp>
        <p:nvSpPr>
          <p:cNvPr id="181" name="Google Shape;181;p28"/>
          <p:cNvSpPr txBox="1">
            <a:spLocks noGrp="1"/>
          </p:cNvSpPr>
          <p:nvPr>
            <p:ph type="title"/>
          </p:nvPr>
        </p:nvSpPr>
        <p:spPr>
          <a:xfrm>
            <a:off x="1180800" y="242150"/>
            <a:ext cx="6782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200" b="1">
                <a:solidFill>
                  <a:srgbClr val="541900"/>
                </a:solidFill>
              </a:rPr>
              <a:t>Day 2: Lesson Overview</a:t>
            </a:r>
            <a:endParaRPr sz="4200" b="1">
              <a:solidFill>
                <a:srgbClr val="541900"/>
              </a:solidFill>
            </a:endParaRPr>
          </a:p>
        </p:txBody>
      </p:sp>
      <p:sp>
        <p:nvSpPr>
          <p:cNvPr id="182" name="Google Shape;182;p28"/>
          <p:cNvSpPr txBox="1">
            <a:spLocks noGrp="1"/>
          </p:cNvSpPr>
          <p:nvPr>
            <p:ph type="body" idx="4294967295"/>
          </p:nvPr>
        </p:nvSpPr>
        <p:spPr>
          <a:xfrm>
            <a:off x="4076150" y="1559388"/>
            <a:ext cx="4826700" cy="23532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000" i="1">
                <a:solidFill>
                  <a:schemeClr val="dk1"/>
                </a:solidFill>
                <a:latin typeface="Calibri"/>
                <a:ea typeface="Calibri"/>
                <a:cs typeface="Calibri"/>
                <a:sym typeface="Calibri"/>
              </a:rPr>
              <a:t>Today, you will further explore your experiment and use the information you gather to plan how you want to update your SageModeler model to describe how ocean acidification impacts the values your community places on Southern California’s ocean.</a:t>
            </a:r>
            <a:endParaRPr sz="2000" i="1">
              <a:solidFill>
                <a:schemeClr val="dk1"/>
              </a:solidFill>
              <a:latin typeface="Calibri"/>
              <a:ea typeface="Calibri"/>
              <a:cs typeface="Calibri"/>
              <a:sym typeface="Calibri"/>
            </a:endParaRPr>
          </a:p>
        </p:txBody>
      </p:sp>
      <p:sp>
        <p:nvSpPr>
          <p:cNvPr id="183" name="Google Shape;183;p28"/>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3.4 Ocean Acidification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15</a:t>
            </a:r>
            <a:endParaRPr sz="1200">
              <a:solidFill>
                <a:schemeClr val="dk1"/>
              </a:solidFill>
              <a:latin typeface="Arial"/>
              <a:ea typeface="Arial"/>
              <a:cs typeface="Arial"/>
              <a:sym typeface="Arial"/>
            </a:endParaRPr>
          </a:p>
        </p:txBody>
      </p:sp>
      <p:pic>
        <p:nvPicPr>
          <p:cNvPr id="184" name="Google Shape;184;p28"/>
          <p:cNvPicPr preferRelativeResize="0"/>
          <p:nvPr/>
        </p:nvPicPr>
        <p:blipFill>
          <a:blip r:embed="rId3">
            <a:alphaModFix/>
          </a:blip>
          <a:stretch>
            <a:fillRect/>
          </a:stretch>
        </p:blipFill>
        <p:spPr>
          <a:xfrm>
            <a:off x="1222963" y="1086976"/>
            <a:ext cx="2520877" cy="32980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88"/>
        <p:cNvGrpSpPr/>
        <p:nvPr/>
      </p:nvGrpSpPr>
      <p:grpSpPr>
        <a:xfrm>
          <a:off x="0" y="0"/>
          <a:ext cx="0" cy="0"/>
          <a:chOff x="0" y="0"/>
          <a:chExt cx="0" cy="0"/>
        </a:xfrm>
      </p:grpSpPr>
      <p:sp>
        <p:nvSpPr>
          <p:cNvPr id="189" name="Google Shape;189;p29"/>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rPr>
              <a:t>Module 3.4 Ocean Acidification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16</a:t>
            </a:r>
            <a:endParaRPr sz="1200">
              <a:solidFill>
                <a:schemeClr val="dk1"/>
              </a:solidFill>
              <a:latin typeface="Arial"/>
              <a:ea typeface="Arial"/>
              <a:cs typeface="Arial"/>
              <a:sym typeface="Arial"/>
            </a:endParaRPr>
          </a:p>
        </p:txBody>
      </p:sp>
      <p:sp>
        <p:nvSpPr>
          <p:cNvPr id="190" name="Google Shape;190;p29"/>
          <p:cNvSpPr txBox="1">
            <a:spLocks noGrp="1"/>
          </p:cNvSpPr>
          <p:nvPr>
            <p:ph type="body" idx="4294967295"/>
          </p:nvPr>
        </p:nvSpPr>
        <p:spPr>
          <a:xfrm>
            <a:off x="4311475" y="899275"/>
            <a:ext cx="4580400" cy="3295200"/>
          </a:xfrm>
          <a:prstGeom prst="rect">
            <a:avLst/>
          </a:prstGeom>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600" i="1">
                <a:solidFill>
                  <a:srgbClr val="355E3B"/>
                </a:solidFill>
                <a:latin typeface="Calibri"/>
                <a:ea typeface="Calibri"/>
                <a:cs typeface="Calibri"/>
                <a:sym typeface="Calibri"/>
              </a:rPr>
              <a:t>Take a moment to retrieve your experiments from day one and make observations on how they’ve changed. In your Science Journal, p.46-49, draw what you see is happening. To help ask yourself:</a:t>
            </a:r>
            <a:endParaRPr sz="1600" i="1">
              <a:solidFill>
                <a:srgbClr val="355E3B"/>
              </a:solidFill>
              <a:latin typeface="Calibri"/>
              <a:ea typeface="Calibri"/>
              <a:cs typeface="Calibri"/>
              <a:sym typeface="Calibri"/>
            </a:endParaRPr>
          </a:p>
          <a:p>
            <a:pPr marL="0" lvl="0" indent="0" algn="l" rtl="0">
              <a:lnSpc>
                <a:spcPct val="100000"/>
              </a:lnSpc>
              <a:spcBef>
                <a:spcPts val="0"/>
              </a:spcBef>
              <a:spcAft>
                <a:spcPts val="0"/>
              </a:spcAft>
              <a:buNone/>
            </a:pPr>
            <a:endParaRPr sz="1000" b="1">
              <a:solidFill>
                <a:schemeClr val="dk1"/>
              </a:solidFill>
              <a:latin typeface="Calibri"/>
              <a:ea typeface="Calibri"/>
              <a:cs typeface="Calibri"/>
              <a:sym typeface="Calibri"/>
            </a:endParaRPr>
          </a:p>
          <a:p>
            <a:pPr marL="457200" lvl="0" indent="-355600" algn="l" rtl="0">
              <a:lnSpc>
                <a:spcPct val="100000"/>
              </a:lnSpc>
              <a:spcBef>
                <a:spcPts val="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What do you notice? How is this different from the beginning of the experiment?</a:t>
            </a:r>
            <a:endParaRPr sz="2000">
              <a:solidFill>
                <a:schemeClr val="dk1"/>
              </a:solidFill>
              <a:latin typeface="Calibri"/>
              <a:ea typeface="Calibri"/>
              <a:cs typeface="Calibri"/>
              <a:sym typeface="Calibri"/>
            </a:endParaRPr>
          </a:p>
          <a:p>
            <a:pPr marL="457200" lvl="0" indent="-355600" algn="l" rtl="0">
              <a:lnSpc>
                <a:spcPct val="100000"/>
              </a:lnSpc>
              <a:spcBef>
                <a:spcPts val="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What processes or reactions happened? What do you think caused this to happen?</a:t>
            </a:r>
            <a:endParaRPr sz="2000">
              <a:solidFill>
                <a:schemeClr val="dk1"/>
              </a:solidFill>
              <a:latin typeface="Calibri"/>
              <a:ea typeface="Calibri"/>
              <a:cs typeface="Calibri"/>
              <a:sym typeface="Calibri"/>
            </a:endParaRPr>
          </a:p>
          <a:p>
            <a:pPr marL="457200" lvl="0" indent="-355600" algn="l" rtl="0">
              <a:lnSpc>
                <a:spcPct val="100000"/>
              </a:lnSpc>
              <a:spcBef>
                <a:spcPts val="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How are the two experiments different? Similar?</a:t>
            </a:r>
            <a:endParaRPr sz="2000">
              <a:solidFill>
                <a:schemeClr val="dk1"/>
              </a:solidFill>
              <a:latin typeface="Calibri"/>
              <a:ea typeface="Calibri"/>
              <a:cs typeface="Calibri"/>
              <a:sym typeface="Calibri"/>
            </a:endParaRPr>
          </a:p>
        </p:txBody>
      </p:sp>
      <p:sp>
        <p:nvSpPr>
          <p:cNvPr id="191" name="Google Shape;191;p29"/>
          <p:cNvSpPr txBox="1">
            <a:spLocks noGrp="1"/>
          </p:cNvSpPr>
          <p:nvPr>
            <p:ph type="title"/>
          </p:nvPr>
        </p:nvSpPr>
        <p:spPr>
          <a:xfrm>
            <a:off x="159750" y="194275"/>
            <a:ext cx="8824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500" b="1">
                <a:solidFill>
                  <a:srgbClr val="541900"/>
                </a:solidFill>
              </a:rPr>
              <a:t>Day 2: Ocean Acidification Experiment</a:t>
            </a:r>
            <a:endParaRPr sz="3500" b="1">
              <a:solidFill>
                <a:srgbClr val="541900"/>
              </a:solidFill>
            </a:endParaRPr>
          </a:p>
        </p:txBody>
      </p:sp>
      <p:sp>
        <p:nvSpPr>
          <p:cNvPr id="192" name="Google Shape;192;p29"/>
          <p:cNvSpPr txBox="1"/>
          <p:nvPr/>
        </p:nvSpPr>
        <p:spPr>
          <a:xfrm>
            <a:off x="126075" y="3998250"/>
            <a:ext cx="31098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595959"/>
                </a:solidFill>
              </a:rPr>
              <a:t>Photo Credit: Little Bins, Little Hands</a:t>
            </a:r>
            <a:endParaRPr sz="800">
              <a:solidFill>
                <a:srgbClr val="595959"/>
              </a:solidFill>
            </a:endParaRPr>
          </a:p>
        </p:txBody>
      </p:sp>
      <p:pic>
        <p:nvPicPr>
          <p:cNvPr id="193" name="Google Shape;193;p29" title="Screenshot 2025-12-22 at 4.09.41 PM.png"/>
          <p:cNvPicPr preferRelativeResize="0"/>
          <p:nvPr/>
        </p:nvPicPr>
        <p:blipFill>
          <a:blip r:embed="rId3">
            <a:alphaModFix/>
          </a:blip>
          <a:stretch>
            <a:fillRect/>
          </a:stretch>
        </p:blipFill>
        <p:spPr>
          <a:xfrm>
            <a:off x="219625" y="1081175"/>
            <a:ext cx="4006676" cy="298115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97"/>
        <p:cNvGrpSpPr/>
        <p:nvPr/>
      </p:nvGrpSpPr>
      <p:grpSpPr>
        <a:xfrm>
          <a:off x="0" y="0"/>
          <a:ext cx="0" cy="0"/>
          <a:chOff x="0" y="0"/>
          <a:chExt cx="0" cy="0"/>
        </a:xfrm>
      </p:grpSpPr>
      <p:sp>
        <p:nvSpPr>
          <p:cNvPr id="198" name="Google Shape;198;p30"/>
          <p:cNvSpPr txBox="1">
            <a:spLocks noGrp="1"/>
          </p:cNvSpPr>
          <p:nvPr>
            <p:ph type="body" idx="4294967295"/>
          </p:nvPr>
        </p:nvSpPr>
        <p:spPr>
          <a:xfrm>
            <a:off x="4106575" y="1004975"/>
            <a:ext cx="4876500" cy="3563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i="1">
                <a:solidFill>
                  <a:srgbClr val="355E3B"/>
                </a:solidFill>
                <a:latin typeface="Calibri"/>
                <a:ea typeface="Calibri"/>
                <a:cs typeface="Calibri"/>
                <a:sym typeface="Calibri"/>
              </a:rPr>
              <a:t>Visit the </a:t>
            </a:r>
            <a:r>
              <a:rPr lang="en" i="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SageModeler Model</a:t>
            </a:r>
            <a:r>
              <a:rPr lang="en" i="1">
                <a:solidFill>
                  <a:srgbClr val="355E3B"/>
                </a:solidFill>
                <a:latin typeface="Calibri"/>
                <a:ea typeface="Calibri"/>
                <a:cs typeface="Calibri"/>
                <a:sym typeface="Calibri"/>
              </a:rPr>
              <a:t> and then answer the following questions in your Science Journal, p.51.</a:t>
            </a:r>
            <a:endParaRPr i="1">
              <a:solidFill>
                <a:srgbClr val="355E3B"/>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sz="1000" b="1">
              <a:solidFill>
                <a:schemeClr val="dk1"/>
              </a:solidFill>
              <a:latin typeface="Calibri"/>
              <a:ea typeface="Calibri"/>
              <a:cs typeface="Calibri"/>
              <a:sym typeface="Calibri"/>
            </a:endParaRPr>
          </a:p>
          <a:p>
            <a:pPr marL="457200" lvl="0" indent="-342900" algn="l" rtl="0">
              <a:lnSpc>
                <a:spcPct val="100000"/>
              </a:lnSpc>
              <a:spcBef>
                <a:spcPts val="0"/>
              </a:spcBef>
              <a:spcAft>
                <a:spcPts val="0"/>
              </a:spcAft>
              <a:buClr>
                <a:schemeClr val="dk1"/>
              </a:buClr>
              <a:buSzPts val="1800"/>
              <a:buFont typeface="Calibri"/>
              <a:buAutoNum type="arabicPeriod"/>
            </a:pPr>
            <a:r>
              <a:rPr lang="en">
                <a:solidFill>
                  <a:schemeClr val="dk1"/>
                </a:solidFill>
                <a:latin typeface="Calibri"/>
                <a:ea typeface="Calibri"/>
                <a:cs typeface="Calibri"/>
                <a:sym typeface="Calibri"/>
              </a:rPr>
              <a:t>How does carbon dioxide get introduced into the Earth’s system in the model?</a:t>
            </a:r>
            <a:endParaRPr>
              <a:solidFill>
                <a:schemeClr val="dk1"/>
              </a:solidFill>
              <a:latin typeface="Calibri"/>
              <a:ea typeface="Calibri"/>
              <a:cs typeface="Calibri"/>
              <a:sym typeface="Calibri"/>
            </a:endParaRPr>
          </a:p>
          <a:p>
            <a:pPr marL="457200" lvl="0" indent="-342900" algn="l" rtl="0">
              <a:lnSpc>
                <a:spcPct val="100000"/>
              </a:lnSpc>
              <a:spcBef>
                <a:spcPts val="0"/>
              </a:spcBef>
              <a:spcAft>
                <a:spcPts val="0"/>
              </a:spcAft>
              <a:buClr>
                <a:schemeClr val="dk1"/>
              </a:buClr>
              <a:buSzPts val="1800"/>
              <a:buFont typeface="Calibri"/>
              <a:buAutoNum type="arabicPeriod"/>
            </a:pPr>
            <a:r>
              <a:rPr lang="en">
                <a:solidFill>
                  <a:schemeClr val="dk1"/>
                </a:solidFill>
                <a:latin typeface="Calibri"/>
                <a:ea typeface="Calibri"/>
                <a:cs typeface="Calibri"/>
                <a:sym typeface="Calibri"/>
              </a:rPr>
              <a:t>What happens to the sea water as it comes in contact with carbon dioxide?</a:t>
            </a:r>
            <a:endParaRPr>
              <a:solidFill>
                <a:schemeClr val="dk1"/>
              </a:solidFill>
              <a:latin typeface="Calibri"/>
              <a:ea typeface="Calibri"/>
              <a:cs typeface="Calibri"/>
              <a:sym typeface="Calibri"/>
            </a:endParaRPr>
          </a:p>
          <a:p>
            <a:pPr marL="457200" lvl="0" indent="-342900" algn="l" rtl="0">
              <a:lnSpc>
                <a:spcPct val="100000"/>
              </a:lnSpc>
              <a:spcBef>
                <a:spcPts val="0"/>
              </a:spcBef>
              <a:spcAft>
                <a:spcPts val="0"/>
              </a:spcAft>
              <a:buClr>
                <a:schemeClr val="dk1"/>
              </a:buClr>
              <a:buSzPts val="1800"/>
              <a:buFont typeface="Calibri"/>
              <a:buAutoNum type="arabicPeriod"/>
            </a:pPr>
            <a:r>
              <a:rPr lang="en">
                <a:solidFill>
                  <a:schemeClr val="dk1"/>
                </a:solidFill>
                <a:latin typeface="Calibri"/>
                <a:ea typeface="Calibri"/>
                <a:cs typeface="Calibri"/>
                <a:sym typeface="Calibri"/>
              </a:rPr>
              <a:t>How can you manipulate this model to reflect the basic solution and acidic solution scenarios you observed during your experiment?</a:t>
            </a:r>
            <a:endParaRPr>
              <a:solidFill>
                <a:schemeClr val="dk1"/>
              </a:solidFill>
              <a:latin typeface="Calibri"/>
              <a:ea typeface="Calibri"/>
              <a:cs typeface="Calibri"/>
              <a:sym typeface="Calibri"/>
            </a:endParaRPr>
          </a:p>
          <a:p>
            <a:pPr marL="457200" lvl="0" indent="-342900" algn="l" rtl="0">
              <a:lnSpc>
                <a:spcPct val="100000"/>
              </a:lnSpc>
              <a:spcBef>
                <a:spcPts val="0"/>
              </a:spcBef>
              <a:spcAft>
                <a:spcPts val="0"/>
              </a:spcAft>
              <a:buClr>
                <a:schemeClr val="dk1"/>
              </a:buClr>
              <a:buSzPts val="1800"/>
              <a:buFont typeface="Calibri"/>
              <a:buAutoNum type="arabicPeriod"/>
            </a:pPr>
            <a:r>
              <a:rPr lang="en">
                <a:solidFill>
                  <a:schemeClr val="dk1"/>
                </a:solidFill>
                <a:latin typeface="Calibri"/>
                <a:ea typeface="Calibri"/>
                <a:cs typeface="Calibri"/>
                <a:sym typeface="Calibri"/>
              </a:rPr>
              <a:t>How does increasing the amount of carbon dioxide impact the living organisms in this model?</a:t>
            </a:r>
            <a:endParaRPr>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endParaRPr sz="2000">
              <a:solidFill>
                <a:schemeClr val="dk1"/>
              </a:solidFill>
              <a:latin typeface="Calibri"/>
              <a:ea typeface="Calibri"/>
              <a:cs typeface="Calibri"/>
              <a:sym typeface="Calibri"/>
            </a:endParaRPr>
          </a:p>
        </p:txBody>
      </p:sp>
      <p:sp>
        <p:nvSpPr>
          <p:cNvPr id="199" name="Google Shape;199;p30"/>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3.4 Ocean Acidification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17</a:t>
            </a:r>
            <a:endParaRPr sz="1200">
              <a:solidFill>
                <a:schemeClr val="dk1"/>
              </a:solidFill>
              <a:latin typeface="Arial"/>
              <a:ea typeface="Arial"/>
              <a:cs typeface="Arial"/>
              <a:sym typeface="Arial"/>
            </a:endParaRPr>
          </a:p>
        </p:txBody>
      </p:sp>
      <p:sp>
        <p:nvSpPr>
          <p:cNvPr id="200" name="Google Shape;200;p30"/>
          <p:cNvSpPr txBox="1">
            <a:spLocks noGrp="1"/>
          </p:cNvSpPr>
          <p:nvPr>
            <p:ph type="title"/>
          </p:nvPr>
        </p:nvSpPr>
        <p:spPr>
          <a:xfrm>
            <a:off x="159750" y="359875"/>
            <a:ext cx="8824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500" b="1">
                <a:solidFill>
                  <a:srgbClr val="541900"/>
                </a:solidFill>
              </a:rPr>
              <a:t>Day 2: Ocean Acidification Experiment</a:t>
            </a:r>
            <a:endParaRPr sz="3500" b="1">
              <a:solidFill>
                <a:srgbClr val="541900"/>
              </a:solidFill>
            </a:endParaRPr>
          </a:p>
        </p:txBody>
      </p:sp>
      <p:pic>
        <p:nvPicPr>
          <p:cNvPr id="201" name="Google Shape;201;p30" title="Screenshot 2025-12-22 at 4.54.45 PM.png">
            <a:hlinkClick r:id="rId3"/>
          </p:cNvPr>
          <p:cNvPicPr preferRelativeResize="0"/>
          <p:nvPr/>
        </p:nvPicPr>
        <p:blipFill>
          <a:blip r:embed="rId4">
            <a:alphaModFix/>
          </a:blip>
          <a:stretch>
            <a:fillRect/>
          </a:stretch>
        </p:blipFill>
        <p:spPr>
          <a:xfrm>
            <a:off x="159750" y="1863450"/>
            <a:ext cx="3801774" cy="184674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05"/>
        <p:cNvGrpSpPr/>
        <p:nvPr/>
      </p:nvGrpSpPr>
      <p:grpSpPr>
        <a:xfrm>
          <a:off x="0" y="0"/>
          <a:ext cx="0" cy="0"/>
          <a:chOff x="0" y="0"/>
          <a:chExt cx="0" cy="0"/>
        </a:xfrm>
      </p:grpSpPr>
      <p:sp>
        <p:nvSpPr>
          <p:cNvPr id="206" name="Google Shape;206;p31"/>
          <p:cNvSpPr txBox="1">
            <a:spLocks noGrp="1"/>
          </p:cNvSpPr>
          <p:nvPr>
            <p:ph type="title"/>
          </p:nvPr>
        </p:nvSpPr>
        <p:spPr>
          <a:xfrm>
            <a:off x="311700" y="1025325"/>
            <a:ext cx="3977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b="1">
                <a:solidFill>
                  <a:srgbClr val="541900"/>
                </a:solidFill>
              </a:rPr>
              <a:t>Reflect</a:t>
            </a:r>
            <a:endParaRPr sz="3600" b="1">
              <a:solidFill>
                <a:srgbClr val="541900"/>
              </a:solidFill>
            </a:endParaRPr>
          </a:p>
        </p:txBody>
      </p:sp>
      <p:sp>
        <p:nvSpPr>
          <p:cNvPr id="207" name="Google Shape;207;p31"/>
          <p:cNvSpPr txBox="1">
            <a:spLocks noGrp="1"/>
          </p:cNvSpPr>
          <p:nvPr>
            <p:ph type="body" idx="4294967295"/>
          </p:nvPr>
        </p:nvSpPr>
        <p:spPr>
          <a:xfrm>
            <a:off x="311700" y="1598025"/>
            <a:ext cx="3977700" cy="1799100"/>
          </a:xfrm>
          <a:prstGeom prst="rect">
            <a:avLst/>
          </a:prstGeom>
        </p:spPr>
        <p:txBody>
          <a:bodyPr spcFirstLastPara="1" wrap="square" lIns="91425" tIns="91425" rIns="91425" bIns="91425" anchor="t" anchorCtr="0">
            <a:normAutofit fontScale="85000" lnSpcReduction="20000"/>
          </a:bodyPr>
          <a:lstStyle/>
          <a:p>
            <a:pPr marL="0" lvl="0" indent="0" algn="l" rtl="0">
              <a:lnSpc>
                <a:spcPct val="100000"/>
              </a:lnSpc>
              <a:spcBef>
                <a:spcPts val="0"/>
              </a:spcBef>
              <a:spcAft>
                <a:spcPts val="0"/>
              </a:spcAft>
              <a:buNone/>
            </a:pPr>
            <a:r>
              <a:rPr lang="en" sz="2000" i="1">
                <a:solidFill>
                  <a:srgbClr val="355E3B"/>
                </a:solidFill>
                <a:latin typeface="Calibri"/>
                <a:ea typeface="Calibri"/>
                <a:cs typeface="Calibri"/>
                <a:sym typeface="Calibri"/>
              </a:rPr>
              <a:t>As a group, take a moment to reflect on your findings and connect it back to how your community values the ocean.</a:t>
            </a:r>
            <a:endParaRPr sz="2000" i="1">
              <a:solidFill>
                <a:srgbClr val="355E3B"/>
              </a:solidFill>
              <a:latin typeface="Calibri"/>
              <a:ea typeface="Calibri"/>
              <a:cs typeface="Calibri"/>
              <a:sym typeface="Calibri"/>
            </a:endParaRPr>
          </a:p>
          <a:p>
            <a:pPr marL="0" lvl="0" indent="0" algn="l" rtl="0">
              <a:lnSpc>
                <a:spcPct val="100000"/>
              </a:lnSpc>
              <a:spcBef>
                <a:spcPts val="0"/>
              </a:spcBef>
              <a:spcAft>
                <a:spcPts val="0"/>
              </a:spcAft>
              <a:buNone/>
            </a:pPr>
            <a:endParaRPr sz="2000">
              <a:solidFill>
                <a:schemeClr val="dk1"/>
              </a:solidFill>
              <a:latin typeface="Calibri"/>
              <a:ea typeface="Calibri"/>
              <a:cs typeface="Calibri"/>
              <a:sym typeface="Calibri"/>
            </a:endParaRPr>
          </a:p>
          <a:p>
            <a:pPr marL="457200" lvl="0" indent="-327025" algn="l" rtl="0">
              <a:lnSpc>
                <a:spcPct val="100000"/>
              </a:lnSpc>
              <a:spcBef>
                <a:spcPts val="0"/>
              </a:spcBef>
              <a:spcAft>
                <a:spcPts val="0"/>
              </a:spcAft>
              <a:buClr>
                <a:schemeClr val="dk1"/>
              </a:buClr>
              <a:buSzPct val="100000"/>
              <a:buFont typeface="Calibri"/>
              <a:buChar char="●"/>
            </a:pPr>
            <a:r>
              <a:rPr lang="en" sz="2000">
                <a:solidFill>
                  <a:schemeClr val="dk1"/>
                </a:solidFill>
                <a:latin typeface="Calibri"/>
                <a:ea typeface="Calibri"/>
                <a:cs typeface="Calibri"/>
                <a:sym typeface="Calibri"/>
              </a:rPr>
              <a:t>How does a change to the ocean’s pH level affect the value your community places on Southern California’s ocean?</a:t>
            </a:r>
            <a:endParaRPr sz="2000">
              <a:solidFill>
                <a:schemeClr val="dk1"/>
              </a:solidFill>
              <a:latin typeface="Calibri"/>
              <a:ea typeface="Calibri"/>
              <a:cs typeface="Calibri"/>
              <a:sym typeface="Calibri"/>
            </a:endParaRPr>
          </a:p>
        </p:txBody>
      </p:sp>
      <p:sp>
        <p:nvSpPr>
          <p:cNvPr id="208" name="Google Shape;208;p31"/>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3.4 Ocean Acidification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18</a:t>
            </a:r>
            <a:endParaRPr sz="1200">
              <a:solidFill>
                <a:schemeClr val="dk1"/>
              </a:solidFill>
              <a:latin typeface="Arial"/>
              <a:ea typeface="Arial"/>
              <a:cs typeface="Arial"/>
              <a:sym typeface="Arial"/>
            </a:endParaRPr>
          </a:p>
        </p:txBody>
      </p:sp>
      <p:pic>
        <p:nvPicPr>
          <p:cNvPr id="209" name="Google Shape;209;p31"/>
          <p:cNvPicPr preferRelativeResize="0"/>
          <p:nvPr/>
        </p:nvPicPr>
        <p:blipFill>
          <a:blip r:embed="rId3">
            <a:alphaModFix/>
          </a:blip>
          <a:stretch>
            <a:fillRect/>
          </a:stretch>
        </p:blipFill>
        <p:spPr>
          <a:xfrm>
            <a:off x="4607050" y="1025325"/>
            <a:ext cx="4225252" cy="2640775"/>
          </a:xfrm>
          <a:prstGeom prst="rect">
            <a:avLst/>
          </a:prstGeom>
          <a:noFill/>
          <a:ln>
            <a:noFill/>
          </a:ln>
        </p:spPr>
      </p:pic>
      <p:sp>
        <p:nvSpPr>
          <p:cNvPr id="210" name="Google Shape;210;p31"/>
          <p:cNvSpPr txBox="1"/>
          <p:nvPr/>
        </p:nvSpPr>
        <p:spPr>
          <a:xfrm>
            <a:off x="4607050" y="3666100"/>
            <a:ext cx="3496200" cy="376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700">
                <a:solidFill>
                  <a:srgbClr val="595959"/>
                </a:solidFill>
              </a:rPr>
              <a:t>San Diego, CA</a:t>
            </a:r>
            <a:endParaRPr sz="700">
              <a:solidFill>
                <a:srgbClr val="595959"/>
              </a:solidFill>
            </a:endParaRPr>
          </a:p>
          <a:p>
            <a:pPr marL="0" lvl="0" indent="0" algn="r" rtl="0">
              <a:spcBef>
                <a:spcPts val="0"/>
              </a:spcBef>
              <a:spcAft>
                <a:spcPts val="0"/>
              </a:spcAft>
              <a:buNone/>
            </a:pPr>
            <a:r>
              <a:rPr lang="en" sz="700">
                <a:solidFill>
                  <a:srgbClr val="595959"/>
                </a:solidFill>
              </a:rPr>
              <a:t>Photo Credit: UC San Diego, Jacobs School of Engineering</a:t>
            </a:r>
            <a:endParaRPr sz="700">
              <a:solidFill>
                <a:srgbClr val="59595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14"/>
        <p:cNvGrpSpPr/>
        <p:nvPr/>
      </p:nvGrpSpPr>
      <p:grpSpPr>
        <a:xfrm>
          <a:off x="0" y="0"/>
          <a:ext cx="0" cy="0"/>
          <a:chOff x="0" y="0"/>
          <a:chExt cx="0" cy="0"/>
        </a:xfrm>
      </p:grpSpPr>
      <p:sp>
        <p:nvSpPr>
          <p:cNvPr id="215" name="Google Shape;215;p32"/>
          <p:cNvSpPr txBox="1">
            <a:spLocks noGrp="1"/>
          </p:cNvSpPr>
          <p:nvPr>
            <p:ph type="title"/>
          </p:nvPr>
        </p:nvSpPr>
        <p:spPr>
          <a:xfrm>
            <a:off x="0" y="242150"/>
            <a:ext cx="914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200" b="1">
                <a:solidFill>
                  <a:srgbClr val="541900"/>
                </a:solidFill>
              </a:rPr>
              <a:t>Plan: Update Your SageModeler</a:t>
            </a:r>
            <a:endParaRPr sz="4200" b="1">
              <a:solidFill>
                <a:srgbClr val="541900"/>
              </a:solidFill>
            </a:endParaRPr>
          </a:p>
        </p:txBody>
      </p:sp>
      <p:pic>
        <p:nvPicPr>
          <p:cNvPr id="216" name="Google Shape;216;p32"/>
          <p:cNvPicPr preferRelativeResize="0"/>
          <p:nvPr/>
        </p:nvPicPr>
        <p:blipFill>
          <a:blip r:embed="rId3">
            <a:alphaModFix/>
          </a:blip>
          <a:stretch>
            <a:fillRect/>
          </a:stretch>
        </p:blipFill>
        <p:spPr>
          <a:xfrm>
            <a:off x="828700" y="1137813"/>
            <a:ext cx="2520877" cy="3298037"/>
          </a:xfrm>
          <a:prstGeom prst="rect">
            <a:avLst/>
          </a:prstGeom>
          <a:noFill/>
          <a:ln>
            <a:noFill/>
          </a:ln>
        </p:spPr>
      </p:pic>
      <p:sp>
        <p:nvSpPr>
          <p:cNvPr id="217" name="Google Shape;217;p32"/>
          <p:cNvSpPr txBox="1">
            <a:spLocks noGrp="1"/>
          </p:cNvSpPr>
          <p:nvPr>
            <p:ph type="body" idx="4294967295"/>
          </p:nvPr>
        </p:nvSpPr>
        <p:spPr>
          <a:xfrm>
            <a:off x="3706200" y="1137825"/>
            <a:ext cx="5205000" cy="2949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000" i="1" dirty="0">
                <a:solidFill>
                  <a:srgbClr val="355E3B"/>
                </a:solidFill>
                <a:latin typeface="Calibri"/>
                <a:ea typeface="Calibri"/>
                <a:cs typeface="Calibri"/>
                <a:sym typeface="Calibri"/>
              </a:rPr>
              <a:t>In your </a:t>
            </a:r>
            <a:r>
              <a:rPr lang="en" sz="2000" i="1" dirty="0">
                <a:solidFill>
                  <a:schemeClr val="hlink"/>
                </a:solidFill>
                <a:latin typeface="Calibri"/>
                <a:ea typeface="Calibri"/>
                <a:cs typeface="Calibri"/>
                <a:sym typeface="Calibri"/>
              </a:rPr>
              <a:t>Science Journal</a:t>
            </a:r>
            <a:r>
              <a:rPr lang="en" sz="2000" i="1" dirty="0">
                <a:solidFill>
                  <a:srgbClr val="355E3B"/>
                </a:solidFill>
                <a:latin typeface="Calibri"/>
                <a:ea typeface="Calibri"/>
                <a:cs typeface="Calibri"/>
                <a:sym typeface="Calibri"/>
              </a:rPr>
              <a:t>, under Module 3.4, Day 2, p.54, reflect on the following questions:</a:t>
            </a:r>
            <a:endParaRPr sz="2000" i="1" dirty="0">
              <a:solidFill>
                <a:srgbClr val="355E3B"/>
              </a:solidFill>
              <a:latin typeface="Calibri"/>
              <a:ea typeface="Calibri"/>
              <a:cs typeface="Calibri"/>
              <a:sym typeface="Calibri"/>
            </a:endParaRPr>
          </a:p>
          <a:p>
            <a:pPr marL="0" lvl="0" indent="0" algn="l" rtl="0">
              <a:lnSpc>
                <a:spcPct val="100000"/>
              </a:lnSpc>
              <a:spcBef>
                <a:spcPts val="0"/>
              </a:spcBef>
              <a:spcAft>
                <a:spcPts val="0"/>
              </a:spcAft>
              <a:buNone/>
            </a:pPr>
            <a:endParaRPr sz="1000" i="1" dirty="0">
              <a:solidFill>
                <a:srgbClr val="355E3B"/>
              </a:solidFill>
              <a:latin typeface="Calibri"/>
              <a:ea typeface="Calibri"/>
              <a:cs typeface="Calibri"/>
              <a:sym typeface="Calibri"/>
            </a:endParaRPr>
          </a:p>
          <a:p>
            <a:pPr marL="457200" lvl="0" indent="-355600" algn="l" rtl="0">
              <a:lnSpc>
                <a:spcPct val="100000"/>
              </a:lnSpc>
              <a:spcBef>
                <a:spcPts val="0"/>
              </a:spcBef>
              <a:spcAft>
                <a:spcPts val="0"/>
              </a:spcAft>
              <a:buClr>
                <a:schemeClr val="dk1"/>
              </a:buClr>
              <a:buSzPts val="2000"/>
              <a:buFont typeface="Calibri"/>
              <a:buChar char="●"/>
            </a:pPr>
            <a:r>
              <a:rPr lang="en" sz="2000" dirty="0">
                <a:solidFill>
                  <a:schemeClr val="dk1"/>
                </a:solidFill>
                <a:latin typeface="Calibri"/>
                <a:ea typeface="Calibri"/>
                <a:cs typeface="Calibri"/>
                <a:sym typeface="Calibri"/>
              </a:rPr>
              <a:t>What investigation did you take part in?</a:t>
            </a:r>
            <a:endParaRPr sz="2000" dirty="0">
              <a:solidFill>
                <a:schemeClr val="dk1"/>
              </a:solidFill>
              <a:latin typeface="Calibri"/>
              <a:ea typeface="Calibri"/>
              <a:cs typeface="Calibri"/>
              <a:sym typeface="Calibri"/>
            </a:endParaRPr>
          </a:p>
          <a:p>
            <a:pPr marL="457200" lvl="0" indent="-355600" algn="l" rtl="0">
              <a:lnSpc>
                <a:spcPct val="100000"/>
              </a:lnSpc>
              <a:spcBef>
                <a:spcPts val="0"/>
              </a:spcBef>
              <a:spcAft>
                <a:spcPts val="0"/>
              </a:spcAft>
              <a:buClr>
                <a:schemeClr val="dk1"/>
              </a:buClr>
              <a:buSzPts val="2000"/>
              <a:buFont typeface="Calibri"/>
              <a:buChar char="●"/>
            </a:pPr>
            <a:r>
              <a:rPr lang="en" sz="2000" dirty="0">
                <a:solidFill>
                  <a:schemeClr val="dk1"/>
                </a:solidFill>
                <a:latin typeface="Calibri"/>
                <a:ea typeface="Calibri"/>
                <a:cs typeface="Calibri"/>
                <a:sym typeface="Calibri"/>
              </a:rPr>
              <a:t>How did your thinking change as a result of this investigation? What new information did you learn?</a:t>
            </a:r>
            <a:endParaRPr sz="2000" dirty="0">
              <a:solidFill>
                <a:schemeClr val="dk1"/>
              </a:solidFill>
              <a:latin typeface="Calibri"/>
              <a:ea typeface="Calibri"/>
              <a:cs typeface="Calibri"/>
              <a:sym typeface="Calibri"/>
            </a:endParaRPr>
          </a:p>
          <a:p>
            <a:pPr marL="457200" lvl="0" indent="-355600" algn="l" rtl="0">
              <a:lnSpc>
                <a:spcPct val="100000"/>
              </a:lnSpc>
              <a:spcBef>
                <a:spcPts val="0"/>
              </a:spcBef>
              <a:spcAft>
                <a:spcPts val="0"/>
              </a:spcAft>
              <a:buClr>
                <a:schemeClr val="dk1"/>
              </a:buClr>
              <a:buSzPts val="2000"/>
              <a:buFont typeface="Calibri"/>
              <a:buChar char="●"/>
            </a:pPr>
            <a:r>
              <a:rPr lang="en" sz="2000" dirty="0">
                <a:solidFill>
                  <a:schemeClr val="dk1"/>
                </a:solidFill>
                <a:latin typeface="Calibri"/>
                <a:ea typeface="Calibri"/>
                <a:cs typeface="Calibri"/>
                <a:sym typeface="Calibri"/>
              </a:rPr>
              <a:t>What do you want to add, remove, or update in your </a:t>
            </a:r>
            <a:r>
              <a:rPr lang="en" sz="2000" dirty="0" err="1">
                <a:solidFill>
                  <a:schemeClr val="dk1"/>
                </a:solidFill>
                <a:latin typeface="Calibri"/>
                <a:ea typeface="Calibri"/>
                <a:cs typeface="Calibri"/>
                <a:sym typeface="Calibri"/>
              </a:rPr>
              <a:t>SageModeler</a:t>
            </a:r>
            <a:r>
              <a:rPr lang="en" sz="2000" dirty="0">
                <a:solidFill>
                  <a:schemeClr val="dk1"/>
                </a:solidFill>
                <a:latin typeface="Calibri"/>
                <a:ea typeface="Calibri"/>
                <a:cs typeface="Calibri"/>
                <a:sym typeface="Calibri"/>
              </a:rPr>
              <a:t> model?</a:t>
            </a:r>
            <a:endParaRPr sz="20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sz="2000" i="1" dirty="0">
              <a:solidFill>
                <a:schemeClr val="dk1"/>
              </a:solidFill>
              <a:latin typeface="Calibri"/>
              <a:ea typeface="Calibri"/>
              <a:cs typeface="Calibri"/>
              <a:sym typeface="Calibri"/>
            </a:endParaRPr>
          </a:p>
        </p:txBody>
      </p:sp>
      <p:sp>
        <p:nvSpPr>
          <p:cNvPr id="218" name="Google Shape;218;p32"/>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3.4 Ocean Acidification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19</a:t>
            </a:r>
            <a:endParaRPr sz="12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22"/>
        <p:cNvGrpSpPr/>
        <p:nvPr/>
      </p:nvGrpSpPr>
      <p:grpSpPr>
        <a:xfrm>
          <a:off x="0" y="0"/>
          <a:ext cx="0" cy="0"/>
          <a:chOff x="0" y="0"/>
          <a:chExt cx="0" cy="0"/>
        </a:xfrm>
      </p:grpSpPr>
      <p:sp>
        <p:nvSpPr>
          <p:cNvPr id="223" name="Google Shape;223;p33"/>
          <p:cNvSpPr txBox="1">
            <a:spLocks noGrp="1"/>
          </p:cNvSpPr>
          <p:nvPr>
            <p:ph type="body" idx="1"/>
          </p:nvPr>
        </p:nvSpPr>
        <p:spPr>
          <a:xfrm>
            <a:off x="311700" y="11383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000" i="1" dirty="0">
                <a:solidFill>
                  <a:srgbClr val="355E3B"/>
                </a:solidFill>
              </a:rPr>
              <a:t>In your </a:t>
            </a:r>
            <a:r>
              <a:rPr lang="en" sz="2000" i="1" dirty="0">
                <a:solidFill>
                  <a:schemeClr val="hlink"/>
                </a:solidFill>
              </a:rPr>
              <a:t>Science Journal </a:t>
            </a:r>
            <a:r>
              <a:rPr lang="en" sz="2000" i="1" dirty="0">
                <a:solidFill>
                  <a:srgbClr val="355E3B"/>
                </a:solidFill>
              </a:rPr>
              <a:t>(p.55), take a couple of minutes to reflect on your experiences during Module 3.4, Day 2.</a:t>
            </a:r>
            <a:endParaRPr sz="2000" i="1" dirty="0">
              <a:solidFill>
                <a:srgbClr val="355E3B"/>
              </a:solidFill>
            </a:endParaRPr>
          </a:p>
          <a:p>
            <a:pPr marL="0" lvl="0" indent="0" algn="l" rtl="0">
              <a:spcBef>
                <a:spcPts val="1200"/>
              </a:spcBef>
              <a:spcAft>
                <a:spcPts val="1200"/>
              </a:spcAft>
              <a:buNone/>
            </a:pPr>
            <a:endParaRPr sz="2000" i="1" dirty="0">
              <a:solidFill>
                <a:srgbClr val="355E3B"/>
              </a:solidFill>
            </a:endParaRPr>
          </a:p>
        </p:txBody>
      </p:sp>
      <p:sp>
        <p:nvSpPr>
          <p:cNvPr id="224" name="Google Shape;224;p33"/>
          <p:cNvSpPr txBox="1">
            <a:spLocks noGrp="1"/>
          </p:cNvSpPr>
          <p:nvPr>
            <p:ph type="title"/>
          </p:nvPr>
        </p:nvSpPr>
        <p:spPr>
          <a:xfrm>
            <a:off x="311700" y="2675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Reflect</a:t>
            </a:r>
            <a:endParaRPr sz="4500" b="1">
              <a:solidFill>
                <a:srgbClr val="541900"/>
              </a:solidFill>
            </a:endParaRPr>
          </a:p>
        </p:txBody>
      </p:sp>
      <p:sp>
        <p:nvSpPr>
          <p:cNvPr id="225" name="Google Shape;225;p33"/>
          <p:cNvSpPr txBox="1">
            <a:spLocks noGrp="1"/>
          </p:cNvSpPr>
          <p:nvPr>
            <p:ph type="body" idx="4294967295"/>
          </p:nvPr>
        </p:nvSpPr>
        <p:spPr>
          <a:xfrm>
            <a:off x="311700" y="2009075"/>
            <a:ext cx="8373300" cy="1989000"/>
          </a:xfrm>
          <a:prstGeom prst="rect">
            <a:avLst/>
          </a:prstGeom>
        </p:spPr>
        <p:txBody>
          <a:bodyPr spcFirstLastPara="1" wrap="square" lIns="91425" tIns="91425" rIns="91425" bIns="91425" anchor="t" anchorCtr="0">
            <a:normAutofit lnSpcReduction="10000"/>
          </a:bodyPr>
          <a:lstStyle/>
          <a:p>
            <a:pPr marL="457200" lvl="0" indent="-355600" algn="l" rtl="0">
              <a:spcBef>
                <a:spcPts val="1200"/>
              </a:spcBef>
              <a:spcAft>
                <a:spcPts val="0"/>
              </a:spcAft>
              <a:buClr>
                <a:schemeClr val="dk1"/>
              </a:buClr>
              <a:buSzPts val="2000"/>
              <a:buFont typeface="Calibri"/>
              <a:buAutoNum type="arabicPeriod"/>
            </a:pPr>
            <a:r>
              <a:rPr lang="en" sz="2000" dirty="0">
                <a:solidFill>
                  <a:schemeClr val="dk1"/>
                </a:solidFill>
                <a:latin typeface="Calibri"/>
                <a:ea typeface="Calibri"/>
                <a:cs typeface="Calibri"/>
                <a:sym typeface="Calibri"/>
              </a:rPr>
              <a:t>How does ocean acidification affect the ocean food web and the people who depend on it?</a:t>
            </a:r>
            <a:endParaRPr sz="2000" dirty="0">
              <a:solidFill>
                <a:schemeClr val="dk1"/>
              </a:solidFill>
              <a:latin typeface="Calibri"/>
              <a:ea typeface="Calibri"/>
              <a:cs typeface="Calibri"/>
              <a:sym typeface="Calibri"/>
            </a:endParaRPr>
          </a:p>
          <a:p>
            <a:pPr marL="457200" lvl="0" indent="-355600" algn="l" rtl="0">
              <a:spcBef>
                <a:spcPts val="0"/>
              </a:spcBef>
              <a:spcAft>
                <a:spcPts val="0"/>
              </a:spcAft>
              <a:buClr>
                <a:schemeClr val="dk1"/>
              </a:buClr>
              <a:buSzPts val="2000"/>
              <a:buFont typeface="Calibri"/>
              <a:buAutoNum type="arabicPeriod"/>
            </a:pPr>
            <a:r>
              <a:rPr lang="en" sz="2000" dirty="0">
                <a:solidFill>
                  <a:schemeClr val="dk1"/>
                </a:solidFill>
                <a:latin typeface="Calibri"/>
                <a:ea typeface="Calibri"/>
                <a:cs typeface="Calibri"/>
                <a:sym typeface="Calibri"/>
              </a:rPr>
              <a:t>What questions do you still have about ocean acidification?</a:t>
            </a:r>
            <a:endParaRPr sz="2000" dirty="0">
              <a:solidFill>
                <a:schemeClr val="dk1"/>
              </a:solidFill>
              <a:latin typeface="Calibri"/>
              <a:ea typeface="Calibri"/>
              <a:cs typeface="Calibri"/>
              <a:sym typeface="Calibri"/>
            </a:endParaRPr>
          </a:p>
          <a:p>
            <a:pPr marL="457200" lvl="0" indent="-355600" algn="l" rtl="0">
              <a:spcBef>
                <a:spcPts val="0"/>
              </a:spcBef>
              <a:spcAft>
                <a:spcPts val="0"/>
              </a:spcAft>
              <a:buClr>
                <a:schemeClr val="dk1"/>
              </a:buClr>
              <a:buSzPts val="2000"/>
              <a:buFont typeface="Calibri"/>
              <a:buAutoNum type="arabicPeriod"/>
            </a:pPr>
            <a:r>
              <a:rPr lang="en" sz="2000" dirty="0">
                <a:solidFill>
                  <a:schemeClr val="dk1"/>
                </a:solidFill>
                <a:latin typeface="Calibri"/>
                <a:ea typeface="Calibri"/>
                <a:cs typeface="Calibri"/>
                <a:sym typeface="Calibri"/>
              </a:rPr>
              <a:t>What updates do you plan to make to your </a:t>
            </a:r>
            <a:r>
              <a:rPr lang="en" sz="2000" dirty="0" err="1">
                <a:solidFill>
                  <a:schemeClr val="dk1"/>
                </a:solidFill>
                <a:latin typeface="Calibri"/>
                <a:ea typeface="Calibri"/>
                <a:cs typeface="Calibri"/>
                <a:sym typeface="Calibri"/>
              </a:rPr>
              <a:t>SageModeler</a:t>
            </a:r>
            <a:r>
              <a:rPr lang="en" sz="2000" dirty="0">
                <a:solidFill>
                  <a:schemeClr val="dk1"/>
                </a:solidFill>
                <a:latin typeface="Calibri"/>
                <a:ea typeface="Calibri"/>
                <a:cs typeface="Calibri"/>
                <a:sym typeface="Calibri"/>
              </a:rPr>
              <a:t> in the next lesson to strengthen your model?</a:t>
            </a:r>
            <a:endParaRPr sz="2000" dirty="0">
              <a:solidFill>
                <a:schemeClr val="dk1"/>
              </a:solidFill>
              <a:latin typeface="Calibri"/>
              <a:ea typeface="Calibri"/>
              <a:cs typeface="Calibri"/>
              <a:sym typeface="Calibri"/>
            </a:endParaRPr>
          </a:p>
        </p:txBody>
      </p:sp>
      <p:sp>
        <p:nvSpPr>
          <p:cNvPr id="226" name="Google Shape;226;p33"/>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3.4 Ocean Acidification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20</a:t>
            </a:r>
            <a:endParaRPr sz="1200">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30"/>
        <p:cNvGrpSpPr/>
        <p:nvPr/>
      </p:nvGrpSpPr>
      <p:grpSpPr>
        <a:xfrm>
          <a:off x="0" y="0"/>
          <a:ext cx="0" cy="0"/>
          <a:chOff x="0" y="0"/>
          <a:chExt cx="0" cy="0"/>
        </a:xfrm>
      </p:grpSpPr>
      <p:sp>
        <p:nvSpPr>
          <p:cNvPr id="231" name="Google Shape;231;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Thank you!</a:t>
            </a:r>
            <a:endParaRPr sz="4500" b="1">
              <a:solidFill>
                <a:srgbClr val="541900"/>
              </a:solidFill>
            </a:endParaRPr>
          </a:p>
        </p:txBody>
      </p:sp>
      <p:sp>
        <p:nvSpPr>
          <p:cNvPr id="232" name="Google Shape;232;p34"/>
          <p:cNvSpPr txBox="1"/>
          <p:nvPr/>
        </p:nvSpPr>
        <p:spPr>
          <a:xfrm>
            <a:off x="311700" y="1374600"/>
            <a:ext cx="8520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If you have any questions, please feel free to reach out.</a:t>
            </a:r>
            <a:endParaRPr sz="1800">
              <a:solidFill>
                <a:schemeClr val="dk1"/>
              </a:solidFill>
            </a:endParaRPr>
          </a:p>
        </p:txBody>
      </p:sp>
      <p:sp>
        <p:nvSpPr>
          <p:cNvPr id="233" name="Google Shape;233;p34"/>
          <p:cNvSpPr txBox="1"/>
          <p:nvPr/>
        </p:nvSpPr>
        <p:spPr>
          <a:xfrm>
            <a:off x="318402" y="3563413"/>
            <a:ext cx="36402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Ha Nguyen, Ph.D.</a:t>
            </a:r>
            <a:endParaRPr sz="2200" b="1">
              <a:solidFill>
                <a:schemeClr val="dk1"/>
              </a:solidFill>
            </a:endParaRPr>
          </a:p>
          <a:p>
            <a:pPr marL="0" lvl="0" indent="0" algn="l" rtl="0">
              <a:spcBef>
                <a:spcPts val="0"/>
              </a:spcBef>
              <a:spcAft>
                <a:spcPts val="0"/>
              </a:spcAft>
              <a:buNone/>
            </a:pPr>
            <a:r>
              <a:rPr lang="en" sz="2200">
                <a:solidFill>
                  <a:schemeClr val="dk1"/>
                </a:solidFill>
              </a:rPr>
              <a:t>Assistant Professor</a:t>
            </a:r>
            <a:endParaRPr sz="2200">
              <a:solidFill>
                <a:schemeClr val="dk1"/>
              </a:solidFill>
            </a:endParaRPr>
          </a:p>
          <a:p>
            <a:pPr marL="0" lvl="0" indent="0" algn="l" rtl="0">
              <a:spcBef>
                <a:spcPts val="0"/>
              </a:spcBef>
              <a:spcAft>
                <a:spcPts val="0"/>
              </a:spcAft>
              <a:buNone/>
            </a:pPr>
            <a:r>
              <a:rPr lang="en" sz="2200">
                <a:solidFill>
                  <a:schemeClr val="dk1"/>
                </a:solidFill>
              </a:rPr>
              <a:t>ha.nguyen@unc.edu</a:t>
            </a:r>
            <a:endParaRPr sz="2200">
              <a:solidFill>
                <a:schemeClr val="dk1"/>
              </a:solidFill>
            </a:endParaRPr>
          </a:p>
        </p:txBody>
      </p:sp>
      <p:sp>
        <p:nvSpPr>
          <p:cNvPr id="234" name="Google Shape;234;p34"/>
          <p:cNvSpPr txBox="1"/>
          <p:nvPr/>
        </p:nvSpPr>
        <p:spPr>
          <a:xfrm>
            <a:off x="318400" y="1971462"/>
            <a:ext cx="34551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Erick Valdez</a:t>
            </a:r>
            <a:endParaRPr sz="2200" b="1">
              <a:solidFill>
                <a:schemeClr val="dk1"/>
              </a:solidFill>
            </a:endParaRPr>
          </a:p>
          <a:p>
            <a:pPr marL="0" lvl="0" indent="0" algn="l" rtl="0">
              <a:spcBef>
                <a:spcPts val="0"/>
              </a:spcBef>
              <a:spcAft>
                <a:spcPts val="0"/>
              </a:spcAft>
              <a:buNone/>
            </a:pPr>
            <a:r>
              <a:rPr lang="en" sz="2200">
                <a:solidFill>
                  <a:schemeClr val="dk1"/>
                </a:solidFill>
              </a:rPr>
              <a:t>Inside the Outdoors</a:t>
            </a:r>
            <a:endParaRPr sz="2200">
              <a:solidFill>
                <a:schemeClr val="dk1"/>
              </a:solidFill>
            </a:endParaRPr>
          </a:p>
          <a:p>
            <a:pPr marL="0" lvl="0" indent="0" algn="l" rtl="0">
              <a:spcBef>
                <a:spcPts val="0"/>
              </a:spcBef>
              <a:spcAft>
                <a:spcPts val="0"/>
              </a:spcAft>
              <a:buNone/>
            </a:pPr>
            <a:r>
              <a:rPr lang="en" sz="2200">
                <a:solidFill>
                  <a:schemeClr val="dk1"/>
                </a:solidFill>
              </a:rPr>
              <a:t>evaldez@ocde.us</a:t>
            </a:r>
            <a:endParaRPr sz="2200">
              <a:solidFill>
                <a:schemeClr val="dk1"/>
              </a:solidFill>
            </a:endParaRPr>
          </a:p>
        </p:txBody>
      </p:sp>
      <p:pic>
        <p:nvPicPr>
          <p:cNvPr id="235" name="Google Shape;235;p34"/>
          <p:cNvPicPr preferRelativeResize="0"/>
          <p:nvPr/>
        </p:nvPicPr>
        <p:blipFill>
          <a:blip r:embed="rId3">
            <a:alphaModFix/>
          </a:blip>
          <a:stretch>
            <a:fillRect/>
          </a:stretch>
        </p:blipFill>
        <p:spPr>
          <a:xfrm>
            <a:off x="5958425" y="3608125"/>
            <a:ext cx="1289949" cy="1102075"/>
          </a:xfrm>
          <a:prstGeom prst="rect">
            <a:avLst/>
          </a:prstGeom>
          <a:noFill/>
          <a:ln>
            <a:noFill/>
          </a:ln>
        </p:spPr>
      </p:pic>
      <p:pic>
        <p:nvPicPr>
          <p:cNvPr id="236" name="Google Shape;236;p34" title="ITO-logo-col-clear.png"/>
          <p:cNvPicPr preferRelativeResize="0"/>
          <p:nvPr/>
        </p:nvPicPr>
        <p:blipFill>
          <a:blip r:embed="rId4">
            <a:alphaModFix/>
          </a:blip>
          <a:stretch>
            <a:fillRect/>
          </a:stretch>
        </p:blipFill>
        <p:spPr>
          <a:xfrm>
            <a:off x="4439452" y="1965350"/>
            <a:ext cx="1289950" cy="1329621"/>
          </a:xfrm>
          <a:prstGeom prst="rect">
            <a:avLst/>
          </a:prstGeom>
          <a:noFill/>
          <a:ln>
            <a:noFill/>
          </a:ln>
        </p:spPr>
      </p:pic>
      <p:pic>
        <p:nvPicPr>
          <p:cNvPr id="237" name="Google Shape;237;p34" title="University_of_California,_Irvine_seal.svg.png"/>
          <p:cNvPicPr preferRelativeResize="0"/>
          <p:nvPr/>
        </p:nvPicPr>
        <p:blipFill>
          <a:blip r:embed="rId5">
            <a:alphaModFix/>
          </a:blip>
          <a:stretch>
            <a:fillRect/>
          </a:stretch>
        </p:blipFill>
        <p:spPr>
          <a:xfrm>
            <a:off x="4495824" y="3546924"/>
            <a:ext cx="1233549" cy="1233576"/>
          </a:xfrm>
          <a:prstGeom prst="rect">
            <a:avLst/>
          </a:prstGeom>
          <a:noFill/>
          <a:ln>
            <a:noFill/>
          </a:ln>
        </p:spPr>
      </p:pic>
      <p:pic>
        <p:nvPicPr>
          <p:cNvPr id="238" name="Google Shape;238;p34" title="OCDE orange county department of education logo.png"/>
          <p:cNvPicPr preferRelativeResize="0"/>
          <p:nvPr/>
        </p:nvPicPr>
        <p:blipFill>
          <a:blip r:embed="rId6">
            <a:alphaModFix/>
          </a:blip>
          <a:stretch>
            <a:fillRect/>
          </a:stretch>
        </p:blipFill>
        <p:spPr>
          <a:xfrm>
            <a:off x="5958425" y="1983225"/>
            <a:ext cx="1289950" cy="12899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3734</Words>
  <Application>Microsoft Macintosh PowerPoint</Application>
  <PresentationFormat>On-screen Show (16:9)</PresentationFormat>
  <Paragraphs>260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Simple Light</vt:lpstr>
      <vt:lpstr>Ocean Acidification</vt:lpstr>
      <vt:lpstr>Lesson Overview</vt:lpstr>
      <vt:lpstr>Make an Observation With your team, take a moment to observe the image on the left.</vt:lpstr>
      <vt:lpstr>Reflect </vt:lpstr>
      <vt:lpstr>Shell in Acidic Solution</vt:lpstr>
      <vt:lpstr>What’s Coming Next</vt:lpstr>
      <vt:lpstr>Ocean Acidification Experiment</vt:lpstr>
      <vt:lpstr>Day 1: Ocean Acidification Experiment</vt:lpstr>
      <vt:lpstr>PowerPoint Presentation</vt:lpstr>
      <vt:lpstr>Ocean Acidification Experiment</vt:lpstr>
      <vt:lpstr>Reflect</vt:lpstr>
      <vt:lpstr>Ocean Acidification</vt:lpstr>
      <vt:lpstr>What is Ocean Acidification? During this lesson, you will take a moment to learn more about ocean acidification and how it might impact the way your community values the ocean. To begin, watch the video below.</vt:lpstr>
      <vt:lpstr>Make an Observation Now that you have more information, revisit the following image and answer the questions.</vt:lpstr>
      <vt:lpstr>Day 2: Lesson Overview</vt:lpstr>
      <vt:lpstr>Day 2: Ocean Acidification Experiment</vt:lpstr>
      <vt:lpstr>Day 2: Ocean Acidification Experiment</vt:lpstr>
      <vt:lpstr>Reflect</vt:lpstr>
      <vt:lpstr>Plan: Update Your SageModeler</vt:lpstr>
      <vt:lpstr>Reflect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Ha</cp:lastModifiedBy>
  <cp:revision>3</cp:revision>
  <dcterms:modified xsi:type="dcterms:W3CDTF">2026-08-20T15:39:40Z</dcterms:modified>
</cp:coreProperties>
</file>