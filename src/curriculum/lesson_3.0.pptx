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kzMKhKSfowoKXqNokczAKhsaSc8a4M0yO1X2LRq8s9k/edit?tab=t.0" TargetMode="External"/><Relationship Id="rId3" Type="http://schemas.openxmlformats.org/officeDocument/2006/relationships/hyperlink" Target="https://docs.google.com/document/d/1UndupAAsxXThMWqwfrnMWLxA3dpkoK1Unx8y0T5mxfk/edit?tab=t.0#heading=h.66wasdi8eqf3" TargetMode="External"/><Relationship Id="rId4" Type="http://schemas.openxmlformats.org/officeDocument/2006/relationships/hyperlink" Target="https://docs.google.com/document/d/1PCjq6ha1LaMEoeGhYhMxpfEN49sl_KtGGC_7m0N7ZRw/edit?tab=t.0" TargetMode="External"/><Relationship Id="rId5" Type="http://schemas.openxmlformats.org/officeDocument/2006/relationships/hyperlink" Target="https://ourcoastourfuture.org/hazard-map/" TargetMode="External"/><Relationship Id="rId6" Type="http://schemas.openxmlformats.org/officeDocument/2006/relationships/hyperlink" Target="https://docs.google.com/presentation/d/1R0zkp2xs8a8dN1ANJEXb3VXaOPwKGn-NxAg0_ELxO2c/edit?slide=id.g3aaebfcfed8_0_0#slide=id.g3aaebfcfed8_0_0" TargetMode="External"/><Relationship Id="rId7" Type="http://schemas.openxmlformats.org/officeDocument/2006/relationships/hyperlink" Target="https://docs.google.com/presentation/d/1R0zkp2xs8a8dN1ANJEXb3VXaOPwKGn-NxAg0_ELxO2c/edit?slide=id.g3b32f63960a_0_67#slide=id.g3b32f63960a_0_67"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ox_SaCJ6U23YlTRb4-9eKSoppniyO11xZs2-8d1zLHY/edit?usp=sharing" TargetMode="External"/><Relationship Id="rId3" Type="http://schemas.openxmlformats.org/officeDocument/2006/relationships/hyperlink" Target="https://docs.google.com/presentation/d/1Ks82aX_OE3gZ_jrixNy4Bhzk6pwL6t4sw0i1cg4koJo/edit?slide=id.g3b32f63960a_0_59#slide=id.g3b32f63960a_0_59"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ox_SaCJ6U23YlTRb4-9eKSoppniyO11xZs2-8d1zLHY/edit?slide=id.g3b32cbd2d34_0_36#slide=id.g3b32cbd2d34_0_36"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R0zkp2xs8a8dN1ANJEXb3VXaOPwKGn-NxAg0_ELxO2c/edit?slide=id.g3aaebfcfed8_1_0#slide=id.g3aaebfcfed8_1_0" TargetMode="External"/><Relationship Id="rId3" Type="http://schemas.openxmlformats.org/officeDocument/2006/relationships/hyperlink" Target="https://docs.google.com/presentation/d/1fvLoowPYD0gDGPrtliKY1M8bMabaNX5jxg1KHHHGN-4/edit?slide=id.g3b32cbd2d34_0_201#slide=id.g3b32cbd2d34_0_201"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32f63960a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32f63960a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Link to Module 3.3 Lesson Plan</a:t>
            </a:r>
            <a:endParaRPr/>
          </a:p>
          <a:p>
            <a:pPr indent="0" lvl="0" marL="0" rtl="0" algn="l">
              <a:spcBef>
                <a:spcPts val="0"/>
              </a:spcBef>
              <a:spcAft>
                <a:spcPts val="0"/>
              </a:spcAft>
              <a:buNone/>
            </a:pPr>
            <a:r>
              <a:rPr lang="en"/>
              <a:t>Link to Module 3.4 Lesson Plan</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BEFORE YOU START TEACHING</a:t>
            </a:r>
            <a:endParaRPr b="1"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3">
                  <a:extLst>
                    <a:ext uri="{A12FA001-AC4F-418D-AE19-62706E023703}">
                      <ahyp:hlinkCl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For </a:t>
            </a:r>
            <a:r>
              <a:rPr b="1" lang="en" sz="1200">
                <a:solidFill>
                  <a:schemeClr val="dk1"/>
                </a:solidFill>
                <a:latin typeface="Calibri"/>
                <a:ea typeface="Calibri"/>
                <a:cs typeface="Calibri"/>
                <a:sym typeface="Calibri"/>
              </a:rPr>
              <a:t>Lesson 3.3</a:t>
            </a:r>
            <a:r>
              <a:rPr lang="en" sz="1200">
                <a:solidFill>
                  <a:schemeClr val="dk1"/>
                </a:solidFill>
                <a:latin typeface="Calibri"/>
                <a:ea typeface="Calibri"/>
                <a:cs typeface="Calibri"/>
                <a:sym typeface="Calibri"/>
              </a:rPr>
              <a:t>, review </a:t>
            </a:r>
            <a:r>
              <a:rPr lang="en" sz="1200" u="sng">
                <a:solidFill>
                  <a:srgbClr val="1155CC"/>
                </a:solidFill>
                <a:latin typeface="Calibri"/>
                <a:ea typeface="Calibri"/>
                <a:cs typeface="Calibri"/>
                <a:sym typeface="Calibri"/>
                <a:hlinkClick r:id="rId4">
                  <a:extLst>
                    <a:ext uri="{A12FA001-AC4F-418D-AE19-62706E023703}">
                      <ahyp:hlinkClr val="tx"/>
                    </a:ext>
                  </a:extLst>
                </a:hlinkClick>
              </a:rPr>
              <a:t>Student Our Coast Our Future Instructions</a:t>
            </a:r>
            <a:r>
              <a:rPr lang="en" sz="1200">
                <a:solidFill>
                  <a:schemeClr val="dk1"/>
                </a:solidFill>
                <a:latin typeface="Calibri"/>
                <a:ea typeface="Calibri"/>
                <a:cs typeface="Calibri"/>
                <a:sym typeface="Calibri"/>
              </a:rPr>
              <a:t> (also in Science Journal, p. 36-43) to model or support students. Explore </a:t>
            </a:r>
            <a:r>
              <a:rPr lang="en" sz="1200" u="sng">
                <a:solidFill>
                  <a:srgbClr val="1155CC"/>
                </a:solidFill>
                <a:latin typeface="Calibri"/>
                <a:ea typeface="Calibri"/>
                <a:cs typeface="Calibri"/>
                <a:sym typeface="Calibri"/>
                <a:hlinkClick r:id="rId5">
                  <a:extLst>
                    <a:ext uri="{A12FA001-AC4F-418D-AE19-62706E023703}">
                      <ahyp:hlinkClr val="tx"/>
                    </a:ext>
                  </a:extLst>
                </a:hlinkClick>
              </a:rPr>
              <a:t>Our Coast Our Future Website.</a:t>
            </a:r>
            <a:endParaRPr sz="1200">
              <a:solidFill>
                <a:schemeClr val="dk1"/>
              </a:solidFill>
              <a:latin typeface="Calibri"/>
              <a:ea typeface="Calibri"/>
              <a:cs typeface="Calibri"/>
              <a:sym typeface="Calibri"/>
            </a:endParaRPr>
          </a:p>
          <a:p>
            <a:pPr indent="0" lvl="0" marL="45720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Include a numbered list of general steps to set up the investigation before students arrive.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This can also include other things that educators should do or think about before starting the lesson, such as checking for safety concerns.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________</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 sz="1200" u="sng">
                <a:solidFill>
                  <a:srgbClr val="1155CC"/>
                </a:solidFill>
                <a:latin typeface="Calibri"/>
                <a:ea typeface="Calibri"/>
                <a:cs typeface="Calibri"/>
                <a:sym typeface="Calibri"/>
                <a:hlinkClick r:id="rId6">
                  <a:extLst>
                    <a:ext uri="{A12FA001-AC4F-418D-AE19-62706E023703}">
                      <ahyp:hlinkClr val="tx"/>
                    </a:ext>
                  </a:extLst>
                </a:hlinkClick>
              </a:rPr>
              <a:t>Lesson 3.3/3.4 Introduction Slides</a:t>
            </a:r>
            <a:endParaRPr b="1"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Open the </a:t>
            </a:r>
            <a:r>
              <a:rPr lang="en" sz="1200" u="sng">
                <a:solidFill>
                  <a:srgbClr val="1155CC"/>
                </a:solidFill>
                <a:latin typeface="Calibri"/>
                <a:ea typeface="Calibri"/>
                <a:cs typeface="Calibri"/>
                <a:sym typeface="Calibri"/>
                <a:hlinkClick r:id="rId7">
                  <a:extLst>
                    <a:ext uri="{A12FA001-AC4F-418D-AE19-62706E023703}">
                      <ahyp:hlinkClr val="tx"/>
                    </a:ext>
                  </a:extLst>
                </a:hlinkClick>
              </a:rPr>
              <a:t>introduction slideshow</a:t>
            </a:r>
            <a:r>
              <a:rPr lang="en" sz="1200">
                <a:solidFill>
                  <a:schemeClr val="dk1"/>
                </a:solidFill>
                <a:latin typeface="Calibri"/>
                <a:ea typeface="Calibri"/>
                <a:cs typeface="Calibri"/>
                <a:sym typeface="Calibri"/>
              </a:rPr>
              <a:t> to </a:t>
            </a:r>
            <a:r>
              <a:rPr b="1" lang="en" sz="1200">
                <a:solidFill>
                  <a:schemeClr val="dk1"/>
                </a:solidFill>
                <a:latin typeface="Calibri"/>
                <a:ea typeface="Calibri"/>
                <a:cs typeface="Calibri"/>
                <a:sym typeface="Calibri"/>
              </a:rPr>
              <a:t>Slide 1</a:t>
            </a:r>
            <a:r>
              <a:rPr lang="en" sz="1200">
                <a:solidFill>
                  <a:schemeClr val="dk1"/>
                </a:solidFill>
                <a:latin typeface="Calibri"/>
                <a:ea typeface="Calibri"/>
                <a:cs typeface="Calibri"/>
                <a:sym typeface="Calibri"/>
              </a:rPr>
              <a:t> and welcome students into the class and tell them that today, they will continue to learn about how carbon dioxide can change the rate of natural processes and affect the values that they care about.</a:t>
            </a: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5cdcc2ed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5cdcc2ed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the slideshow to </a:t>
            </a:r>
            <a:r>
              <a:rPr b="1" lang="en" sz="1200">
                <a:solidFill>
                  <a:schemeClr val="dk1"/>
                </a:solidFill>
                <a:latin typeface="Calibri"/>
                <a:ea typeface="Calibri"/>
                <a:cs typeface="Calibri"/>
                <a:sym typeface="Calibri"/>
              </a:rPr>
              <a:t>Slide 2 </a:t>
            </a:r>
            <a:r>
              <a:rPr lang="en" sz="1200">
                <a:solidFill>
                  <a:schemeClr val="dk1"/>
                </a:solidFill>
                <a:latin typeface="Calibri"/>
                <a:ea typeface="Calibri"/>
                <a:cs typeface="Calibri"/>
                <a:sym typeface="Calibri"/>
              </a:rPr>
              <a:t>and ask the class to take a moment and reflect on what they learned in lesson 3.2. </a:t>
            </a:r>
            <a:endParaRPr sz="1200">
              <a:solidFill>
                <a:schemeClr val="dk1"/>
              </a:solidFill>
              <a:latin typeface="Calibri"/>
              <a:ea typeface="Calibri"/>
              <a:cs typeface="Calibri"/>
              <a:sym typeface="Calibri"/>
            </a:endParaRPr>
          </a:p>
          <a:p>
            <a:pPr indent="-304800" lvl="1"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did an increase of carbon dioxide emissions impact processes like global warming?</a:t>
            </a:r>
            <a:endParaRPr sz="1200">
              <a:solidFill>
                <a:schemeClr val="dk1"/>
              </a:solidFill>
              <a:latin typeface="Calibri"/>
              <a:ea typeface="Calibri"/>
              <a:cs typeface="Calibri"/>
              <a:sym typeface="Calibri"/>
            </a:endParaRPr>
          </a:p>
          <a:p>
            <a:pPr indent="-304800" lvl="1"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 these changes affect the values your group placed on the ocean in your model?</a:t>
            </a:r>
            <a:endParaRPr sz="1200">
              <a:solidFill>
                <a:schemeClr val="dk1"/>
              </a:solidFill>
              <a:latin typeface="Calibri"/>
              <a:ea typeface="Calibri"/>
              <a:cs typeface="Calibri"/>
              <a:sym typeface="Calibri"/>
            </a:endParaRPr>
          </a:p>
          <a:p>
            <a:pPr indent="0" lvl="0" marL="22860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228600" rtl="0" algn="l">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 students share, emphasize and elevate ideas that include mention that  increased levels of carbon dioxide emissions have an impact on the rate of change of global processes like global warming.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student teams have reflected on the previous lesson, inform them that their next step is to find out what other processes might be impacted by increased carbon dioxide emissions.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32f63960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b32f63960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Gather students in their teams from Module 2 and advance to </a:t>
            </a:r>
            <a:r>
              <a:rPr b="1" lang="en" sz="1200">
                <a:solidFill>
                  <a:schemeClr val="dk1"/>
                </a:solidFill>
                <a:latin typeface="Calibri"/>
                <a:ea typeface="Calibri"/>
                <a:cs typeface="Calibri"/>
                <a:sym typeface="Calibri"/>
              </a:rPr>
              <a:t>Slide 3</a:t>
            </a:r>
            <a:r>
              <a:rPr lang="en" sz="1200">
                <a:solidFill>
                  <a:schemeClr val="dk1"/>
                </a:solidFill>
                <a:latin typeface="Calibri"/>
                <a:ea typeface="Calibri"/>
                <a:cs typeface="Calibri"/>
                <a:sym typeface="Calibri"/>
              </a:rPr>
              <a:t>. Invite students to take a look at their team’s model and brainstorm other processes that may be impacted by increased carbon dioxide emissions.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may increased carbon dioxide emissions impact other processes that you have included in your team’s model?</a:t>
            </a:r>
            <a:endParaRPr sz="1200">
              <a:solidFill>
                <a:schemeClr val="dk1"/>
              </a:solidFill>
              <a:latin typeface="Calibri"/>
              <a:ea typeface="Calibri"/>
              <a:cs typeface="Calibri"/>
              <a:sym typeface="Calibri"/>
            </a:endParaRPr>
          </a:p>
          <a:p>
            <a:pPr indent="0" lvl="0" marL="228600" rtl="0" algn="l">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discuss with their teams, walk around and listen for conversations where you may support the student's brainstorming. Ask questions to guide students to choosing processes that we will investigate in lessons 3.3 and 3.4, sea level rise, coastal erosion, ocean acidification, and food web impacts.</a:t>
            </a:r>
            <a:endParaRPr sz="1200">
              <a:solidFill>
                <a:schemeClr val="dk1"/>
              </a:solidFill>
              <a:latin typeface="Calibri"/>
              <a:ea typeface="Calibri"/>
              <a:cs typeface="Calibri"/>
              <a:sym typeface="Calibri"/>
            </a:endParaRPr>
          </a:p>
          <a:p>
            <a:pPr indent="-304800" lvl="1"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processes in your model have a large impact on the value your community cares about? </a:t>
            </a:r>
            <a:endParaRPr sz="1200">
              <a:solidFill>
                <a:schemeClr val="dk1"/>
              </a:solidFill>
              <a:latin typeface="Calibri"/>
              <a:ea typeface="Calibri"/>
              <a:cs typeface="Calibri"/>
              <a:sym typeface="Calibri"/>
            </a:endParaRPr>
          </a:p>
          <a:p>
            <a:pPr indent="-304800" lvl="1"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might we investigate this process further?</a:t>
            </a:r>
            <a:endParaRPr sz="1200">
              <a:solidFill>
                <a:schemeClr val="dk1"/>
              </a:solidFill>
              <a:latin typeface="Calibri"/>
              <a:ea typeface="Calibri"/>
              <a:cs typeface="Calibri"/>
              <a:sym typeface="Calibri"/>
            </a:endParaRPr>
          </a:p>
          <a:p>
            <a:pPr indent="0" lvl="0" marL="22860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student teams have had a chance to review their models, invite the class back together to share some of their ideas.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32f63960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32f63960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b="1" lang="en" sz="1200">
                <a:solidFill>
                  <a:schemeClr val="dk1"/>
                </a:solidFill>
                <a:latin typeface="Calibri"/>
                <a:ea typeface="Calibri"/>
                <a:cs typeface="Calibri"/>
                <a:sym typeface="Calibri"/>
              </a:rPr>
              <a:t>Slide 4 </a:t>
            </a:r>
            <a:r>
              <a:rPr lang="en" sz="1200">
                <a:solidFill>
                  <a:schemeClr val="dk1"/>
                </a:solidFill>
                <a:latin typeface="Calibri"/>
                <a:ea typeface="Calibri"/>
                <a:cs typeface="Calibri"/>
                <a:sym typeface="Calibri"/>
              </a:rPr>
              <a:t>and tell students that for the next two sessions, they will embark on a student-led lesson, where they will learn more about particular processes that impact the value that their model centers on and ultimately update their team’s model with their newfound information. They will have two options.</a:t>
            </a:r>
            <a:endParaRPr sz="1200">
              <a:solidFill>
                <a:schemeClr val="dk1"/>
              </a:solidFill>
              <a:latin typeface="Calibri"/>
              <a:ea typeface="Calibri"/>
              <a:cs typeface="Calibri"/>
              <a:sym typeface="Calibri"/>
            </a:endParaRPr>
          </a:p>
          <a:p>
            <a:pPr indent="-304800" lvl="1" marL="457200" rtl="0" algn="l">
              <a:lnSpc>
                <a:spcPct val="115000"/>
              </a:lnSpc>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Option 1:</a:t>
            </a:r>
            <a:r>
              <a:rPr lang="en" sz="1200">
                <a:solidFill>
                  <a:schemeClr val="dk1"/>
                </a:solidFill>
                <a:latin typeface="Calibri"/>
                <a:ea typeface="Calibri"/>
                <a:cs typeface="Calibri"/>
                <a:sym typeface="Calibri"/>
              </a:rPr>
              <a:t> Sea level rise and coastal erosion - You may choose this path if your model centers around the values of mental health and wellbeing, recreation, financial, and biodiversity.</a:t>
            </a:r>
            <a:endParaRPr sz="1200">
              <a:solidFill>
                <a:schemeClr val="dk1"/>
              </a:solidFill>
              <a:latin typeface="Calibri"/>
              <a:ea typeface="Calibri"/>
              <a:cs typeface="Calibri"/>
              <a:sym typeface="Calibri"/>
            </a:endParaRPr>
          </a:p>
          <a:p>
            <a:pPr indent="-304800" lvl="1" marL="457200" rtl="0" algn="l">
              <a:lnSpc>
                <a:spcPct val="115000"/>
              </a:lnSpc>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Option  2:</a:t>
            </a:r>
            <a:r>
              <a:rPr lang="en" sz="1200">
                <a:solidFill>
                  <a:schemeClr val="dk1"/>
                </a:solidFill>
                <a:latin typeface="Calibri"/>
                <a:ea typeface="Calibri"/>
                <a:cs typeface="Calibri"/>
                <a:sym typeface="Calibri"/>
              </a:rPr>
              <a:t> Ocean acidification and food web - You may choose this path if your model centers around the values of seafood, tradition, biodiversity, and cultural significance.</a:t>
            </a:r>
            <a:endParaRPr sz="1200">
              <a:solidFill>
                <a:schemeClr val="dk1"/>
              </a:solidFill>
              <a:latin typeface="Calibri"/>
              <a:ea typeface="Calibri"/>
              <a:cs typeface="Calibri"/>
              <a:sym typeface="Calibri"/>
            </a:endParaRPr>
          </a:p>
          <a:p>
            <a:pPr indent="0" lvl="0" marL="22860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228600" rtl="0" algn="l">
              <a:lnSpc>
                <a:spcPct val="115000"/>
              </a:lnSpc>
              <a:spcBef>
                <a:spcPts val="0"/>
              </a:spcBef>
              <a:spcAft>
                <a:spcPts val="0"/>
              </a:spcAft>
              <a:buClr>
                <a:schemeClr val="dk1"/>
              </a:buClr>
              <a:buSzPts val="1100"/>
              <a:buFont typeface="Arial"/>
              <a:buNone/>
            </a:pPr>
            <a:r>
              <a:rPr b="1" lang="en" sz="1200">
                <a:solidFill>
                  <a:schemeClr val="dk1"/>
                </a:solidFill>
                <a:latin typeface="Calibri"/>
                <a:ea typeface="Calibri"/>
                <a:cs typeface="Calibri"/>
                <a:sym typeface="Calibri"/>
              </a:rPr>
              <a:t>To help guide students to choose a their option, ask students the following question:</a:t>
            </a:r>
            <a:endParaRPr b="1"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Of the two options provided, which processes might affect the value that centers your model the most?</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b="1" sz="1200">
              <a:solidFill>
                <a:schemeClr val="dk1"/>
              </a:solidFill>
              <a:latin typeface="Calibri"/>
              <a:ea typeface="Calibri"/>
              <a:cs typeface="Calibri"/>
              <a:sym typeface="Calibri"/>
            </a:endParaRPr>
          </a:p>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When students are ready, have them choose which investigation fits best with the value their community places on the Ocean.</a:t>
            </a:r>
            <a:endParaRPr sz="1200">
              <a:solidFill>
                <a:schemeClr val="dk1"/>
              </a:solidFill>
              <a:latin typeface="Calibri"/>
              <a:ea typeface="Calibri"/>
              <a:cs typeface="Calibri"/>
              <a:sym typeface="Calibri"/>
            </a:endParaRPr>
          </a:p>
          <a:p>
            <a:pPr indent="-304800" lvl="1" marL="457200" rtl="0" algn="l">
              <a:lnSpc>
                <a:spcPct val="115000"/>
              </a:lnSpc>
              <a:spcBef>
                <a:spcPts val="0"/>
              </a:spcBef>
              <a:spcAft>
                <a:spcPts val="0"/>
              </a:spcAft>
              <a:buClr>
                <a:schemeClr val="dk1"/>
              </a:buClr>
              <a:buSzPts val="1200"/>
              <a:buFont typeface="Calibri"/>
              <a:buChar char="●"/>
            </a:pPr>
            <a:r>
              <a:rPr lang="en" sz="1200" u="sng">
                <a:solidFill>
                  <a:srgbClr val="1155CC"/>
                </a:solidFill>
                <a:latin typeface="Calibri"/>
                <a:ea typeface="Calibri"/>
                <a:cs typeface="Calibri"/>
                <a:sym typeface="Calibri"/>
                <a:hlinkClick r:id="rId2">
                  <a:extLst>
                    <a:ext uri="{A12FA001-AC4F-418D-AE19-62706E023703}">
                      <ahyp:hlinkClr val="tx"/>
                    </a:ext>
                  </a:extLst>
                </a:hlinkClick>
              </a:rPr>
              <a:t>Lesson 3.3</a:t>
            </a:r>
            <a:r>
              <a:rPr lang="en" sz="1200">
                <a:solidFill>
                  <a:schemeClr val="dk1"/>
                </a:solidFill>
                <a:latin typeface="Calibri"/>
                <a:ea typeface="Calibri"/>
                <a:cs typeface="Calibri"/>
                <a:sym typeface="Calibri"/>
              </a:rPr>
              <a:t> - Sea Level Rise and Coastal Erosion</a:t>
            </a:r>
            <a:endParaRPr sz="1200">
              <a:solidFill>
                <a:schemeClr val="dk1"/>
              </a:solidFill>
              <a:latin typeface="Calibri"/>
              <a:ea typeface="Calibri"/>
              <a:cs typeface="Calibri"/>
              <a:sym typeface="Calibri"/>
            </a:endParaRPr>
          </a:p>
          <a:p>
            <a:pPr indent="-304800" lvl="1" marL="457200" rtl="0" algn="l">
              <a:lnSpc>
                <a:spcPct val="115000"/>
              </a:lnSpc>
              <a:spcBef>
                <a:spcPts val="0"/>
              </a:spcBef>
              <a:spcAft>
                <a:spcPts val="0"/>
              </a:spcAft>
              <a:buClr>
                <a:schemeClr val="dk1"/>
              </a:buClr>
              <a:buSzPts val="1200"/>
              <a:buFont typeface="Calibri"/>
              <a:buChar char="●"/>
            </a:pPr>
            <a:r>
              <a:rPr lang="en" sz="1200" u="sng">
                <a:solidFill>
                  <a:srgbClr val="1155CC"/>
                </a:solidFill>
                <a:latin typeface="Calibri"/>
                <a:ea typeface="Calibri"/>
                <a:cs typeface="Calibri"/>
                <a:sym typeface="Calibri"/>
                <a:hlinkClick r:id="rId3">
                  <a:extLst>
                    <a:ext uri="{A12FA001-AC4F-418D-AE19-62706E023703}">
                      <ahyp:hlinkClr val="tx"/>
                    </a:ext>
                  </a:extLst>
                </a:hlinkClick>
              </a:rPr>
              <a:t>Lesson 3.4</a:t>
            </a:r>
            <a:r>
              <a:rPr lang="en" sz="1200">
                <a:solidFill>
                  <a:schemeClr val="dk1"/>
                </a:solidFill>
                <a:latin typeface="Calibri"/>
                <a:ea typeface="Calibri"/>
                <a:cs typeface="Calibri"/>
                <a:sym typeface="Calibri"/>
              </a:rPr>
              <a:t> - Ocean Acidification</a:t>
            </a:r>
            <a:endParaRPr b="1" sz="12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aebfcfe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aebfcfe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2286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wrap up for the day, send groups back to their Module 3.3 </a:t>
            </a:r>
            <a:r>
              <a:rPr lang="en" sz="1200" u="sng">
                <a:solidFill>
                  <a:srgbClr val="1155CC"/>
                </a:solidFill>
                <a:latin typeface="Calibri"/>
                <a:ea typeface="Calibri"/>
                <a:cs typeface="Calibri"/>
                <a:sym typeface="Calibri"/>
                <a:hlinkClick r:id="rId2">
                  <a:extLst>
                    <a:ext uri="{A12FA001-AC4F-418D-AE19-62706E023703}">
                      <ahyp:hlinkClr val="tx"/>
                    </a:ext>
                  </a:extLst>
                </a:hlinkClick>
              </a:rPr>
              <a:t>slideshow</a:t>
            </a:r>
            <a:r>
              <a:rPr lang="en" sz="1200">
                <a:solidFill>
                  <a:schemeClr val="dk1"/>
                </a:solidFill>
                <a:latin typeface="Calibri"/>
                <a:ea typeface="Calibri"/>
                <a:cs typeface="Calibri"/>
                <a:sym typeface="Calibri"/>
              </a:rPr>
              <a:t> to reflect on the process of creating a model for sea level rise.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aebfcfed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aaebfcfed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created their plan, bring the class back together  (</a:t>
            </a:r>
            <a:r>
              <a:rPr lang="en" sz="1200" u="sng">
                <a:solidFill>
                  <a:srgbClr val="1155CC"/>
                </a:solidFill>
                <a:latin typeface="Calibri"/>
                <a:ea typeface="Calibri"/>
                <a:cs typeface="Calibri"/>
                <a:sym typeface="Calibri"/>
                <a:hlinkClick r:id="rId2">
                  <a:extLst>
                    <a:ext uri="{A12FA001-AC4F-418D-AE19-62706E023703}">
                      <ahyp:hlinkClr val="tx"/>
                    </a:ext>
                  </a:extLst>
                </a:hlinkClick>
              </a:rPr>
              <a:t>See Module 3.3 &amp; 3.4 Introduction Slides, Slide </a:t>
            </a:r>
            <a:r>
              <a:rPr lang="en" sz="1200" u="sng">
                <a:solidFill>
                  <a:srgbClr val="1155CC"/>
                </a:solidFill>
                <a:latin typeface="Calibri"/>
                <a:ea typeface="Calibri"/>
                <a:cs typeface="Calibri"/>
                <a:sym typeface="Calibri"/>
              </a:rPr>
              <a:t>6) </a:t>
            </a:r>
            <a:r>
              <a:rPr lang="en" sz="1200">
                <a:solidFill>
                  <a:schemeClr val="dk1"/>
                </a:solidFill>
                <a:latin typeface="Calibri"/>
                <a:ea typeface="Calibri"/>
                <a:cs typeface="Calibri"/>
                <a:sym typeface="Calibri"/>
              </a:rPr>
              <a:t>and have them share out with the class if time permits. Since different students will have different investigations and their models share different values, focus on the following question.</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value does your SageModeler model center on?</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investigation did you take part in? (sea level rise or ocean acidification)’</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 you want to update your SageModeler model as a result of your investigation? How does this impact connect with the value your model centers?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wrap up for the day, their final task for the day is to reflect on what they did. Return to </a:t>
            </a:r>
            <a:r>
              <a:rPr lang="en" sz="1200" u="sng">
                <a:solidFill>
                  <a:schemeClr val="hlink"/>
                </a:solidFill>
                <a:latin typeface="Calibri"/>
                <a:ea typeface="Calibri"/>
                <a:cs typeface="Calibri"/>
                <a:sym typeface="Calibri"/>
                <a:hlinkClick r:id="rId3"/>
              </a:rPr>
              <a:t>Lesson 3.3 Slides (Slide 15)</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4ac343a9b0_0_5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4ac343a9b0_0_5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with footer">
  <p:cSld name="ONE_COLUMN_TEXT_1">
    <p:spTree>
      <p:nvGrpSpPr>
        <p:cNvPr id="50" name="Shape 50"/>
        <p:cNvGrpSpPr/>
        <p:nvPr/>
      </p:nvGrpSpPr>
      <p:grpSpPr>
        <a:xfrm>
          <a:off x="0" y="0"/>
          <a:ext cx="0" cy="0"/>
          <a:chOff x="0" y="0"/>
          <a:chExt cx="0" cy="0"/>
        </a:xfrm>
      </p:grpSpPr>
      <p:sp>
        <p:nvSpPr>
          <p:cNvPr id="51" name="Google Shape;51;p13"/>
          <p:cNvSpPr txBox="1"/>
          <p:nvPr>
            <p:ph idx="12" type="sldNum"/>
          </p:nvPr>
        </p:nvSpPr>
        <p:spPr>
          <a:xfrm>
            <a:off x="7426775" y="4679000"/>
            <a:ext cx="1502400" cy="324300"/>
          </a:xfrm>
          <a:prstGeom prst="rect">
            <a:avLst/>
          </a:prstGeom>
        </p:spPr>
        <p:txBody>
          <a:bodyPr anchorCtr="0" anchor="ctr" bIns="91425" lIns="91425" spcFirstLastPara="1" rIns="91425" wrap="square" tIns="91425">
            <a:normAutofit lnSpcReduction="1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13"/>
          <p:cNvSpPr txBox="1"/>
          <p:nvPr>
            <p:ph type="title"/>
          </p:nvPr>
        </p:nvSpPr>
        <p:spPr>
          <a:xfrm>
            <a:off x="228600" y="2236650"/>
            <a:ext cx="3551400" cy="670200"/>
          </a:xfrm>
          <a:prstGeom prst="rect">
            <a:avLst/>
          </a:prstGeom>
        </p:spPr>
        <p:txBody>
          <a:bodyPr anchorCtr="0" anchor="ctr" bIns="91425" lIns="91425" spcFirstLastPara="1" rIns="91425" wrap="square" tIns="91425">
            <a:norm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53" name="Google Shape;53;p13"/>
          <p:cNvSpPr txBox="1"/>
          <p:nvPr>
            <p:ph idx="1" type="subTitle"/>
          </p:nvPr>
        </p:nvSpPr>
        <p:spPr>
          <a:xfrm>
            <a:off x="4572000" y="1004700"/>
            <a:ext cx="4343400" cy="31341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2" type="body"/>
          </p:nvPr>
        </p:nvSpPr>
        <p:spPr>
          <a:xfrm>
            <a:off x="228600" y="4679000"/>
            <a:ext cx="4343400" cy="3243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cxnSp>
        <p:nvCxnSpPr>
          <p:cNvPr id="55" name="Google Shape;55;p13"/>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hyperlink" Target="https://docs.google.com/presentation/d/1ox_SaCJ6U23YlTRb4-9eKSoppniyO11xZs2-8d1zLHY/edit?usp=sharing" TargetMode="External"/><Relationship Id="rId5" Type="http://schemas.openxmlformats.org/officeDocument/2006/relationships/image" Target="../media/image2.png"/><Relationship Id="rId6" Type="http://schemas.openxmlformats.org/officeDocument/2006/relationships/hyperlink" Target="https://docs.google.com/presentation/d/1Ks82aX_OE3gZ_jrixNy4Bhzk6pwL6t4sw0i1cg4koJo/edit?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1190250"/>
            <a:ext cx="4343400" cy="15981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1" lang="en" sz="4500">
                <a:solidFill>
                  <a:srgbClr val="541900"/>
                </a:solidFill>
              </a:rPr>
              <a:t>Exploring CO₂’s Impact</a:t>
            </a:r>
            <a:endParaRPr b="1" sz="4500">
              <a:solidFill>
                <a:srgbClr val="541900"/>
              </a:solidFill>
            </a:endParaRPr>
          </a:p>
        </p:txBody>
      </p:sp>
      <p:pic>
        <p:nvPicPr>
          <p:cNvPr id="61" name="Google Shape;61;p14" title="Screenshot 2025-12-22 at 12.23.47 PM.png"/>
          <p:cNvPicPr preferRelativeResize="0"/>
          <p:nvPr/>
        </p:nvPicPr>
        <p:blipFill>
          <a:blip r:embed="rId3">
            <a:alphaModFix/>
          </a:blip>
          <a:stretch>
            <a:fillRect/>
          </a:stretch>
        </p:blipFill>
        <p:spPr>
          <a:xfrm>
            <a:off x="4905900" y="180912"/>
            <a:ext cx="3738602" cy="2053075"/>
          </a:xfrm>
          <a:prstGeom prst="rect">
            <a:avLst/>
          </a:prstGeom>
          <a:noFill/>
          <a:ln>
            <a:noFill/>
          </a:ln>
        </p:spPr>
      </p:pic>
      <p:sp>
        <p:nvSpPr>
          <p:cNvPr id="62" name="Google Shape;62;p14"/>
          <p:cNvSpPr txBox="1"/>
          <p:nvPr>
            <p:ph idx="1" type="body"/>
          </p:nvPr>
        </p:nvSpPr>
        <p:spPr>
          <a:xfrm rot="5400000">
            <a:off x="6988675" y="1888050"/>
            <a:ext cx="3738600" cy="32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rPr>
              <a:t>Aerial View of San Juan Capistrano,CA </a:t>
            </a:r>
            <a:endParaRPr sz="800">
              <a:solidFill>
                <a:schemeClr val="dk1"/>
              </a:solidFill>
            </a:endParaRPr>
          </a:p>
          <a:p>
            <a:pPr indent="0" lvl="0" marL="0" rtl="0" algn="l">
              <a:spcBef>
                <a:spcPts val="0"/>
              </a:spcBef>
              <a:spcAft>
                <a:spcPts val="0"/>
              </a:spcAft>
              <a:buNone/>
            </a:pPr>
            <a:r>
              <a:rPr lang="en" sz="800">
                <a:solidFill>
                  <a:schemeClr val="dk1"/>
                </a:solidFill>
              </a:rPr>
              <a:t>Photo Credit: UC Irvine News</a:t>
            </a:r>
            <a:endParaRPr sz="800">
              <a:solidFill>
                <a:schemeClr val="dk1"/>
              </a:solidFill>
              <a:latin typeface="Arial"/>
              <a:ea typeface="Arial"/>
              <a:cs typeface="Arial"/>
              <a:sym typeface="Arial"/>
            </a:endParaRPr>
          </a:p>
        </p:txBody>
      </p:sp>
      <p:sp>
        <p:nvSpPr>
          <p:cNvPr id="63" name="Google Shape;63;p14"/>
          <p:cNvSpPr txBox="1"/>
          <p:nvPr>
            <p:ph idx="1" type="body"/>
          </p:nvPr>
        </p:nvSpPr>
        <p:spPr>
          <a:xfrm rot="5400000">
            <a:off x="6321400" y="3437525"/>
            <a:ext cx="2597700" cy="324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800">
                <a:solidFill>
                  <a:schemeClr val="dk1"/>
                </a:solidFill>
              </a:rPr>
              <a:t>California Coast, Photo Credit: Ken Caldeira</a:t>
            </a:r>
            <a:endParaRPr sz="800">
              <a:solidFill>
                <a:schemeClr val="dk1"/>
              </a:solidFill>
              <a:latin typeface="Arial"/>
              <a:ea typeface="Arial"/>
              <a:cs typeface="Arial"/>
              <a:sym typeface="Arial"/>
            </a:endParaRPr>
          </a:p>
        </p:txBody>
      </p:sp>
      <p:pic>
        <p:nvPicPr>
          <p:cNvPr id="64" name="Google Shape;64;p14"/>
          <p:cNvPicPr preferRelativeResize="0"/>
          <p:nvPr/>
        </p:nvPicPr>
        <p:blipFill>
          <a:blip r:embed="rId4">
            <a:alphaModFix/>
          </a:blip>
          <a:stretch>
            <a:fillRect/>
          </a:stretch>
        </p:blipFill>
        <p:spPr>
          <a:xfrm>
            <a:off x="4942438" y="2300825"/>
            <a:ext cx="2597824" cy="2053076"/>
          </a:xfrm>
          <a:prstGeom prst="rect">
            <a:avLst/>
          </a:prstGeom>
          <a:noFill/>
          <a:ln>
            <a:noFill/>
          </a:ln>
        </p:spPr>
      </p:pic>
      <p:sp>
        <p:nvSpPr>
          <p:cNvPr id="65" name="Google Shape;65;p14"/>
          <p:cNvSpPr txBox="1"/>
          <p:nvPr>
            <p:ph idx="4294967295" type="body"/>
          </p:nvPr>
        </p:nvSpPr>
        <p:spPr>
          <a:xfrm>
            <a:off x="1478400" y="2665938"/>
            <a:ext cx="3176700" cy="973800"/>
          </a:xfrm>
          <a:prstGeom prst="rect">
            <a:avLst/>
          </a:prstGeom>
        </p:spPr>
        <p:txBody>
          <a:bodyPr anchorCtr="0" anchor="t" bIns="91425" lIns="91425" spcFirstLastPara="1" rIns="91425" wrap="square" tIns="91425">
            <a:normAutofit lnSpcReduction="10000"/>
          </a:bodyPr>
          <a:lstStyle/>
          <a:p>
            <a:pPr indent="0" lvl="0" marL="0" rtl="0" algn="r">
              <a:spcBef>
                <a:spcPts val="0"/>
              </a:spcBef>
              <a:spcAft>
                <a:spcPts val="0"/>
              </a:spcAft>
              <a:buNone/>
            </a:pPr>
            <a:r>
              <a:rPr b="1" lang="en" sz="1200">
                <a:solidFill>
                  <a:srgbClr val="355E3B"/>
                </a:solidFill>
              </a:rPr>
              <a:t>Module 3.3: </a:t>
            </a:r>
            <a:r>
              <a:rPr lang="en" sz="1200">
                <a:solidFill>
                  <a:schemeClr val="dk1"/>
                </a:solidFill>
              </a:rPr>
              <a:t>CO₂ &amp; Sea Level Rise/ </a:t>
            </a:r>
            <a:endParaRPr sz="1200">
              <a:solidFill>
                <a:schemeClr val="dk1"/>
              </a:solidFill>
            </a:endParaRPr>
          </a:p>
          <a:p>
            <a:pPr indent="0" lvl="0" marL="0" rtl="0" algn="r">
              <a:spcBef>
                <a:spcPts val="0"/>
              </a:spcBef>
              <a:spcAft>
                <a:spcPts val="0"/>
              </a:spcAft>
              <a:buNone/>
            </a:pPr>
            <a:r>
              <a:rPr lang="en" sz="1200">
                <a:solidFill>
                  <a:schemeClr val="dk1"/>
                </a:solidFill>
              </a:rPr>
              <a:t>Coastal Erosion</a:t>
            </a:r>
            <a:endParaRPr sz="1200">
              <a:solidFill>
                <a:schemeClr val="dk1"/>
              </a:solidFill>
            </a:endParaRPr>
          </a:p>
          <a:p>
            <a:pPr indent="0" lvl="0" marL="0" rtl="0" algn="r">
              <a:spcBef>
                <a:spcPts val="0"/>
              </a:spcBef>
              <a:spcAft>
                <a:spcPts val="0"/>
              </a:spcAft>
              <a:buNone/>
            </a:pPr>
            <a:r>
              <a:rPr b="1" lang="en" sz="1200">
                <a:solidFill>
                  <a:srgbClr val="355E3B"/>
                </a:solidFill>
              </a:rPr>
              <a:t>Module 3.4: </a:t>
            </a:r>
            <a:r>
              <a:rPr lang="en" sz="1200">
                <a:solidFill>
                  <a:schemeClr val="dk1"/>
                </a:solidFill>
              </a:rPr>
              <a:t>Ocean Acidification &amp; </a:t>
            </a:r>
            <a:endParaRPr sz="1200">
              <a:solidFill>
                <a:schemeClr val="dk1"/>
              </a:solidFill>
            </a:endParaRPr>
          </a:p>
          <a:p>
            <a:pPr indent="0" lvl="0" marL="0" rtl="0" algn="r">
              <a:spcBef>
                <a:spcPts val="0"/>
              </a:spcBef>
              <a:spcAft>
                <a:spcPts val="0"/>
              </a:spcAft>
              <a:buNone/>
            </a:pPr>
            <a:r>
              <a:rPr lang="en" sz="1200">
                <a:solidFill>
                  <a:schemeClr val="dk1"/>
                </a:solidFill>
              </a:rPr>
              <a:t>Food Webs</a:t>
            </a:r>
            <a:r>
              <a:rPr b="1" lang="en" sz="1200">
                <a:solidFill>
                  <a:srgbClr val="355E3B"/>
                </a:solidFill>
              </a:rPr>
              <a:t> </a:t>
            </a:r>
            <a:r>
              <a:rPr b="1" lang="en" sz="1200">
                <a:solidFill>
                  <a:srgbClr val="355E3B"/>
                </a:solidFill>
              </a:rPr>
              <a:t> </a:t>
            </a:r>
            <a:endParaRPr b="1" sz="1200">
              <a:solidFill>
                <a:srgbClr val="355E3B"/>
              </a:solidFill>
            </a:endParaRPr>
          </a:p>
        </p:txBody>
      </p:sp>
      <p:sp>
        <p:nvSpPr>
          <p:cNvPr id="66" name="Google Shape;66;p14"/>
          <p:cNvSpPr txBox="1"/>
          <p:nvPr/>
        </p:nvSpPr>
        <p:spPr>
          <a:xfrm>
            <a:off x="2026650" y="4658700"/>
            <a:ext cx="5090700" cy="32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AISciComm | Mo</a:t>
            </a:r>
            <a:r>
              <a:rPr lang="en" sz="1200">
                <a:solidFill>
                  <a:schemeClr val="dk1"/>
                </a:solidFill>
              </a:rPr>
              <a:t>dule 3.3 and 3.4 Introduction</a:t>
            </a:r>
            <a:endParaRPr sz="12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70" name="Shape 70"/>
        <p:cNvGrpSpPr/>
        <p:nvPr/>
      </p:nvGrpSpPr>
      <p:grpSpPr>
        <a:xfrm>
          <a:off x="0" y="0"/>
          <a:ext cx="0" cy="0"/>
          <a:chOff x="0" y="0"/>
          <a:chExt cx="0" cy="0"/>
        </a:xfrm>
      </p:grpSpPr>
      <p:sp>
        <p:nvSpPr>
          <p:cNvPr id="71" name="Google Shape;71;p15"/>
          <p:cNvSpPr txBox="1"/>
          <p:nvPr>
            <p:ph type="title"/>
          </p:nvPr>
        </p:nvSpPr>
        <p:spPr>
          <a:xfrm>
            <a:off x="4395200" y="814650"/>
            <a:ext cx="417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500">
                <a:solidFill>
                  <a:srgbClr val="541900"/>
                </a:solidFill>
              </a:rPr>
              <a:t>Reflect</a:t>
            </a:r>
            <a:endParaRPr b="1" sz="4500">
              <a:solidFill>
                <a:srgbClr val="541900"/>
              </a:solidFill>
            </a:endParaRPr>
          </a:p>
        </p:txBody>
      </p:sp>
      <p:sp>
        <p:nvSpPr>
          <p:cNvPr id="72" name="Google Shape;72;p15"/>
          <p:cNvSpPr txBox="1"/>
          <p:nvPr>
            <p:ph idx="4294967295" type="body"/>
          </p:nvPr>
        </p:nvSpPr>
        <p:spPr>
          <a:xfrm>
            <a:off x="4427300" y="1603098"/>
            <a:ext cx="4113000" cy="2442000"/>
          </a:xfrm>
          <a:prstGeom prst="rect">
            <a:avLst/>
          </a:prstGeom>
        </p:spPr>
        <p:txBody>
          <a:bodyPr anchorCtr="0" anchor="t" bIns="91425" lIns="91425" spcFirstLastPara="1" rIns="91425" wrap="square" tIns="91425">
            <a:normAutofit lnSpcReduction="10000"/>
          </a:bodyPr>
          <a:lstStyle/>
          <a:p>
            <a:pPr indent="-355600" lvl="0" marL="457200" rtl="0" algn="l">
              <a:lnSpc>
                <a:spcPct val="115000"/>
              </a:lnSpc>
              <a:spcBef>
                <a:spcPts val="1000"/>
              </a:spcBef>
              <a:spcAft>
                <a:spcPts val="0"/>
              </a:spcAft>
              <a:buClr>
                <a:schemeClr val="dk1"/>
              </a:buClr>
              <a:buSzPts val="2000"/>
              <a:buChar char="●"/>
            </a:pPr>
            <a:r>
              <a:rPr lang="en" sz="2000">
                <a:solidFill>
                  <a:schemeClr val="dk1"/>
                </a:solidFill>
              </a:rPr>
              <a:t>How did an increase of carbon dioxide emissions impact processes like global warming?</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rPr>
              <a:t>How do these changes affect the values your </a:t>
            </a:r>
            <a:r>
              <a:rPr lang="en" sz="2000">
                <a:solidFill>
                  <a:schemeClr val="dk1"/>
                </a:solidFill>
              </a:rPr>
              <a:t>group</a:t>
            </a:r>
            <a:r>
              <a:rPr lang="en" sz="2000">
                <a:solidFill>
                  <a:schemeClr val="dk1"/>
                </a:solidFill>
              </a:rPr>
              <a:t> place on the ocean in your model?</a:t>
            </a:r>
            <a:endParaRPr sz="2000">
              <a:solidFill>
                <a:schemeClr val="dk1"/>
              </a:solidFill>
            </a:endParaRPr>
          </a:p>
        </p:txBody>
      </p:sp>
      <p:sp>
        <p:nvSpPr>
          <p:cNvPr id="73" name="Google Shape;73;p15"/>
          <p:cNvSpPr txBox="1"/>
          <p:nvPr>
            <p:ph idx="1" type="body"/>
          </p:nvPr>
        </p:nvSpPr>
        <p:spPr>
          <a:xfrm>
            <a:off x="4488900" y="4519950"/>
            <a:ext cx="4343400" cy="324300"/>
          </a:xfrm>
          <a:prstGeom prst="rect">
            <a:avLst/>
          </a:prstGeom>
        </p:spPr>
        <p:txBody>
          <a:bodyPr anchorCtr="0" anchor="t" bIns="91425" lIns="91425" spcFirstLastPara="1" rIns="91425" wrap="square" tIns="91425">
            <a:noAutofit/>
          </a:bodyPr>
          <a:lstStyle/>
          <a:p>
            <a:pPr indent="0" lvl="0" marL="0" rtl="0" algn="r">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a:t>
            </a:r>
            <a:r>
              <a:rPr lang="en" sz="1200">
                <a:solidFill>
                  <a:schemeClr val="dk1"/>
                </a:solidFill>
              </a:rPr>
              <a:t>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2</a:t>
            </a:r>
            <a:endParaRPr sz="1200">
              <a:solidFill>
                <a:schemeClr val="dk1"/>
              </a:solidFill>
              <a:latin typeface="Arial"/>
              <a:ea typeface="Arial"/>
              <a:cs typeface="Arial"/>
              <a:sym typeface="Arial"/>
            </a:endParaRPr>
          </a:p>
        </p:txBody>
      </p:sp>
      <p:sp>
        <p:nvSpPr>
          <p:cNvPr id="74" name="Google Shape;74;p15"/>
          <p:cNvSpPr txBox="1"/>
          <p:nvPr>
            <p:ph idx="1" type="body"/>
          </p:nvPr>
        </p:nvSpPr>
        <p:spPr>
          <a:xfrm>
            <a:off x="171200" y="3992013"/>
            <a:ext cx="4224000" cy="324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i="1" lang="en" sz="900">
                <a:solidFill>
                  <a:schemeClr val="dk1"/>
                </a:solidFill>
              </a:rPr>
              <a:t>Coral </a:t>
            </a:r>
            <a:r>
              <a:rPr i="1" lang="en" sz="900">
                <a:solidFill>
                  <a:schemeClr val="dk1"/>
                </a:solidFill>
              </a:rPr>
              <a:t>Canyon Park in Malibu, CA.</a:t>
            </a:r>
            <a:endParaRPr i="1" sz="900">
              <a:solidFill>
                <a:schemeClr val="dk1"/>
              </a:solidFill>
              <a:latin typeface="Arial"/>
              <a:ea typeface="Arial"/>
              <a:cs typeface="Arial"/>
              <a:sym typeface="Arial"/>
            </a:endParaRPr>
          </a:p>
        </p:txBody>
      </p:sp>
      <p:pic>
        <p:nvPicPr>
          <p:cNvPr id="75" name="Google Shape;75;p15"/>
          <p:cNvPicPr preferRelativeResize="0"/>
          <p:nvPr/>
        </p:nvPicPr>
        <p:blipFill>
          <a:blip r:embed="rId3">
            <a:alphaModFix/>
          </a:blip>
          <a:stretch>
            <a:fillRect/>
          </a:stretch>
        </p:blipFill>
        <p:spPr>
          <a:xfrm>
            <a:off x="171200" y="1331888"/>
            <a:ext cx="4139296" cy="26601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4260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541900"/>
                </a:solidFill>
              </a:rPr>
              <a:t>Reflect on Your Model</a:t>
            </a:r>
            <a:endParaRPr b="1" sz="3000">
              <a:solidFill>
                <a:srgbClr val="541900"/>
              </a:solidFill>
            </a:endParaRPr>
          </a:p>
          <a:p>
            <a:pPr indent="0" lvl="0" marL="0" rtl="0" algn="l">
              <a:lnSpc>
                <a:spcPct val="115000"/>
              </a:lnSpc>
              <a:spcBef>
                <a:spcPts val="0"/>
              </a:spcBef>
              <a:spcAft>
                <a:spcPts val="0"/>
              </a:spcAft>
              <a:buClr>
                <a:schemeClr val="dk1"/>
              </a:buClr>
              <a:buSzPts val="1100"/>
              <a:buFont typeface="Arial"/>
              <a:buNone/>
            </a:pPr>
            <a:r>
              <a:rPr i="1" lang="en" sz="1500">
                <a:solidFill>
                  <a:srgbClr val="355E3B"/>
                </a:solidFill>
              </a:rPr>
              <a:t>As a class, take a moment to look back and reflect on your model from Module 3.2.</a:t>
            </a:r>
            <a:endParaRPr i="1" sz="1500">
              <a:solidFill>
                <a:srgbClr val="355E3B"/>
              </a:solidFill>
            </a:endParaRPr>
          </a:p>
          <a:p>
            <a:pPr indent="0" lvl="0" marL="0" rtl="0" algn="l">
              <a:spcBef>
                <a:spcPts val="1200"/>
              </a:spcBef>
              <a:spcAft>
                <a:spcPts val="0"/>
              </a:spcAft>
              <a:buNone/>
            </a:pPr>
            <a:r>
              <a:t/>
            </a:r>
            <a:endParaRPr b="1" sz="3000">
              <a:solidFill>
                <a:srgbClr val="541900"/>
              </a:solidFill>
            </a:endParaRPr>
          </a:p>
        </p:txBody>
      </p:sp>
      <p:sp>
        <p:nvSpPr>
          <p:cNvPr id="81" name="Google Shape;81;p16"/>
          <p:cNvSpPr txBox="1"/>
          <p:nvPr>
            <p:ph idx="4294967295" type="body"/>
          </p:nvPr>
        </p:nvSpPr>
        <p:spPr>
          <a:xfrm>
            <a:off x="377400" y="1588450"/>
            <a:ext cx="4212000" cy="2694600"/>
          </a:xfrm>
          <a:prstGeom prst="rect">
            <a:avLst/>
          </a:prstGeom>
        </p:spPr>
        <p:txBody>
          <a:bodyPr anchorCtr="0" anchor="t" bIns="91425" lIns="91425" spcFirstLastPara="1" rIns="91425" wrap="square" tIns="91425">
            <a:normAutofit/>
          </a:bodyPr>
          <a:lstStyle/>
          <a:p>
            <a:pPr indent="-355600" lvl="0" marL="457200" rtl="0" algn="l">
              <a:lnSpc>
                <a:spcPct val="115000"/>
              </a:lnSpc>
              <a:spcBef>
                <a:spcPts val="1000"/>
              </a:spcBef>
              <a:spcAft>
                <a:spcPts val="0"/>
              </a:spcAft>
              <a:buClr>
                <a:schemeClr val="dk1"/>
              </a:buClr>
              <a:buSzPts val="2000"/>
              <a:buChar char="●"/>
            </a:pPr>
            <a:r>
              <a:rPr lang="en" sz="2000">
                <a:solidFill>
                  <a:schemeClr val="dk1"/>
                </a:solidFill>
              </a:rPr>
              <a:t>How did an increase of CO2 emissions impact processes like global warming?</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rPr>
              <a:t>How do these changes affect the values your group placed on the ocean in your model?</a:t>
            </a:r>
            <a:endParaRPr sz="2000">
              <a:solidFill>
                <a:schemeClr val="dk1"/>
              </a:solidFill>
            </a:endParaRPr>
          </a:p>
        </p:txBody>
      </p:sp>
      <p:sp>
        <p:nvSpPr>
          <p:cNvPr id="82" name="Google Shape;82;p16"/>
          <p:cNvSpPr txBox="1"/>
          <p:nvPr>
            <p:ph idx="1" type="body"/>
          </p:nvPr>
        </p:nvSpPr>
        <p:spPr>
          <a:xfrm>
            <a:off x="311700" y="4571275"/>
            <a:ext cx="4343400" cy="324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3</a:t>
            </a:r>
            <a:endParaRPr sz="1200">
              <a:solidFill>
                <a:schemeClr val="dk1"/>
              </a:solidFill>
              <a:latin typeface="Arial"/>
              <a:ea typeface="Arial"/>
              <a:cs typeface="Arial"/>
              <a:sym typeface="Arial"/>
            </a:endParaRPr>
          </a:p>
        </p:txBody>
      </p:sp>
      <p:pic>
        <p:nvPicPr>
          <p:cNvPr id="83" name="Google Shape;83;p16"/>
          <p:cNvPicPr preferRelativeResize="0"/>
          <p:nvPr/>
        </p:nvPicPr>
        <p:blipFill rotWithShape="1">
          <a:blip r:embed="rId3">
            <a:alphaModFix/>
          </a:blip>
          <a:srcRect b="1053" l="0" r="0" t="37367"/>
          <a:stretch/>
        </p:blipFill>
        <p:spPr>
          <a:xfrm rot="-5400000">
            <a:off x="4675450" y="536138"/>
            <a:ext cx="4408675" cy="4071225"/>
          </a:xfrm>
          <a:prstGeom prst="rect">
            <a:avLst/>
          </a:prstGeom>
          <a:noFill/>
          <a:ln>
            <a:noFill/>
          </a:ln>
        </p:spPr>
      </p:pic>
      <p:sp>
        <p:nvSpPr>
          <p:cNvPr id="84" name="Google Shape;84;p16"/>
          <p:cNvSpPr txBox="1"/>
          <p:nvPr/>
        </p:nvSpPr>
        <p:spPr>
          <a:xfrm>
            <a:off x="5319400" y="4282963"/>
            <a:ext cx="952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595959"/>
                </a:solidFill>
              </a:rPr>
              <a:t>Earth</a:t>
            </a:r>
            <a:endParaRPr sz="1800">
              <a:solidFill>
                <a:srgbClr val="595959"/>
              </a:solidFill>
            </a:endParaRPr>
          </a:p>
        </p:txBody>
      </p:sp>
      <p:sp>
        <p:nvSpPr>
          <p:cNvPr id="85" name="Google Shape;85;p16"/>
          <p:cNvSpPr txBox="1"/>
          <p:nvPr/>
        </p:nvSpPr>
        <p:spPr>
          <a:xfrm>
            <a:off x="7230650" y="4282963"/>
            <a:ext cx="952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595959"/>
                </a:solidFill>
              </a:rPr>
              <a:t>Earth</a:t>
            </a:r>
            <a:endParaRPr sz="1800">
              <a:solidFill>
                <a:srgbClr val="59595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89" name="Shape 89"/>
        <p:cNvGrpSpPr/>
        <p:nvPr/>
      </p:nvGrpSpPr>
      <p:grpSpPr>
        <a:xfrm>
          <a:off x="0" y="0"/>
          <a:ext cx="0" cy="0"/>
          <a:chOff x="0" y="0"/>
          <a:chExt cx="0" cy="0"/>
        </a:xfrm>
      </p:grpSpPr>
      <p:sp>
        <p:nvSpPr>
          <p:cNvPr id="90" name="Google Shape;90;p17"/>
          <p:cNvSpPr txBox="1"/>
          <p:nvPr>
            <p:ph idx="1" type="body"/>
          </p:nvPr>
        </p:nvSpPr>
        <p:spPr>
          <a:xfrm>
            <a:off x="311700" y="4496700"/>
            <a:ext cx="4343400" cy="324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5</a:t>
            </a:r>
            <a:endParaRPr sz="1200">
              <a:solidFill>
                <a:schemeClr val="dk1"/>
              </a:solidFill>
              <a:latin typeface="Arial"/>
              <a:ea typeface="Arial"/>
              <a:cs typeface="Arial"/>
              <a:sym typeface="Arial"/>
            </a:endParaRPr>
          </a:p>
        </p:txBody>
      </p:sp>
      <p:sp>
        <p:nvSpPr>
          <p:cNvPr id="91" name="Google Shape;91;p17"/>
          <p:cNvSpPr txBox="1"/>
          <p:nvPr>
            <p:ph type="title"/>
          </p:nvPr>
        </p:nvSpPr>
        <p:spPr>
          <a:xfrm>
            <a:off x="311700" y="959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500">
                <a:solidFill>
                  <a:srgbClr val="541900"/>
                </a:solidFill>
              </a:rPr>
              <a:t>Choose Your Path</a:t>
            </a:r>
            <a:endParaRPr b="1" sz="4500">
              <a:solidFill>
                <a:srgbClr val="541900"/>
              </a:solidFill>
            </a:endParaRPr>
          </a:p>
        </p:txBody>
      </p:sp>
      <p:cxnSp>
        <p:nvCxnSpPr>
          <p:cNvPr id="92" name="Google Shape;92;p17"/>
          <p:cNvCxnSpPr/>
          <p:nvPr/>
        </p:nvCxnSpPr>
        <p:spPr>
          <a:xfrm flipH="1">
            <a:off x="4579200" y="1006125"/>
            <a:ext cx="9900" cy="3490500"/>
          </a:xfrm>
          <a:prstGeom prst="straightConnector1">
            <a:avLst/>
          </a:prstGeom>
          <a:noFill/>
          <a:ln cap="flat" cmpd="sng" w="19050">
            <a:solidFill>
              <a:schemeClr val="dk2"/>
            </a:solidFill>
            <a:prstDash val="solid"/>
            <a:round/>
            <a:headEnd len="med" w="med" type="none"/>
            <a:tailEnd len="med" w="med" type="none"/>
          </a:ln>
        </p:spPr>
      </p:cxnSp>
      <p:pic>
        <p:nvPicPr>
          <p:cNvPr id="93" name="Google Shape;93;p17" title="Screenshot 2025-12-22 at 12.23.47 PM.png"/>
          <p:cNvPicPr preferRelativeResize="0"/>
          <p:nvPr/>
        </p:nvPicPr>
        <p:blipFill>
          <a:blip r:embed="rId3">
            <a:alphaModFix/>
          </a:blip>
          <a:stretch>
            <a:fillRect/>
          </a:stretch>
        </p:blipFill>
        <p:spPr>
          <a:xfrm>
            <a:off x="470800" y="974037"/>
            <a:ext cx="3738602" cy="2053075"/>
          </a:xfrm>
          <a:prstGeom prst="rect">
            <a:avLst/>
          </a:prstGeom>
          <a:noFill/>
          <a:ln>
            <a:noFill/>
          </a:ln>
        </p:spPr>
      </p:pic>
      <p:sp>
        <p:nvSpPr>
          <p:cNvPr id="94" name="Google Shape;94;p17"/>
          <p:cNvSpPr txBox="1"/>
          <p:nvPr>
            <p:ph idx="4294967295" type="body"/>
          </p:nvPr>
        </p:nvSpPr>
        <p:spPr>
          <a:xfrm>
            <a:off x="155100" y="3270900"/>
            <a:ext cx="4212000" cy="1225800"/>
          </a:xfrm>
          <a:prstGeom prst="rect">
            <a:avLst/>
          </a:prstGeom>
        </p:spPr>
        <p:txBody>
          <a:bodyPr anchorCtr="0" anchor="t" bIns="91425" lIns="91425" spcFirstLastPara="1" rIns="91425" wrap="square" tIns="91425">
            <a:normAutofit fontScale="77500" lnSpcReduction="20000"/>
          </a:bodyPr>
          <a:lstStyle/>
          <a:p>
            <a:pPr indent="0" lvl="0" marL="0" rtl="0" algn="ctr">
              <a:lnSpc>
                <a:spcPct val="115000"/>
              </a:lnSpc>
              <a:spcBef>
                <a:spcPts val="1000"/>
              </a:spcBef>
              <a:spcAft>
                <a:spcPts val="0"/>
              </a:spcAft>
              <a:buNone/>
            </a:pPr>
            <a:r>
              <a:rPr b="1" lang="en" sz="2000" u="sng">
                <a:solidFill>
                  <a:schemeClr val="hlink"/>
                </a:solidFill>
                <a:hlinkClick r:id="rId4"/>
              </a:rPr>
              <a:t>Option 1</a:t>
            </a:r>
            <a:r>
              <a:rPr b="1" lang="en" sz="2000">
                <a:solidFill>
                  <a:schemeClr val="dk1"/>
                </a:solidFill>
              </a:rPr>
              <a:t>: </a:t>
            </a:r>
            <a:r>
              <a:rPr lang="en" sz="2000">
                <a:solidFill>
                  <a:schemeClr val="dk1"/>
                </a:solidFill>
              </a:rPr>
              <a:t>Sea Level Rise and Coastal Erosion</a:t>
            </a:r>
            <a:endParaRPr sz="2000">
              <a:solidFill>
                <a:schemeClr val="dk1"/>
              </a:solidFill>
            </a:endParaRPr>
          </a:p>
          <a:p>
            <a:pPr indent="0" lvl="0" marL="0" rtl="0" algn="ctr">
              <a:lnSpc>
                <a:spcPct val="115000"/>
              </a:lnSpc>
              <a:spcBef>
                <a:spcPts val="1000"/>
              </a:spcBef>
              <a:spcAft>
                <a:spcPts val="0"/>
              </a:spcAft>
              <a:buNone/>
            </a:pPr>
            <a:r>
              <a:rPr lang="en" sz="2000" u="sng">
                <a:solidFill>
                  <a:schemeClr val="dk1"/>
                </a:solidFill>
              </a:rPr>
              <a:t>Good for </a:t>
            </a:r>
            <a:r>
              <a:rPr lang="en" sz="2000" u="sng">
                <a:solidFill>
                  <a:schemeClr val="dk1"/>
                </a:solidFill>
              </a:rPr>
              <a:t>Values:</a:t>
            </a:r>
            <a:r>
              <a:rPr lang="en" sz="2000">
                <a:solidFill>
                  <a:schemeClr val="dk1"/>
                </a:solidFill>
              </a:rPr>
              <a:t> Mental health, well-being, recreation, financial, and biodiversity.</a:t>
            </a:r>
            <a:endParaRPr sz="2000">
              <a:solidFill>
                <a:schemeClr val="dk1"/>
              </a:solidFill>
            </a:endParaRPr>
          </a:p>
        </p:txBody>
      </p:sp>
      <p:sp>
        <p:nvSpPr>
          <p:cNvPr id="95" name="Google Shape;95;p17"/>
          <p:cNvSpPr txBox="1"/>
          <p:nvPr>
            <p:ph idx="1" type="body"/>
          </p:nvPr>
        </p:nvSpPr>
        <p:spPr>
          <a:xfrm>
            <a:off x="470800" y="2946600"/>
            <a:ext cx="3738600" cy="324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sz="800">
                <a:solidFill>
                  <a:schemeClr val="dk1"/>
                </a:solidFill>
              </a:rPr>
              <a:t>Aerial View of San Juan Capistrano,CA coasts; Photo Credit: UC Irvine News</a:t>
            </a:r>
            <a:endParaRPr sz="800">
              <a:solidFill>
                <a:schemeClr val="dk1"/>
              </a:solidFill>
              <a:latin typeface="Arial"/>
              <a:ea typeface="Arial"/>
              <a:cs typeface="Arial"/>
              <a:sym typeface="Arial"/>
            </a:endParaRPr>
          </a:p>
        </p:txBody>
      </p:sp>
      <p:sp>
        <p:nvSpPr>
          <p:cNvPr id="96" name="Google Shape;96;p17"/>
          <p:cNvSpPr txBox="1"/>
          <p:nvPr>
            <p:ph idx="1" type="body"/>
          </p:nvPr>
        </p:nvSpPr>
        <p:spPr>
          <a:xfrm>
            <a:off x="5494950" y="2946600"/>
            <a:ext cx="2597700" cy="3243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None/>
            </a:pPr>
            <a:r>
              <a:rPr lang="en" sz="800">
                <a:solidFill>
                  <a:schemeClr val="dk1"/>
                </a:solidFill>
              </a:rPr>
              <a:t>California Coast, Photo Credit: Ken Caldeira</a:t>
            </a:r>
            <a:endParaRPr sz="800">
              <a:solidFill>
                <a:schemeClr val="dk1"/>
              </a:solidFill>
              <a:latin typeface="Arial"/>
              <a:ea typeface="Arial"/>
              <a:cs typeface="Arial"/>
              <a:sym typeface="Arial"/>
            </a:endParaRPr>
          </a:p>
        </p:txBody>
      </p:sp>
      <p:pic>
        <p:nvPicPr>
          <p:cNvPr id="97" name="Google Shape;97;p17"/>
          <p:cNvPicPr preferRelativeResize="0"/>
          <p:nvPr/>
        </p:nvPicPr>
        <p:blipFill>
          <a:blip r:embed="rId5">
            <a:alphaModFix/>
          </a:blip>
          <a:stretch>
            <a:fillRect/>
          </a:stretch>
        </p:blipFill>
        <p:spPr>
          <a:xfrm>
            <a:off x="5494888" y="974025"/>
            <a:ext cx="2597824" cy="2053076"/>
          </a:xfrm>
          <a:prstGeom prst="rect">
            <a:avLst/>
          </a:prstGeom>
          <a:noFill/>
          <a:ln>
            <a:noFill/>
          </a:ln>
        </p:spPr>
      </p:pic>
      <p:sp>
        <p:nvSpPr>
          <p:cNvPr id="98" name="Google Shape;98;p17"/>
          <p:cNvSpPr txBox="1"/>
          <p:nvPr>
            <p:ph idx="4294967295" type="body"/>
          </p:nvPr>
        </p:nvSpPr>
        <p:spPr>
          <a:xfrm>
            <a:off x="4687800" y="3270900"/>
            <a:ext cx="4212000" cy="1225800"/>
          </a:xfrm>
          <a:prstGeom prst="rect">
            <a:avLst/>
          </a:prstGeom>
        </p:spPr>
        <p:txBody>
          <a:bodyPr anchorCtr="0" anchor="t" bIns="91425" lIns="91425" spcFirstLastPara="1" rIns="91425" wrap="square" tIns="91425">
            <a:normAutofit fontScale="77500"/>
          </a:bodyPr>
          <a:lstStyle/>
          <a:p>
            <a:pPr indent="0" lvl="0" marL="0" rtl="0" algn="ctr">
              <a:lnSpc>
                <a:spcPct val="115000"/>
              </a:lnSpc>
              <a:spcBef>
                <a:spcPts val="1000"/>
              </a:spcBef>
              <a:spcAft>
                <a:spcPts val="0"/>
              </a:spcAft>
              <a:buNone/>
            </a:pPr>
            <a:r>
              <a:rPr b="1" lang="en" sz="2000" u="sng">
                <a:solidFill>
                  <a:schemeClr val="hlink"/>
                </a:solidFill>
                <a:hlinkClick r:id="rId6"/>
              </a:rPr>
              <a:t>Option 2</a:t>
            </a:r>
            <a:r>
              <a:rPr b="1" lang="en" sz="2000">
                <a:solidFill>
                  <a:schemeClr val="dk1"/>
                </a:solidFill>
              </a:rPr>
              <a:t>: </a:t>
            </a:r>
            <a:r>
              <a:rPr lang="en" sz="2000">
                <a:solidFill>
                  <a:schemeClr val="dk1"/>
                </a:solidFill>
              </a:rPr>
              <a:t>Ocean Acidification and Food Web</a:t>
            </a:r>
            <a:endParaRPr sz="2000">
              <a:solidFill>
                <a:schemeClr val="dk1"/>
              </a:solidFill>
            </a:endParaRPr>
          </a:p>
          <a:p>
            <a:pPr indent="0" lvl="0" marL="0" rtl="0" algn="ctr">
              <a:lnSpc>
                <a:spcPct val="115000"/>
              </a:lnSpc>
              <a:spcBef>
                <a:spcPts val="1000"/>
              </a:spcBef>
              <a:spcAft>
                <a:spcPts val="0"/>
              </a:spcAft>
              <a:buNone/>
            </a:pPr>
            <a:r>
              <a:rPr lang="en" sz="2000" u="sng">
                <a:solidFill>
                  <a:schemeClr val="dk1"/>
                </a:solidFill>
              </a:rPr>
              <a:t>Good for </a:t>
            </a:r>
            <a:r>
              <a:rPr lang="en" sz="2000" u="sng">
                <a:solidFill>
                  <a:schemeClr val="dk1"/>
                </a:solidFill>
              </a:rPr>
              <a:t>Values:</a:t>
            </a:r>
            <a:r>
              <a:rPr lang="en" sz="2000">
                <a:solidFill>
                  <a:schemeClr val="dk1"/>
                </a:solidFill>
              </a:rPr>
              <a:t> Seafood, tradition, biodiversity, and cultural significance.</a:t>
            </a:r>
            <a:endParaRPr sz="2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102" name="Shape 102"/>
        <p:cNvGrpSpPr/>
        <p:nvPr/>
      </p:nvGrpSpPr>
      <p:grpSpPr>
        <a:xfrm>
          <a:off x="0" y="0"/>
          <a:ext cx="0" cy="0"/>
          <a:chOff x="0" y="0"/>
          <a:chExt cx="0" cy="0"/>
        </a:xfrm>
      </p:grpSpPr>
      <p:sp>
        <p:nvSpPr>
          <p:cNvPr id="103" name="Google Shape;103;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500">
                <a:solidFill>
                  <a:srgbClr val="541900"/>
                </a:solidFill>
              </a:rPr>
              <a:t>Share Your Experience</a:t>
            </a:r>
            <a:endParaRPr b="1" sz="4500">
              <a:solidFill>
                <a:srgbClr val="541900"/>
              </a:solidFill>
            </a:endParaRPr>
          </a:p>
        </p:txBody>
      </p:sp>
      <p:sp>
        <p:nvSpPr>
          <p:cNvPr id="104" name="Google Shape;104;p18"/>
          <p:cNvSpPr txBox="1"/>
          <p:nvPr>
            <p:ph idx="4294967295" type="body"/>
          </p:nvPr>
        </p:nvSpPr>
        <p:spPr>
          <a:xfrm>
            <a:off x="443100" y="1203150"/>
            <a:ext cx="8211600" cy="3197100"/>
          </a:xfrm>
          <a:prstGeom prst="rect">
            <a:avLst/>
          </a:prstGeom>
        </p:spPr>
        <p:txBody>
          <a:bodyPr anchorCtr="0" anchor="t" bIns="91425" lIns="91425" spcFirstLastPara="1" rIns="91425" wrap="square" tIns="91425">
            <a:normAutofit lnSpcReduction="10000"/>
          </a:bodyPr>
          <a:lstStyle/>
          <a:p>
            <a:pPr indent="-355600" lvl="0" marL="457200" rtl="0" algn="l">
              <a:lnSpc>
                <a:spcPct val="115000"/>
              </a:lnSpc>
              <a:spcBef>
                <a:spcPts val="1000"/>
              </a:spcBef>
              <a:spcAft>
                <a:spcPts val="0"/>
              </a:spcAft>
              <a:buClr>
                <a:schemeClr val="dk1"/>
              </a:buClr>
              <a:buSzPts val="2000"/>
              <a:buAutoNum type="arabicPeriod"/>
            </a:pPr>
            <a:r>
              <a:rPr lang="en" sz="2000">
                <a:solidFill>
                  <a:schemeClr val="dk1"/>
                </a:solidFill>
              </a:rPr>
              <a:t>What did your group do today?</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lang="en" sz="2000">
                <a:solidFill>
                  <a:schemeClr val="dk1"/>
                </a:solidFill>
              </a:rPr>
              <a:t>What were some of the most surprising findings you gained from today?</a:t>
            </a:r>
            <a:endParaRPr sz="2000">
              <a:solidFill>
                <a:schemeClr val="dk1"/>
              </a:solidFill>
            </a:endParaRPr>
          </a:p>
          <a:p>
            <a:pPr indent="-355600" lvl="0" marL="457200" rtl="0" algn="l">
              <a:lnSpc>
                <a:spcPct val="100000"/>
              </a:lnSpc>
              <a:spcBef>
                <a:spcPts val="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What specific data do you think is still missing to further your understanding? </a:t>
            </a:r>
            <a:endParaRPr sz="2000">
              <a:solidFill>
                <a:schemeClr val="dk1"/>
              </a:solidFill>
              <a:latin typeface="Calibri"/>
              <a:ea typeface="Calibri"/>
              <a:cs typeface="Calibri"/>
              <a:sym typeface="Calibri"/>
            </a:endParaRPr>
          </a:p>
          <a:p>
            <a:pPr indent="-355600" lvl="1" marL="914400" rtl="0" algn="l">
              <a:lnSpc>
                <a:spcPct val="100000"/>
              </a:lnSpc>
              <a:spcBef>
                <a:spcPts val="0"/>
              </a:spcBef>
              <a:spcAft>
                <a:spcPts val="0"/>
              </a:spcAft>
              <a:buClr>
                <a:schemeClr val="dk1"/>
              </a:buClr>
              <a:buSzPts val="2000"/>
              <a:buFont typeface="Calibri"/>
              <a:buAutoNum type="alphaLcPeriod"/>
            </a:pPr>
            <a:r>
              <a:rPr lang="en" sz="2000" u="sng">
                <a:solidFill>
                  <a:schemeClr val="dk1"/>
                </a:solidFill>
                <a:latin typeface="Calibri"/>
                <a:ea typeface="Calibri"/>
                <a:cs typeface="Calibri"/>
                <a:sym typeface="Calibri"/>
              </a:rPr>
              <a:t>Option 1:</a:t>
            </a:r>
            <a:r>
              <a:rPr lang="en" sz="2000">
                <a:solidFill>
                  <a:schemeClr val="dk1"/>
                </a:solidFill>
                <a:latin typeface="Calibri"/>
                <a:ea typeface="Calibri"/>
                <a:cs typeface="Calibri"/>
                <a:sym typeface="Calibri"/>
              </a:rPr>
              <a:t> What might help strengthen your understanding of carbon dioxide’s impact on sea level rise?</a:t>
            </a:r>
            <a:endParaRPr sz="2000">
              <a:solidFill>
                <a:schemeClr val="dk1"/>
              </a:solidFill>
              <a:latin typeface="Calibri"/>
              <a:ea typeface="Calibri"/>
              <a:cs typeface="Calibri"/>
              <a:sym typeface="Calibri"/>
            </a:endParaRPr>
          </a:p>
          <a:p>
            <a:pPr indent="-355600" lvl="1" marL="914400" rtl="0" algn="l">
              <a:lnSpc>
                <a:spcPct val="100000"/>
              </a:lnSpc>
              <a:spcBef>
                <a:spcPts val="0"/>
              </a:spcBef>
              <a:spcAft>
                <a:spcPts val="0"/>
              </a:spcAft>
              <a:buClr>
                <a:schemeClr val="dk1"/>
              </a:buClr>
              <a:buSzPts val="2000"/>
              <a:buFont typeface="Calibri"/>
              <a:buAutoNum type="alphaLcPeriod"/>
            </a:pPr>
            <a:r>
              <a:rPr lang="en" sz="2000" u="sng">
                <a:solidFill>
                  <a:schemeClr val="dk1"/>
                </a:solidFill>
                <a:latin typeface="Calibri"/>
                <a:ea typeface="Calibri"/>
                <a:cs typeface="Calibri"/>
                <a:sym typeface="Calibri"/>
              </a:rPr>
              <a:t>Option 2:</a:t>
            </a:r>
            <a:r>
              <a:rPr lang="en" sz="2000">
                <a:solidFill>
                  <a:schemeClr val="dk1"/>
                </a:solidFill>
                <a:latin typeface="Calibri"/>
                <a:ea typeface="Calibri"/>
                <a:cs typeface="Calibri"/>
                <a:sym typeface="Calibri"/>
              </a:rPr>
              <a:t> What might help strengthen your understanding of carbon dioxide’s impact on ocean acidification?</a:t>
            </a:r>
            <a:endParaRPr sz="2000">
              <a:solidFill>
                <a:schemeClr val="dk1"/>
              </a:solidFill>
              <a:latin typeface="Calibri"/>
              <a:ea typeface="Calibri"/>
              <a:cs typeface="Calibri"/>
              <a:sym typeface="Calibri"/>
            </a:endParaRPr>
          </a:p>
          <a:p>
            <a:pPr indent="-355600" lvl="0" marL="457200" rtl="0" algn="l">
              <a:lnSpc>
                <a:spcPct val="100000"/>
              </a:lnSpc>
              <a:spcBef>
                <a:spcPts val="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Where might you collect this data</a:t>
            </a:r>
            <a:endParaRPr sz="2000">
              <a:solidFill>
                <a:schemeClr val="dk1"/>
              </a:solidFill>
            </a:endParaRPr>
          </a:p>
        </p:txBody>
      </p:sp>
      <p:sp>
        <p:nvSpPr>
          <p:cNvPr id="105" name="Google Shape;105;p18"/>
          <p:cNvSpPr txBox="1"/>
          <p:nvPr>
            <p:ph idx="1" type="body"/>
          </p:nvPr>
        </p:nvSpPr>
        <p:spPr>
          <a:xfrm>
            <a:off x="311700" y="4571275"/>
            <a:ext cx="4343400" cy="324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5</a:t>
            </a:r>
            <a:endParaRPr sz="12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500">
                <a:solidFill>
                  <a:srgbClr val="541900"/>
                </a:solidFill>
              </a:rPr>
              <a:t>Share Your Experience</a:t>
            </a:r>
            <a:endParaRPr b="1" sz="4500">
              <a:solidFill>
                <a:srgbClr val="541900"/>
              </a:solidFill>
            </a:endParaRPr>
          </a:p>
        </p:txBody>
      </p:sp>
      <p:sp>
        <p:nvSpPr>
          <p:cNvPr id="111" name="Google Shape;111;p19"/>
          <p:cNvSpPr txBox="1"/>
          <p:nvPr>
            <p:ph idx="4294967295" type="body"/>
          </p:nvPr>
        </p:nvSpPr>
        <p:spPr>
          <a:xfrm>
            <a:off x="466200" y="1395525"/>
            <a:ext cx="8211600" cy="2476800"/>
          </a:xfrm>
          <a:prstGeom prst="rect">
            <a:avLst/>
          </a:prstGeom>
        </p:spPr>
        <p:txBody>
          <a:bodyPr anchorCtr="0" anchor="t" bIns="91425" lIns="91425" spcFirstLastPara="1" rIns="91425" wrap="square" tIns="91425">
            <a:normAutofit/>
          </a:bodyPr>
          <a:lstStyle/>
          <a:p>
            <a:pPr indent="-355600" lvl="0" marL="457200" rtl="0" algn="l">
              <a:lnSpc>
                <a:spcPct val="100000"/>
              </a:lnSpc>
              <a:spcBef>
                <a:spcPts val="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What value does your SageModeler model center on?</a:t>
            </a:r>
            <a:endParaRPr sz="2000">
              <a:solidFill>
                <a:schemeClr val="dk1"/>
              </a:solidFill>
              <a:latin typeface="Calibri"/>
              <a:ea typeface="Calibri"/>
              <a:cs typeface="Calibri"/>
              <a:sym typeface="Calibri"/>
            </a:endParaRPr>
          </a:p>
          <a:p>
            <a:pPr indent="-355600" lvl="0" marL="457200" rtl="0" algn="l">
              <a:lnSpc>
                <a:spcPct val="100000"/>
              </a:lnSpc>
              <a:spcBef>
                <a:spcPts val="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What investigation did you take part in? (sea level rise or ocean acidification)’</a:t>
            </a:r>
            <a:endParaRPr sz="2000">
              <a:solidFill>
                <a:schemeClr val="dk1"/>
              </a:solidFill>
              <a:latin typeface="Calibri"/>
              <a:ea typeface="Calibri"/>
              <a:cs typeface="Calibri"/>
              <a:sym typeface="Calibri"/>
            </a:endParaRPr>
          </a:p>
          <a:p>
            <a:pPr indent="-355600" lvl="0" marL="457200" rtl="0" algn="l">
              <a:lnSpc>
                <a:spcPct val="100000"/>
              </a:lnSpc>
              <a:spcBef>
                <a:spcPts val="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How do you want to update your SageModeler model as a result of your investigation? How does this impact connect with the value your model centers?</a:t>
            </a:r>
            <a:endParaRPr sz="2000">
              <a:solidFill>
                <a:schemeClr val="dk1"/>
              </a:solidFill>
            </a:endParaRPr>
          </a:p>
        </p:txBody>
      </p:sp>
      <p:sp>
        <p:nvSpPr>
          <p:cNvPr id="112" name="Google Shape;112;p19"/>
          <p:cNvSpPr txBox="1"/>
          <p:nvPr>
            <p:ph idx="1" type="body"/>
          </p:nvPr>
        </p:nvSpPr>
        <p:spPr>
          <a:xfrm>
            <a:off x="311700" y="4571275"/>
            <a:ext cx="4343400" cy="324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6</a:t>
            </a:r>
            <a:endParaRPr sz="12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BE8"/>
        </a:solidFill>
      </p:bgPr>
    </p:bg>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500">
                <a:solidFill>
                  <a:srgbClr val="541900"/>
                </a:solidFill>
              </a:rPr>
              <a:t>Thank you!</a:t>
            </a:r>
            <a:endParaRPr b="1" sz="4500">
              <a:solidFill>
                <a:srgbClr val="541900"/>
              </a:solidFill>
            </a:endParaRPr>
          </a:p>
        </p:txBody>
      </p:sp>
      <p:sp>
        <p:nvSpPr>
          <p:cNvPr id="118" name="Google Shape;118;p20"/>
          <p:cNvSpPr txBox="1"/>
          <p:nvPr/>
        </p:nvSpPr>
        <p:spPr>
          <a:xfrm>
            <a:off x="311700" y="1374600"/>
            <a:ext cx="852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If you have any questions, please feel free to reach out.</a:t>
            </a:r>
            <a:endParaRPr sz="1800">
              <a:solidFill>
                <a:schemeClr val="dk1"/>
              </a:solidFill>
            </a:endParaRPr>
          </a:p>
        </p:txBody>
      </p:sp>
      <p:sp>
        <p:nvSpPr>
          <p:cNvPr id="119" name="Google Shape;119;p20"/>
          <p:cNvSpPr txBox="1"/>
          <p:nvPr/>
        </p:nvSpPr>
        <p:spPr>
          <a:xfrm>
            <a:off x="318402" y="3563413"/>
            <a:ext cx="36402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dk1"/>
                </a:solidFill>
              </a:rPr>
              <a:t>Ha Nguyen, Ph.D.</a:t>
            </a:r>
            <a:endParaRPr b="1" sz="2200">
              <a:solidFill>
                <a:schemeClr val="dk1"/>
              </a:solidFill>
            </a:endParaRPr>
          </a:p>
          <a:p>
            <a:pPr indent="0" lvl="0" marL="0" rtl="0" algn="l">
              <a:spcBef>
                <a:spcPts val="0"/>
              </a:spcBef>
              <a:spcAft>
                <a:spcPts val="0"/>
              </a:spcAft>
              <a:buNone/>
            </a:pPr>
            <a:r>
              <a:rPr lang="en" sz="2200">
                <a:solidFill>
                  <a:schemeClr val="dk1"/>
                </a:solidFill>
              </a:rPr>
              <a:t>Assistant Professor</a:t>
            </a:r>
            <a:endParaRPr sz="2200">
              <a:solidFill>
                <a:schemeClr val="dk1"/>
              </a:solidFill>
            </a:endParaRPr>
          </a:p>
          <a:p>
            <a:pPr indent="0" lvl="0" marL="0" rtl="0" algn="l">
              <a:spcBef>
                <a:spcPts val="0"/>
              </a:spcBef>
              <a:spcAft>
                <a:spcPts val="0"/>
              </a:spcAft>
              <a:buNone/>
            </a:pPr>
            <a:r>
              <a:rPr lang="en" sz="2200">
                <a:solidFill>
                  <a:schemeClr val="dk1"/>
                </a:solidFill>
              </a:rPr>
              <a:t>ha.nguyen@unc.edu</a:t>
            </a:r>
            <a:endParaRPr sz="2200">
              <a:solidFill>
                <a:schemeClr val="dk1"/>
              </a:solidFill>
            </a:endParaRPr>
          </a:p>
        </p:txBody>
      </p:sp>
      <p:sp>
        <p:nvSpPr>
          <p:cNvPr id="120" name="Google Shape;120;p20"/>
          <p:cNvSpPr txBox="1"/>
          <p:nvPr/>
        </p:nvSpPr>
        <p:spPr>
          <a:xfrm>
            <a:off x="318400" y="1971462"/>
            <a:ext cx="34551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chemeClr val="dk1"/>
                </a:solidFill>
              </a:rPr>
              <a:t>Erick Valdez</a:t>
            </a:r>
            <a:endParaRPr b="1" sz="2200">
              <a:solidFill>
                <a:schemeClr val="dk1"/>
              </a:solidFill>
            </a:endParaRPr>
          </a:p>
          <a:p>
            <a:pPr indent="0" lvl="0" marL="0" rtl="0" algn="l">
              <a:spcBef>
                <a:spcPts val="0"/>
              </a:spcBef>
              <a:spcAft>
                <a:spcPts val="0"/>
              </a:spcAft>
              <a:buNone/>
            </a:pPr>
            <a:r>
              <a:rPr lang="en" sz="2200">
                <a:solidFill>
                  <a:schemeClr val="dk1"/>
                </a:solidFill>
              </a:rPr>
              <a:t>Inside the Outdoors</a:t>
            </a:r>
            <a:endParaRPr sz="2200">
              <a:solidFill>
                <a:schemeClr val="dk1"/>
              </a:solidFill>
            </a:endParaRPr>
          </a:p>
          <a:p>
            <a:pPr indent="0" lvl="0" marL="0" rtl="0" algn="l">
              <a:spcBef>
                <a:spcPts val="0"/>
              </a:spcBef>
              <a:spcAft>
                <a:spcPts val="0"/>
              </a:spcAft>
              <a:buNone/>
            </a:pPr>
            <a:r>
              <a:rPr lang="en" sz="2200">
                <a:solidFill>
                  <a:schemeClr val="dk1"/>
                </a:solidFill>
              </a:rPr>
              <a:t>evaldez@ocde.us</a:t>
            </a:r>
            <a:endParaRPr sz="2200">
              <a:solidFill>
                <a:schemeClr val="dk1"/>
              </a:solidFill>
            </a:endParaRPr>
          </a:p>
        </p:txBody>
      </p:sp>
      <p:pic>
        <p:nvPicPr>
          <p:cNvPr id="121" name="Google Shape;121;p20"/>
          <p:cNvPicPr preferRelativeResize="0"/>
          <p:nvPr/>
        </p:nvPicPr>
        <p:blipFill>
          <a:blip r:embed="rId3">
            <a:alphaModFix/>
          </a:blip>
          <a:stretch>
            <a:fillRect/>
          </a:stretch>
        </p:blipFill>
        <p:spPr>
          <a:xfrm>
            <a:off x="5958425" y="3608125"/>
            <a:ext cx="1289949" cy="1102075"/>
          </a:xfrm>
          <a:prstGeom prst="rect">
            <a:avLst/>
          </a:prstGeom>
          <a:noFill/>
          <a:ln>
            <a:noFill/>
          </a:ln>
        </p:spPr>
      </p:pic>
      <p:pic>
        <p:nvPicPr>
          <p:cNvPr id="122" name="Google Shape;122;p20" title="ITO-logo-col-clear.png"/>
          <p:cNvPicPr preferRelativeResize="0"/>
          <p:nvPr/>
        </p:nvPicPr>
        <p:blipFill>
          <a:blip r:embed="rId4">
            <a:alphaModFix/>
          </a:blip>
          <a:stretch>
            <a:fillRect/>
          </a:stretch>
        </p:blipFill>
        <p:spPr>
          <a:xfrm>
            <a:off x="4439452" y="1965350"/>
            <a:ext cx="1289950" cy="1329621"/>
          </a:xfrm>
          <a:prstGeom prst="rect">
            <a:avLst/>
          </a:prstGeom>
          <a:noFill/>
          <a:ln>
            <a:noFill/>
          </a:ln>
        </p:spPr>
      </p:pic>
      <p:pic>
        <p:nvPicPr>
          <p:cNvPr id="123" name="Google Shape;123;p20" title="University_of_California,_Irvine_seal.svg.png"/>
          <p:cNvPicPr preferRelativeResize="0"/>
          <p:nvPr/>
        </p:nvPicPr>
        <p:blipFill>
          <a:blip r:embed="rId5">
            <a:alphaModFix/>
          </a:blip>
          <a:stretch>
            <a:fillRect/>
          </a:stretch>
        </p:blipFill>
        <p:spPr>
          <a:xfrm>
            <a:off x="4495824" y="3546924"/>
            <a:ext cx="1233549" cy="1233576"/>
          </a:xfrm>
          <a:prstGeom prst="rect">
            <a:avLst/>
          </a:prstGeom>
          <a:noFill/>
          <a:ln>
            <a:noFill/>
          </a:ln>
        </p:spPr>
      </p:pic>
      <p:pic>
        <p:nvPicPr>
          <p:cNvPr id="124" name="Google Shape;124;p20" title="OCDE orange county department of education logo.png"/>
          <p:cNvPicPr preferRelativeResize="0"/>
          <p:nvPr/>
        </p:nvPicPr>
        <p:blipFill>
          <a:blip r:embed="rId6">
            <a:alphaModFix/>
          </a:blip>
          <a:stretch>
            <a:fillRect/>
          </a:stretch>
        </p:blipFill>
        <p:spPr>
          <a:xfrm>
            <a:off x="5958425" y="1983225"/>
            <a:ext cx="1289950" cy="1289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