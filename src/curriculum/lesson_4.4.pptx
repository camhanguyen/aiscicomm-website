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3"/>
  </p:normalViewPr>
  <p:slideViewPr>
    <p:cSldViewPr snapToGrid="0">
      <p:cViewPr varScale="1">
        <p:scale>
          <a:sx n="153" d="100"/>
          <a:sy n="153" d="100"/>
        </p:scale>
        <p:origin x="53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" TargetMode="External"/><Relationship Id="rId3" Type="http://schemas.openxmlformats.org/officeDocument/2006/relationships/hyperlink" Target="https://docs.google.com/document/d/10j6F9EAEepR6BIGMzu6HBZ9BzDJp_FXY/edit" TargetMode="External"/><Relationship Id="rId7" Type="http://schemas.openxmlformats.org/officeDocument/2006/relationships/hyperlink" Target="https://docs.google.com/document/d/1lCsBxAm039ndJ7Xa51ol-18AX9dkCDQFlBT9lb_weiM/edit?tab=t.0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google.com/document/d/1AYm1JJvNtvK8BfI1KSdVTih6MEEVdB5YrhXqB3QnlYc/edit?tab=t.0#heading=h.7kslg2upum5i" TargetMode="External"/><Relationship Id="rId11" Type="http://schemas.openxmlformats.org/officeDocument/2006/relationships/hyperlink" Target="https://www.canva.com/templates/?query=board-game-interact" TargetMode="External"/><Relationship Id="rId5" Type="http://schemas.openxmlformats.org/officeDocument/2006/relationships/hyperlink" Target="https://aiscicomm.mylusd.org/" TargetMode="External"/><Relationship Id="rId10" Type="http://schemas.openxmlformats.org/officeDocument/2006/relationships/hyperlink" Target="https://www.canva.com/instagram-posts/templates/" TargetMode="External"/><Relationship Id="rId4" Type="http://schemas.openxmlformats.org/officeDocument/2006/relationships/hyperlink" Target="https://docs.google.com/document/d/1UndupAAsxXThMWqwfrnMWLxA3dpkoK1Unx8y0T5mxfk/edit?tab=t.0#heading=h.66wasdi8eqf3" TargetMode="External"/><Relationship Id="rId9" Type="http://schemas.openxmlformats.org/officeDocument/2006/relationships/hyperlink" Target="https://www.canva.com/infographics/templates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cs.google.com/document/d/1OYL8P-VmXLmU2aZGeU95RMUtoRudtTbaGO24rFNaL1A/edit?tab=t.0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OYL8P-VmXLmU2aZGeU95RMUtoRudtTbaGO24rFNaL1A/edit?tab=t.0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</a:t>
            </a:r>
            <a:r>
              <a:rPr lang="en" u="sng">
                <a:solidFill>
                  <a:schemeClr val="hlink"/>
                </a:solidFill>
                <a:hlinkClick r:id="rId3"/>
              </a:rPr>
              <a:t>Module 4.4 Lesson Plan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YOU START TEACHING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the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Teacher Facilitation Guide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an overview of content and the curriculum as well as helpful facilitation suggestions.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AISciComm chatbot website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model and/ or support students.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the Science Communication Product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 Checklist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(also in Science Journal p. 60) and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Teacher Rubric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know the expectations of students.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possible student template options to provide students scaffolds and guidance: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Canva: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https://www.canva.com/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Infographic templates: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https://www.canva.com/infographics/templates/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Instagram templates: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https://www.canva.com/instagram-posts/templates/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Board game idea templates: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https://www.canva.com/templates/?query=board-game-interact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students are creating a board game, they could use generative AI (e.g., ChatGPT, our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AISciComm Default chatbot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help them refine the rules of the game.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Throughout the program, students will be working in teams of three (preferably).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sure that you have a way to project a video with sound.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science journal is intended to be a digital notebook. However, if you decide to print copies for students they may need a writing instrument (pen, pencil, etc.).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_____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the slideshow to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1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introduce the lesson. Explain to students that now that we have tested their message with a chatbot, they will reflect on the interactions and refine their science communication plan.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ac343a9b0_0_5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ac343a9b0_0_5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their project team, students refine their science communication plans, based on the conversations they had with the target audience chatbots in Module 4.3. Advance to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2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show students the guiding questions for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Refine your Message: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●"/>
            </a:pPr>
            <a:r>
              <a:rPr lang="en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conversations with the target chatbot, what will you change about your science communication plan? Why?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●"/>
            </a:pPr>
            <a:r>
              <a:rPr lang="en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seems to work well with this audience? What evidence do you have from the conversations that supports this claim?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Invite student teams to share their responses.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student ideas to listen for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realized our audience didn’t understand some scientific terms, so we need to simplify our language.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chatbot responded well to visuals, so we will include more graphs and images.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message felt too negative; we want to add hopeful solutions to keep the audience engaged.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slogan worked really well. The chatbot repeated it back, which shows it was memorable.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ac343a9b0_0_5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ac343a9b0_0_5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Then, advance to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3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invite students to discuss as a class: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your Message with a Broader Audience: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were building the chatbot based on one target audience group. </a:t>
            </a:r>
            <a:r>
              <a:rPr lang="en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we create opportunities for other audience groups to provide feedback on the science communication plan? 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student ideas to listen for: 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test our message with classmates who aren’t in our group to see if it makes sense to them.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show our infographic to family members or younger students for feedback.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run a quick survey (online or paper) with peers.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recruit other teachers.</a:t>
            </a: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17ede572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17ede572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to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4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invite students to share ideas as a class: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Success: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will you know if you are successful with your science communication plan?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will you be able to tell if your audience has learned or begun to feel the way that you want them to?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student ideas to listen for: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audience can repeat back our key message in their own words, we know it landed.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they show interest or ask follow-up questions, that’s a good sign.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they can identify at least one action they can take, that shows impact.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17ede572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17ede572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to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5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reference student checklist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d82026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d82026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 for students that different science communication products may have different success criteria. Engagement for an online Instagram post that is measured by comments will be easier to gauge than a paper infographic.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17ede572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17ede572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to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7.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small groups (from previous lessons), students create their science communication products, based on the plans that they have created. Students can draft the products in </a:t>
            </a:r>
            <a:r>
              <a:rPr lang="en" sz="12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Canva</a:t>
            </a:r>
            <a:r>
              <a:rPr lang="en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 Journal p. 72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shares directions and additional information.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ac343a9b0_0_5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ac343a9b0_0_5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students finish up their products, let them know that their next step will be to conduct a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gallery walk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see what others have worked 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to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8.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Give students instruction to download a copy of their science communication product and upload it to a shared Google Folder.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each project team to review the science communication product of another team. Have students write down on post-it notes or PearDeck their reviews: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project team did you review?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key message that the product seems to convey?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part of this product helped you understand how climate change is impacting the Southern California ocean?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did this group do well?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suggestions do you have to make this product more complete, engaging, or clear?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17ede572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17ede5721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 to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9.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students finish up their gallery walk, invite them to take a look back at their product. Ask student teams to answer the following questions as a group, and then fill out their </a:t>
            </a:r>
            <a:r>
              <a:rPr lang="en" sz="12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 journal (p.73).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patterns did you notice as you conducted your gallery walk?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there any ideas or aspects you saw in other products that you would like to incorporate into yours?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surprised you about the different ways teams communicated the same climate issue?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ac343a9b0_0_5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ac343a9b0_0_5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with footer">
  <p:cSld name="ONE_COLUMN_TEXT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55" name="Google Shape;55;p13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 idx="4294967295"/>
          </p:nvPr>
        </p:nvSpPr>
        <p:spPr>
          <a:xfrm>
            <a:off x="707700" y="585300"/>
            <a:ext cx="35514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541900"/>
                </a:solidFill>
              </a:rPr>
              <a:t>Put Our Plan Into Action</a:t>
            </a:r>
            <a:endParaRPr sz="4500" b="1">
              <a:solidFill>
                <a:srgbClr val="5419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4294967295"/>
          </p:nvPr>
        </p:nvSpPr>
        <p:spPr>
          <a:xfrm>
            <a:off x="2267800" y="2877400"/>
            <a:ext cx="18894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355E3B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" sz="1200">
                <a:solidFill>
                  <a:srgbClr val="355E3B"/>
                </a:solidFill>
              </a:rPr>
              <a:t>4.4</a:t>
            </a:r>
            <a:endParaRPr sz="1200">
              <a:solidFill>
                <a:srgbClr val="355E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4294967295"/>
          </p:nvPr>
        </p:nvSpPr>
        <p:spPr>
          <a:xfrm>
            <a:off x="311700" y="4571275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AISciComm | 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" sz="1200">
                <a:solidFill>
                  <a:schemeClr val="dk1"/>
                </a:solidFill>
              </a:rPr>
              <a:t>4.4 Put Our Plan Into Action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" sz="1200">
                <a:solidFill>
                  <a:schemeClr val="dk1"/>
                </a:solidFill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900" y="2400"/>
            <a:ext cx="4010102" cy="4010102"/>
          </a:xfrm>
          <a:prstGeom prst="rect">
            <a:avLst/>
          </a:prstGeom>
          <a:solidFill>
            <a:srgbClr val="9FA617"/>
          </a:solidFill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5062500" y="4073275"/>
            <a:ext cx="41061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595959"/>
                </a:solidFill>
              </a:rPr>
              <a:t>Source: https://togetherband.org/blogs/news/young-climate-activists</a:t>
            </a:r>
            <a:endParaRPr sz="800" b="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7713"/>
            <a:ext cx="589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 i="1">
                <a:solidFill>
                  <a:srgbClr val="355E3B"/>
                </a:solidFill>
              </a:rPr>
              <a:t>Based on the chatbot conversation from Module 4.3, discuss in your project team:</a:t>
            </a:r>
            <a:endParaRPr sz="1500" i="1"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28210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541900"/>
                </a:solidFill>
              </a:rPr>
              <a:t>Refine Your Message</a:t>
            </a:r>
            <a:endParaRPr sz="4500" b="1">
              <a:solidFill>
                <a:srgbClr val="541900"/>
              </a:solidFill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2"/>
          </p:nvPr>
        </p:nvSpPr>
        <p:spPr>
          <a:xfrm>
            <a:off x="311700" y="2236975"/>
            <a:ext cx="5796000" cy="2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19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chemeClr val="dk1"/>
                </a:solidFill>
              </a:rPr>
              <a:t>What will you change about your science communication plan? Why?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19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chemeClr val="dk1"/>
                </a:solidFill>
              </a:rPr>
              <a:t>What seems to work well with this audience? What evidence do you have from the conversations that supports this claim? </a:t>
            </a:r>
            <a:endParaRPr sz="210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4571275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" sz="1200">
                <a:solidFill>
                  <a:schemeClr val="dk1"/>
                </a:solidFill>
              </a:rPr>
              <a:t>4.4 Put Our Plan Into Action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" sz="1200">
                <a:solidFill>
                  <a:schemeClr val="dk1"/>
                </a:solidFill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1513" y="530100"/>
            <a:ext cx="2547315" cy="382097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6371525" y="4351075"/>
            <a:ext cx="2547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</a:rPr>
              <a:t>Image created with ChatGPT</a:t>
            </a:r>
            <a:br>
              <a:rPr lang="en" sz="1000">
                <a:solidFill>
                  <a:srgbClr val="595959"/>
                </a:solidFill>
              </a:rPr>
            </a:br>
            <a:r>
              <a:rPr lang="en" sz="1000" i="1">
                <a:solidFill>
                  <a:srgbClr val="595959"/>
                </a:solidFill>
              </a:rPr>
              <a:t>Prompt: Create an image about target audience bullseye.</a:t>
            </a:r>
            <a:endParaRPr sz="1700" i="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741500"/>
            <a:ext cx="8385600" cy="8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355E3B"/>
                </a:solidFill>
              </a:rPr>
              <a:t>As a class, discuss this scenario: you were building the chatbot based on one target audience group. Now consider:</a:t>
            </a:r>
            <a:endParaRPr sz="2300">
              <a:solidFill>
                <a:srgbClr val="355E3B"/>
              </a:solidFill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170485"/>
            <a:ext cx="823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541900"/>
                </a:solidFill>
              </a:rPr>
              <a:t>Testing Your Message with a Broader Audience</a:t>
            </a:r>
            <a:endParaRPr sz="4500" b="1">
              <a:solidFill>
                <a:srgbClr val="541900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2"/>
          </p:nvPr>
        </p:nvSpPr>
        <p:spPr>
          <a:xfrm>
            <a:off x="333600" y="2721307"/>
            <a:ext cx="84768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1900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How can we create opportunities for other audience groups to provide feedback on the science communication plan?</a:t>
            </a:r>
            <a:endParaRPr sz="230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" sz="2300">
                <a:solidFill>
                  <a:schemeClr val="dk1"/>
                </a:solidFill>
              </a:rPr>
              <a:t>For example, can we recruit more people? Who, and how?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4571275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" sz="1200">
                <a:solidFill>
                  <a:schemeClr val="dk1"/>
                </a:solidFill>
              </a:rPr>
              <a:t>4.4 Put Our Plan Into Action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" sz="1200">
                <a:solidFill>
                  <a:schemeClr val="dk1"/>
                </a:solidFill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093500"/>
            <a:ext cx="8385600" cy="8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355E3B"/>
                </a:solidFill>
              </a:rPr>
              <a:t>As a class, discuss the following questions to evaluate your plan. </a:t>
            </a:r>
            <a:endParaRPr sz="2400">
              <a:solidFill>
                <a:srgbClr val="355E3B"/>
              </a:solidFill>
            </a:endParaRPr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266725"/>
            <a:ext cx="823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541900"/>
                </a:solidFill>
              </a:rPr>
              <a:t>Define Success</a:t>
            </a:r>
            <a:endParaRPr sz="4500" b="1">
              <a:solidFill>
                <a:srgbClr val="541900"/>
              </a:solidFill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311700" y="2046450"/>
            <a:ext cx="8233800" cy="22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How will you know if you are successful with your science communication plan? 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How will you be able to tell if your audience has learned or begun to feel the way that you want them to?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311700" y="4571275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" sz="1200">
                <a:solidFill>
                  <a:schemeClr val="dk1"/>
                </a:solidFill>
              </a:rPr>
              <a:t>4.4 Put Our Plan Into Action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" sz="1200">
                <a:solidFill>
                  <a:schemeClr val="dk1"/>
                </a:solidFill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4571275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" sz="1200">
                <a:solidFill>
                  <a:schemeClr val="dk1"/>
                </a:solidFill>
              </a:rPr>
              <a:t>4.4 Put Our Plan Into Action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" sz="1200">
                <a:solidFill>
                  <a:schemeClr val="dk1"/>
                </a:solidFill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91188" y="203175"/>
            <a:ext cx="41280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541900"/>
                </a:solidFill>
              </a:rPr>
              <a:t>Science Communication Product Student Checklist</a:t>
            </a:r>
            <a:endParaRPr sz="2800" b="1" dirty="0">
              <a:solidFill>
                <a:srgbClr val="541900"/>
              </a:solidFill>
            </a:endParaRPr>
          </a:p>
        </p:txBody>
      </p:sp>
      <p:pic>
        <p:nvPicPr>
          <p:cNvPr id="97" name="Google Shape;97;p18" title="Orange Blue and Yellow Modern Geometric Design Thinking Brainstor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3" y="2163650"/>
            <a:ext cx="3686976" cy="207392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4116200" y="2787425"/>
            <a:ext cx="455700" cy="18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18" title="Screenshot 2026-07-28 at 9.37.1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400" y="0"/>
            <a:ext cx="39529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83850"/>
            <a:ext cx="901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541900"/>
                </a:solidFill>
              </a:rPr>
              <a:t>What does this look like for various products?</a:t>
            </a:r>
            <a:endParaRPr sz="3000" b="1">
              <a:solidFill>
                <a:srgbClr val="541900"/>
              </a:solidFill>
            </a:endParaRPr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4571275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" sz="1200">
                <a:solidFill>
                  <a:schemeClr val="dk1"/>
                </a:solidFill>
              </a:rPr>
              <a:t>4.4 Put Our Plan Into Action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" sz="1200">
                <a:solidFill>
                  <a:schemeClr val="dk1"/>
                </a:solidFill>
              </a:rPr>
              <a:t>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9" title="Screenshot 2025-11-07 at 10.53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75" y="699565"/>
            <a:ext cx="8832300" cy="38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01007" y="755860"/>
            <a:ext cx="8385600" cy="8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rgbClr val="355E3B"/>
                </a:solidFill>
              </a:rPr>
              <a:t>In your project team, draft your science communication product. </a:t>
            </a:r>
            <a:r>
              <a:rPr lang="en" sz="1600" u="sng" dirty="0">
                <a:solidFill>
                  <a:schemeClr val="hlink"/>
                </a:solidFill>
                <a:hlinkClick r:id="rId3"/>
              </a:rPr>
              <a:t>Canva</a:t>
            </a:r>
            <a:r>
              <a:rPr lang="en" sz="1600" dirty="0">
                <a:solidFill>
                  <a:srgbClr val="355E3B"/>
                </a:solidFill>
              </a:rPr>
              <a:t> can be a good tool. Visit </a:t>
            </a:r>
            <a:r>
              <a:rPr lang="en" sz="1600" dirty="0">
                <a:solidFill>
                  <a:schemeClr val="hlink"/>
                </a:solidFill>
              </a:rPr>
              <a:t>science journal page 72</a:t>
            </a:r>
            <a:r>
              <a:rPr lang="en" sz="1600" dirty="0">
                <a:solidFill>
                  <a:srgbClr val="355E3B"/>
                </a:solidFill>
              </a:rPr>
              <a:t> to view other resources.</a:t>
            </a:r>
            <a:endParaRPr sz="1600" dirty="0">
              <a:solidFill>
                <a:srgbClr val="355E3B"/>
              </a:solidFill>
            </a:endParaRPr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2165"/>
            <a:ext cx="823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541900"/>
                </a:solidFill>
              </a:rPr>
              <a:t>Work Time</a:t>
            </a:r>
            <a:endParaRPr sz="4500" b="1">
              <a:solidFill>
                <a:srgbClr val="5419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4571275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</a:t>
            </a:r>
            <a:r>
              <a:rPr lang="en" sz="1200">
                <a:solidFill>
                  <a:schemeClr val="dk1"/>
                </a:solidFill>
              </a:rPr>
              <a:t>4.4 Put Our Plan Into Action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" sz="1200">
                <a:solidFill>
                  <a:schemeClr val="dk1"/>
                </a:solidFill>
              </a:rPr>
              <a:t>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125" y="1579875"/>
            <a:ext cx="2902988" cy="29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5838" y="2177675"/>
            <a:ext cx="2252576" cy="291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0825" y="1579875"/>
            <a:ext cx="3770600" cy="1781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54341" y="3248450"/>
            <a:ext cx="2763577" cy="184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464525" y="612064"/>
            <a:ext cx="84354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55E3B"/>
                </a:solidFill>
              </a:rPr>
              <a:t>We will be conducting a virtual gallery walk to see what other groups have worked on. </a:t>
            </a:r>
            <a:endParaRPr sz="1800">
              <a:solidFill>
                <a:srgbClr val="355E3B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355E3B"/>
              </a:buClr>
              <a:buSzPts val="1800"/>
              <a:buAutoNum type="arabicPeriod"/>
            </a:pPr>
            <a:r>
              <a:rPr lang="en" sz="1800">
                <a:solidFill>
                  <a:srgbClr val="355E3B"/>
                </a:solidFill>
              </a:rPr>
              <a:t>Download and </a:t>
            </a:r>
            <a:r>
              <a:rPr lang="en" sz="1800" b="1">
                <a:solidFill>
                  <a:srgbClr val="355E3B"/>
                </a:solidFill>
              </a:rPr>
              <a:t>upload a copy</a:t>
            </a:r>
            <a:r>
              <a:rPr lang="en" sz="1800">
                <a:solidFill>
                  <a:srgbClr val="355E3B"/>
                </a:solidFill>
              </a:rPr>
              <a:t> of your science communication product to the shared Google folder. </a:t>
            </a:r>
            <a:endParaRPr sz="1800">
              <a:solidFill>
                <a:srgbClr val="355E3B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355E3B"/>
              </a:buClr>
              <a:buSzPts val="1800"/>
              <a:buAutoNum type="arabicPeriod"/>
            </a:pPr>
            <a:r>
              <a:rPr lang="en" sz="1800">
                <a:solidFill>
                  <a:srgbClr val="355E3B"/>
                </a:solidFill>
              </a:rPr>
              <a:t>View other groups’ projects and take notes to share with your peers:</a:t>
            </a:r>
            <a:endParaRPr sz="1800">
              <a:solidFill>
                <a:srgbClr val="355E3B"/>
              </a:solidFill>
            </a:endParaRPr>
          </a:p>
        </p:txBody>
      </p:sp>
      <p:sp>
        <p:nvSpPr>
          <p:cNvPr id="123" name="Google Shape;123;p21"/>
          <p:cNvSpPr txBox="1">
            <a:spLocks noGrp="1"/>
          </p:cNvSpPr>
          <p:nvPr>
            <p:ph type="title"/>
          </p:nvPr>
        </p:nvSpPr>
        <p:spPr>
          <a:xfrm>
            <a:off x="2502175" y="24866"/>
            <a:ext cx="454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rgbClr val="541900"/>
                </a:solidFill>
              </a:rPr>
              <a:t>Virtual Gallery Walk</a:t>
            </a:r>
            <a:endParaRPr sz="3500" b="1">
              <a:solidFill>
                <a:srgbClr val="541900"/>
              </a:solidFill>
            </a:endParaRPr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311700" y="4571275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r>
              <a:rPr lang="en" sz="1200">
                <a:solidFill>
                  <a:schemeClr val="dk1"/>
                </a:solidFill>
              </a:rPr>
              <a:t> 4.4 Put Our Plan Into Action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" sz="1200">
                <a:solidFill>
                  <a:schemeClr val="dk1"/>
                </a:solidFill>
              </a:rPr>
              <a:t>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509400" y="2470500"/>
            <a:ext cx="8319600" cy="21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Which project team did you review?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is the key message that the product seems to convey?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part of this product helped you understand how climate change is impacting the Southern California ocean?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did this group do well?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suggestions do you have to make this product more complete, engaging, or clear?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body" idx="1"/>
          </p:nvPr>
        </p:nvSpPr>
        <p:spPr>
          <a:xfrm>
            <a:off x="151297" y="660300"/>
            <a:ext cx="4543500" cy="11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dirty="0">
                <a:solidFill>
                  <a:srgbClr val="355E3B"/>
                </a:solidFill>
              </a:rPr>
              <a:t>Reflect on what you learned for module 4.4 by discussing in project teams and then adding to your </a:t>
            </a:r>
            <a:r>
              <a:rPr lang="en" sz="1800" dirty="0">
                <a:solidFill>
                  <a:schemeClr val="hlink"/>
                </a:solidFill>
              </a:rPr>
              <a:t>science journal page 73. </a:t>
            </a:r>
            <a:endParaRPr sz="1800" dirty="0">
              <a:solidFill>
                <a:srgbClr val="355E3B"/>
              </a:solidFill>
            </a:endParaRPr>
          </a:p>
        </p:txBody>
      </p:sp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119220" y="-4096"/>
            <a:ext cx="454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rgbClr val="541900"/>
                </a:solidFill>
              </a:rPr>
              <a:t>Reflect</a:t>
            </a:r>
            <a:endParaRPr sz="4200" b="1">
              <a:solidFill>
                <a:srgbClr val="541900"/>
              </a:solidFill>
            </a:endParaRPr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2"/>
          </p:nvPr>
        </p:nvSpPr>
        <p:spPr>
          <a:xfrm>
            <a:off x="33675" y="1639773"/>
            <a:ext cx="5229300" cy="29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41900"/>
              </a:buClr>
              <a:buSzPts val="18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In your team, discuss: What patterns did you notice as you conducted your gallery walk?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Were there any ideas or aspects you saw in other products that you would like to incorporate into yours?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What surprised you about the different ways teams communicated the same climate issue?</a:t>
            </a: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 rotWithShape="1">
          <a:blip r:embed="rId3">
            <a:alphaModFix/>
          </a:blip>
          <a:srcRect l="40" t="23662" r="-40" b="4287"/>
          <a:stretch/>
        </p:blipFill>
        <p:spPr>
          <a:xfrm>
            <a:off x="5120850" y="0"/>
            <a:ext cx="4023150" cy="4361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5024170" y="4351075"/>
            <a:ext cx="4023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</a:rPr>
              <a:t>Image created with ChatGPT</a:t>
            </a:r>
            <a:br>
              <a:rPr lang="en" sz="1000">
                <a:solidFill>
                  <a:srgbClr val="595959"/>
                </a:solidFill>
              </a:rPr>
            </a:br>
            <a:r>
              <a:rPr lang="en" sz="1000" i="1">
                <a:solidFill>
                  <a:srgbClr val="595959"/>
                </a:solidFill>
              </a:rPr>
              <a:t>Prompt: Create an image about SoCal beaches.</a:t>
            </a:r>
            <a:endParaRPr sz="1700" i="1">
              <a:solidFill>
                <a:srgbClr val="595959"/>
              </a:solidFill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1"/>
          </p:nvPr>
        </p:nvSpPr>
        <p:spPr>
          <a:xfrm>
            <a:off x="311700" y="4571275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Module 4.4 Put Our Plan Into Action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Slide 8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8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541900"/>
                </a:solidFill>
              </a:rPr>
              <a:t>Thank you!</a:t>
            </a:r>
            <a:endParaRPr sz="4500" b="1">
              <a:solidFill>
                <a:srgbClr val="541900"/>
              </a:solidFill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311700" y="13746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you have any questions, please feel free to reach out.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318402" y="3563413"/>
            <a:ext cx="3640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</a:rPr>
              <a:t>Ha Nguyen, Ph.D.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Assistant Professor, UNC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ha.nguyen@unc.edu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318400" y="1971462"/>
            <a:ext cx="3455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</a:rPr>
              <a:t>Erick Valdez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Inside the Outdoors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evaldez@ocde.us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425" y="3608125"/>
            <a:ext cx="1289949" cy="110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 title="ITO-logo-col-cle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452" y="1965350"/>
            <a:ext cx="1289950" cy="1329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 title="University_of_California,_Irvine_seal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5824" y="3546924"/>
            <a:ext cx="1233549" cy="123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 title="OCDE orange county department of education 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8425" y="1983225"/>
            <a:ext cx="1289950" cy="12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1582</Words>
  <Application>Microsoft Macintosh PowerPoint</Application>
  <PresentationFormat>On-screen Show (16:9)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Noto Sans Symbols</vt:lpstr>
      <vt:lpstr>Simple Light</vt:lpstr>
      <vt:lpstr>Put Our Plan Into Action</vt:lpstr>
      <vt:lpstr>Refine Your Message</vt:lpstr>
      <vt:lpstr>Testing Your Message with a Broader Audience</vt:lpstr>
      <vt:lpstr>Define Success</vt:lpstr>
      <vt:lpstr>PowerPoint Presentation</vt:lpstr>
      <vt:lpstr>What does this look like for various products?</vt:lpstr>
      <vt:lpstr>Work Time</vt:lpstr>
      <vt:lpstr>Virtual Gallery Walk</vt:lpstr>
      <vt:lpstr>Reflect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Nguyen, Ha</cp:lastModifiedBy>
  <cp:revision>3</cp:revision>
  <dcterms:modified xsi:type="dcterms:W3CDTF">2026-08-20T17:28:27Z</dcterms:modified>
</cp:coreProperties>
</file>