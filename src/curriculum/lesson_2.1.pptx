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6751170-4461-42CF-BC6A-A07F141387B1}">
  <a:tblStyle styleId="{66751170-4461-42CF-BC6A-A07F141387B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fGGgp1eH0cOz0m6sw3CpCfuV3zQJWAh5/edit"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docs.google.com/document/d/1UjtehFSKoyR26QfmNRsOfqM83Oy4qGALRKjXk_lQtqY/edit?tab=t.0"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heading=h.bk3uqn8k1ud2"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google.com/document/d/1oRteCUkFReNpTDNY3kE7YKKk_uLB4eKVSFH4sSz259w/edit?tab=t.0#heading=h.9atat79oa3cj"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docs.google.com/document/d/1OYL8P-VmXLmU2aZGeU95RMUtoRudtTbaGO24rFNaL1A/edit?tab=t.0#heading=h.bk3uqn8k1ud2"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agemodeler.concord.org/app/#shared=https%3A%2F%2Fcfm-shared.concord.org%2FK71Ak0SFQvFzO8HV59vt%2Ffile.jso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google.com/document/d/1UjtehFSKoyR26QfmNRsOfqM83Oy4qGALRKjXk_lQtqY/edit?tab=t.0"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tinyurl.com/AISciModel" TargetMode="External"/><Relationship Id="rId4" Type="http://schemas.openxmlformats.org/officeDocument/2006/relationships/hyperlink" Target="https://docs.google.com/document/d/1OYL8P-VmXLmU2aZGeU95RMUtoRudtTbaGO24rFNaL1A/edit?tab=t.0#heading=h.bk3uqn8k1ud2"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b5075db7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4b5075db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Link to Module 2.1 Lesson Plan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SageModeler Instructions </a:t>
            </a:r>
            <a:r>
              <a:rPr lang="en" sz="1200">
                <a:solidFill>
                  <a:schemeClr val="dk1"/>
                </a:solidFill>
                <a:latin typeface="Calibri"/>
                <a:ea typeface="Calibri"/>
                <a:cs typeface="Calibri"/>
                <a:sym typeface="Calibri"/>
              </a:rPr>
              <a:t>to be able to model or support students.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1 </a:t>
            </a:r>
            <a:r>
              <a:rPr lang="en" sz="1200">
                <a:solidFill>
                  <a:schemeClr val="dk1"/>
                </a:solidFill>
                <a:latin typeface="Calibri"/>
                <a:ea typeface="Calibri"/>
                <a:cs typeface="Calibri"/>
                <a:sym typeface="Calibri"/>
              </a:rPr>
              <a:t>and inform students that today is the beginning of module 2. Tell students that in module 2, they will work on transferring the information gathered in module 1 to create a model on how communities value the ocean.</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b5075db76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b5075db76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lang="en" sz="1200" b="1">
                <a:solidFill>
                  <a:schemeClr val="dk1"/>
                </a:solidFill>
                <a:latin typeface="Calibri"/>
                <a:ea typeface="Calibri"/>
                <a:cs typeface="Calibri"/>
                <a:sym typeface="Calibri"/>
              </a:rPr>
              <a:t>Slide 2</a:t>
            </a:r>
            <a:r>
              <a:rPr lang="en" sz="1200">
                <a:solidFill>
                  <a:schemeClr val="dk1"/>
                </a:solidFill>
                <a:latin typeface="Calibri"/>
                <a:ea typeface="Calibri"/>
                <a:cs typeface="Calibri"/>
                <a:sym typeface="Calibri"/>
              </a:rPr>
              <a:t> and invite the class to reflect on what they have accomplished in the last module</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do in module 1? </a:t>
            </a:r>
            <a:endParaRPr sz="1200" i="1">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kind of information did you gather?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4ef4ad3fa4_4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4ef4ad3fa4_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to support student responses and review that in the previous module. In Module 1 you:</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Considered how the ocean is changing</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Conducted research on how climate change will impact Southern California’s ocean</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Interviewed community members to see how changes to the ocean will impact what we value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ef4ad3fa4_4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ef4ad3fa4_4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forward to </a:t>
            </a:r>
            <a:r>
              <a:rPr lang="en" sz="1200" b="1">
                <a:solidFill>
                  <a:schemeClr val="dk1"/>
                </a:solidFill>
                <a:latin typeface="Calibri"/>
                <a:ea typeface="Calibri"/>
                <a:cs typeface="Calibri"/>
                <a:sym typeface="Calibri"/>
              </a:rPr>
              <a:t>Slide 4 </a:t>
            </a:r>
            <a:r>
              <a:rPr lang="en" sz="1200">
                <a:solidFill>
                  <a:schemeClr val="dk1"/>
                </a:solidFill>
                <a:latin typeface="Calibri"/>
                <a:ea typeface="Calibri"/>
                <a:cs typeface="Calibri"/>
                <a:sym typeface="Calibri"/>
              </a:rPr>
              <a:t>to share with the class the lesson 2.1 overview.</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b5075db76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4b5075db76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you’re ready, advance to </a:t>
            </a:r>
            <a:r>
              <a:rPr lang="en" sz="1200" b="1">
                <a:solidFill>
                  <a:schemeClr val="dk1"/>
                </a:solidFill>
                <a:latin typeface="Calibri"/>
                <a:ea typeface="Calibri"/>
                <a:cs typeface="Calibri"/>
                <a:sym typeface="Calibri"/>
              </a:rPr>
              <a:t>Slide 5 </a:t>
            </a:r>
            <a:r>
              <a:rPr lang="en" sz="1200">
                <a:solidFill>
                  <a:schemeClr val="dk1"/>
                </a:solidFill>
                <a:latin typeface="Calibri"/>
                <a:ea typeface="Calibri"/>
                <a:cs typeface="Calibri"/>
                <a:sym typeface="Calibri"/>
              </a:rPr>
              <a:t>ask students to think back to their personal values connected to the ocean, as well as the reasons that community members care about the ocean that were shared during the interviews.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Have student groups reflect on the following questions:</a:t>
            </a:r>
            <a:endParaRPr sz="1200" b="1">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interact with the ocean? Why do you value it?</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your community interact with the ocean? Why do they value it?</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impact do you think climate change will have on the way communities interact with the ocean?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 groups are done discussing, invite the class back together and have students share out.</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Inform students that today, they will take the information that they gathered and develop a model using their initial ideas of how climate change will affect Southern California’s ocean.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4b5075db76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4b5075db76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Ask student teams from module 1 to get together for a brainstorming session. Advance to </a:t>
            </a:r>
            <a:r>
              <a:rPr lang="en" sz="1200" b="1">
                <a:solidFill>
                  <a:schemeClr val="dk1"/>
                </a:solidFill>
                <a:latin typeface="Calibri"/>
                <a:ea typeface="Calibri"/>
                <a:cs typeface="Calibri"/>
                <a:sym typeface="Calibri"/>
              </a:rPr>
              <a:t>Slide 6</a:t>
            </a:r>
            <a:r>
              <a:rPr lang="en" sz="1200">
                <a:solidFill>
                  <a:schemeClr val="dk1"/>
                </a:solidFill>
                <a:latin typeface="Calibri"/>
                <a:ea typeface="Calibri"/>
                <a:cs typeface="Calibri"/>
                <a:sym typeface="Calibri"/>
              </a:rPr>
              <a:t>, and invite students to think about the following question: </a:t>
            </a:r>
            <a:r>
              <a:rPr lang="en" sz="1200" b="1">
                <a:solidFill>
                  <a:schemeClr val="dk1"/>
                </a:solidFill>
                <a:latin typeface="Calibri"/>
                <a:ea typeface="Calibri"/>
                <a:cs typeface="Calibri"/>
                <a:sym typeface="Calibri"/>
              </a:rPr>
              <a:t>What are the components and processes that make up the ocean?</a:t>
            </a:r>
            <a:endParaRPr sz="1200" b="1">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b="1">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Ask student teams to open up their </a:t>
            </a:r>
            <a:r>
              <a:rPr lang="en" sz="1200" b="1">
                <a:solidFill>
                  <a:schemeClr val="dk1"/>
                </a:solidFill>
                <a:latin typeface="Calibri"/>
                <a:ea typeface="Calibri"/>
                <a:cs typeface="Calibri"/>
                <a:sym typeface="Calibri"/>
              </a:rPr>
              <a:t>Science Journal </a:t>
            </a:r>
            <a:r>
              <a:rPr lang="en" sz="1200">
                <a:solidFill>
                  <a:schemeClr val="dk1"/>
                </a:solidFill>
                <a:latin typeface="Calibri"/>
                <a:ea typeface="Calibri"/>
                <a:cs typeface="Calibri"/>
                <a:sym typeface="Calibri"/>
              </a:rPr>
              <a:t>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2.1: Building a Model (Student Task: Brainstorming Components, Processes, &amp; Interactions) </a:t>
            </a:r>
            <a:r>
              <a:rPr lang="en" sz="1200">
                <a:solidFill>
                  <a:schemeClr val="dk1"/>
                </a:solidFill>
                <a:latin typeface="Calibri"/>
                <a:ea typeface="Calibri"/>
                <a:cs typeface="Calibri"/>
                <a:sym typeface="Calibri"/>
              </a:rPr>
              <a:t>(p.9) where they will see a brainstorming document.</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Provide students time to think about </a:t>
            </a:r>
            <a:r>
              <a:rPr lang="en" sz="1200" b="1">
                <a:solidFill>
                  <a:schemeClr val="dk1"/>
                </a:solidFill>
                <a:latin typeface="Calibri"/>
                <a:ea typeface="Calibri"/>
                <a:cs typeface="Calibri"/>
                <a:sym typeface="Calibri"/>
              </a:rPr>
              <a:t>only the components and processes</a:t>
            </a:r>
            <a:r>
              <a:rPr lang="en" sz="1200">
                <a:solidFill>
                  <a:schemeClr val="dk1"/>
                </a:solidFill>
                <a:latin typeface="Calibri"/>
                <a:ea typeface="Calibri"/>
                <a:cs typeface="Calibri"/>
                <a:sym typeface="Calibri"/>
              </a:rPr>
              <a:t> that they think make up the ocean and add their ideas onto the brainstorming document. </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Components: </a:t>
            </a:r>
            <a:r>
              <a:rPr lang="en" sz="1200">
                <a:solidFill>
                  <a:schemeClr val="dk1"/>
                </a:solidFill>
                <a:latin typeface="Calibri"/>
                <a:ea typeface="Calibri"/>
                <a:cs typeface="Calibri"/>
                <a:sym typeface="Calibri"/>
              </a:rPr>
              <a:t>Individual elements that make up the ocean system, which can include both living (biotic) and non-living (abiotic) elements, such as organisms like fish or kelp, water, oxygen, and nutrients.</a:t>
            </a:r>
            <a:endParaRPr sz="1200" b="1">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Processes:</a:t>
            </a:r>
            <a:r>
              <a:rPr lang="en" sz="1200">
                <a:solidFill>
                  <a:schemeClr val="dk1"/>
                </a:solidFill>
                <a:latin typeface="Calibri"/>
                <a:ea typeface="Calibri"/>
                <a:cs typeface="Calibri"/>
                <a:sym typeface="Calibri"/>
              </a:rPr>
              <a:t> Actions in the ocean system that occur over time, such as tidal shifts, storm events, or photosynthesis.</a:t>
            </a:r>
            <a:endParaRPr sz="1200" b="1">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4b5075db76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4b5075db76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had time to brainstorm their components and processes, advance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and guide students to start thinking about the different interactions humans may have with the ocean system:</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Interactions:</a:t>
            </a:r>
            <a:r>
              <a:rPr lang="en" sz="1200">
                <a:solidFill>
                  <a:schemeClr val="dk1"/>
                </a:solidFill>
                <a:latin typeface="Calibri"/>
                <a:ea typeface="Calibri"/>
                <a:cs typeface="Calibri"/>
                <a:sym typeface="Calibri"/>
              </a:rPr>
              <a:t> The ways in which humans and different components of the ocean system engage with one another. These interactions could be positive, negative, or neutral, as beach clean-ups, emitting carbon, or surfing.</a:t>
            </a:r>
            <a:endParaRPr sz="1200" b="1">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Give student teams time to brainstorm their interactions and add them onto their brainstorming document in their science journal.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b5075db76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4b5075db76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dirty="0">
                <a:solidFill>
                  <a:schemeClr val="dk1"/>
                </a:solidFill>
                <a:latin typeface="Calibri"/>
                <a:ea typeface="Calibri"/>
                <a:cs typeface="Calibri"/>
                <a:sym typeface="Calibri"/>
              </a:rPr>
              <a:t>Once students have their brainstormed list of components, processes, and interactions, advance to </a:t>
            </a:r>
            <a:r>
              <a:rPr lang="en" sz="1200" b="1" dirty="0">
                <a:solidFill>
                  <a:schemeClr val="dk1"/>
                </a:solidFill>
                <a:latin typeface="Calibri"/>
                <a:ea typeface="Calibri"/>
                <a:cs typeface="Calibri"/>
                <a:sym typeface="Calibri"/>
              </a:rPr>
              <a:t>Slide 8</a:t>
            </a:r>
            <a:r>
              <a:rPr lang="en" sz="1200" dirty="0">
                <a:solidFill>
                  <a:schemeClr val="dk1"/>
                </a:solidFill>
                <a:latin typeface="Calibri"/>
                <a:ea typeface="Calibri"/>
                <a:cs typeface="Calibri"/>
                <a:sym typeface="Calibri"/>
              </a:rPr>
              <a:t>. Tell students that their next step in the modeling process is to select a value that is connected to the ocean. Invite them to think back to when they analyzed the community interviews and respond in their </a:t>
            </a:r>
            <a:r>
              <a:rPr lang="en" sz="1200" b="1" u="sng" dirty="0">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Science Journal </a:t>
            </a:r>
            <a:r>
              <a:rPr lang="en" sz="1200" u="sng" dirty="0">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to </a:t>
            </a:r>
            <a:r>
              <a:rPr lang="en" sz="1200" b="1" u="sng" dirty="0">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2.1: Building a Model (Student Task: Brainstorming Components, Processes, &amp; Interactions)</a:t>
            </a:r>
            <a:r>
              <a:rPr lang="en" sz="1200" u="sng" dirty="0">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 p. 9-10</a:t>
            </a:r>
            <a:r>
              <a:rPr lang="en" sz="1200" dirty="0">
                <a:solidFill>
                  <a:schemeClr val="dk1"/>
                </a:solidFill>
                <a:latin typeface="Calibri"/>
                <a:ea typeface="Calibri"/>
                <a:cs typeface="Calibri"/>
                <a:sym typeface="Calibri"/>
              </a:rPr>
              <a:t>.</a:t>
            </a:r>
            <a:endParaRPr sz="1200" dirty="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Based on your interview responses, what evidence shows why people care about the ocean? Include specific quotes or examples from your interview to support your answer (reference </a:t>
            </a:r>
            <a:r>
              <a:rPr lang="en" sz="1200" u="sng" dirty="0">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Module 1.2 Part 2: Conducting Community Interviews notes</a:t>
            </a:r>
            <a:r>
              <a:rPr lang="en" sz="1200" dirty="0">
                <a:solidFill>
                  <a:schemeClr val="dk1"/>
                </a:solidFill>
                <a:latin typeface="Calibri"/>
                <a:ea typeface="Calibri"/>
                <a:cs typeface="Calibri"/>
                <a:sym typeface="Calibri"/>
              </a:rPr>
              <a:t>). </a:t>
            </a:r>
            <a:endParaRPr sz="1200" dirty="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How did your team categorize these values or themes?</a:t>
            </a:r>
            <a:endParaRPr sz="1200" dirty="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dirty="0">
                <a:solidFill>
                  <a:schemeClr val="dk1"/>
                </a:solidFill>
                <a:latin typeface="Calibri"/>
                <a:ea typeface="Calibri"/>
                <a:cs typeface="Calibri"/>
                <a:sym typeface="Calibri"/>
              </a:rPr>
              <a:t>Which value from your interviews will your team include in your model, and how does this value connect to the ocean system or the impacts of climate change?</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b5075db76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4b5075db76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 </a:t>
            </a:r>
            <a:r>
              <a:rPr lang="en" sz="1200">
                <a:solidFill>
                  <a:schemeClr val="dk1"/>
                </a:solidFill>
                <a:latin typeface="Calibri"/>
                <a:ea typeface="Calibri"/>
                <a:cs typeface="Calibri"/>
                <a:sym typeface="Calibri"/>
              </a:rPr>
              <a:t>and give students a few minutes to choose a value to focus on. Their chosen value could be an emotional attachment (such as mental health), a reason why they like going to the beach (such as spending time with friends, going on vacation to the beach, or surfing), cultural or societal significance, tied to food or tradition (such as enjoying ceviche or seafood), or an appreciation of the ocean system (such as wanting to protect marine mammals).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b5075db76_0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4b5075db76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chosen their value they want to model, advance to </a:t>
            </a:r>
            <a:r>
              <a:rPr lang="en" sz="1200" b="1">
                <a:solidFill>
                  <a:schemeClr val="dk1"/>
                </a:solidFill>
                <a:latin typeface="Calibri"/>
                <a:ea typeface="Calibri"/>
                <a:cs typeface="Calibri"/>
                <a:sym typeface="Calibri"/>
              </a:rPr>
              <a:t>Slide 10 </a:t>
            </a:r>
            <a:r>
              <a:rPr lang="en" sz="1200">
                <a:solidFill>
                  <a:schemeClr val="dk1"/>
                </a:solidFill>
                <a:latin typeface="Calibri"/>
                <a:ea typeface="Calibri"/>
                <a:cs typeface="Calibri"/>
                <a:sym typeface="Calibri"/>
              </a:rPr>
              <a:t>and give them their next task, which is to refine their list of components, processes, and interactions. Ask students to choose </a:t>
            </a:r>
            <a:r>
              <a:rPr lang="en" sz="1200" b="1">
                <a:solidFill>
                  <a:schemeClr val="dk1"/>
                </a:solidFill>
                <a:latin typeface="Calibri"/>
                <a:ea typeface="Calibri"/>
                <a:cs typeface="Calibri"/>
                <a:sym typeface="Calibri"/>
              </a:rPr>
              <a:t>10 - 12 items</a:t>
            </a:r>
            <a:r>
              <a:rPr lang="en" sz="1200">
                <a:solidFill>
                  <a:schemeClr val="dk1"/>
                </a:solidFill>
                <a:latin typeface="Calibri"/>
                <a:ea typeface="Calibri"/>
                <a:cs typeface="Calibri"/>
                <a:sym typeface="Calibri"/>
              </a:rPr>
              <a:t> from their original list that are most connected to their value.</a:t>
            </a:r>
            <a:r>
              <a:rPr lang="en" sz="1200" b="1">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br>
              <a:rPr lang="en" sz="1200" b="1">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They will prioritize including these items in their model.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4b5075db76_0_3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4b5075db76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and tell students that their next task is to build a model that centers their chosen value and includes the 10 - 12 items from their original list that are most closely connected to their value.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Student models will be made in SageModeler and will answer the </a:t>
            </a:r>
            <a:r>
              <a:rPr lang="en" sz="1200" b="1">
                <a:solidFill>
                  <a:schemeClr val="dk1"/>
                </a:solidFill>
                <a:latin typeface="Calibri"/>
                <a:ea typeface="Calibri"/>
                <a:cs typeface="Calibri"/>
                <a:sym typeface="Calibri"/>
              </a:rPr>
              <a:t>modeling question: </a:t>
            </a:r>
            <a:r>
              <a:rPr lang="en" sz="1200">
                <a:solidFill>
                  <a:schemeClr val="dk1"/>
                </a:solidFill>
                <a:latin typeface="Calibri"/>
                <a:ea typeface="Calibri"/>
                <a:cs typeface="Calibri"/>
                <a:sym typeface="Calibri"/>
              </a:rPr>
              <a:t>How will climate change impact the reason why you care about Southern California’s ocean?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b="1">
                <a:solidFill>
                  <a:schemeClr val="dk1"/>
                </a:solidFill>
                <a:highlight>
                  <a:srgbClr val="FFFF00"/>
                </a:highlight>
                <a:latin typeface="Calibri"/>
                <a:ea typeface="Calibri"/>
                <a:cs typeface="Calibri"/>
                <a:sym typeface="Calibri"/>
              </a:rPr>
              <a:t>Tip for Facilitator: </a:t>
            </a:r>
            <a:r>
              <a:rPr lang="en" sz="1200">
                <a:solidFill>
                  <a:schemeClr val="dk1"/>
                </a:solidFill>
                <a:latin typeface="Calibri"/>
                <a:ea typeface="Calibri"/>
                <a:cs typeface="Calibri"/>
                <a:sym typeface="Calibri"/>
              </a:rPr>
              <a:t>Before having students make their own model, open up the SageModeler template and demonstrate the process by adding a value, and one or two items. Condensed steps are included on </a:t>
            </a:r>
            <a:r>
              <a:rPr lang="en" sz="1200" b="1">
                <a:solidFill>
                  <a:schemeClr val="dk1"/>
                </a:solidFill>
                <a:latin typeface="Calibri"/>
                <a:ea typeface="Calibri"/>
                <a:cs typeface="Calibri"/>
                <a:sym typeface="Calibri"/>
              </a:rPr>
              <a:t>Slide 12 and modeled more in depth in student instructions and/ or on slides 12-22 </a:t>
            </a:r>
            <a:r>
              <a:rPr lang="en" sz="1200">
                <a:solidFill>
                  <a:schemeClr val="dk1"/>
                </a:solidFill>
                <a:latin typeface="Calibri"/>
                <a:ea typeface="Calibri"/>
                <a:cs typeface="Calibri"/>
                <a:sym typeface="Calibri"/>
              </a:rPr>
              <a:t>but the modeling process is as follows:</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b="1">
                <a:solidFill>
                  <a:schemeClr val="dk1"/>
                </a:solidFill>
                <a:latin typeface="Calibri"/>
                <a:ea typeface="Calibri"/>
                <a:cs typeface="Calibri"/>
                <a:sym typeface="Calibri"/>
              </a:rPr>
              <a:t>Modeling Process:</a:t>
            </a:r>
            <a:endParaRPr sz="1200" b="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Begin by opening the </a:t>
            </a:r>
            <a:r>
              <a:rPr lang="en" sz="1200" u="sng">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SageModeler template</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Click on the </a:t>
            </a:r>
            <a:r>
              <a:rPr lang="en" sz="1200" i="1">
                <a:solidFill>
                  <a:schemeClr val="dk1"/>
                </a:solidFill>
                <a:latin typeface="Calibri"/>
                <a:ea typeface="Calibri"/>
                <a:cs typeface="Calibri"/>
                <a:sym typeface="Calibri"/>
              </a:rPr>
              <a:t>New Image</a:t>
            </a:r>
            <a:r>
              <a:rPr lang="en" sz="1200">
                <a:solidFill>
                  <a:schemeClr val="dk1"/>
                </a:solidFill>
                <a:latin typeface="Calibri"/>
                <a:ea typeface="Calibri"/>
                <a:cs typeface="Calibri"/>
                <a:sym typeface="Calibri"/>
              </a:rPr>
              <a:t> icon in the upper right corner and search for an image to represent your chosen value. Add it into your picture break, and then drag it into the modeling window. Make sure to and label it with your chosen value into your model.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Search for photos to represent the other components, processes, and interactions that you want to include in your model. Add in the components, processes, and interactions into your model and label them.</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Begin connecting the parts of your model together by defining their relationship. To do so, you’ll need to click on one icon, and then drag the arrow to the second icon that you want to connect to. You’ll then be able to double-click on the arrow to define the relationship, which could be:</a:t>
            </a:r>
            <a:endParaRPr sz="1200">
              <a:solidFill>
                <a:schemeClr val="dk1"/>
              </a:solidFill>
              <a:latin typeface="Calibri"/>
              <a:ea typeface="Calibri"/>
              <a:cs typeface="Calibri"/>
              <a:sym typeface="Calibri"/>
            </a:endParaRPr>
          </a:p>
          <a:p>
            <a:pPr marL="6858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Positive relationship:</a:t>
            </a:r>
            <a:r>
              <a:rPr lang="en" sz="1200">
                <a:solidFill>
                  <a:schemeClr val="dk1"/>
                </a:solidFill>
                <a:latin typeface="Calibri"/>
                <a:ea typeface="Calibri"/>
                <a:cs typeface="Calibri"/>
                <a:sym typeface="Calibri"/>
              </a:rPr>
              <a:t> As one factor increases, the second factor also increases.</a:t>
            </a:r>
            <a:endParaRPr sz="1200">
              <a:solidFill>
                <a:schemeClr val="dk1"/>
              </a:solidFill>
              <a:latin typeface="Calibri"/>
              <a:ea typeface="Calibri"/>
              <a:cs typeface="Calibri"/>
              <a:sym typeface="Calibri"/>
            </a:endParaRPr>
          </a:p>
          <a:p>
            <a:pPr marL="6858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Negative relationship:</a:t>
            </a:r>
            <a:r>
              <a:rPr lang="en" sz="1200">
                <a:solidFill>
                  <a:schemeClr val="dk1"/>
                </a:solidFill>
                <a:latin typeface="Calibri"/>
                <a:ea typeface="Calibri"/>
                <a:cs typeface="Calibri"/>
                <a:sym typeface="Calibri"/>
              </a:rPr>
              <a:t> As one factor increases, the second factor decreases.</a:t>
            </a:r>
            <a:endParaRPr sz="1200">
              <a:solidFill>
                <a:schemeClr val="dk1"/>
              </a:solidFill>
              <a:latin typeface="Calibri"/>
              <a:ea typeface="Calibri"/>
              <a:cs typeface="Calibri"/>
              <a:sym typeface="Calibri"/>
            </a:endParaRPr>
          </a:p>
          <a:p>
            <a:pPr marL="6858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Varied relationship:</a:t>
            </a:r>
            <a:r>
              <a:rPr lang="en" sz="1200">
                <a:solidFill>
                  <a:schemeClr val="dk1"/>
                </a:solidFill>
                <a:latin typeface="Calibri"/>
                <a:ea typeface="Calibri"/>
                <a:cs typeface="Calibri"/>
                <a:sym typeface="Calibri"/>
              </a:rPr>
              <a:t> As one factor increases, the second factor can increase or decrease depending on different conditions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you make connections in your model, click on the arrow one last time to add a text box section and describe the relationship using words.</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4b5075db76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4b5075db76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f94b4a986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f94b4a98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Students may reference the modeling process described in the following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Student SageModeler Instructions</a:t>
            </a:r>
            <a:r>
              <a:rPr lang="en" sz="1200" b="1">
                <a:solidFill>
                  <a:schemeClr val="dk1"/>
                </a:solidFill>
                <a:latin typeface="Calibri"/>
                <a:ea typeface="Calibri"/>
                <a:cs typeface="Calibri"/>
                <a:sym typeface="Calibri"/>
              </a:rPr>
              <a:t> (Slides 13-20; in </a:t>
            </a:r>
            <a:r>
              <a:rPr lang="en" sz="1200" b="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Science Journa</a:t>
            </a:r>
            <a:r>
              <a:rPr lang="en" sz="1200" b="1">
                <a:solidFill>
                  <a:schemeClr val="dk1"/>
                </a:solidFill>
                <a:latin typeface="Calibri"/>
                <a:ea typeface="Calibri"/>
                <a:cs typeface="Calibri"/>
                <a:sym typeface="Calibri"/>
              </a:rPr>
              <a:t>l p.11-18)</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Char char="●"/>
            </a:pPr>
            <a:r>
              <a:rPr lang="en" sz="1200" b="1">
                <a:solidFill>
                  <a:schemeClr val="dk1"/>
                </a:solidFill>
                <a:latin typeface="Calibri"/>
                <a:ea typeface="Calibri"/>
                <a:cs typeface="Calibri"/>
                <a:sym typeface="Calibri"/>
              </a:rPr>
              <a:t>Slide 13 (hidden slide): </a:t>
            </a:r>
            <a:r>
              <a:rPr lang="en" sz="1200">
                <a:solidFill>
                  <a:schemeClr val="dk1"/>
                </a:solidFill>
                <a:latin typeface="Calibri"/>
                <a:ea typeface="Calibri"/>
                <a:cs typeface="Calibri"/>
                <a:sym typeface="Calibri"/>
              </a:rPr>
              <a:t>Choose one member of your team to </a:t>
            </a:r>
            <a:r>
              <a:rPr lang="en" sz="1200" b="1">
                <a:solidFill>
                  <a:schemeClr val="dk1"/>
                </a:solidFill>
                <a:latin typeface="Calibri"/>
                <a:ea typeface="Calibri"/>
                <a:cs typeface="Calibri"/>
                <a:sym typeface="Calibri"/>
              </a:rPr>
              <a:t>create a copy</a:t>
            </a:r>
            <a:r>
              <a:rPr lang="en" sz="1200">
                <a:solidFill>
                  <a:schemeClr val="dk1"/>
                </a:solidFill>
                <a:latin typeface="Calibri"/>
                <a:ea typeface="Calibri"/>
                <a:cs typeface="Calibri"/>
                <a:sym typeface="Calibri"/>
              </a:rPr>
              <a:t> of the </a:t>
            </a:r>
            <a:r>
              <a:rPr lang="en" sz="1200" b="1"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SageModeler template</a:t>
            </a:r>
            <a:r>
              <a:rPr lang="en" sz="1200">
                <a:solidFill>
                  <a:schemeClr val="dk1"/>
                </a:solidFill>
                <a:latin typeface="Calibri"/>
                <a:ea typeface="Calibri"/>
                <a:cs typeface="Calibri"/>
                <a:sym typeface="Calibri"/>
              </a:rPr>
              <a:t> or visit </a:t>
            </a:r>
            <a:r>
              <a:rPr lang="en" sz="1200" b="1"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https://tinyurl.com/AISciModel</a:t>
            </a:r>
            <a:r>
              <a:rPr lang="en" sz="1200">
                <a:solidFill>
                  <a:schemeClr val="dk1"/>
                </a:solidFill>
                <a:latin typeface="Calibri"/>
                <a:ea typeface="Calibri"/>
                <a:cs typeface="Calibri"/>
                <a:sym typeface="Calibri"/>
              </a:rPr>
              <a:t>.The whole team will work on one model together.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94b4a986a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f94b4a986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n" sz="1200" b="1">
                <a:solidFill>
                  <a:schemeClr val="dk1"/>
                </a:solidFill>
                <a:latin typeface="Calibri"/>
                <a:ea typeface="Calibri"/>
                <a:cs typeface="Calibri"/>
                <a:sym typeface="Calibri"/>
              </a:rPr>
              <a:t>Slide 14: </a:t>
            </a:r>
            <a:r>
              <a:rPr lang="en" sz="1200">
                <a:solidFill>
                  <a:schemeClr val="dk1"/>
                </a:solidFill>
                <a:latin typeface="Calibri"/>
                <a:ea typeface="Calibri"/>
                <a:cs typeface="Calibri"/>
                <a:sym typeface="Calibri"/>
              </a:rPr>
              <a:t>To start your model, click on the </a:t>
            </a:r>
            <a:r>
              <a:rPr lang="en" sz="1200" b="1">
                <a:solidFill>
                  <a:schemeClr val="dk1"/>
                </a:solidFill>
                <a:latin typeface="Calibri"/>
                <a:ea typeface="Calibri"/>
                <a:cs typeface="Calibri"/>
                <a:sym typeface="Calibri"/>
              </a:rPr>
              <a:t>new Image</a:t>
            </a:r>
            <a:r>
              <a:rPr lang="en" sz="1200" b="1" i="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icon at the top-left corner of the screen. Choose an image to represent your chosen value and then drag it into the modeling window. Make sure to and label it with your </a:t>
            </a:r>
            <a:r>
              <a:rPr lang="en" sz="1200" b="1">
                <a:solidFill>
                  <a:schemeClr val="dk1"/>
                </a:solidFill>
                <a:latin typeface="Calibri"/>
                <a:ea typeface="Calibri"/>
                <a:cs typeface="Calibri"/>
                <a:sym typeface="Calibri"/>
              </a:rPr>
              <a:t>chosen value</a:t>
            </a:r>
            <a:r>
              <a:rPr lang="en" sz="1200">
                <a:solidFill>
                  <a:schemeClr val="dk1"/>
                </a:solidFill>
                <a:latin typeface="Calibri"/>
                <a:ea typeface="Calibri"/>
                <a:cs typeface="Calibri"/>
                <a:sym typeface="Calibri"/>
              </a:rPr>
              <a:t> into your model.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94b4a986a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f94b4a986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n" sz="1200" b="1">
                <a:solidFill>
                  <a:schemeClr val="dk1"/>
                </a:solidFill>
                <a:latin typeface="Calibri"/>
                <a:ea typeface="Calibri"/>
                <a:cs typeface="Calibri"/>
                <a:sym typeface="Calibri"/>
              </a:rPr>
              <a:t>Slide 15 (hidden slide): </a:t>
            </a:r>
            <a:r>
              <a:rPr lang="en" sz="1200">
                <a:solidFill>
                  <a:schemeClr val="dk1"/>
                </a:solidFill>
                <a:latin typeface="Calibri"/>
                <a:ea typeface="Calibri"/>
                <a:cs typeface="Calibri"/>
                <a:sym typeface="Calibri"/>
              </a:rPr>
              <a:t>Next, search for images to represent the other</a:t>
            </a:r>
            <a:r>
              <a:rPr lang="en" sz="1200" b="1">
                <a:solidFill>
                  <a:schemeClr val="dk1"/>
                </a:solidFill>
                <a:latin typeface="Calibri"/>
                <a:ea typeface="Calibri"/>
                <a:cs typeface="Calibri"/>
                <a:sym typeface="Calibri"/>
              </a:rPr>
              <a:t> components, processes, and interactions</a:t>
            </a:r>
            <a:r>
              <a:rPr lang="en" sz="1200">
                <a:solidFill>
                  <a:schemeClr val="dk1"/>
                </a:solidFill>
                <a:latin typeface="Calibri"/>
                <a:ea typeface="Calibri"/>
                <a:cs typeface="Calibri"/>
                <a:sym typeface="Calibri"/>
              </a:rPr>
              <a:t> that you want to include in your model, making sure to label all of them.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f94b4a986a_1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f94b4a986a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n" sz="1200" b="1">
                <a:solidFill>
                  <a:schemeClr val="dk1"/>
                </a:solidFill>
                <a:latin typeface="Calibri"/>
                <a:ea typeface="Calibri"/>
                <a:cs typeface="Calibri"/>
                <a:sym typeface="Calibri"/>
              </a:rPr>
              <a:t>Slide 16: </a:t>
            </a:r>
            <a:r>
              <a:rPr lang="en" sz="1200">
                <a:solidFill>
                  <a:schemeClr val="dk1"/>
                </a:solidFill>
                <a:latin typeface="Calibri"/>
                <a:ea typeface="Calibri"/>
                <a:cs typeface="Calibri"/>
                <a:sym typeface="Calibri"/>
              </a:rPr>
              <a:t>To </a:t>
            </a:r>
            <a:r>
              <a:rPr lang="en" sz="1200" b="1">
                <a:solidFill>
                  <a:schemeClr val="dk1"/>
                </a:solidFill>
                <a:latin typeface="Calibri"/>
                <a:ea typeface="Calibri"/>
                <a:cs typeface="Calibri"/>
                <a:sym typeface="Calibri"/>
              </a:rPr>
              <a:t>connect two items</a:t>
            </a:r>
            <a:r>
              <a:rPr lang="en" sz="1200">
                <a:solidFill>
                  <a:schemeClr val="dk1"/>
                </a:solidFill>
                <a:latin typeface="Calibri"/>
                <a:ea typeface="Calibri"/>
                <a:cs typeface="Calibri"/>
                <a:sym typeface="Calibri"/>
              </a:rPr>
              <a:t> in your model, hover over the first item. An arrow will appear. Click and drag that arrow over to the item you want to connect it to. Creating a causal relationship.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f94b4a986a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f94b4a986a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Char char="●"/>
            </a:pPr>
            <a:r>
              <a:rPr lang="en" sz="1200" b="1">
                <a:solidFill>
                  <a:schemeClr val="dk1"/>
                </a:solidFill>
                <a:latin typeface="Calibri"/>
                <a:ea typeface="Calibri"/>
                <a:cs typeface="Calibri"/>
                <a:sym typeface="Calibri"/>
              </a:rPr>
              <a:t>Slide 17: </a:t>
            </a:r>
            <a:r>
              <a:rPr lang="en" sz="1200">
                <a:solidFill>
                  <a:schemeClr val="dk1"/>
                </a:solidFill>
                <a:latin typeface="Calibri"/>
                <a:ea typeface="Calibri"/>
                <a:cs typeface="Calibri"/>
                <a:sym typeface="Calibri"/>
              </a:rPr>
              <a:t>To </a:t>
            </a:r>
            <a:r>
              <a:rPr lang="en" sz="1200" b="1">
                <a:solidFill>
                  <a:schemeClr val="dk1"/>
                </a:solidFill>
                <a:latin typeface="Calibri"/>
                <a:ea typeface="Calibri"/>
                <a:cs typeface="Calibri"/>
                <a:sym typeface="Calibri"/>
              </a:rPr>
              <a:t>describe the relationship</a:t>
            </a:r>
            <a:r>
              <a:rPr lang="en" sz="1200">
                <a:solidFill>
                  <a:schemeClr val="dk1"/>
                </a:solidFill>
                <a:latin typeface="Calibri"/>
                <a:ea typeface="Calibri"/>
                <a:cs typeface="Calibri"/>
                <a:sym typeface="Calibri"/>
              </a:rPr>
              <a:t> between two items, double click on the arrow that connects them. Then choose which descriptions best represent the relationship between the two items.</a:t>
            </a:r>
            <a:endParaRPr sz="1200" b="1">
              <a:solidFill>
                <a:schemeClr val="dk1"/>
              </a:solidFill>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Positive relationship:</a:t>
            </a:r>
            <a:r>
              <a:rPr lang="en" sz="1200">
                <a:solidFill>
                  <a:schemeClr val="dk1"/>
                </a:solidFill>
                <a:latin typeface="Calibri"/>
                <a:ea typeface="Calibri"/>
                <a:cs typeface="Calibri"/>
                <a:sym typeface="Calibri"/>
              </a:rPr>
              <a:t> As one factor increases, the second factor also increases.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Negative relationship:</a:t>
            </a:r>
            <a:r>
              <a:rPr lang="en" sz="1200">
                <a:solidFill>
                  <a:schemeClr val="dk1"/>
                </a:solidFill>
                <a:latin typeface="Calibri"/>
                <a:ea typeface="Calibri"/>
                <a:cs typeface="Calibri"/>
                <a:sym typeface="Calibri"/>
              </a:rPr>
              <a:t> As one factor increases, the second factor decreases.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Varied relationship:</a:t>
            </a:r>
            <a:r>
              <a:rPr lang="en" sz="1200">
                <a:solidFill>
                  <a:schemeClr val="dk1"/>
                </a:solidFill>
                <a:latin typeface="Calibri"/>
                <a:ea typeface="Calibri"/>
                <a:cs typeface="Calibri"/>
                <a:sym typeface="Calibri"/>
              </a:rPr>
              <a:t> As one factor increases, the second factor can increase or decrease depending on different conditions</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highlight>
                  <a:srgbClr val="FFFF00"/>
                </a:highlight>
                <a:latin typeface="Calibri"/>
                <a:ea typeface="Calibri"/>
                <a:cs typeface="Calibri"/>
                <a:sym typeface="Calibri"/>
              </a:rPr>
              <a:t>Ask students to brainstorm:</a:t>
            </a:r>
            <a:r>
              <a:rPr lang="en" sz="1200">
                <a:solidFill>
                  <a:schemeClr val="dk1"/>
                </a:solidFill>
                <a:latin typeface="Calibri"/>
                <a:ea typeface="Calibri"/>
                <a:cs typeface="Calibri"/>
                <a:sym typeface="Calibri"/>
              </a:rPr>
              <a:t> </a:t>
            </a:r>
            <a:r>
              <a:rPr lang="en" sz="1200" b="1">
                <a:solidFill>
                  <a:schemeClr val="dk1"/>
                </a:solidFill>
                <a:latin typeface="Calibri"/>
                <a:ea typeface="Calibri"/>
                <a:cs typeface="Calibri"/>
                <a:sym typeface="Calibri"/>
              </a:rPr>
              <a:t>How do human activities that drive climate change affect different types of value—and how can one activity cause value to go up, go down, or depend on the situation?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94b4a986a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f94b4a986a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Slide 18-19: </a:t>
            </a:r>
            <a:r>
              <a:rPr lang="en" sz="1200">
                <a:solidFill>
                  <a:schemeClr val="dk1"/>
                </a:solidFill>
                <a:latin typeface="Calibri"/>
                <a:ea typeface="Calibri"/>
                <a:cs typeface="Calibri"/>
                <a:sym typeface="Calibri"/>
              </a:rPr>
              <a:t>This slide provides students with examples of different causal relationships that they can model: </a:t>
            </a:r>
            <a:endParaRPr sz="1200" b="1">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Linear</a:t>
            </a:r>
            <a:r>
              <a:rPr lang="en" sz="1200">
                <a:solidFill>
                  <a:schemeClr val="dk1"/>
                </a:solidFill>
                <a:latin typeface="Calibri"/>
                <a:ea typeface="Calibri"/>
                <a:cs typeface="Calibri"/>
                <a:sym typeface="Calibri"/>
              </a:rPr>
              <a:t>: </a:t>
            </a:r>
            <a:r>
              <a:rPr lang="en">
                <a:solidFill>
                  <a:schemeClr val="dk1"/>
                </a:solidFill>
              </a:rPr>
              <a:t>A direct cause-and-effect relationship where one element or process directly impacts another.</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Causal: </a:t>
            </a:r>
            <a:r>
              <a:rPr lang="en">
                <a:solidFill>
                  <a:schemeClr val="dk1"/>
                </a:solidFill>
              </a:rPr>
              <a:t>A multi-step sequence where an initial event triggers an intermediate change, which then leads to a final outcome.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94b4a986a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f94b4a986a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Slide 18-19: </a:t>
            </a:r>
            <a:r>
              <a:rPr lang="en" sz="1200">
                <a:solidFill>
                  <a:schemeClr val="dk1"/>
                </a:solidFill>
                <a:latin typeface="Calibri"/>
                <a:ea typeface="Calibri"/>
                <a:cs typeface="Calibri"/>
                <a:sym typeface="Calibri"/>
              </a:rPr>
              <a:t>This slide provides students with examples of different causal relationships that they can model: </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Feedback Loop:</a:t>
            </a:r>
            <a:r>
              <a:rPr lang="en" sz="1200">
                <a:solidFill>
                  <a:schemeClr val="dk1"/>
                </a:solidFill>
                <a:latin typeface="Calibri"/>
                <a:ea typeface="Calibri"/>
                <a:cs typeface="Calibri"/>
                <a:sym typeface="Calibri"/>
              </a:rPr>
              <a:t> </a:t>
            </a:r>
            <a:r>
              <a:rPr lang="en">
                <a:solidFill>
                  <a:schemeClr val="dk1"/>
                </a:solidFill>
              </a:rPr>
              <a:t>A circular relationship where the outcome of a process feeds back into the original cause, amplifying (positive feedback) or reducing (negative feedback) the effect over time.</a:t>
            </a:r>
            <a:endParaRPr sz="1200" b="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Indirect Loop: </a:t>
            </a:r>
            <a:r>
              <a:rPr lang="en">
                <a:solidFill>
                  <a:schemeClr val="dk1"/>
                </a:solidFill>
              </a:rPr>
              <a:t>A variable (A) influences an outcome (C) both indirectly through an intermediate variable (B) and through a separate direct pathway.</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f94b4a986a_1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f94b4a986a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1200"/>
              </a:spcAft>
              <a:buClr>
                <a:schemeClr val="dk1"/>
              </a:buClr>
              <a:buSzPts val="1200"/>
              <a:buChar char="●"/>
            </a:pPr>
            <a:r>
              <a:rPr lang="en" sz="1200" b="1">
                <a:solidFill>
                  <a:schemeClr val="dk1"/>
                </a:solidFill>
                <a:latin typeface="Calibri"/>
                <a:ea typeface="Calibri"/>
                <a:cs typeface="Calibri"/>
                <a:sym typeface="Calibri"/>
              </a:rPr>
              <a:t>Slide 20 (hidden slide): Continue </a:t>
            </a:r>
            <a:r>
              <a:rPr lang="en" sz="1200">
                <a:solidFill>
                  <a:schemeClr val="dk1"/>
                </a:solidFill>
                <a:latin typeface="Calibri"/>
                <a:ea typeface="Calibri"/>
                <a:cs typeface="Calibri"/>
                <a:sym typeface="Calibri"/>
              </a:rPr>
              <a:t>to add components, processes, and interactions from your list to the model. Save your model when you’re done.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4b5075db76_0_3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4b5075db76_0_3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there’s time once the model is complete, advance to </a:t>
            </a:r>
            <a:r>
              <a:rPr lang="en" sz="1200" b="1">
                <a:solidFill>
                  <a:schemeClr val="dk1"/>
                </a:solidFill>
                <a:latin typeface="Calibri"/>
                <a:ea typeface="Calibri"/>
                <a:cs typeface="Calibri"/>
                <a:sym typeface="Calibri"/>
              </a:rPr>
              <a:t>Slide 21 </a:t>
            </a:r>
            <a:r>
              <a:rPr lang="en" sz="1200">
                <a:solidFill>
                  <a:schemeClr val="dk1"/>
                </a:solidFill>
                <a:latin typeface="Calibri"/>
                <a:ea typeface="Calibri"/>
                <a:cs typeface="Calibri"/>
                <a:sym typeface="Calibri"/>
              </a:rPr>
              <a:t>and have students click on the </a:t>
            </a:r>
            <a:r>
              <a:rPr lang="en" sz="1200" i="1">
                <a:solidFill>
                  <a:schemeClr val="dk1"/>
                </a:solidFill>
                <a:latin typeface="Calibri"/>
                <a:ea typeface="Calibri"/>
                <a:cs typeface="Calibri"/>
                <a:sym typeface="Calibri"/>
              </a:rPr>
              <a:t>Simulate </a:t>
            </a:r>
            <a:r>
              <a:rPr lang="en" sz="1200">
                <a:solidFill>
                  <a:schemeClr val="dk1"/>
                </a:solidFill>
                <a:latin typeface="Calibri"/>
                <a:ea typeface="Calibri"/>
                <a:cs typeface="Calibri"/>
                <a:sym typeface="Calibri"/>
              </a:rPr>
              <a:t>icon in the upper right-hand corner of SageModeler to simulate change on different factors within your model. As you make simulations thing about the following:</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a change in a component, process, or interaction within your model affect your team’s chosen value?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4b705ef3e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4b705ef3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22 </a:t>
            </a:r>
            <a:r>
              <a:rPr lang="en" sz="1200">
                <a:solidFill>
                  <a:schemeClr val="dk1"/>
                </a:solidFill>
                <a:latin typeface="Calibri"/>
                <a:ea typeface="Calibri"/>
                <a:cs typeface="Calibri"/>
                <a:sym typeface="Calibri"/>
              </a:rPr>
              <a:t>and have students take a snapshot to save an image of the model that will be used in the next module lesson.</a:t>
            </a:r>
            <a:r>
              <a:rPr lang="en" sz="1200">
                <a:solidFill>
                  <a:schemeClr val="dk1"/>
                </a:solidFill>
                <a:highlight>
                  <a:srgbClr val="FFFF00"/>
                </a:highlight>
                <a:latin typeface="Calibri"/>
                <a:ea typeface="Calibri"/>
                <a:cs typeface="Calibri"/>
                <a:sym typeface="Calibri"/>
              </a:rPr>
              <a:t> </a:t>
            </a:r>
            <a:r>
              <a:rPr lang="en" sz="1200" b="1">
                <a:solidFill>
                  <a:schemeClr val="dk1"/>
                </a:solidFill>
                <a:highlight>
                  <a:srgbClr val="FFFF00"/>
                </a:highlight>
                <a:latin typeface="Calibri"/>
                <a:ea typeface="Calibri"/>
                <a:cs typeface="Calibri"/>
                <a:sym typeface="Calibri"/>
              </a:rPr>
              <a:t>Ask students to upload the images to your classroom Google Drive.</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Depending on the type of device available, have students snap a picture. Below are a couple of the built in programs for taking a picture.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Windows computer </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the print screen button</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 use the built in snipping tool platform</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Mac computer</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Command (⌘) + Shift + 4 </a:t>
            </a:r>
            <a:r>
              <a:rPr lang="en" sz="1200">
                <a:solidFill>
                  <a:schemeClr val="dk1"/>
                </a:solidFill>
                <a:latin typeface="Calibri"/>
                <a:ea typeface="Calibri"/>
                <a:cs typeface="Calibri"/>
                <a:sym typeface="Calibri"/>
              </a:rPr>
              <a:t>at the same time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on a Chromebook</a:t>
            </a:r>
            <a:endParaRPr sz="1200">
              <a:solidFill>
                <a:schemeClr val="dk1"/>
              </a:solidFill>
              <a:latin typeface="Calibri"/>
              <a:ea typeface="Calibri"/>
              <a:cs typeface="Calibri"/>
              <a:sym typeface="Calibri"/>
            </a:endParaRPr>
          </a:p>
          <a:p>
            <a:pPr marL="9144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Press </a:t>
            </a:r>
            <a:r>
              <a:rPr lang="en" sz="1200" b="1">
                <a:solidFill>
                  <a:schemeClr val="dk1"/>
                </a:solidFill>
                <a:latin typeface="Calibri"/>
                <a:ea typeface="Calibri"/>
                <a:cs typeface="Calibri"/>
                <a:sym typeface="Calibri"/>
              </a:rPr>
              <a:t>Ctrl + Shift + Show Windows </a:t>
            </a:r>
            <a:r>
              <a:rPr lang="en" sz="1200">
                <a:solidFill>
                  <a:schemeClr val="dk1"/>
                </a:solidFill>
                <a:latin typeface="Calibri"/>
                <a:ea typeface="Calibri"/>
                <a:cs typeface="Calibri"/>
                <a:sym typeface="Calibri"/>
              </a:rPr>
              <a:t>at the same time</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up their models, let them know that their next step will be to conduct a gallery walk to compare their team’s model with the models created by other teams.</a:t>
            </a: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4b5075db76_0_4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4b5075db76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23.</a:t>
            </a:r>
            <a:r>
              <a:rPr lang="en" sz="1200">
                <a:solidFill>
                  <a:schemeClr val="dk1"/>
                </a:solidFill>
                <a:latin typeface="Calibri"/>
                <a:ea typeface="Calibri"/>
                <a:cs typeface="Calibri"/>
                <a:sym typeface="Calibri"/>
              </a:rPr>
              <a:t> Before students start conducting their gallery walk, inform them that as part of the gallery walk, you would like for them to provide feedback on the models of their peers on post-it notes. Each post-it note will represent one portion of feedback.</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4b5075db76_0_4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4b5075db76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 </a:t>
            </a:r>
            <a:r>
              <a:rPr lang="en" sz="1200" b="1">
                <a:solidFill>
                  <a:schemeClr val="dk1"/>
                </a:solidFill>
                <a:latin typeface="Calibri"/>
                <a:ea typeface="Calibri"/>
                <a:cs typeface="Calibri"/>
                <a:sym typeface="Calibri"/>
              </a:rPr>
              <a:t>Slide 24</a:t>
            </a:r>
            <a:r>
              <a:rPr lang="en" sz="1200">
                <a:solidFill>
                  <a:schemeClr val="dk1"/>
                </a:solidFill>
                <a:latin typeface="Calibri"/>
                <a:ea typeface="Calibri"/>
                <a:cs typeface="Calibri"/>
                <a:sym typeface="Calibri"/>
              </a:rPr>
              <a:t>, to help guide students through providing feedback, </a:t>
            </a:r>
            <a:r>
              <a:rPr lang="en" sz="1200" b="1">
                <a:solidFill>
                  <a:schemeClr val="dk1"/>
                </a:solidFill>
                <a:latin typeface="Calibri"/>
                <a:ea typeface="Calibri"/>
                <a:cs typeface="Calibri"/>
                <a:sym typeface="Calibri"/>
              </a:rPr>
              <a:t>share the following questions that they should consider as they visit each model.</a:t>
            </a:r>
            <a:endParaRPr sz="1200" b="1">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Does this model include a variety of components, processes, and interactions? Is there anything that is missing that might help explain the system better?</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the components, processes, and interactions help explain why that value is important and how it might be impacted by climate change?</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part of this model helped you understand how climate change is impacting the chosen value?</a:t>
            </a:r>
            <a:endParaRPr sz="1200">
              <a:solidFill>
                <a:schemeClr val="dk1"/>
              </a:solidFill>
              <a:latin typeface="Calibri"/>
              <a:ea typeface="Calibri"/>
              <a:cs typeface="Calibri"/>
              <a:sym typeface="Calibri"/>
            </a:endParaRPr>
          </a:p>
          <a:p>
            <a:pPr marL="4572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suggestions do you have to make this model more complete or clear?</a:t>
            </a:r>
            <a:endParaRPr sz="1200">
              <a:solidFill>
                <a:schemeClr val="dk1"/>
              </a:solidFill>
              <a:latin typeface="Calibri"/>
              <a:ea typeface="Calibri"/>
              <a:cs typeface="Calibri"/>
              <a:sym typeface="Calibri"/>
            </a:endParaRPr>
          </a:p>
          <a:p>
            <a:pPr marL="0" lvl="0" indent="0" algn="l" rtl="0">
              <a:lnSpc>
                <a:spcPct val="115000"/>
              </a:lnSpc>
              <a:spcBef>
                <a:spcPts val="120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120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up their gallery walk, invite them to take a look back at their model. Ask student teams to answer the following questions as a group.</a:t>
            </a: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patterns did you notice as you conducted your gallery walk?</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Were there any ideas or aspects you saw in other models that you would like to incorporate into yours?</a:t>
            </a: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4b5075db76_0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4b5075db76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Bring the class back together as you finish up for the day. Tell the students that like before, you would like to take a moment for them to reflect in their Science Journals.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25</a:t>
            </a:r>
            <a:r>
              <a:rPr lang="en" sz="1200">
                <a:solidFill>
                  <a:schemeClr val="dk1"/>
                </a:solidFill>
                <a:latin typeface="Calibri"/>
                <a:ea typeface="Calibri"/>
                <a:cs typeface="Calibri"/>
                <a:sym typeface="Calibri"/>
              </a:rPr>
              <a:t> and ask student teams to reflect on </a:t>
            </a:r>
            <a:r>
              <a:rPr lang="en" sz="1200" b="1">
                <a:solidFill>
                  <a:schemeClr val="dk1"/>
                </a:solidFill>
                <a:latin typeface="Calibri"/>
                <a:ea typeface="Calibri"/>
                <a:cs typeface="Calibri"/>
                <a:sym typeface="Calibri"/>
              </a:rPr>
              <a:t>Module 2.1 Building a Model (Student Reflection), p. 19</a:t>
            </a:r>
            <a:r>
              <a:rPr lang="en" sz="1200">
                <a:solidFill>
                  <a:schemeClr val="dk1"/>
                </a:solidFill>
                <a:latin typeface="Calibri"/>
                <a:ea typeface="Calibri"/>
                <a:cs typeface="Calibri"/>
                <a:sym typeface="Calibri"/>
              </a:rPr>
              <a:t> of their Science Journals.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learn about the components, processes, and interactions in the ocean while building your model? </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are these components, processes, and interactions connected to the value you chose?</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parts of your model would you like to learn more about? How might you investigate or gather information to explore these areas further?</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their discussion, and if time allows, have teams share with the entire class.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4b5075db76_0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4b5075db76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the students for their time today. Advance to </a:t>
            </a:r>
            <a:r>
              <a:rPr lang="en" sz="1200" b="1">
                <a:solidFill>
                  <a:schemeClr val="dk1"/>
                </a:solidFill>
                <a:latin typeface="Calibri"/>
                <a:ea typeface="Calibri"/>
                <a:cs typeface="Calibri"/>
                <a:sym typeface="Calibri"/>
              </a:rPr>
              <a:t>Slide 26</a:t>
            </a:r>
            <a:r>
              <a:rPr lang="en" sz="1200">
                <a:solidFill>
                  <a:schemeClr val="dk1"/>
                </a:solidFill>
                <a:latin typeface="Calibri"/>
                <a:ea typeface="Calibri"/>
                <a:cs typeface="Calibri"/>
                <a:sym typeface="Calibri"/>
              </a:rPr>
              <a:t>  and let students know that during the next session, they are going to take more time to refine and incorporate new ideas into their model. They have already incorporated ideas from their interviews, but next, they will have a conversation with a generative AI platform to identify potential areas for improvement on their model.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4b5075db76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4b5075db76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tinyurl.com/AISciModel"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tinyurl.com/AISciModel"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624600" y="1901550"/>
            <a:ext cx="3551400" cy="670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4500" b="1">
                <a:solidFill>
                  <a:srgbClr val="541900"/>
                </a:solidFill>
              </a:rPr>
              <a:t>Building a Model</a:t>
            </a:r>
            <a:endParaRPr sz="4500" b="1">
              <a:solidFill>
                <a:srgbClr val="541900"/>
              </a:solidFill>
            </a:endParaRPr>
          </a:p>
        </p:txBody>
      </p:sp>
      <p:sp>
        <p:nvSpPr>
          <p:cNvPr id="55" name="Google Shape;55;p13"/>
          <p:cNvSpPr txBox="1">
            <a:spLocks noGrp="1"/>
          </p:cNvSpPr>
          <p:nvPr>
            <p:ph type="body" idx="4294967295"/>
          </p:nvPr>
        </p:nvSpPr>
        <p:spPr>
          <a:xfrm>
            <a:off x="2286600" y="2571750"/>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1200"/>
              </a:spcAft>
              <a:buNone/>
            </a:pPr>
            <a:r>
              <a:rPr lang="en" sz="1200">
                <a:solidFill>
                  <a:srgbClr val="355E3B"/>
                </a:solidFill>
                <a:latin typeface="Arial"/>
                <a:ea typeface="Arial"/>
                <a:cs typeface="Arial"/>
                <a:sym typeface="Arial"/>
              </a:rPr>
              <a:t>Module </a:t>
            </a:r>
            <a:r>
              <a:rPr lang="en" sz="1200">
                <a:solidFill>
                  <a:srgbClr val="355E3B"/>
                </a:solidFill>
              </a:rPr>
              <a:t>2.1</a:t>
            </a:r>
            <a:endParaRPr sz="1200">
              <a:solidFill>
                <a:srgbClr val="355E3B"/>
              </a:solidFill>
              <a:latin typeface="Arial"/>
              <a:ea typeface="Arial"/>
              <a:cs typeface="Arial"/>
              <a:sym typeface="Arial"/>
            </a:endParaRPr>
          </a:p>
        </p:txBody>
      </p:sp>
      <p:sp>
        <p:nvSpPr>
          <p:cNvPr id="56" name="Google Shape;56;p13"/>
          <p:cNvSpPr/>
          <p:nvPr/>
        </p:nvSpPr>
        <p:spPr>
          <a:xfrm>
            <a:off x="4919100" y="2400"/>
            <a:ext cx="4224900" cy="5143500"/>
          </a:xfrm>
          <a:prstGeom prst="rect">
            <a:avLst/>
          </a:prstGeom>
          <a:solidFill>
            <a:srgbClr val="9FA61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p>
        </p:txBody>
      </p:sp>
      <p:sp>
        <p:nvSpPr>
          <p:cNvPr id="57" name="Google Shape;57;p13"/>
          <p:cNvSpPr txBox="1">
            <a:spLocks noGrp="1"/>
          </p:cNvSpPr>
          <p:nvPr>
            <p:ph type="subTitle"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rPr>
              <a:t>AISciComm | </a:t>
            </a:r>
            <a:r>
              <a:rPr lang="en" sz="1200">
                <a:solidFill>
                  <a:schemeClr val="dk1"/>
                </a:solidFill>
                <a:latin typeface="Arial"/>
                <a:ea typeface="Arial"/>
                <a:cs typeface="Arial"/>
                <a:sym typeface="Arial"/>
              </a:rPr>
              <a:t>Module </a:t>
            </a:r>
            <a:r>
              <a:rPr lang="en" sz="1200">
                <a:solidFill>
                  <a:schemeClr val="dk1"/>
                </a:solidFill>
              </a:rPr>
              <a:t>2.1 Building a Model</a:t>
            </a:r>
            <a:endParaRPr sz="1200">
              <a:solidFill>
                <a:schemeClr val="dk1"/>
              </a:solidFill>
            </a:endParaRPr>
          </a:p>
          <a:p>
            <a:pPr marL="0" lvl="0" indent="0" algn="ctr" rtl="0">
              <a:spcBef>
                <a:spcPts val="0"/>
              </a:spcBef>
              <a:spcAft>
                <a:spcPts val="0"/>
              </a:spcAft>
              <a:buNone/>
            </a:pPr>
            <a:endParaRPr sz="1200">
              <a:solidFill>
                <a:schemeClr val="dk1"/>
              </a:solidFill>
              <a:latin typeface="Arial"/>
              <a:ea typeface="Arial"/>
              <a:cs typeface="Arial"/>
              <a:sym typeface="Arial"/>
            </a:endParaRPr>
          </a:p>
        </p:txBody>
      </p:sp>
      <p:pic>
        <p:nvPicPr>
          <p:cNvPr id="58" name="Google Shape;58;p13"/>
          <p:cNvPicPr preferRelativeResize="0"/>
          <p:nvPr/>
        </p:nvPicPr>
        <p:blipFill rotWithShape="1">
          <a:blip r:embed="rId3">
            <a:alphaModFix/>
          </a:blip>
          <a:srcRect r="47641"/>
          <a:stretch/>
        </p:blipFill>
        <p:spPr>
          <a:xfrm>
            <a:off x="4919100" y="0"/>
            <a:ext cx="42249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445025"/>
            <a:ext cx="8648400" cy="75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Reflecting on What We’ve Done</a:t>
            </a:r>
            <a:endParaRPr sz="4200" b="1">
              <a:solidFill>
                <a:srgbClr val="541900"/>
              </a:solidFill>
            </a:endParaRPr>
          </a:p>
        </p:txBody>
      </p:sp>
      <p:sp>
        <p:nvSpPr>
          <p:cNvPr id="64" name="Google Shape;64;p14"/>
          <p:cNvSpPr txBox="1">
            <a:spLocks noGrp="1"/>
          </p:cNvSpPr>
          <p:nvPr>
            <p:ph type="body" idx="2"/>
          </p:nvPr>
        </p:nvSpPr>
        <p:spPr>
          <a:xfrm>
            <a:off x="311700" y="1567000"/>
            <a:ext cx="8536500" cy="264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rPr>
              <a:t>What did you do in module 1? What kind of information did you gather?</a:t>
            </a:r>
            <a:endParaRPr sz="2000">
              <a:solidFill>
                <a:schemeClr val="dk1"/>
              </a:solidFill>
            </a:endParaRPr>
          </a:p>
          <a:p>
            <a:pPr marL="0" lvl="0" indent="0" algn="l" rtl="0">
              <a:spcBef>
                <a:spcPts val="1200"/>
              </a:spcBef>
              <a:spcAft>
                <a:spcPts val="1200"/>
              </a:spcAft>
              <a:buNone/>
            </a:pPr>
            <a:endParaRPr sz="2000">
              <a:solidFill>
                <a:schemeClr val="dk1"/>
              </a:solidFill>
            </a:endParaRPr>
          </a:p>
        </p:txBody>
      </p:sp>
      <p:sp>
        <p:nvSpPr>
          <p:cNvPr id="65" name="Google Shape;65;p14"/>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a:t>
            </a:r>
            <a:endParaRPr sz="1200">
              <a:solidFill>
                <a:srgbClr val="000000"/>
              </a:solidFill>
            </a:endParaRPr>
          </a:p>
        </p:txBody>
      </p:sp>
      <p:sp>
        <p:nvSpPr>
          <p:cNvPr id="66" name="Google Shape;66;p14"/>
          <p:cNvSpPr txBox="1"/>
          <p:nvPr/>
        </p:nvSpPr>
        <p:spPr>
          <a:xfrm>
            <a:off x="311700" y="1196325"/>
            <a:ext cx="8760600" cy="37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700">
                <a:solidFill>
                  <a:srgbClr val="355E3B"/>
                </a:solidFill>
              </a:rPr>
              <a:t>As a class, take a moment and reflect on what you have accomplished in module 1.</a:t>
            </a:r>
            <a:endParaRPr sz="1700">
              <a:solidFill>
                <a:srgbClr val="355E3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648400" cy="75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Reflecting on What We’ve Done</a:t>
            </a:r>
            <a:endParaRPr sz="4200" b="1">
              <a:solidFill>
                <a:srgbClr val="541900"/>
              </a:solidFill>
            </a:endParaRPr>
          </a:p>
        </p:txBody>
      </p:sp>
      <p:sp>
        <p:nvSpPr>
          <p:cNvPr id="72" name="Google Shape;72;p15"/>
          <p:cNvSpPr txBox="1">
            <a:spLocks noGrp="1"/>
          </p:cNvSpPr>
          <p:nvPr>
            <p:ph type="body" idx="2"/>
          </p:nvPr>
        </p:nvSpPr>
        <p:spPr>
          <a:xfrm>
            <a:off x="311700" y="1567000"/>
            <a:ext cx="8536500" cy="264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rPr>
              <a:t>What did you do in module 1? What kind of information did you gather?</a:t>
            </a:r>
            <a:endParaRPr sz="2000">
              <a:solidFill>
                <a:schemeClr val="dk1"/>
              </a:solidFill>
            </a:endParaRPr>
          </a:p>
          <a:p>
            <a:pPr marL="0" lvl="0" indent="0" algn="l" rtl="0">
              <a:spcBef>
                <a:spcPts val="1200"/>
              </a:spcBef>
              <a:spcAft>
                <a:spcPts val="0"/>
              </a:spcAft>
              <a:buNone/>
            </a:pPr>
            <a:r>
              <a:rPr lang="en" sz="2000" b="1">
                <a:solidFill>
                  <a:srgbClr val="9FA617"/>
                </a:solidFill>
              </a:rPr>
              <a:t>In Module 1 you:</a:t>
            </a:r>
            <a:endParaRPr sz="2000" b="1">
              <a:solidFill>
                <a:srgbClr val="9FA617"/>
              </a:solidFill>
            </a:endParaRPr>
          </a:p>
          <a:p>
            <a:pPr marL="457200" lvl="0" indent="-355600" algn="l" rtl="0">
              <a:spcBef>
                <a:spcPts val="1200"/>
              </a:spcBef>
              <a:spcAft>
                <a:spcPts val="0"/>
              </a:spcAft>
              <a:buClr>
                <a:srgbClr val="541900"/>
              </a:buClr>
              <a:buSzPts val="2000"/>
              <a:buFont typeface="Arial"/>
              <a:buAutoNum type="arabicPeriod"/>
            </a:pPr>
            <a:r>
              <a:rPr lang="en" sz="2000">
                <a:solidFill>
                  <a:schemeClr val="dk1"/>
                </a:solidFill>
              </a:rPr>
              <a:t>Considered how the ocean is changing.</a:t>
            </a:r>
            <a:endParaRPr sz="2000">
              <a:solidFill>
                <a:schemeClr val="dk1"/>
              </a:solidFill>
            </a:endParaRPr>
          </a:p>
          <a:p>
            <a:pPr marL="457200" lvl="0" indent="-355600" algn="l" rtl="0">
              <a:spcBef>
                <a:spcPts val="0"/>
              </a:spcBef>
              <a:spcAft>
                <a:spcPts val="0"/>
              </a:spcAft>
              <a:buClr>
                <a:srgbClr val="541900"/>
              </a:buClr>
              <a:buSzPts val="2000"/>
              <a:buFont typeface="Arial"/>
              <a:buAutoNum type="arabicPeriod"/>
            </a:pPr>
            <a:r>
              <a:rPr lang="en" sz="2000">
                <a:solidFill>
                  <a:schemeClr val="dk1"/>
                </a:solidFill>
              </a:rPr>
              <a:t>Conducted research on how climate change will impact Southern California’s beaches.</a:t>
            </a:r>
            <a:endParaRPr sz="2000">
              <a:solidFill>
                <a:schemeClr val="dk1"/>
              </a:solidFill>
            </a:endParaRPr>
          </a:p>
          <a:p>
            <a:pPr marL="457200" lvl="0" indent="-355600" algn="l" rtl="0">
              <a:spcBef>
                <a:spcPts val="0"/>
              </a:spcBef>
              <a:spcAft>
                <a:spcPts val="0"/>
              </a:spcAft>
              <a:buClr>
                <a:srgbClr val="541900"/>
              </a:buClr>
              <a:buSzPts val="2000"/>
              <a:buFont typeface="Arial"/>
              <a:buAutoNum type="arabicPeriod"/>
            </a:pPr>
            <a:r>
              <a:rPr lang="en" sz="2000">
                <a:solidFill>
                  <a:schemeClr val="dk1"/>
                </a:solidFill>
              </a:rPr>
              <a:t>Interviewed community members to see how changes to the ocean will impact what we value. </a:t>
            </a:r>
            <a:endParaRPr sz="2000">
              <a:solidFill>
                <a:schemeClr val="dk1"/>
              </a:solidFill>
            </a:endParaRPr>
          </a:p>
          <a:p>
            <a:pPr marL="0" lvl="0" indent="0" algn="l" rtl="0">
              <a:spcBef>
                <a:spcPts val="1200"/>
              </a:spcBef>
              <a:spcAft>
                <a:spcPts val="1200"/>
              </a:spcAft>
              <a:buNone/>
            </a:pPr>
            <a:endParaRPr sz="2000">
              <a:solidFill>
                <a:schemeClr val="dk1"/>
              </a:solidFill>
            </a:endParaRPr>
          </a:p>
        </p:txBody>
      </p:sp>
      <p:sp>
        <p:nvSpPr>
          <p:cNvPr id="73" name="Google Shape;73;p1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3</a:t>
            </a:r>
            <a:endParaRPr sz="1200">
              <a:solidFill>
                <a:srgbClr val="000000"/>
              </a:solidFill>
            </a:endParaRPr>
          </a:p>
        </p:txBody>
      </p:sp>
      <p:sp>
        <p:nvSpPr>
          <p:cNvPr id="74" name="Google Shape;74;p15"/>
          <p:cNvSpPr txBox="1"/>
          <p:nvPr/>
        </p:nvSpPr>
        <p:spPr>
          <a:xfrm>
            <a:off x="311700" y="1196325"/>
            <a:ext cx="8760600" cy="37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700">
                <a:solidFill>
                  <a:srgbClr val="355E3B"/>
                </a:solidFill>
              </a:rPr>
              <a:t>As a class, take a moment and reflect on what you have accomplished in module 1.</a:t>
            </a:r>
            <a:endParaRPr sz="1700">
              <a:solidFill>
                <a:srgbClr val="355E3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8"/>
        <p:cNvGrpSpPr/>
        <p:nvPr/>
      </p:nvGrpSpPr>
      <p:grpSpPr>
        <a:xfrm>
          <a:off x="0" y="0"/>
          <a:ext cx="0" cy="0"/>
          <a:chOff x="0" y="0"/>
          <a:chExt cx="0" cy="0"/>
        </a:xfrm>
      </p:grpSpPr>
      <p:sp>
        <p:nvSpPr>
          <p:cNvPr id="79" name="Google Shape;79;p16"/>
          <p:cNvSpPr txBox="1">
            <a:spLocks noGrp="1"/>
          </p:cNvSpPr>
          <p:nvPr>
            <p:ph type="body" idx="1"/>
          </p:nvPr>
        </p:nvSpPr>
        <p:spPr>
          <a:xfrm>
            <a:off x="311700" y="847675"/>
            <a:ext cx="4521900" cy="512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solidFill>
                  <a:srgbClr val="355E3B"/>
                </a:solidFill>
              </a:rPr>
              <a:t>During module 2.1, you will:</a:t>
            </a:r>
            <a:endParaRPr sz="2000">
              <a:solidFill>
                <a:srgbClr val="355E3B"/>
              </a:solidFill>
            </a:endParaRPr>
          </a:p>
        </p:txBody>
      </p:sp>
      <p:sp>
        <p:nvSpPr>
          <p:cNvPr id="80" name="Google Shape;80;p16"/>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Module Overview</a:t>
            </a:r>
            <a:endParaRPr sz="4100" b="1">
              <a:solidFill>
                <a:srgbClr val="541900"/>
              </a:solidFill>
            </a:endParaRPr>
          </a:p>
        </p:txBody>
      </p:sp>
      <p:sp>
        <p:nvSpPr>
          <p:cNvPr id="81" name="Google Shape;81;p16"/>
          <p:cNvSpPr txBox="1">
            <a:spLocks noGrp="1"/>
          </p:cNvSpPr>
          <p:nvPr>
            <p:ph type="body" idx="4294967295"/>
          </p:nvPr>
        </p:nvSpPr>
        <p:spPr>
          <a:xfrm>
            <a:off x="235500" y="1360075"/>
            <a:ext cx="4521900" cy="2906400"/>
          </a:xfrm>
          <a:prstGeom prst="rect">
            <a:avLst/>
          </a:prstGeom>
        </p:spPr>
        <p:txBody>
          <a:bodyPr spcFirstLastPara="1" wrap="square" lIns="91425" tIns="91425" rIns="91425" bIns="91425" anchor="t" anchorCtr="0">
            <a:normAutofit fontScale="92500" lnSpcReduction="10000"/>
          </a:bodyPr>
          <a:lstStyle/>
          <a:p>
            <a:pPr marL="457200" lvl="0" indent="-340201" algn="l" rtl="0">
              <a:lnSpc>
                <a:spcPct val="115000"/>
              </a:lnSpc>
              <a:spcBef>
                <a:spcPts val="0"/>
              </a:spcBef>
              <a:spcAft>
                <a:spcPts val="0"/>
              </a:spcAft>
              <a:buClr>
                <a:srgbClr val="541900"/>
              </a:buClr>
              <a:buSzPct val="100000"/>
              <a:buChar char="●"/>
            </a:pPr>
            <a:r>
              <a:rPr lang="en" sz="1900">
                <a:solidFill>
                  <a:schemeClr val="dk1"/>
                </a:solidFill>
              </a:rPr>
              <a:t>Brainstorm the components and processes that make up the ocean and how humans interact with the ocean system.</a:t>
            </a:r>
            <a:endParaRPr sz="1900">
              <a:solidFill>
                <a:schemeClr val="dk1"/>
              </a:solidFill>
            </a:endParaRPr>
          </a:p>
          <a:p>
            <a:pPr marL="457200" lvl="0" indent="-340201" algn="l" rtl="0">
              <a:lnSpc>
                <a:spcPct val="115000"/>
              </a:lnSpc>
              <a:spcBef>
                <a:spcPts val="0"/>
              </a:spcBef>
              <a:spcAft>
                <a:spcPts val="0"/>
              </a:spcAft>
              <a:buClr>
                <a:srgbClr val="541900"/>
              </a:buClr>
              <a:buSzPct val="100000"/>
              <a:buChar char="●"/>
            </a:pPr>
            <a:r>
              <a:rPr lang="en" sz="1900">
                <a:solidFill>
                  <a:schemeClr val="dk1"/>
                </a:solidFill>
              </a:rPr>
              <a:t>Create a model to share why community members care about Southern California’s ocean.</a:t>
            </a:r>
            <a:endParaRPr sz="1900">
              <a:solidFill>
                <a:schemeClr val="dk1"/>
              </a:solidFill>
            </a:endParaRPr>
          </a:p>
          <a:p>
            <a:pPr marL="457200" lvl="0" indent="-340201" algn="l" rtl="0">
              <a:lnSpc>
                <a:spcPct val="115000"/>
              </a:lnSpc>
              <a:spcBef>
                <a:spcPts val="0"/>
              </a:spcBef>
              <a:spcAft>
                <a:spcPts val="0"/>
              </a:spcAft>
              <a:buClr>
                <a:srgbClr val="541900"/>
              </a:buClr>
              <a:buSzPct val="100000"/>
              <a:buChar char="●"/>
            </a:pPr>
            <a:r>
              <a:rPr lang="en" sz="1900">
                <a:solidFill>
                  <a:schemeClr val="dk1"/>
                </a:solidFill>
              </a:rPr>
              <a:t>Use your model to explore how climate change can impact the ocean system.</a:t>
            </a:r>
            <a:endParaRPr sz="1900">
              <a:solidFill>
                <a:schemeClr val="dk1"/>
              </a:solidFill>
            </a:endParaRPr>
          </a:p>
        </p:txBody>
      </p:sp>
      <p:pic>
        <p:nvPicPr>
          <p:cNvPr id="82" name="Google Shape;82;p16" title="PXL_20231208_203932984~2.jpg"/>
          <p:cNvPicPr preferRelativeResize="0"/>
          <p:nvPr/>
        </p:nvPicPr>
        <p:blipFill rotWithShape="1">
          <a:blip r:embed="rId3">
            <a:alphaModFix/>
          </a:blip>
          <a:srcRect l="36387" t="3026"/>
          <a:stretch/>
        </p:blipFill>
        <p:spPr>
          <a:xfrm>
            <a:off x="4978400" y="0"/>
            <a:ext cx="4054825" cy="4654026"/>
          </a:xfrm>
          <a:prstGeom prst="rect">
            <a:avLst/>
          </a:prstGeom>
          <a:noFill/>
          <a:ln>
            <a:noFill/>
          </a:ln>
        </p:spPr>
      </p:pic>
      <p:sp>
        <p:nvSpPr>
          <p:cNvPr id="83" name="Google Shape;83;p16"/>
          <p:cNvSpPr txBox="1"/>
          <p:nvPr/>
        </p:nvSpPr>
        <p:spPr>
          <a:xfrm>
            <a:off x="6269900" y="4654025"/>
            <a:ext cx="1490700" cy="604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2"/>
                </a:solidFill>
              </a:rPr>
              <a:t>Crystal Cove State Park</a:t>
            </a:r>
            <a:endParaRPr sz="800" b="1">
              <a:solidFill>
                <a:schemeClr val="dk2"/>
              </a:solidFill>
            </a:endParaRPr>
          </a:p>
          <a:p>
            <a:pPr marL="0" lvl="0" indent="0" algn="ctr" rtl="0">
              <a:spcBef>
                <a:spcPts val="0"/>
              </a:spcBef>
              <a:spcAft>
                <a:spcPts val="0"/>
              </a:spcAft>
              <a:buNone/>
            </a:pPr>
            <a:r>
              <a:rPr lang="en" sz="800" b="1">
                <a:solidFill>
                  <a:schemeClr val="dk2"/>
                </a:solidFill>
              </a:rPr>
              <a:t>Newport Beach, California</a:t>
            </a:r>
            <a:endParaRPr sz="800" b="1">
              <a:solidFill>
                <a:schemeClr val="dk2"/>
              </a:solidFill>
            </a:endParaRPr>
          </a:p>
        </p:txBody>
      </p:sp>
      <p:sp>
        <p:nvSpPr>
          <p:cNvPr id="84" name="Google Shape;84;p16"/>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rgbClr val="000000"/>
                </a:solidFill>
              </a:rPr>
              <a:t>Module </a:t>
            </a:r>
            <a:r>
              <a:rPr lang="en" sz="1200"/>
              <a:t>2.1 Building a Model</a:t>
            </a:r>
            <a:br>
              <a:rPr lang="en" sz="1200">
                <a:solidFill>
                  <a:srgbClr val="000000"/>
                </a:solidFill>
              </a:rPr>
            </a:br>
            <a:r>
              <a:rPr lang="en" sz="1200"/>
              <a:t>Slide 4</a:t>
            </a:r>
            <a:endParaRPr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8"/>
        <p:cNvGrpSpPr/>
        <p:nvPr/>
      </p:nvGrpSpPr>
      <p:grpSpPr>
        <a:xfrm>
          <a:off x="0" y="0"/>
          <a:ext cx="0" cy="0"/>
          <a:chOff x="0" y="0"/>
          <a:chExt cx="0" cy="0"/>
        </a:xfrm>
      </p:grpSpPr>
      <p:sp>
        <p:nvSpPr>
          <p:cNvPr id="89" name="Google Shape;89;p17"/>
          <p:cNvSpPr txBox="1">
            <a:spLocks noGrp="1"/>
          </p:cNvSpPr>
          <p:nvPr>
            <p:ph type="body" idx="1"/>
          </p:nvPr>
        </p:nvSpPr>
        <p:spPr>
          <a:xfrm>
            <a:off x="311700" y="1196325"/>
            <a:ext cx="4543500" cy="720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a:solidFill>
                  <a:srgbClr val="355E3B"/>
                </a:solidFill>
              </a:rPr>
              <a:t>With your team, take a moment to reflect on how individuals value the ocean. Then share as a class.</a:t>
            </a:r>
            <a:endParaRPr sz="1700">
              <a:solidFill>
                <a:srgbClr val="355E3B"/>
              </a:solidFill>
            </a:endParaRPr>
          </a:p>
        </p:txBody>
      </p:sp>
      <p:sp>
        <p:nvSpPr>
          <p:cNvPr id="90" name="Google Shape;90;p17"/>
          <p:cNvSpPr txBox="1">
            <a:spLocks noGrp="1"/>
          </p:cNvSpPr>
          <p:nvPr>
            <p:ph type="title"/>
          </p:nvPr>
        </p:nvSpPr>
        <p:spPr>
          <a:xfrm>
            <a:off x="311700" y="445025"/>
            <a:ext cx="4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Peer Discussion</a:t>
            </a:r>
            <a:endParaRPr sz="4200" b="1">
              <a:solidFill>
                <a:srgbClr val="541900"/>
              </a:solidFill>
            </a:endParaRPr>
          </a:p>
        </p:txBody>
      </p:sp>
      <p:sp>
        <p:nvSpPr>
          <p:cNvPr id="91" name="Google Shape;91;p17"/>
          <p:cNvSpPr txBox="1">
            <a:spLocks noGrp="1"/>
          </p:cNvSpPr>
          <p:nvPr>
            <p:ph type="body" idx="2"/>
          </p:nvPr>
        </p:nvSpPr>
        <p:spPr>
          <a:xfrm>
            <a:off x="311700" y="2181025"/>
            <a:ext cx="4543500" cy="2334600"/>
          </a:xfrm>
          <a:prstGeom prst="rect">
            <a:avLst/>
          </a:prstGeom>
        </p:spPr>
        <p:txBody>
          <a:bodyPr spcFirstLastPara="1" wrap="square" lIns="91425" tIns="91425" rIns="91425" bIns="91425" anchor="t" anchorCtr="0">
            <a:noAutofit/>
          </a:bodyPr>
          <a:lstStyle/>
          <a:p>
            <a:pPr marL="457200" lvl="1" indent="-330200" algn="l" rtl="0">
              <a:lnSpc>
                <a:spcPct val="115000"/>
              </a:lnSpc>
              <a:spcBef>
                <a:spcPts val="0"/>
              </a:spcBef>
              <a:spcAft>
                <a:spcPts val="0"/>
              </a:spcAft>
              <a:buClr>
                <a:srgbClr val="541900"/>
              </a:buClr>
              <a:buSzPts val="1600"/>
              <a:buChar char="●"/>
            </a:pPr>
            <a:r>
              <a:rPr lang="en" sz="1600">
                <a:solidFill>
                  <a:schemeClr val="dk1"/>
                </a:solidFill>
              </a:rPr>
              <a:t>How do you interact with the ocean? Why do you value it?</a:t>
            </a:r>
            <a:endParaRPr sz="1600">
              <a:solidFill>
                <a:schemeClr val="dk1"/>
              </a:solidFill>
            </a:endParaRPr>
          </a:p>
          <a:p>
            <a:pPr marL="457200" lvl="1" indent="-330200" algn="l" rtl="0">
              <a:lnSpc>
                <a:spcPct val="115000"/>
              </a:lnSpc>
              <a:spcBef>
                <a:spcPts val="0"/>
              </a:spcBef>
              <a:spcAft>
                <a:spcPts val="0"/>
              </a:spcAft>
              <a:buClr>
                <a:srgbClr val="541900"/>
              </a:buClr>
              <a:buSzPts val="1600"/>
              <a:buChar char="●"/>
            </a:pPr>
            <a:r>
              <a:rPr lang="en" sz="1600">
                <a:solidFill>
                  <a:schemeClr val="dk1"/>
                </a:solidFill>
              </a:rPr>
              <a:t>How does your community interact with the ocean? Why do they value it?</a:t>
            </a:r>
            <a:endParaRPr sz="1600">
              <a:solidFill>
                <a:schemeClr val="dk1"/>
              </a:solidFill>
            </a:endParaRPr>
          </a:p>
          <a:p>
            <a:pPr marL="457200" lvl="1" indent="-330200" algn="l" rtl="0">
              <a:lnSpc>
                <a:spcPct val="115000"/>
              </a:lnSpc>
              <a:spcBef>
                <a:spcPts val="0"/>
              </a:spcBef>
              <a:spcAft>
                <a:spcPts val="0"/>
              </a:spcAft>
              <a:buClr>
                <a:srgbClr val="541900"/>
              </a:buClr>
              <a:buSzPts val="1600"/>
              <a:buChar char="●"/>
            </a:pPr>
            <a:r>
              <a:rPr lang="en" sz="1600">
                <a:solidFill>
                  <a:schemeClr val="dk1"/>
                </a:solidFill>
              </a:rPr>
              <a:t>What impact do you think climate change will have on the way communities interact with the ocean? </a:t>
            </a:r>
            <a:endParaRPr sz="1600">
              <a:solidFill>
                <a:schemeClr val="dk1"/>
              </a:solidFill>
            </a:endParaRPr>
          </a:p>
        </p:txBody>
      </p:sp>
      <p:sp>
        <p:nvSpPr>
          <p:cNvPr id="92" name="Google Shape;92;p1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5</a:t>
            </a:r>
            <a:endParaRPr sz="1200">
              <a:solidFill>
                <a:srgbClr val="000000"/>
              </a:solidFill>
            </a:endParaRPr>
          </a:p>
        </p:txBody>
      </p:sp>
      <p:pic>
        <p:nvPicPr>
          <p:cNvPr id="93" name="Google Shape;93;p17"/>
          <p:cNvPicPr preferRelativeResize="0"/>
          <p:nvPr/>
        </p:nvPicPr>
        <p:blipFill>
          <a:blip r:embed="rId3">
            <a:alphaModFix/>
          </a:blip>
          <a:stretch>
            <a:fillRect/>
          </a:stretch>
        </p:blipFill>
        <p:spPr>
          <a:xfrm>
            <a:off x="5007600" y="1170125"/>
            <a:ext cx="3984000" cy="2652139"/>
          </a:xfrm>
          <a:prstGeom prst="rect">
            <a:avLst/>
          </a:prstGeom>
          <a:noFill/>
          <a:ln>
            <a:noFill/>
          </a:ln>
        </p:spPr>
      </p:pic>
      <p:sp>
        <p:nvSpPr>
          <p:cNvPr id="94" name="Google Shape;94;p17"/>
          <p:cNvSpPr txBox="1"/>
          <p:nvPr/>
        </p:nvSpPr>
        <p:spPr>
          <a:xfrm>
            <a:off x="5007600" y="3901600"/>
            <a:ext cx="39840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t>Kelp forest. </a:t>
            </a:r>
            <a:br>
              <a:rPr lang="en" sz="1200"/>
            </a:br>
            <a:r>
              <a:rPr lang="en" sz="1000"/>
              <a:t>Source: https://www.nps.gov/chis/learn/nature/kelp-forests.htm</a:t>
            </a:r>
            <a:endParaRPr sz="10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8"/>
        <p:cNvGrpSpPr/>
        <p:nvPr/>
      </p:nvGrpSpPr>
      <p:grpSpPr>
        <a:xfrm>
          <a:off x="0" y="0"/>
          <a:ext cx="0" cy="0"/>
          <a:chOff x="0" y="0"/>
          <a:chExt cx="0" cy="0"/>
        </a:xfrm>
      </p:grpSpPr>
      <p:graphicFrame>
        <p:nvGraphicFramePr>
          <p:cNvPr id="99" name="Google Shape;99;p18"/>
          <p:cNvGraphicFramePr/>
          <p:nvPr/>
        </p:nvGraphicFramePr>
        <p:xfrm>
          <a:off x="681563" y="1871625"/>
          <a:ext cx="7780850" cy="2584271"/>
        </p:xfrm>
        <a:graphic>
          <a:graphicData uri="http://schemas.openxmlformats.org/drawingml/2006/table">
            <a:tbl>
              <a:tblPr>
                <a:noFill/>
                <a:tableStyleId>{66751170-4461-42CF-BC6A-A07F141387B1}</a:tableStyleId>
              </a:tblPr>
              <a:tblGrid>
                <a:gridCol w="3890425">
                  <a:extLst>
                    <a:ext uri="{9D8B030D-6E8A-4147-A177-3AD203B41FA5}">
                      <a16:colId xmlns:a16="http://schemas.microsoft.com/office/drawing/2014/main" val="20000"/>
                    </a:ext>
                  </a:extLst>
                </a:gridCol>
                <a:gridCol w="3890425">
                  <a:extLst>
                    <a:ext uri="{9D8B030D-6E8A-4147-A177-3AD203B41FA5}">
                      <a16:colId xmlns:a16="http://schemas.microsoft.com/office/drawing/2014/main" val="20001"/>
                    </a:ext>
                  </a:extLst>
                </a:gridCol>
              </a:tblGrid>
              <a:tr h="459400">
                <a:tc>
                  <a:txBody>
                    <a:bodyPr/>
                    <a:lstStyle/>
                    <a:p>
                      <a:pPr marL="0" lvl="0" indent="0" algn="ctr" rtl="0">
                        <a:spcBef>
                          <a:spcPts val="0"/>
                        </a:spcBef>
                        <a:spcAft>
                          <a:spcPts val="0"/>
                        </a:spcAft>
                        <a:buNone/>
                      </a:pPr>
                      <a:r>
                        <a:rPr lang="en" b="1">
                          <a:solidFill>
                            <a:schemeClr val="lt1"/>
                          </a:solidFill>
                        </a:rPr>
                        <a:t>Components</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55E3B"/>
                    </a:solidFill>
                  </a:tcPr>
                </a:tc>
                <a:tc>
                  <a:txBody>
                    <a:bodyPr/>
                    <a:lstStyle/>
                    <a:p>
                      <a:pPr marL="0" lvl="0" indent="0" algn="ctr" rtl="0">
                        <a:spcBef>
                          <a:spcPts val="0"/>
                        </a:spcBef>
                        <a:spcAft>
                          <a:spcPts val="0"/>
                        </a:spcAft>
                        <a:buNone/>
                      </a:pPr>
                      <a:r>
                        <a:rPr lang="en" b="1">
                          <a:solidFill>
                            <a:schemeClr val="lt1"/>
                          </a:solidFill>
                        </a:rPr>
                        <a:t>Processes</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55E3B"/>
                    </a:solidFill>
                  </a:tcPr>
                </a:tc>
                <a:extLst>
                  <a:ext uri="{0D108BD9-81ED-4DB2-BD59-A6C34878D82A}">
                    <a16:rowId xmlns:a16="http://schemas.microsoft.com/office/drawing/2014/main" val="10000"/>
                  </a:ext>
                </a:extLst>
              </a:tr>
              <a:tr h="872950">
                <a:tc>
                  <a:txBody>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Individual elements that make up the ocean system, which can include both living (biotic) and non-living (abiotic) elements. Examples could include: </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Organisms like fish, kelp, etc.</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Water</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Oxygen</a:t>
                      </a: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
                          <a:solidFill>
                            <a:schemeClr val="dk1"/>
                          </a:solidFill>
                        </a:rPr>
                        <a:t>Nutrients</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Actions in the ocean system that occur over time, such as: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Tidal shifts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Storm events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Photosynthesis</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0" name="Google Shape;100;p18"/>
          <p:cNvSpPr txBox="1">
            <a:spLocks noGrp="1"/>
          </p:cNvSpPr>
          <p:nvPr>
            <p:ph type="title"/>
          </p:nvPr>
        </p:nvSpPr>
        <p:spPr>
          <a:xfrm>
            <a:off x="452925" y="87425"/>
            <a:ext cx="825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Brainstorming</a:t>
            </a:r>
            <a:endParaRPr sz="4500" b="1">
              <a:solidFill>
                <a:srgbClr val="541900"/>
              </a:solidFill>
            </a:endParaRPr>
          </a:p>
        </p:txBody>
      </p:sp>
      <p:sp>
        <p:nvSpPr>
          <p:cNvPr id="101" name="Google Shape;101;p18"/>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6</a:t>
            </a:r>
            <a:endParaRPr sz="1200">
              <a:solidFill>
                <a:srgbClr val="000000"/>
              </a:solidFill>
            </a:endParaRPr>
          </a:p>
        </p:txBody>
      </p:sp>
      <p:sp>
        <p:nvSpPr>
          <p:cNvPr id="102" name="Google Shape;102;p18"/>
          <p:cNvSpPr txBox="1"/>
          <p:nvPr/>
        </p:nvSpPr>
        <p:spPr>
          <a:xfrm>
            <a:off x="452925" y="829950"/>
            <a:ext cx="8251500" cy="81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900">
                <a:solidFill>
                  <a:srgbClr val="355E3B"/>
                </a:solidFill>
              </a:rPr>
              <a:t>What are the </a:t>
            </a:r>
            <a:r>
              <a:rPr lang="en" sz="1900" b="1">
                <a:solidFill>
                  <a:srgbClr val="355E3B"/>
                </a:solidFill>
              </a:rPr>
              <a:t>components</a:t>
            </a:r>
            <a:r>
              <a:rPr lang="en" sz="1900">
                <a:solidFill>
                  <a:srgbClr val="355E3B"/>
                </a:solidFill>
              </a:rPr>
              <a:t> and </a:t>
            </a:r>
            <a:r>
              <a:rPr lang="en" sz="1900" b="1">
                <a:solidFill>
                  <a:srgbClr val="355E3B"/>
                </a:solidFill>
              </a:rPr>
              <a:t>processes</a:t>
            </a:r>
            <a:r>
              <a:rPr lang="en" sz="1900">
                <a:solidFill>
                  <a:srgbClr val="355E3B"/>
                </a:solidFill>
              </a:rPr>
              <a:t> that make up the ocean? With your team, create a list and add them to your brainstorming document. </a:t>
            </a:r>
            <a:endParaRPr sz="1900">
              <a:solidFill>
                <a:srgbClr val="355E3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6"/>
        <p:cNvGrpSpPr/>
        <p:nvPr/>
      </p:nvGrpSpPr>
      <p:grpSpPr>
        <a:xfrm>
          <a:off x="0" y="0"/>
          <a:ext cx="0" cy="0"/>
          <a:chOff x="0" y="0"/>
          <a:chExt cx="0" cy="0"/>
        </a:xfrm>
      </p:grpSpPr>
      <p:graphicFrame>
        <p:nvGraphicFramePr>
          <p:cNvPr id="107" name="Google Shape;107;p19"/>
          <p:cNvGraphicFramePr/>
          <p:nvPr/>
        </p:nvGraphicFramePr>
        <p:xfrm>
          <a:off x="901713" y="2155950"/>
          <a:ext cx="7353900" cy="1709050"/>
        </p:xfrm>
        <a:graphic>
          <a:graphicData uri="http://schemas.openxmlformats.org/drawingml/2006/table">
            <a:tbl>
              <a:tblPr>
                <a:noFill/>
                <a:tableStyleId>{66751170-4461-42CF-BC6A-A07F141387B1}</a:tableStyleId>
              </a:tblPr>
              <a:tblGrid>
                <a:gridCol w="7353900">
                  <a:extLst>
                    <a:ext uri="{9D8B030D-6E8A-4147-A177-3AD203B41FA5}">
                      <a16:colId xmlns:a16="http://schemas.microsoft.com/office/drawing/2014/main" val="20000"/>
                    </a:ext>
                  </a:extLst>
                </a:gridCol>
              </a:tblGrid>
              <a:tr h="459400">
                <a:tc>
                  <a:txBody>
                    <a:bodyPr/>
                    <a:lstStyle/>
                    <a:p>
                      <a:pPr marL="0" lvl="0" indent="0" algn="ctr" rtl="0">
                        <a:spcBef>
                          <a:spcPts val="0"/>
                        </a:spcBef>
                        <a:spcAft>
                          <a:spcPts val="0"/>
                        </a:spcAft>
                        <a:buNone/>
                      </a:pPr>
                      <a:r>
                        <a:rPr lang="en" b="1">
                          <a:solidFill>
                            <a:schemeClr val="lt1"/>
                          </a:solidFill>
                        </a:rPr>
                        <a:t>Interactions</a:t>
                      </a:r>
                      <a:endParaRPr b="1">
                        <a:solidFill>
                          <a:schemeClr val="lt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355E3B"/>
                    </a:solidFill>
                  </a:tcPr>
                </a:tc>
                <a:extLst>
                  <a:ext uri="{0D108BD9-81ED-4DB2-BD59-A6C34878D82A}">
                    <a16:rowId xmlns:a16="http://schemas.microsoft.com/office/drawing/2014/main" val="10000"/>
                  </a:ext>
                </a:extLst>
              </a:tr>
              <a:tr h="872950">
                <a:tc>
                  <a:txBody>
                    <a:bodyPr/>
                    <a:lstStyle/>
                    <a:p>
                      <a:pPr marL="0" lvl="0" indent="0" algn="l" rtl="0">
                        <a:spcBef>
                          <a:spcPts val="0"/>
                        </a:spcBef>
                        <a:spcAft>
                          <a:spcPts val="0"/>
                        </a:spcAft>
                        <a:buNone/>
                      </a:pPr>
                      <a:r>
                        <a:rPr lang="en">
                          <a:solidFill>
                            <a:schemeClr val="dk1"/>
                          </a:solidFill>
                        </a:rPr>
                        <a:t>The ways in which humans and different components of the ocean system engage with one another. These interactions could be positive, negative, or neutral, such as: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beach clean-ups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emitting carbon</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surfing</a:t>
                      </a:r>
                      <a:endParaRPr>
                        <a:solidFill>
                          <a:schemeClr val="dk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8" name="Google Shape;108;p19"/>
          <p:cNvSpPr txBox="1">
            <a:spLocks noGrp="1"/>
          </p:cNvSpPr>
          <p:nvPr>
            <p:ph type="title"/>
          </p:nvPr>
        </p:nvSpPr>
        <p:spPr>
          <a:xfrm>
            <a:off x="452925" y="87425"/>
            <a:ext cx="825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Brainstorming</a:t>
            </a:r>
            <a:endParaRPr sz="4500" b="1">
              <a:solidFill>
                <a:srgbClr val="541900"/>
              </a:solidFill>
            </a:endParaRPr>
          </a:p>
        </p:txBody>
      </p:sp>
      <p:sp>
        <p:nvSpPr>
          <p:cNvPr id="109" name="Google Shape;109;p19"/>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7</a:t>
            </a:r>
            <a:endParaRPr sz="1200">
              <a:solidFill>
                <a:srgbClr val="000000"/>
              </a:solidFill>
            </a:endParaRPr>
          </a:p>
        </p:txBody>
      </p:sp>
      <p:sp>
        <p:nvSpPr>
          <p:cNvPr id="110" name="Google Shape;110;p19"/>
          <p:cNvSpPr txBox="1"/>
          <p:nvPr/>
        </p:nvSpPr>
        <p:spPr>
          <a:xfrm>
            <a:off x="452925" y="829950"/>
            <a:ext cx="8251500" cy="125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2100">
                <a:solidFill>
                  <a:srgbClr val="355E3B"/>
                </a:solidFill>
              </a:rPr>
              <a:t>Next, with your team, start thinking about the different interactions humans may have with the ocean system. Add these interactions as the last category in the document.</a:t>
            </a:r>
            <a:endParaRPr sz="2100">
              <a:solidFill>
                <a:srgbClr val="355E3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4"/>
        <p:cNvGrpSpPr/>
        <p:nvPr/>
      </p:nvGrpSpPr>
      <p:grpSpPr>
        <a:xfrm>
          <a:off x="0" y="0"/>
          <a:ext cx="0" cy="0"/>
          <a:chOff x="0" y="0"/>
          <a:chExt cx="0" cy="0"/>
        </a:xfrm>
      </p:grpSpPr>
      <p:sp>
        <p:nvSpPr>
          <p:cNvPr id="115" name="Google Shape;115;p20"/>
          <p:cNvSpPr txBox="1">
            <a:spLocks noGrp="1"/>
          </p:cNvSpPr>
          <p:nvPr>
            <p:ph type="title"/>
          </p:nvPr>
        </p:nvSpPr>
        <p:spPr>
          <a:xfrm>
            <a:off x="311700" y="445025"/>
            <a:ext cx="86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Identifying a Value for Your Model</a:t>
            </a:r>
            <a:endParaRPr sz="4100" b="1">
              <a:solidFill>
                <a:srgbClr val="541900"/>
              </a:solidFill>
            </a:endParaRPr>
          </a:p>
        </p:txBody>
      </p:sp>
      <p:sp>
        <p:nvSpPr>
          <p:cNvPr id="116" name="Google Shape;116;p20"/>
          <p:cNvSpPr txBox="1">
            <a:spLocks noGrp="1"/>
          </p:cNvSpPr>
          <p:nvPr>
            <p:ph type="body" idx="2"/>
          </p:nvPr>
        </p:nvSpPr>
        <p:spPr>
          <a:xfrm>
            <a:off x="311700" y="2419850"/>
            <a:ext cx="8536500" cy="2151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700" dirty="0">
                <a:solidFill>
                  <a:schemeClr val="dk1"/>
                </a:solidFill>
              </a:rPr>
              <a:t>Answer question in Science Journal (p. 9-10):</a:t>
            </a:r>
            <a:endParaRPr sz="1700" dirty="0">
              <a:solidFill>
                <a:schemeClr val="dk1"/>
              </a:solidFill>
            </a:endParaRPr>
          </a:p>
          <a:p>
            <a:pPr marL="457200" lvl="0" indent="-336550" algn="l" rtl="0">
              <a:lnSpc>
                <a:spcPct val="115000"/>
              </a:lnSpc>
              <a:spcBef>
                <a:spcPts val="0"/>
              </a:spcBef>
              <a:spcAft>
                <a:spcPts val="0"/>
              </a:spcAft>
              <a:buClr>
                <a:schemeClr val="dk1"/>
              </a:buClr>
              <a:buSzPts val="1700"/>
              <a:buFont typeface="Arial"/>
              <a:buAutoNum type="arabicPeriod"/>
            </a:pPr>
            <a:r>
              <a:rPr lang="en" sz="1700" dirty="0">
                <a:solidFill>
                  <a:schemeClr val="dk1"/>
                </a:solidFill>
              </a:rPr>
              <a:t>What evidence shows why people care about the ocean? Include specific quotes or examples from your interview to support your answer (reference </a:t>
            </a:r>
            <a:r>
              <a:rPr lang="en" sz="1700" dirty="0">
                <a:solidFill>
                  <a:schemeClr val="hlink"/>
                </a:solidFill>
              </a:rPr>
              <a:t>Module 1.2 Part 2: Conducting Community Interviews notes</a:t>
            </a:r>
            <a:r>
              <a:rPr lang="en" sz="1700" dirty="0">
                <a:solidFill>
                  <a:schemeClr val="dk1"/>
                </a:solidFill>
              </a:rPr>
              <a:t>). </a:t>
            </a:r>
            <a:endParaRPr sz="1700" dirty="0">
              <a:solidFill>
                <a:schemeClr val="dk1"/>
              </a:solidFill>
            </a:endParaRPr>
          </a:p>
          <a:p>
            <a:pPr marL="457200" lvl="0" indent="-336550" algn="l" rtl="0">
              <a:lnSpc>
                <a:spcPct val="115000"/>
              </a:lnSpc>
              <a:spcBef>
                <a:spcPts val="0"/>
              </a:spcBef>
              <a:spcAft>
                <a:spcPts val="0"/>
              </a:spcAft>
              <a:buClr>
                <a:schemeClr val="dk1"/>
              </a:buClr>
              <a:buSzPts val="1700"/>
              <a:buFont typeface="Arial"/>
              <a:buAutoNum type="arabicPeriod"/>
            </a:pPr>
            <a:r>
              <a:rPr lang="en" sz="1700" dirty="0">
                <a:solidFill>
                  <a:schemeClr val="dk1"/>
                </a:solidFill>
              </a:rPr>
              <a:t>How did your team categorize these values or themes?</a:t>
            </a:r>
            <a:endParaRPr sz="1700" dirty="0">
              <a:solidFill>
                <a:schemeClr val="dk1"/>
              </a:solidFill>
            </a:endParaRPr>
          </a:p>
          <a:p>
            <a:pPr marL="457200" lvl="0" indent="-336550" algn="l" rtl="0">
              <a:lnSpc>
                <a:spcPct val="115000"/>
              </a:lnSpc>
              <a:spcBef>
                <a:spcPts val="0"/>
              </a:spcBef>
              <a:spcAft>
                <a:spcPts val="0"/>
              </a:spcAft>
              <a:buClr>
                <a:schemeClr val="dk1"/>
              </a:buClr>
              <a:buSzPts val="1700"/>
              <a:buFont typeface="Arial"/>
              <a:buAutoNum type="arabicPeriod"/>
            </a:pPr>
            <a:r>
              <a:rPr lang="en" sz="1700" dirty="0">
                <a:solidFill>
                  <a:schemeClr val="dk1"/>
                </a:solidFill>
              </a:rPr>
              <a:t>Which value from your interviews will your team include in your model, and how does this value connect to the ocean system or the impacts of climate change?</a:t>
            </a:r>
            <a:endParaRPr sz="2300" dirty="0">
              <a:solidFill>
                <a:schemeClr val="dk1"/>
              </a:solidFill>
            </a:endParaRPr>
          </a:p>
          <a:p>
            <a:pPr marL="0" lvl="0" indent="0" algn="l" rtl="0">
              <a:spcBef>
                <a:spcPts val="0"/>
              </a:spcBef>
              <a:spcAft>
                <a:spcPts val="1200"/>
              </a:spcAft>
              <a:buNone/>
            </a:pPr>
            <a:endParaRPr sz="1800" dirty="0">
              <a:solidFill>
                <a:schemeClr val="dk1"/>
              </a:solidFill>
            </a:endParaRPr>
          </a:p>
        </p:txBody>
      </p:sp>
      <p:sp>
        <p:nvSpPr>
          <p:cNvPr id="117" name="Google Shape;117;p20"/>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8</a:t>
            </a:r>
            <a:endParaRPr sz="1200">
              <a:solidFill>
                <a:srgbClr val="000000"/>
              </a:solidFill>
            </a:endParaRPr>
          </a:p>
        </p:txBody>
      </p:sp>
      <p:sp>
        <p:nvSpPr>
          <p:cNvPr id="118" name="Google Shape;118;p20"/>
          <p:cNvSpPr txBox="1"/>
          <p:nvPr/>
        </p:nvSpPr>
        <p:spPr>
          <a:xfrm>
            <a:off x="311700" y="1196325"/>
            <a:ext cx="8760600" cy="799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2100" i="1">
                <a:solidFill>
                  <a:srgbClr val="355E3B"/>
                </a:solidFill>
              </a:rPr>
              <a:t>With your research teams, select ONE value connected to the ocean that was important to you and community members. Consider the community interview analysis questions to help you select a value.</a:t>
            </a:r>
            <a:endParaRPr sz="2100" i="1">
              <a:solidFill>
                <a:srgbClr val="355E3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311700" y="445025"/>
            <a:ext cx="86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4100" b="1">
                <a:solidFill>
                  <a:srgbClr val="541900"/>
                </a:solidFill>
              </a:rPr>
              <a:t>Identifying a Value for Your Model</a:t>
            </a:r>
            <a:endParaRPr sz="4100" b="1">
              <a:solidFill>
                <a:srgbClr val="541900"/>
              </a:solidFill>
            </a:endParaRPr>
          </a:p>
          <a:p>
            <a:pPr marL="0" lvl="0" indent="0" algn="ctr" rtl="0">
              <a:spcBef>
                <a:spcPts val="0"/>
              </a:spcBef>
              <a:spcAft>
                <a:spcPts val="0"/>
              </a:spcAft>
              <a:buNone/>
            </a:pPr>
            <a:endParaRPr sz="4200" b="1">
              <a:solidFill>
                <a:srgbClr val="541900"/>
              </a:solidFill>
            </a:endParaRPr>
          </a:p>
        </p:txBody>
      </p:sp>
      <p:sp>
        <p:nvSpPr>
          <p:cNvPr id="124" name="Google Shape;124;p21"/>
          <p:cNvSpPr txBox="1">
            <a:spLocks noGrp="1"/>
          </p:cNvSpPr>
          <p:nvPr>
            <p:ph type="body" idx="2"/>
          </p:nvPr>
        </p:nvSpPr>
        <p:spPr>
          <a:xfrm>
            <a:off x="311700" y="1782300"/>
            <a:ext cx="8536500" cy="1481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541900"/>
              </a:buClr>
              <a:buSzPts val="1800"/>
              <a:buChar char="●"/>
            </a:pPr>
            <a:r>
              <a:rPr lang="en" sz="1800">
                <a:solidFill>
                  <a:schemeClr val="dk1"/>
                </a:solidFill>
              </a:rPr>
              <a:t>An emotional attachment (eg. mental health).</a:t>
            </a:r>
            <a:endParaRPr sz="1800">
              <a:solidFill>
                <a:schemeClr val="dk1"/>
              </a:solidFill>
            </a:endParaRPr>
          </a:p>
          <a:p>
            <a:pPr marL="457200" lvl="0" indent="-342900" algn="l" rtl="0">
              <a:spcBef>
                <a:spcPts val="0"/>
              </a:spcBef>
              <a:spcAft>
                <a:spcPts val="0"/>
              </a:spcAft>
              <a:buClr>
                <a:srgbClr val="541900"/>
              </a:buClr>
              <a:buSzPts val="1800"/>
              <a:buChar char="●"/>
            </a:pPr>
            <a:r>
              <a:rPr lang="en" sz="1800">
                <a:solidFill>
                  <a:schemeClr val="dk1"/>
                </a:solidFill>
              </a:rPr>
              <a:t>A reason why you and your community likes going to the beach (spending time with friends, going on vacation, surfing).</a:t>
            </a:r>
            <a:endParaRPr sz="1800">
              <a:solidFill>
                <a:schemeClr val="dk1"/>
              </a:solidFill>
            </a:endParaRPr>
          </a:p>
          <a:p>
            <a:pPr marL="457200" lvl="0" indent="-342900" algn="l" rtl="0">
              <a:spcBef>
                <a:spcPts val="0"/>
              </a:spcBef>
              <a:spcAft>
                <a:spcPts val="0"/>
              </a:spcAft>
              <a:buClr>
                <a:srgbClr val="541900"/>
              </a:buClr>
              <a:buSzPts val="1800"/>
              <a:buChar char="●"/>
            </a:pPr>
            <a:r>
              <a:rPr lang="en" sz="1800">
                <a:solidFill>
                  <a:schemeClr val="dk1"/>
                </a:solidFill>
              </a:rPr>
              <a:t>Culturally or socially significant. (eg. a means of transportation, livelihood, etc.)</a:t>
            </a:r>
            <a:endParaRPr sz="1800">
              <a:solidFill>
                <a:schemeClr val="dk1"/>
              </a:solidFill>
            </a:endParaRPr>
          </a:p>
          <a:p>
            <a:pPr marL="457200" lvl="0" indent="-342900" algn="l" rtl="0">
              <a:spcBef>
                <a:spcPts val="0"/>
              </a:spcBef>
              <a:spcAft>
                <a:spcPts val="0"/>
              </a:spcAft>
              <a:buClr>
                <a:srgbClr val="541900"/>
              </a:buClr>
              <a:buSzPts val="1800"/>
              <a:buChar char="●"/>
            </a:pPr>
            <a:r>
              <a:rPr lang="en" sz="1800">
                <a:solidFill>
                  <a:schemeClr val="dk1"/>
                </a:solidFill>
              </a:rPr>
              <a:t>Tied to food or tradition (enjoying seafood, ceviche, etc.).</a:t>
            </a:r>
            <a:endParaRPr sz="1800">
              <a:solidFill>
                <a:schemeClr val="dk1"/>
              </a:solidFill>
            </a:endParaRPr>
          </a:p>
          <a:p>
            <a:pPr marL="457200" lvl="0" indent="-342900" algn="l" rtl="0">
              <a:spcBef>
                <a:spcPts val="0"/>
              </a:spcBef>
              <a:spcAft>
                <a:spcPts val="0"/>
              </a:spcAft>
              <a:buClr>
                <a:srgbClr val="541900"/>
              </a:buClr>
              <a:buSzPts val="1800"/>
              <a:buChar char="●"/>
            </a:pPr>
            <a:r>
              <a:rPr lang="en" sz="1800">
                <a:solidFill>
                  <a:schemeClr val="dk1"/>
                </a:solidFill>
              </a:rPr>
              <a:t>An overall appreciation of the ocean system (such as wanting to protect marine mammals). </a:t>
            </a:r>
            <a:endParaRPr sz="1800">
              <a:solidFill>
                <a:schemeClr val="dk1"/>
              </a:solidFill>
            </a:endParaRPr>
          </a:p>
          <a:p>
            <a:pPr marL="0" lvl="0" indent="0" algn="l" rtl="0">
              <a:spcBef>
                <a:spcPts val="1200"/>
              </a:spcBef>
              <a:spcAft>
                <a:spcPts val="1200"/>
              </a:spcAft>
              <a:buNone/>
            </a:pPr>
            <a:endParaRPr sz="1800">
              <a:solidFill>
                <a:schemeClr val="dk1"/>
              </a:solidFill>
            </a:endParaRPr>
          </a:p>
        </p:txBody>
      </p:sp>
      <p:sp>
        <p:nvSpPr>
          <p:cNvPr id="125" name="Google Shape;125;p21"/>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9</a:t>
            </a:r>
            <a:endParaRPr sz="1200">
              <a:solidFill>
                <a:srgbClr val="000000"/>
              </a:solidFill>
            </a:endParaRPr>
          </a:p>
        </p:txBody>
      </p:sp>
      <p:sp>
        <p:nvSpPr>
          <p:cNvPr id="126" name="Google Shape;126;p21"/>
          <p:cNvSpPr txBox="1"/>
          <p:nvPr/>
        </p:nvSpPr>
        <p:spPr>
          <a:xfrm>
            <a:off x="311700" y="1196325"/>
            <a:ext cx="8760600" cy="535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2100">
                <a:solidFill>
                  <a:srgbClr val="355E3B"/>
                </a:solidFill>
              </a:rPr>
              <a:t>With your team identify a value. Your chosen value could be:</a:t>
            </a:r>
            <a:endParaRPr sz="2100">
              <a:solidFill>
                <a:srgbClr val="355E3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11700" y="445025"/>
            <a:ext cx="472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900" b="1">
                <a:solidFill>
                  <a:srgbClr val="541900"/>
                </a:solidFill>
              </a:rPr>
              <a:t>Refining Your Team’s List</a:t>
            </a:r>
            <a:endParaRPr sz="2900" b="1">
              <a:solidFill>
                <a:srgbClr val="541900"/>
              </a:solidFill>
            </a:endParaRPr>
          </a:p>
        </p:txBody>
      </p:sp>
      <p:sp>
        <p:nvSpPr>
          <p:cNvPr id="132" name="Google Shape;132;p22"/>
          <p:cNvSpPr txBox="1">
            <a:spLocks noGrp="1"/>
          </p:cNvSpPr>
          <p:nvPr>
            <p:ph type="body" idx="2"/>
          </p:nvPr>
        </p:nvSpPr>
        <p:spPr>
          <a:xfrm>
            <a:off x="311700" y="2083625"/>
            <a:ext cx="4723500" cy="14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With your team </a:t>
            </a:r>
            <a:r>
              <a:rPr lang="en" sz="1600" b="1">
                <a:solidFill>
                  <a:schemeClr val="dk1"/>
                </a:solidFill>
              </a:rPr>
              <a:t>choose 10-12</a:t>
            </a:r>
            <a:r>
              <a:rPr lang="en" sz="1600">
                <a:solidFill>
                  <a:schemeClr val="dk1"/>
                </a:solidFill>
              </a:rPr>
              <a:t> items from your team’s original list of components, processes, and interactions that are the most connected to the value your team chose and highlight them.</a:t>
            </a:r>
            <a:endParaRPr sz="1600">
              <a:solidFill>
                <a:schemeClr val="dk1"/>
              </a:solidFill>
            </a:endParaRPr>
          </a:p>
          <a:p>
            <a:pPr marL="0" lvl="0" indent="0" algn="l" rtl="0">
              <a:spcBef>
                <a:spcPts val="1200"/>
              </a:spcBef>
              <a:spcAft>
                <a:spcPts val="1200"/>
              </a:spcAft>
              <a:buNone/>
            </a:pPr>
            <a:r>
              <a:rPr lang="en" sz="1600">
                <a:solidFill>
                  <a:schemeClr val="dk1"/>
                </a:solidFill>
              </a:rPr>
              <a:t>These items will be the items you prioritize putting in your model.</a:t>
            </a:r>
            <a:endParaRPr sz="1600">
              <a:solidFill>
                <a:schemeClr val="dk1"/>
              </a:solidFill>
            </a:endParaRPr>
          </a:p>
        </p:txBody>
      </p:sp>
      <p:sp>
        <p:nvSpPr>
          <p:cNvPr id="133" name="Google Shape;133;p22"/>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10</a:t>
            </a:r>
            <a:endParaRPr sz="1200">
              <a:solidFill>
                <a:srgbClr val="000000"/>
              </a:solidFill>
            </a:endParaRPr>
          </a:p>
        </p:txBody>
      </p:sp>
      <p:sp>
        <p:nvSpPr>
          <p:cNvPr id="134" name="Google Shape;134;p22"/>
          <p:cNvSpPr txBox="1"/>
          <p:nvPr/>
        </p:nvSpPr>
        <p:spPr>
          <a:xfrm>
            <a:off x="311700" y="1017725"/>
            <a:ext cx="4723500" cy="10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900">
                <a:solidFill>
                  <a:srgbClr val="355E3B"/>
                </a:solidFill>
              </a:rPr>
              <a:t>Which of your team’s components, processes, and interactions are most connected to your chosen value?</a:t>
            </a:r>
            <a:endParaRPr sz="1900">
              <a:solidFill>
                <a:srgbClr val="355E3B"/>
              </a:solidFill>
            </a:endParaRPr>
          </a:p>
        </p:txBody>
      </p:sp>
      <p:pic>
        <p:nvPicPr>
          <p:cNvPr id="135" name="Google Shape;135;p22"/>
          <p:cNvPicPr preferRelativeResize="0"/>
          <p:nvPr/>
        </p:nvPicPr>
        <p:blipFill>
          <a:blip r:embed="rId3">
            <a:alphaModFix/>
          </a:blip>
          <a:stretch>
            <a:fillRect/>
          </a:stretch>
        </p:blipFill>
        <p:spPr>
          <a:xfrm>
            <a:off x="5187600" y="152400"/>
            <a:ext cx="3804001" cy="2754833"/>
          </a:xfrm>
          <a:prstGeom prst="rect">
            <a:avLst/>
          </a:prstGeom>
          <a:noFill/>
          <a:ln>
            <a:noFill/>
          </a:ln>
        </p:spPr>
      </p:pic>
      <p:sp>
        <p:nvSpPr>
          <p:cNvPr id="136" name="Google Shape;136;p22"/>
          <p:cNvSpPr txBox="1"/>
          <p:nvPr/>
        </p:nvSpPr>
        <p:spPr>
          <a:xfrm>
            <a:off x="5187600" y="3016225"/>
            <a:ext cx="39840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t>Beach nourishment in Orange County beaches. </a:t>
            </a:r>
            <a:br>
              <a:rPr lang="en" sz="1200"/>
            </a:br>
            <a:r>
              <a:rPr lang="en" sz="1000"/>
              <a:t>https://www.ocregister.com/2022/03/15/two-massive-oc-sand-projects-funded-to-add-a-beach-buffer-to-battle-erosion/</a:t>
            </a:r>
            <a:endParaRPr sz="10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311700" y="445025"/>
            <a:ext cx="49008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541900"/>
                </a:solidFill>
              </a:rPr>
              <a:t>Building Our Model</a:t>
            </a:r>
            <a:endParaRPr sz="4000" b="1">
              <a:solidFill>
                <a:srgbClr val="541900"/>
              </a:solidFill>
            </a:endParaRPr>
          </a:p>
        </p:txBody>
      </p:sp>
      <p:sp>
        <p:nvSpPr>
          <p:cNvPr id="142" name="Google Shape;142;p23"/>
          <p:cNvSpPr txBox="1">
            <a:spLocks noGrp="1"/>
          </p:cNvSpPr>
          <p:nvPr>
            <p:ph type="body" idx="2"/>
          </p:nvPr>
        </p:nvSpPr>
        <p:spPr>
          <a:xfrm>
            <a:off x="311700" y="2236675"/>
            <a:ext cx="4543500" cy="233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You will answer the following modeling question: </a:t>
            </a:r>
            <a:endParaRPr sz="1600">
              <a:solidFill>
                <a:schemeClr val="dk1"/>
              </a:solidFill>
            </a:endParaRPr>
          </a:p>
          <a:p>
            <a:pPr marL="0" lvl="0" indent="0" algn="l" rtl="0">
              <a:spcBef>
                <a:spcPts val="1200"/>
              </a:spcBef>
              <a:spcAft>
                <a:spcPts val="1200"/>
              </a:spcAft>
              <a:buNone/>
            </a:pPr>
            <a:r>
              <a:rPr lang="en" sz="1600" b="1">
                <a:solidFill>
                  <a:srgbClr val="9FA617"/>
                </a:solidFill>
              </a:rPr>
              <a:t>How will climate change impact the reason why you care about Southern California’s ocean?</a:t>
            </a:r>
            <a:endParaRPr sz="1600" b="1">
              <a:solidFill>
                <a:srgbClr val="355E3B"/>
              </a:solidFill>
            </a:endParaRPr>
          </a:p>
        </p:txBody>
      </p:sp>
      <p:sp>
        <p:nvSpPr>
          <p:cNvPr id="143" name="Google Shape;143;p23"/>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11</a:t>
            </a:r>
            <a:endParaRPr sz="1200">
              <a:solidFill>
                <a:srgbClr val="000000"/>
              </a:solidFill>
            </a:endParaRPr>
          </a:p>
        </p:txBody>
      </p:sp>
      <p:pic>
        <p:nvPicPr>
          <p:cNvPr id="144" name="Google Shape;144;p23"/>
          <p:cNvPicPr preferRelativeResize="0"/>
          <p:nvPr/>
        </p:nvPicPr>
        <p:blipFill>
          <a:blip r:embed="rId3">
            <a:alphaModFix/>
          </a:blip>
          <a:stretch>
            <a:fillRect/>
          </a:stretch>
        </p:blipFill>
        <p:spPr>
          <a:xfrm>
            <a:off x="5212500" y="0"/>
            <a:ext cx="3931500" cy="5143501"/>
          </a:xfrm>
          <a:prstGeom prst="rect">
            <a:avLst/>
          </a:prstGeom>
          <a:noFill/>
          <a:ln>
            <a:noFill/>
          </a:ln>
        </p:spPr>
      </p:pic>
      <p:sp>
        <p:nvSpPr>
          <p:cNvPr id="145" name="Google Shape;145;p23"/>
          <p:cNvSpPr txBox="1">
            <a:spLocks noGrp="1"/>
          </p:cNvSpPr>
          <p:nvPr>
            <p:ph type="body" idx="2"/>
          </p:nvPr>
        </p:nvSpPr>
        <p:spPr>
          <a:xfrm>
            <a:off x="311700" y="1192925"/>
            <a:ext cx="4543500" cy="813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800">
                <a:solidFill>
                  <a:srgbClr val="355E3B"/>
                </a:solidFill>
              </a:rPr>
              <a:t>Get your computers ready! With your research team you will create a model on SageModeler.</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247800" y="122600"/>
            <a:ext cx="86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100" b="1">
                <a:solidFill>
                  <a:srgbClr val="541900"/>
                </a:solidFill>
              </a:rPr>
              <a:t>Getting Started with SageModeler</a:t>
            </a:r>
            <a:endParaRPr sz="4100" b="1">
              <a:solidFill>
                <a:srgbClr val="541900"/>
              </a:solidFill>
            </a:endParaRPr>
          </a:p>
        </p:txBody>
      </p:sp>
      <p:sp>
        <p:nvSpPr>
          <p:cNvPr id="151" name="Google Shape;151;p24"/>
          <p:cNvSpPr txBox="1">
            <a:spLocks noGrp="1"/>
          </p:cNvSpPr>
          <p:nvPr>
            <p:ph type="body" idx="2"/>
          </p:nvPr>
        </p:nvSpPr>
        <p:spPr>
          <a:xfrm>
            <a:off x="303750" y="1308450"/>
            <a:ext cx="8536500" cy="3361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541900"/>
              </a:buClr>
              <a:buSzPts val="1400"/>
              <a:buAutoNum type="arabicPeriod"/>
            </a:pPr>
            <a:r>
              <a:rPr lang="en" dirty="0">
                <a:solidFill>
                  <a:schemeClr val="dk1"/>
                </a:solidFill>
              </a:rPr>
              <a:t>Choose one member of your team to </a:t>
            </a:r>
            <a:r>
              <a:rPr lang="en" b="1" dirty="0">
                <a:solidFill>
                  <a:srgbClr val="9FA617"/>
                </a:solidFill>
              </a:rPr>
              <a:t>create a copy</a:t>
            </a:r>
            <a:r>
              <a:rPr lang="en" dirty="0">
                <a:solidFill>
                  <a:schemeClr val="dk1"/>
                </a:solidFill>
              </a:rPr>
              <a:t> of the </a:t>
            </a:r>
            <a:r>
              <a:rPr lang="en" b="1" u="sng" dirty="0">
                <a:solidFill>
                  <a:srgbClr val="355E3B"/>
                </a:solidFill>
                <a:hlinkClick r:id="rId3">
                  <a:extLst>
                    <a:ext uri="{A12FA001-AC4F-418D-AE19-62706E023703}">
                      <ahyp:hlinkClr xmlns:ahyp="http://schemas.microsoft.com/office/drawing/2018/hyperlinkcolor" val="tx"/>
                    </a:ext>
                  </a:extLst>
                </a:hlinkClick>
              </a:rPr>
              <a:t>SageModeler template</a:t>
            </a:r>
            <a:r>
              <a:rPr lang="en" dirty="0">
                <a:solidFill>
                  <a:schemeClr val="dk1"/>
                </a:solidFill>
              </a:rPr>
              <a:t> or visit </a:t>
            </a:r>
            <a:r>
              <a:rPr lang="en" b="1" u="sng" dirty="0">
                <a:solidFill>
                  <a:srgbClr val="355E3B"/>
                </a:solidFill>
                <a:hlinkClick r:id="rId3">
                  <a:extLst>
                    <a:ext uri="{A12FA001-AC4F-418D-AE19-62706E023703}">
                      <ahyp:hlinkClr xmlns:ahyp="http://schemas.microsoft.com/office/drawing/2018/hyperlinkcolor" val="tx"/>
                    </a:ext>
                  </a:extLst>
                </a:hlinkClick>
              </a:rPr>
              <a:t>https://tinyurl.com/</a:t>
            </a:r>
            <a:r>
              <a:rPr lang="en" b="1" u="sng" dirty="0" err="1">
                <a:solidFill>
                  <a:srgbClr val="355E3B"/>
                </a:solidFill>
                <a:hlinkClick r:id="rId3">
                  <a:extLst>
                    <a:ext uri="{A12FA001-AC4F-418D-AE19-62706E023703}">
                      <ahyp:hlinkClr xmlns:ahyp="http://schemas.microsoft.com/office/drawing/2018/hyperlinkcolor" val="tx"/>
                    </a:ext>
                  </a:extLst>
                </a:hlinkClick>
              </a:rPr>
              <a:t>AISciModel</a:t>
            </a:r>
            <a:r>
              <a:rPr lang="en" dirty="0" err="1">
                <a:solidFill>
                  <a:schemeClr val="dk1"/>
                </a:solidFill>
              </a:rPr>
              <a:t>.The</a:t>
            </a:r>
            <a:r>
              <a:rPr lang="en" dirty="0">
                <a:solidFill>
                  <a:schemeClr val="dk1"/>
                </a:solidFill>
              </a:rPr>
              <a:t> whole team will work on one model together.</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dirty="0">
                <a:solidFill>
                  <a:schemeClr val="dk1"/>
                </a:solidFill>
              </a:rPr>
              <a:t>To start your model, click on the </a:t>
            </a:r>
            <a:r>
              <a:rPr lang="en" b="1" dirty="0">
                <a:solidFill>
                  <a:srgbClr val="9FA617"/>
                </a:solidFill>
              </a:rPr>
              <a:t>new Image</a:t>
            </a:r>
            <a:r>
              <a:rPr lang="en" b="1" i="1" dirty="0">
                <a:solidFill>
                  <a:srgbClr val="9FA617"/>
                </a:solidFill>
              </a:rPr>
              <a:t> </a:t>
            </a:r>
            <a:r>
              <a:rPr lang="en" dirty="0">
                <a:solidFill>
                  <a:schemeClr val="dk1"/>
                </a:solidFill>
              </a:rPr>
              <a:t>icon at the top-left corner of the screen. Choose an image to represent your chosen value and then drag it into the modeling window. Make sure to and label it with your </a:t>
            </a:r>
            <a:r>
              <a:rPr lang="en" b="1" dirty="0">
                <a:solidFill>
                  <a:srgbClr val="9FA617"/>
                </a:solidFill>
              </a:rPr>
              <a:t>chosen value</a:t>
            </a:r>
            <a:r>
              <a:rPr lang="en" dirty="0">
                <a:solidFill>
                  <a:schemeClr val="dk1"/>
                </a:solidFill>
              </a:rPr>
              <a:t> into your model.</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dirty="0">
                <a:solidFill>
                  <a:schemeClr val="dk1"/>
                </a:solidFill>
              </a:rPr>
              <a:t>Next, search for images to represent the other</a:t>
            </a:r>
            <a:r>
              <a:rPr lang="en" b="1" dirty="0">
                <a:solidFill>
                  <a:srgbClr val="9FA617"/>
                </a:solidFill>
              </a:rPr>
              <a:t> components, processes, and interactions</a:t>
            </a:r>
            <a:r>
              <a:rPr lang="en" dirty="0">
                <a:solidFill>
                  <a:schemeClr val="dk1"/>
                </a:solidFill>
              </a:rPr>
              <a:t> that you want to include in your model, making sure to label all of them.</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dirty="0">
                <a:solidFill>
                  <a:schemeClr val="dk1"/>
                </a:solidFill>
              </a:rPr>
              <a:t>To </a:t>
            </a:r>
            <a:r>
              <a:rPr lang="en" b="1" dirty="0">
                <a:solidFill>
                  <a:srgbClr val="9FA617"/>
                </a:solidFill>
              </a:rPr>
              <a:t>connect two items</a:t>
            </a:r>
            <a:r>
              <a:rPr lang="en" dirty="0">
                <a:solidFill>
                  <a:schemeClr val="dk1"/>
                </a:solidFill>
              </a:rPr>
              <a:t> in your model, hover over the first item. An arrow will appear. Click and drag that arrow over to the item you want to connect it to. Creating a causal relationship.</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dirty="0">
                <a:solidFill>
                  <a:schemeClr val="dk1"/>
                </a:solidFill>
              </a:rPr>
              <a:t>To </a:t>
            </a:r>
            <a:r>
              <a:rPr lang="en" b="1" dirty="0">
                <a:solidFill>
                  <a:srgbClr val="9FA617"/>
                </a:solidFill>
              </a:rPr>
              <a:t>describe the relationship</a:t>
            </a:r>
            <a:r>
              <a:rPr lang="en" dirty="0">
                <a:solidFill>
                  <a:schemeClr val="dk1"/>
                </a:solidFill>
              </a:rPr>
              <a:t> between two items, double click on the arrow that connects them. Then choose which descriptions best represent the relationship between the two items.</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b="1" dirty="0">
                <a:solidFill>
                  <a:srgbClr val="9FA617"/>
                </a:solidFill>
              </a:rPr>
              <a:t>Repeat steps 3 - 5 </a:t>
            </a:r>
            <a:r>
              <a:rPr lang="en" dirty="0">
                <a:solidFill>
                  <a:schemeClr val="dk1"/>
                </a:solidFill>
              </a:rPr>
              <a:t>to add components, processes, and interactions from your list to the model.</a:t>
            </a:r>
            <a:endParaRPr dirty="0">
              <a:solidFill>
                <a:schemeClr val="dk1"/>
              </a:solidFill>
            </a:endParaRPr>
          </a:p>
          <a:p>
            <a:pPr marL="457200" lvl="0" indent="-317500" algn="l" rtl="0">
              <a:spcBef>
                <a:spcPts val="0"/>
              </a:spcBef>
              <a:spcAft>
                <a:spcPts val="0"/>
              </a:spcAft>
              <a:buClr>
                <a:srgbClr val="541900"/>
              </a:buClr>
              <a:buSzPts val="1400"/>
              <a:buAutoNum type="arabicPeriod"/>
            </a:pPr>
            <a:r>
              <a:rPr lang="en" dirty="0">
                <a:solidFill>
                  <a:schemeClr val="dk1"/>
                </a:solidFill>
              </a:rPr>
              <a:t>Save your model when you’re done.</a:t>
            </a:r>
            <a:endParaRPr dirty="0">
              <a:solidFill>
                <a:schemeClr val="dk1"/>
              </a:solidFill>
            </a:endParaRPr>
          </a:p>
          <a:p>
            <a:pPr marL="0" lvl="0" indent="0" algn="l" rtl="0">
              <a:spcBef>
                <a:spcPts val="1200"/>
              </a:spcBef>
              <a:spcAft>
                <a:spcPts val="1200"/>
              </a:spcAft>
              <a:buNone/>
            </a:pPr>
            <a:endParaRPr dirty="0">
              <a:solidFill>
                <a:schemeClr val="dk1"/>
              </a:solidFill>
            </a:endParaRPr>
          </a:p>
        </p:txBody>
      </p:sp>
      <p:sp>
        <p:nvSpPr>
          <p:cNvPr id="152" name="Google Shape;152;p24"/>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12</a:t>
            </a:r>
            <a:endParaRPr sz="1200">
              <a:solidFill>
                <a:srgbClr val="000000"/>
              </a:solidFill>
            </a:endParaRPr>
          </a:p>
        </p:txBody>
      </p:sp>
      <p:sp>
        <p:nvSpPr>
          <p:cNvPr id="153" name="Google Shape;153;p24"/>
          <p:cNvSpPr txBox="1">
            <a:spLocks noGrp="1"/>
          </p:cNvSpPr>
          <p:nvPr>
            <p:ph type="body" idx="2"/>
          </p:nvPr>
        </p:nvSpPr>
        <p:spPr>
          <a:xfrm>
            <a:off x="247800" y="909175"/>
            <a:ext cx="7933800" cy="813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800" dirty="0">
                <a:solidFill>
                  <a:srgbClr val="355E3B"/>
                </a:solidFill>
              </a:rPr>
              <a:t>See </a:t>
            </a:r>
            <a:r>
              <a:rPr lang="en" sz="1800" dirty="0">
                <a:solidFill>
                  <a:schemeClr val="hlink"/>
                </a:solidFill>
              </a:rPr>
              <a:t>Science Journal p. 11-18</a:t>
            </a:r>
            <a:endParaRPr sz="18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E9EBE8"/>
        </a:solidFill>
        <a:effectLst/>
      </p:bgPr>
    </p:bg>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311700" y="445025"/>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rgbClr val="541900"/>
                </a:solidFill>
              </a:rPr>
              <a:t>Student SageModeler Instructions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159" name="Google Shape;159;p2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13</a:t>
            </a:r>
            <a:endParaRPr sz="1200">
              <a:solidFill>
                <a:srgbClr val="000000"/>
              </a:solidFill>
            </a:endParaRPr>
          </a:p>
        </p:txBody>
      </p:sp>
      <p:sp>
        <p:nvSpPr>
          <p:cNvPr id="160" name="Google Shape;160;p25"/>
          <p:cNvSpPr txBox="1">
            <a:spLocks noGrp="1"/>
          </p:cNvSpPr>
          <p:nvPr>
            <p:ph type="body" idx="2"/>
          </p:nvPr>
        </p:nvSpPr>
        <p:spPr>
          <a:xfrm>
            <a:off x="311700" y="1192925"/>
            <a:ext cx="39747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Choose one member of your team to </a:t>
            </a:r>
            <a:r>
              <a:rPr lang="en" b="1">
                <a:solidFill>
                  <a:srgbClr val="9FA617"/>
                </a:solidFill>
              </a:rPr>
              <a:t>create a copy</a:t>
            </a:r>
            <a:r>
              <a:rPr lang="en">
                <a:solidFill>
                  <a:schemeClr val="dk1"/>
                </a:solidFill>
              </a:rPr>
              <a:t> of the </a:t>
            </a:r>
            <a:r>
              <a:rPr lang="en" b="1" u="sng">
                <a:solidFill>
                  <a:srgbClr val="355E3B"/>
                </a:solidFill>
                <a:hlinkClick r:id="rId3">
                  <a:extLst>
                    <a:ext uri="{A12FA001-AC4F-418D-AE19-62706E023703}">
                      <ahyp:hlinkClr xmlns:ahyp="http://schemas.microsoft.com/office/drawing/2018/hyperlinkcolor" val="tx"/>
                    </a:ext>
                  </a:extLst>
                </a:hlinkClick>
              </a:rPr>
              <a:t>SageModeler template</a:t>
            </a:r>
            <a:r>
              <a:rPr lang="en">
                <a:solidFill>
                  <a:schemeClr val="dk1"/>
                </a:solidFill>
              </a:rPr>
              <a:t> or visit </a:t>
            </a:r>
            <a:r>
              <a:rPr lang="en" b="1" u="sng">
                <a:solidFill>
                  <a:srgbClr val="355E3B"/>
                </a:solidFill>
                <a:hlinkClick r:id="rId3">
                  <a:extLst>
                    <a:ext uri="{A12FA001-AC4F-418D-AE19-62706E023703}">
                      <ahyp:hlinkClr xmlns:ahyp="http://schemas.microsoft.com/office/drawing/2018/hyperlinkcolor" val="tx"/>
                    </a:ext>
                  </a:extLst>
                </a:hlinkClick>
              </a:rPr>
              <a:t>https://tinyurl.com/AISciModel</a:t>
            </a:r>
            <a:r>
              <a:rPr lang="en">
                <a:solidFill>
                  <a:schemeClr val="dk1"/>
                </a:solidFill>
              </a:rPr>
              <a:t>.</a:t>
            </a:r>
            <a:endParaRPr>
              <a:solidFill>
                <a:schemeClr val="dk1"/>
              </a:solidFill>
            </a:endParaRPr>
          </a:p>
          <a:p>
            <a:pPr marL="0" lvl="0" indent="0" algn="l" rtl="0">
              <a:spcBef>
                <a:spcPts val="1200"/>
              </a:spcBef>
              <a:spcAft>
                <a:spcPts val="1200"/>
              </a:spcAft>
              <a:buNone/>
            </a:pPr>
            <a:r>
              <a:rPr lang="en">
                <a:solidFill>
                  <a:schemeClr val="dk1"/>
                </a:solidFill>
              </a:rPr>
              <a:t>The whole team will work on one model together.</a:t>
            </a:r>
            <a:endParaRPr sz="1800" b="1">
              <a:solidFill>
                <a:srgbClr val="355E3B"/>
              </a:solidFill>
            </a:endParaRPr>
          </a:p>
        </p:txBody>
      </p:sp>
      <p:pic>
        <p:nvPicPr>
          <p:cNvPr id="161" name="Google Shape;161;p25"/>
          <p:cNvPicPr preferRelativeResize="0"/>
          <p:nvPr/>
        </p:nvPicPr>
        <p:blipFill>
          <a:blip r:embed="rId4">
            <a:alphaModFix/>
          </a:blip>
          <a:stretch>
            <a:fillRect/>
          </a:stretch>
        </p:blipFill>
        <p:spPr>
          <a:xfrm>
            <a:off x="4054225" y="991000"/>
            <a:ext cx="5089787" cy="4152500"/>
          </a:xfrm>
          <a:prstGeom prst="rect">
            <a:avLst/>
          </a:prstGeom>
          <a:noFill/>
          <a:ln>
            <a:noFill/>
          </a:ln>
        </p:spPr>
      </p:pic>
      <p:pic>
        <p:nvPicPr>
          <p:cNvPr id="162" name="Google Shape;162;p25" title="Screenshot 2026-07-21 at 11.56.30 AM.png"/>
          <p:cNvPicPr preferRelativeResize="0"/>
          <p:nvPr/>
        </p:nvPicPr>
        <p:blipFill>
          <a:blip r:embed="rId5">
            <a:alphaModFix/>
          </a:blip>
          <a:stretch>
            <a:fillRect/>
          </a:stretch>
        </p:blipFill>
        <p:spPr>
          <a:xfrm>
            <a:off x="4445675" y="1526900"/>
            <a:ext cx="4277427" cy="2710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6"/>
        <p:cNvGrpSpPr/>
        <p:nvPr/>
      </p:nvGrpSpPr>
      <p:grpSpPr>
        <a:xfrm>
          <a:off x="0" y="0"/>
          <a:ext cx="0" cy="0"/>
          <a:chOff x="0" y="0"/>
          <a:chExt cx="0" cy="0"/>
        </a:xfrm>
      </p:grpSpPr>
      <p:sp>
        <p:nvSpPr>
          <p:cNvPr id="167" name="Google Shape;167;p26"/>
          <p:cNvSpPr txBox="1"/>
          <p:nvPr/>
        </p:nvSpPr>
        <p:spPr>
          <a:xfrm>
            <a:off x="434675" y="898350"/>
            <a:ext cx="2898600" cy="3346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a:solidFill>
                  <a:schemeClr val="dk1"/>
                </a:solidFill>
              </a:rPr>
              <a:t>To start your model, click on the </a:t>
            </a:r>
            <a:r>
              <a:rPr lang="en" b="1">
                <a:solidFill>
                  <a:srgbClr val="9FA617"/>
                </a:solidFill>
              </a:rPr>
              <a:t>new Image</a:t>
            </a:r>
            <a:r>
              <a:rPr lang="en" b="1" i="1">
                <a:solidFill>
                  <a:srgbClr val="9FA617"/>
                </a:solidFill>
              </a:rPr>
              <a:t> </a:t>
            </a:r>
            <a:r>
              <a:rPr lang="en">
                <a:solidFill>
                  <a:schemeClr val="dk1"/>
                </a:solidFill>
              </a:rPr>
              <a:t>icon at the top-left corner of the screen. </a:t>
            </a:r>
            <a:endParaRPr sz="1800">
              <a:solidFill>
                <a:schemeClr val="dk2"/>
              </a:solidFill>
            </a:endParaRPr>
          </a:p>
        </p:txBody>
      </p:sp>
      <p:sp>
        <p:nvSpPr>
          <p:cNvPr id="168" name="Google Shape;168;p26"/>
          <p:cNvSpPr txBox="1">
            <a:spLocks noGrp="1"/>
          </p:cNvSpPr>
          <p:nvPr>
            <p:ph type="title"/>
          </p:nvPr>
        </p:nvSpPr>
        <p:spPr>
          <a:xfrm>
            <a:off x="311700" y="146325"/>
            <a:ext cx="77016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Student SageModeler Instructions</a:t>
            </a:r>
            <a:endParaRPr b="1">
              <a:solidFill>
                <a:srgbClr val="541900"/>
              </a:solidFill>
            </a:endParaRPr>
          </a:p>
        </p:txBody>
      </p:sp>
      <p:pic>
        <p:nvPicPr>
          <p:cNvPr id="169" name="Google Shape;169;p26" title="Screenshot 2026-07-21 at 12.00.16 PM.png"/>
          <p:cNvPicPr preferRelativeResize="0"/>
          <p:nvPr/>
        </p:nvPicPr>
        <p:blipFill>
          <a:blip r:embed="rId3">
            <a:alphaModFix/>
          </a:blip>
          <a:stretch>
            <a:fillRect/>
          </a:stretch>
        </p:blipFill>
        <p:spPr>
          <a:xfrm>
            <a:off x="434675" y="2779875"/>
            <a:ext cx="2355600" cy="858750"/>
          </a:xfrm>
          <a:prstGeom prst="rect">
            <a:avLst/>
          </a:prstGeom>
          <a:noFill/>
          <a:ln>
            <a:noFill/>
          </a:ln>
        </p:spPr>
      </p:pic>
      <p:pic>
        <p:nvPicPr>
          <p:cNvPr id="170" name="Google Shape;170;p26" title="Screenshot 2026-07-21 at 12.11.20 PM.png"/>
          <p:cNvPicPr preferRelativeResize="0"/>
          <p:nvPr/>
        </p:nvPicPr>
        <p:blipFill>
          <a:blip r:embed="rId4">
            <a:alphaModFix/>
          </a:blip>
          <a:stretch>
            <a:fillRect/>
          </a:stretch>
        </p:blipFill>
        <p:spPr>
          <a:xfrm>
            <a:off x="3465800" y="2779863"/>
            <a:ext cx="2212402" cy="1565750"/>
          </a:xfrm>
          <a:prstGeom prst="rect">
            <a:avLst/>
          </a:prstGeom>
          <a:noFill/>
          <a:ln>
            <a:noFill/>
          </a:ln>
        </p:spPr>
      </p:pic>
      <p:sp>
        <p:nvSpPr>
          <p:cNvPr id="171" name="Google Shape;171;p26"/>
          <p:cNvSpPr txBox="1"/>
          <p:nvPr/>
        </p:nvSpPr>
        <p:spPr>
          <a:xfrm>
            <a:off x="3465750" y="846725"/>
            <a:ext cx="2212500" cy="200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Choose an image to represent your chosen value. Press “Add Image.”</a:t>
            </a:r>
            <a:endParaRPr>
              <a:solidFill>
                <a:schemeClr val="dk1"/>
              </a:solidFill>
            </a:endParaRPr>
          </a:p>
          <a:p>
            <a:pPr marL="0" lvl="0" indent="0" algn="l" rtl="0">
              <a:lnSpc>
                <a:spcPct val="115000"/>
              </a:lnSpc>
              <a:spcBef>
                <a:spcPts val="1200"/>
              </a:spcBef>
              <a:spcAft>
                <a:spcPts val="1200"/>
              </a:spcAft>
              <a:buNone/>
            </a:pPr>
            <a:r>
              <a:rPr lang="en">
                <a:solidFill>
                  <a:schemeClr val="dk1"/>
                </a:solidFill>
              </a:rPr>
              <a:t>Example: Search “fish” for the value seafood.</a:t>
            </a:r>
            <a:endParaRPr>
              <a:solidFill>
                <a:schemeClr val="dk1"/>
              </a:solidFill>
            </a:endParaRPr>
          </a:p>
        </p:txBody>
      </p:sp>
      <p:pic>
        <p:nvPicPr>
          <p:cNvPr id="172" name="Google Shape;172;p26" title="Screenshot 2026-07-21 at 12.20.33 PM.png"/>
          <p:cNvPicPr preferRelativeResize="0"/>
          <p:nvPr/>
        </p:nvPicPr>
        <p:blipFill>
          <a:blip r:embed="rId5">
            <a:alphaModFix/>
          </a:blip>
          <a:stretch>
            <a:fillRect/>
          </a:stretch>
        </p:blipFill>
        <p:spPr>
          <a:xfrm>
            <a:off x="6298225" y="2779875"/>
            <a:ext cx="2298175" cy="1704976"/>
          </a:xfrm>
          <a:prstGeom prst="rect">
            <a:avLst/>
          </a:prstGeom>
          <a:noFill/>
          <a:ln>
            <a:noFill/>
          </a:ln>
        </p:spPr>
      </p:pic>
      <p:sp>
        <p:nvSpPr>
          <p:cNvPr id="173" name="Google Shape;173;p26"/>
          <p:cNvSpPr txBox="1"/>
          <p:nvPr/>
        </p:nvSpPr>
        <p:spPr>
          <a:xfrm>
            <a:off x="6265050" y="894225"/>
            <a:ext cx="2454300" cy="200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rPr>
              <a:t>Drag image into the modeling window. </a:t>
            </a:r>
            <a:endParaRPr>
              <a:solidFill>
                <a:schemeClr val="dk1"/>
              </a:solidFill>
            </a:endParaRPr>
          </a:p>
          <a:p>
            <a:pPr marL="0" lvl="0" indent="0" algn="l" rtl="0">
              <a:lnSpc>
                <a:spcPct val="115000"/>
              </a:lnSpc>
              <a:spcBef>
                <a:spcPts val="1200"/>
              </a:spcBef>
              <a:spcAft>
                <a:spcPts val="0"/>
              </a:spcAft>
              <a:buNone/>
            </a:pPr>
            <a:r>
              <a:rPr lang="en">
                <a:solidFill>
                  <a:schemeClr val="dk1"/>
                </a:solidFill>
              </a:rPr>
              <a:t>Make sure to label it with your </a:t>
            </a:r>
            <a:r>
              <a:rPr lang="en" b="1">
                <a:solidFill>
                  <a:srgbClr val="9FA617"/>
                </a:solidFill>
              </a:rPr>
              <a:t>chosen value</a:t>
            </a:r>
            <a:r>
              <a:rPr lang="en">
                <a:solidFill>
                  <a:schemeClr val="dk1"/>
                </a:solidFill>
              </a:rPr>
              <a:t> in your model.</a:t>
            </a:r>
            <a:endParaRPr>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
        <p:nvSpPr>
          <p:cNvPr id="174" name="Google Shape;174;p26"/>
          <p:cNvSpPr/>
          <p:nvPr/>
        </p:nvSpPr>
        <p:spPr>
          <a:xfrm>
            <a:off x="7497450" y="3638025"/>
            <a:ext cx="570300" cy="6042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26"/>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14</a:t>
            </a:r>
            <a:endParaRPr sz="1200">
              <a:solidFill>
                <a:srgbClr val="000000"/>
              </a:solidFill>
            </a:endParaRPr>
          </a:p>
        </p:txBody>
      </p:sp>
      <p:sp>
        <p:nvSpPr>
          <p:cNvPr id="176" name="Google Shape;176;p26"/>
          <p:cNvSpPr/>
          <p:nvPr/>
        </p:nvSpPr>
        <p:spPr>
          <a:xfrm>
            <a:off x="466425" y="2971125"/>
            <a:ext cx="336600" cy="362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E9EBE8"/>
        </a:solidFill>
        <a:effectLst/>
      </p:bgPr>
    </p:bg>
    <p:spTree>
      <p:nvGrpSpPr>
        <p:cNvPr id="1" name="Shape 180"/>
        <p:cNvGrpSpPr/>
        <p:nvPr/>
      </p:nvGrpSpPr>
      <p:grpSpPr>
        <a:xfrm>
          <a:off x="0" y="0"/>
          <a:ext cx="0" cy="0"/>
          <a:chOff x="0" y="0"/>
          <a:chExt cx="0" cy="0"/>
        </a:xfrm>
      </p:grpSpPr>
      <p:sp>
        <p:nvSpPr>
          <p:cNvPr id="181" name="Google Shape;181;p27"/>
          <p:cNvSpPr txBox="1">
            <a:spLocks noGrp="1"/>
          </p:cNvSpPr>
          <p:nvPr>
            <p:ph type="title"/>
          </p:nvPr>
        </p:nvSpPr>
        <p:spPr>
          <a:xfrm>
            <a:off x="311700" y="445025"/>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Student SageModeler Instructions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182" name="Google Shape;182;p2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15</a:t>
            </a:r>
            <a:endParaRPr sz="1200">
              <a:solidFill>
                <a:srgbClr val="000000"/>
              </a:solidFill>
            </a:endParaRPr>
          </a:p>
        </p:txBody>
      </p:sp>
      <p:sp>
        <p:nvSpPr>
          <p:cNvPr id="183" name="Google Shape;183;p27"/>
          <p:cNvSpPr txBox="1">
            <a:spLocks noGrp="1"/>
          </p:cNvSpPr>
          <p:nvPr>
            <p:ph type="body" idx="2"/>
          </p:nvPr>
        </p:nvSpPr>
        <p:spPr>
          <a:xfrm>
            <a:off x="311700" y="1192925"/>
            <a:ext cx="39747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Search for images to represent the other</a:t>
            </a:r>
            <a:r>
              <a:rPr lang="en" b="1">
                <a:solidFill>
                  <a:srgbClr val="9FA617"/>
                </a:solidFill>
              </a:rPr>
              <a:t> components, processes, and interactions</a:t>
            </a:r>
            <a:r>
              <a:rPr lang="en">
                <a:solidFill>
                  <a:schemeClr val="dk1"/>
                </a:solidFill>
              </a:rPr>
              <a:t> that you want to include in your model.</a:t>
            </a:r>
            <a:endParaRPr>
              <a:solidFill>
                <a:schemeClr val="dk1"/>
              </a:solidFill>
            </a:endParaRPr>
          </a:p>
          <a:p>
            <a:pPr marL="0" lvl="0" indent="0" algn="l" rtl="0">
              <a:spcBef>
                <a:spcPts val="1200"/>
              </a:spcBef>
              <a:spcAft>
                <a:spcPts val="0"/>
              </a:spcAft>
              <a:buNone/>
            </a:pPr>
            <a:r>
              <a:rPr lang="en">
                <a:solidFill>
                  <a:schemeClr val="dk1"/>
                </a:solidFill>
              </a:rPr>
              <a:t>Label all of them.</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184" name="Google Shape;184;p27"/>
          <p:cNvPicPr preferRelativeResize="0"/>
          <p:nvPr/>
        </p:nvPicPr>
        <p:blipFill>
          <a:blip r:embed="rId3">
            <a:alphaModFix/>
          </a:blip>
          <a:stretch>
            <a:fillRect/>
          </a:stretch>
        </p:blipFill>
        <p:spPr>
          <a:xfrm>
            <a:off x="4054225" y="991000"/>
            <a:ext cx="5089787" cy="4152500"/>
          </a:xfrm>
          <a:prstGeom prst="rect">
            <a:avLst/>
          </a:prstGeom>
          <a:noFill/>
          <a:ln>
            <a:noFill/>
          </a:ln>
        </p:spPr>
      </p:pic>
      <p:pic>
        <p:nvPicPr>
          <p:cNvPr id="185" name="Google Shape;185;p27" title="Screenshot 2026-07-21 at 12.28.25 PM.png"/>
          <p:cNvPicPr preferRelativeResize="0"/>
          <p:nvPr/>
        </p:nvPicPr>
        <p:blipFill>
          <a:blip r:embed="rId4">
            <a:alphaModFix/>
          </a:blip>
          <a:stretch>
            <a:fillRect/>
          </a:stretch>
        </p:blipFill>
        <p:spPr>
          <a:xfrm>
            <a:off x="4442675" y="1540875"/>
            <a:ext cx="4310626" cy="2789000"/>
          </a:xfrm>
          <a:prstGeom prst="rect">
            <a:avLst/>
          </a:prstGeom>
          <a:noFill/>
          <a:ln>
            <a:noFill/>
          </a:ln>
        </p:spPr>
      </p:pic>
      <p:sp>
        <p:nvSpPr>
          <p:cNvPr id="186" name="Google Shape;186;p27"/>
          <p:cNvSpPr txBox="1"/>
          <p:nvPr/>
        </p:nvSpPr>
        <p:spPr>
          <a:xfrm>
            <a:off x="4442675" y="1540875"/>
            <a:ext cx="1540800" cy="147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900" b="1">
                <a:solidFill>
                  <a:schemeClr val="dk1"/>
                </a:solidFill>
              </a:rPr>
              <a:t>Example:</a:t>
            </a:r>
            <a:endParaRPr sz="900" b="1">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90"/>
        <p:cNvGrpSpPr/>
        <p:nvPr/>
      </p:nvGrpSpPr>
      <p:grpSpPr>
        <a:xfrm>
          <a:off x="0" y="0"/>
          <a:ext cx="0" cy="0"/>
          <a:chOff x="0" y="0"/>
          <a:chExt cx="0" cy="0"/>
        </a:xfrm>
      </p:grpSpPr>
      <p:sp>
        <p:nvSpPr>
          <p:cNvPr id="191" name="Google Shape;191;p28"/>
          <p:cNvSpPr txBox="1">
            <a:spLocks noGrp="1"/>
          </p:cNvSpPr>
          <p:nvPr>
            <p:ph type="title"/>
          </p:nvPr>
        </p:nvSpPr>
        <p:spPr>
          <a:xfrm>
            <a:off x="311700" y="445025"/>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Student SageModeler Instructions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192" name="Google Shape;192;p28"/>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16</a:t>
            </a:r>
            <a:endParaRPr sz="1200">
              <a:solidFill>
                <a:srgbClr val="000000"/>
              </a:solidFill>
            </a:endParaRPr>
          </a:p>
        </p:txBody>
      </p:sp>
      <p:sp>
        <p:nvSpPr>
          <p:cNvPr id="193" name="Google Shape;193;p28"/>
          <p:cNvSpPr txBox="1">
            <a:spLocks noGrp="1"/>
          </p:cNvSpPr>
          <p:nvPr>
            <p:ph type="body" idx="2"/>
          </p:nvPr>
        </p:nvSpPr>
        <p:spPr>
          <a:xfrm>
            <a:off x="311700" y="1192925"/>
            <a:ext cx="39747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To </a:t>
            </a:r>
            <a:r>
              <a:rPr lang="en" b="1">
                <a:solidFill>
                  <a:srgbClr val="9FA617"/>
                </a:solidFill>
              </a:rPr>
              <a:t>connect two items</a:t>
            </a:r>
            <a:r>
              <a:rPr lang="en">
                <a:solidFill>
                  <a:schemeClr val="dk1"/>
                </a:solidFill>
              </a:rPr>
              <a:t> in your model, hover over the first item. An arrow will appear. </a:t>
            </a: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194" name="Google Shape;194;p28" title="Screenshot 2026-07-21 at 12.31.22 PM.png"/>
          <p:cNvPicPr preferRelativeResize="0"/>
          <p:nvPr/>
        </p:nvPicPr>
        <p:blipFill>
          <a:blip r:embed="rId3">
            <a:alphaModFix/>
          </a:blip>
          <a:stretch>
            <a:fillRect/>
          </a:stretch>
        </p:blipFill>
        <p:spPr>
          <a:xfrm>
            <a:off x="1141800" y="2201062"/>
            <a:ext cx="1504650" cy="1924875"/>
          </a:xfrm>
          <a:prstGeom prst="rect">
            <a:avLst/>
          </a:prstGeom>
          <a:noFill/>
          <a:ln>
            <a:noFill/>
          </a:ln>
        </p:spPr>
      </p:pic>
      <p:sp>
        <p:nvSpPr>
          <p:cNvPr id="195" name="Google Shape;195;p28"/>
          <p:cNvSpPr/>
          <p:nvPr/>
        </p:nvSpPr>
        <p:spPr>
          <a:xfrm>
            <a:off x="2030550" y="2299425"/>
            <a:ext cx="492600" cy="4974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28"/>
          <p:cNvSpPr txBox="1"/>
          <p:nvPr/>
        </p:nvSpPr>
        <p:spPr>
          <a:xfrm>
            <a:off x="4529110" y="1192925"/>
            <a:ext cx="3903000" cy="14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Click and drag that arrow over to the item you want to connect it to. Creating a causal relationship.</a:t>
            </a:r>
            <a:endParaRPr>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pic>
        <p:nvPicPr>
          <p:cNvPr id="197" name="Google Shape;197;p28" title="Screenshot 2026-07-21 at 12.34.02 PM.png"/>
          <p:cNvPicPr preferRelativeResize="0"/>
          <p:nvPr/>
        </p:nvPicPr>
        <p:blipFill>
          <a:blip r:embed="rId4">
            <a:alphaModFix/>
          </a:blip>
          <a:stretch>
            <a:fillRect/>
          </a:stretch>
        </p:blipFill>
        <p:spPr>
          <a:xfrm>
            <a:off x="5476825" y="2201050"/>
            <a:ext cx="2007544" cy="186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311700" y="138100"/>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Student SageModeler Instructions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203" name="Google Shape;203;p29"/>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17</a:t>
            </a:r>
            <a:endParaRPr sz="1200">
              <a:solidFill>
                <a:srgbClr val="000000"/>
              </a:solidFill>
            </a:endParaRPr>
          </a:p>
        </p:txBody>
      </p:sp>
      <p:sp>
        <p:nvSpPr>
          <p:cNvPr id="204" name="Google Shape;204;p29"/>
          <p:cNvSpPr txBox="1">
            <a:spLocks noGrp="1"/>
          </p:cNvSpPr>
          <p:nvPr>
            <p:ph type="body" idx="2"/>
          </p:nvPr>
        </p:nvSpPr>
        <p:spPr>
          <a:xfrm>
            <a:off x="311700" y="727575"/>
            <a:ext cx="39747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To </a:t>
            </a:r>
            <a:r>
              <a:rPr lang="en" b="1">
                <a:solidFill>
                  <a:srgbClr val="9FA617"/>
                </a:solidFill>
              </a:rPr>
              <a:t>describe the relationship</a:t>
            </a:r>
            <a:r>
              <a:rPr lang="en">
                <a:solidFill>
                  <a:schemeClr val="dk1"/>
                </a:solidFill>
              </a:rPr>
              <a:t> between two items, double click on the arrow that connects them. </a:t>
            </a:r>
            <a:endParaRPr>
              <a:solidFill>
                <a:schemeClr val="dk1"/>
              </a:solidFill>
            </a:endParaRPr>
          </a:p>
          <a:p>
            <a:pPr marL="457200" lvl="0" indent="-304800" algn="l" rtl="0">
              <a:lnSpc>
                <a:spcPct val="115000"/>
              </a:lnSpc>
              <a:spcBef>
                <a:spcPts val="120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Positive relationship:</a:t>
            </a:r>
            <a:r>
              <a:rPr lang="en" sz="1200">
                <a:solidFill>
                  <a:schemeClr val="dk1"/>
                </a:solidFill>
                <a:latin typeface="Calibri"/>
                <a:ea typeface="Calibri"/>
                <a:cs typeface="Calibri"/>
                <a:sym typeface="Calibri"/>
              </a:rPr>
              <a:t> As one factor increases, the second factor also increases.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Negative relationship:</a:t>
            </a:r>
            <a:r>
              <a:rPr lang="en" sz="1200">
                <a:solidFill>
                  <a:schemeClr val="dk1"/>
                </a:solidFill>
                <a:latin typeface="Calibri"/>
                <a:ea typeface="Calibri"/>
                <a:cs typeface="Calibri"/>
                <a:sym typeface="Calibri"/>
              </a:rPr>
              <a:t> As one factor increases, the second factor decreases.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Varied relationship:</a:t>
            </a:r>
            <a:r>
              <a:rPr lang="en" sz="1200">
                <a:solidFill>
                  <a:schemeClr val="dk1"/>
                </a:solidFill>
                <a:latin typeface="Calibri"/>
                <a:ea typeface="Calibri"/>
                <a:cs typeface="Calibri"/>
                <a:sym typeface="Calibri"/>
              </a:rPr>
              <a:t> As one factor increases, the second factor can increase or decrease depending on different conditions</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8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b="1">
                <a:solidFill>
                  <a:srgbClr val="9FA617"/>
                </a:solidFill>
                <a:latin typeface="Calibri"/>
                <a:ea typeface="Calibri"/>
                <a:cs typeface="Calibri"/>
                <a:sym typeface="Calibri"/>
              </a:rPr>
              <a:t>How do human activities that drive climate change affect different types of value—and how can one activity cause value to go up, go down, or depend on the situation?</a:t>
            </a:r>
            <a:endParaRPr b="1">
              <a:solidFill>
                <a:srgbClr val="9FA617"/>
              </a:solidFill>
              <a:latin typeface="Calibri"/>
              <a:ea typeface="Calibri"/>
              <a:cs typeface="Calibri"/>
              <a:sym typeface="Calibri"/>
            </a:endParaRPr>
          </a:p>
          <a:p>
            <a:pPr marL="0" lvl="0" indent="0" algn="l" rtl="0">
              <a:lnSpc>
                <a:spcPct val="115000"/>
              </a:lnSpc>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1200"/>
              </a:spcAft>
              <a:buNone/>
            </a:pPr>
            <a:endParaRPr>
              <a:solidFill>
                <a:schemeClr val="dk1"/>
              </a:solidFill>
            </a:endParaRPr>
          </a:p>
        </p:txBody>
      </p:sp>
      <p:sp>
        <p:nvSpPr>
          <p:cNvPr id="205" name="Google Shape;205;p29"/>
          <p:cNvSpPr txBox="1"/>
          <p:nvPr/>
        </p:nvSpPr>
        <p:spPr>
          <a:xfrm>
            <a:off x="4442675" y="1540875"/>
            <a:ext cx="1540800" cy="147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900" b="1">
                <a:solidFill>
                  <a:schemeClr val="dk1"/>
                </a:solidFill>
              </a:rPr>
              <a:t>Example:</a:t>
            </a:r>
            <a:endParaRPr sz="900" b="1">
              <a:solidFill>
                <a:schemeClr val="dk1"/>
              </a:solidFill>
            </a:endParaRPr>
          </a:p>
        </p:txBody>
      </p:sp>
      <p:pic>
        <p:nvPicPr>
          <p:cNvPr id="206" name="Google Shape;206;p29" title="Screenshot 2026-07-21 at 12.35.43 PM.png"/>
          <p:cNvPicPr preferRelativeResize="0"/>
          <p:nvPr/>
        </p:nvPicPr>
        <p:blipFill>
          <a:blip r:embed="rId3">
            <a:alphaModFix/>
          </a:blip>
          <a:stretch>
            <a:fillRect/>
          </a:stretch>
        </p:blipFill>
        <p:spPr>
          <a:xfrm>
            <a:off x="4442675" y="886000"/>
            <a:ext cx="4310623" cy="1544001"/>
          </a:xfrm>
          <a:prstGeom prst="rect">
            <a:avLst/>
          </a:prstGeom>
          <a:noFill/>
          <a:ln>
            <a:noFill/>
          </a:ln>
        </p:spPr>
      </p:pic>
      <p:pic>
        <p:nvPicPr>
          <p:cNvPr id="207" name="Google Shape;207;p29" title="Screenshot 2026-08-03 at 2.38.43 PM.png"/>
          <p:cNvPicPr preferRelativeResize="0"/>
          <p:nvPr/>
        </p:nvPicPr>
        <p:blipFill>
          <a:blip r:embed="rId4">
            <a:alphaModFix/>
          </a:blip>
          <a:stretch>
            <a:fillRect/>
          </a:stretch>
        </p:blipFill>
        <p:spPr>
          <a:xfrm>
            <a:off x="4442675" y="2573263"/>
            <a:ext cx="4310625" cy="185474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11700" y="445025"/>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Different Types of Causal Relationships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213" name="Google Shape;213;p30"/>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18</a:t>
            </a:r>
            <a:endParaRPr sz="1200">
              <a:solidFill>
                <a:srgbClr val="000000"/>
              </a:solidFill>
            </a:endParaRPr>
          </a:p>
        </p:txBody>
      </p:sp>
      <p:sp>
        <p:nvSpPr>
          <p:cNvPr id="214" name="Google Shape;214;p30"/>
          <p:cNvSpPr txBox="1">
            <a:spLocks noGrp="1"/>
          </p:cNvSpPr>
          <p:nvPr>
            <p:ph type="body" idx="2"/>
          </p:nvPr>
        </p:nvSpPr>
        <p:spPr>
          <a:xfrm>
            <a:off x="311700" y="1192925"/>
            <a:ext cx="35742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355E3B"/>
                </a:solidFill>
              </a:rPr>
              <a:t>Linear Chain (A → B)</a:t>
            </a:r>
            <a:endParaRPr sz="1800" b="1">
              <a:solidFill>
                <a:srgbClr val="355E3B"/>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15" name="Google Shape;215;p30"/>
          <p:cNvSpPr txBox="1">
            <a:spLocks noGrp="1"/>
          </p:cNvSpPr>
          <p:nvPr>
            <p:ph type="body" idx="2"/>
          </p:nvPr>
        </p:nvSpPr>
        <p:spPr>
          <a:xfrm>
            <a:off x="4655100" y="1192925"/>
            <a:ext cx="35742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355E3B"/>
                </a:solidFill>
              </a:rPr>
              <a:t>Causal Chain (A → B → C)</a:t>
            </a:r>
            <a:endParaRPr sz="1800" b="1">
              <a:solidFill>
                <a:srgbClr val="355E3B"/>
              </a:solidFill>
            </a:endParaRPr>
          </a:p>
          <a:p>
            <a:pPr marL="0" lvl="0" indent="0" algn="l" rtl="0">
              <a:spcBef>
                <a:spcPts val="1200"/>
              </a:spcBef>
              <a:spcAft>
                <a:spcPts val="0"/>
              </a:spcAft>
              <a:buNone/>
            </a:pPr>
            <a:endParaRPr sz="1800" b="1">
              <a:solidFill>
                <a:srgbClr val="355E3B"/>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216" name="Google Shape;216;p30" title="Screenshot 2026-07-21 at 1.41.38 PM.png"/>
          <p:cNvPicPr preferRelativeResize="0"/>
          <p:nvPr/>
        </p:nvPicPr>
        <p:blipFill>
          <a:blip r:embed="rId3">
            <a:alphaModFix/>
          </a:blip>
          <a:stretch>
            <a:fillRect/>
          </a:stretch>
        </p:blipFill>
        <p:spPr>
          <a:xfrm>
            <a:off x="1236888" y="2247923"/>
            <a:ext cx="1723825" cy="1529800"/>
          </a:xfrm>
          <a:prstGeom prst="rect">
            <a:avLst/>
          </a:prstGeom>
          <a:noFill/>
          <a:ln>
            <a:noFill/>
          </a:ln>
        </p:spPr>
      </p:pic>
      <p:sp>
        <p:nvSpPr>
          <p:cNvPr id="217" name="Google Shape;217;p30"/>
          <p:cNvSpPr txBox="1"/>
          <p:nvPr/>
        </p:nvSpPr>
        <p:spPr>
          <a:xfrm>
            <a:off x="311700" y="3850800"/>
            <a:ext cx="39030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A heavy storm (A) physically prevents fishing vessels from leaving port, directly reducing the immediate supply of fresh seafood (B).</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
        <p:nvSpPr>
          <p:cNvPr id="218" name="Google Shape;218;p30"/>
          <p:cNvSpPr txBox="1"/>
          <p:nvPr/>
        </p:nvSpPr>
        <p:spPr>
          <a:xfrm>
            <a:off x="1189275" y="3133375"/>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A</a:t>
            </a:r>
            <a:endParaRPr sz="1800">
              <a:solidFill>
                <a:srgbClr val="FF0000"/>
              </a:solidFill>
            </a:endParaRPr>
          </a:p>
        </p:txBody>
      </p:sp>
      <p:sp>
        <p:nvSpPr>
          <p:cNvPr id="219" name="Google Shape;219;p30"/>
          <p:cNvSpPr txBox="1"/>
          <p:nvPr/>
        </p:nvSpPr>
        <p:spPr>
          <a:xfrm>
            <a:off x="2960700" y="2328513"/>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B</a:t>
            </a:r>
            <a:endParaRPr sz="1800">
              <a:solidFill>
                <a:srgbClr val="FF0000"/>
              </a:solidFill>
            </a:endParaRPr>
          </a:p>
        </p:txBody>
      </p:sp>
      <p:sp>
        <p:nvSpPr>
          <p:cNvPr id="220" name="Google Shape;220;p30"/>
          <p:cNvSpPr txBox="1"/>
          <p:nvPr/>
        </p:nvSpPr>
        <p:spPr>
          <a:xfrm>
            <a:off x="311700" y="1600525"/>
            <a:ext cx="39030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Concept:</a:t>
            </a:r>
            <a:r>
              <a:rPr lang="en" sz="1100">
                <a:solidFill>
                  <a:schemeClr val="dk1"/>
                </a:solidFill>
              </a:rPr>
              <a:t> A direct cause-and-effect relationship where one element or process directly impacts another.</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
        <p:nvSpPr>
          <p:cNvPr id="221" name="Google Shape;221;p30"/>
          <p:cNvSpPr txBox="1"/>
          <p:nvPr/>
        </p:nvSpPr>
        <p:spPr>
          <a:xfrm>
            <a:off x="4655100" y="1600525"/>
            <a:ext cx="42411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Concept:</a:t>
            </a:r>
            <a:r>
              <a:rPr lang="en" sz="1100">
                <a:solidFill>
                  <a:schemeClr val="dk1"/>
                </a:solidFill>
              </a:rPr>
              <a:t> A multi-step sequence where an initial event triggers an intermediate change, which then leads to a final outcome.</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pic>
        <p:nvPicPr>
          <p:cNvPr id="222" name="Google Shape;222;p30" title="Screenshot 2026-07-21 at 1.49.37 PM.png"/>
          <p:cNvPicPr preferRelativeResize="0"/>
          <p:nvPr/>
        </p:nvPicPr>
        <p:blipFill>
          <a:blip r:embed="rId4">
            <a:alphaModFix/>
          </a:blip>
          <a:stretch>
            <a:fillRect/>
          </a:stretch>
        </p:blipFill>
        <p:spPr>
          <a:xfrm>
            <a:off x="5487587" y="2200450"/>
            <a:ext cx="2576124" cy="1529800"/>
          </a:xfrm>
          <a:prstGeom prst="rect">
            <a:avLst/>
          </a:prstGeom>
          <a:noFill/>
          <a:ln>
            <a:noFill/>
          </a:ln>
        </p:spPr>
      </p:pic>
      <p:sp>
        <p:nvSpPr>
          <p:cNvPr id="223" name="Google Shape;223;p30"/>
          <p:cNvSpPr txBox="1"/>
          <p:nvPr/>
        </p:nvSpPr>
        <p:spPr>
          <a:xfrm>
            <a:off x="5703400" y="2871200"/>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A</a:t>
            </a:r>
            <a:endParaRPr sz="1800">
              <a:solidFill>
                <a:srgbClr val="FF0000"/>
              </a:solidFill>
            </a:endParaRPr>
          </a:p>
        </p:txBody>
      </p:sp>
      <p:sp>
        <p:nvSpPr>
          <p:cNvPr id="224" name="Google Shape;224;p30"/>
          <p:cNvSpPr txBox="1"/>
          <p:nvPr/>
        </p:nvSpPr>
        <p:spPr>
          <a:xfrm>
            <a:off x="6595950" y="3199950"/>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B</a:t>
            </a:r>
            <a:endParaRPr sz="1800">
              <a:solidFill>
                <a:srgbClr val="FF0000"/>
              </a:solidFill>
            </a:endParaRPr>
          </a:p>
        </p:txBody>
      </p:sp>
      <p:sp>
        <p:nvSpPr>
          <p:cNvPr id="225" name="Google Shape;225;p30"/>
          <p:cNvSpPr txBox="1"/>
          <p:nvPr/>
        </p:nvSpPr>
        <p:spPr>
          <a:xfrm>
            <a:off x="7596275" y="3464100"/>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C</a:t>
            </a:r>
            <a:endParaRPr sz="1800">
              <a:solidFill>
                <a:srgbClr val="FF0000"/>
              </a:solidFill>
            </a:endParaRPr>
          </a:p>
        </p:txBody>
      </p:sp>
      <p:sp>
        <p:nvSpPr>
          <p:cNvPr id="226" name="Google Shape;226;p30"/>
          <p:cNvSpPr txBox="1"/>
          <p:nvPr/>
        </p:nvSpPr>
        <p:spPr>
          <a:xfrm>
            <a:off x="4655100" y="3827050"/>
            <a:ext cx="39030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When factories release carbon dioxide into the air (A), the ocean absorbs it and becomes acidic (B), dissolving oyster shells and reducing seafood yields for farmers (C).</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30"/>
        <p:cNvGrpSpPr/>
        <p:nvPr/>
      </p:nvGrpSpPr>
      <p:grpSpPr>
        <a:xfrm>
          <a:off x="0" y="0"/>
          <a:ext cx="0" cy="0"/>
          <a:chOff x="0" y="0"/>
          <a:chExt cx="0" cy="0"/>
        </a:xfrm>
      </p:grpSpPr>
      <p:sp>
        <p:nvSpPr>
          <p:cNvPr id="231" name="Google Shape;231;p31"/>
          <p:cNvSpPr txBox="1">
            <a:spLocks noGrp="1"/>
          </p:cNvSpPr>
          <p:nvPr>
            <p:ph type="title"/>
          </p:nvPr>
        </p:nvSpPr>
        <p:spPr>
          <a:xfrm>
            <a:off x="311700" y="112650"/>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Different Types of Causal Relationships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232" name="Google Shape;232;p31"/>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000">
                <a:solidFill>
                  <a:schemeClr val="dk1"/>
                </a:solidFill>
              </a:rPr>
              <a:t>Module 2.1 Building a Model</a:t>
            </a:r>
            <a:br>
              <a:rPr lang="en" sz="1000">
                <a:solidFill>
                  <a:srgbClr val="000000"/>
                </a:solidFill>
              </a:rPr>
            </a:br>
            <a:r>
              <a:rPr lang="en" sz="1000"/>
              <a:t>Slide 19</a:t>
            </a:r>
            <a:endParaRPr sz="1000">
              <a:solidFill>
                <a:srgbClr val="000000"/>
              </a:solidFill>
            </a:endParaRPr>
          </a:p>
        </p:txBody>
      </p:sp>
      <p:sp>
        <p:nvSpPr>
          <p:cNvPr id="233" name="Google Shape;233;p31"/>
          <p:cNvSpPr txBox="1">
            <a:spLocks noGrp="1"/>
          </p:cNvSpPr>
          <p:nvPr>
            <p:ph type="body" idx="2"/>
          </p:nvPr>
        </p:nvSpPr>
        <p:spPr>
          <a:xfrm>
            <a:off x="311700" y="711300"/>
            <a:ext cx="38223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355E3B"/>
                </a:solidFill>
              </a:rPr>
              <a:t>Feedback Loop (A → B; B → A)</a:t>
            </a:r>
            <a:endParaRPr sz="1800" b="1">
              <a:solidFill>
                <a:srgbClr val="355E3B"/>
              </a:solidFill>
            </a:endParaRPr>
          </a:p>
          <a:p>
            <a:pPr marL="0" lvl="0" indent="0" algn="l" rtl="0">
              <a:spcBef>
                <a:spcPts val="1200"/>
              </a:spcBef>
              <a:spcAft>
                <a:spcPts val="0"/>
              </a:spcAft>
              <a:buNone/>
            </a:pPr>
            <a:endParaRPr sz="1800" b="1">
              <a:solidFill>
                <a:srgbClr val="355E3B"/>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34" name="Google Shape;234;p31"/>
          <p:cNvSpPr txBox="1">
            <a:spLocks noGrp="1"/>
          </p:cNvSpPr>
          <p:nvPr>
            <p:ph type="body" idx="2"/>
          </p:nvPr>
        </p:nvSpPr>
        <p:spPr>
          <a:xfrm>
            <a:off x="4665300" y="711300"/>
            <a:ext cx="42207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355E3B"/>
                </a:solidFill>
              </a:rPr>
              <a:t>Indirect Link (A → B; B → C; A → C)</a:t>
            </a:r>
            <a:endParaRPr sz="1800" b="1">
              <a:solidFill>
                <a:srgbClr val="355E3B"/>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35" name="Google Shape;235;p31"/>
          <p:cNvSpPr txBox="1"/>
          <p:nvPr/>
        </p:nvSpPr>
        <p:spPr>
          <a:xfrm>
            <a:off x="311700" y="1023925"/>
            <a:ext cx="39030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Concept:</a:t>
            </a:r>
            <a:r>
              <a:rPr lang="en" sz="1100">
                <a:solidFill>
                  <a:schemeClr val="dk1"/>
                </a:solidFill>
              </a:rPr>
              <a:t> A circular relationship where the outcome of a process feeds back into the original cause, amplifying (positive feedback) or reducing (negative feedback) the effect over time.</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
        <p:nvSpPr>
          <p:cNvPr id="236" name="Google Shape;236;p31"/>
          <p:cNvSpPr txBox="1"/>
          <p:nvPr/>
        </p:nvSpPr>
        <p:spPr>
          <a:xfrm>
            <a:off x="4655100" y="1023925"/>
            <a:ext cx="42411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Concept:</a:t>
            </a:r>
            <a:r>
              <a:rPr lang="en" sz="1100">
                <a:solidFill>
                  <a:schemeClr val="dk1"/>
                </a:solidFill>
              </a:rPr>
              <a:t> A variable (A) influences an outcome (C) both indirectly through an intermediate variable (B) and through a separate direct pathway.</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pic>
        <p:nvPicPr>
          <p:cNvPr id="237" name="Google Shape;237;p31" title="Screenshot 2026-07-21 at 1.57.07 PM.png"/>
          <p:cNvPicPr preferRelativeResize="0"/>
          <p:nvPr/>
        </p:nvPicPr>
        <p:blipFill>
          <a:blip r:embed="rId3">
            <a:alphaModFix/>
          </a:blip>
          <a:stretch>
            <a:fillRect/>
          </a:stretch>
        </p:blipFill>
        <p:spPr>
          <a:xfrm>
            <a:off x="963188" y="1934100"/>
            <a:ext cx="2519325" cy="1201075"/>
          </a:xfrm>
          <a:prstGeom prst="rect">
            <a:avLst/>
          </a:prstGeom>
          <a:noFill/>
          <a:ln>
            <a:noFill/>
          </a:ln>
        </p:spPr>
      </p:pic>
      <p:sp>
        <p:nvSpPr>
          <p:cNvPr id="238" name="Google Shape;238;p31"/>
          <p:cNvSpPr txBox="1"/>
          <p:nvPr/>
        </p:nvSpPr>
        <p:spPr>
          <a:xfrm>
            <a:off x="362850" y="3529525"/>
            <a:ext cx="42411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rPr>
              <a:t>Intense fishing (A) drives down wild fish populations (B), creating market scarcity that raises prices and incentivizes companies to fish even harder (A), driving stocks into a deeper decline.</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
        <p:nvSpPr>
          <p:cNvPr id="239" name="Google Shape;239;p31"/>
          <p:cNvSpPr txBox="1"/>
          <p:nvPr/>
        </p:nvSpPr>
        <p:spPr>
          <a:xfrm>
            <a:off x="741575" y="2185050"/>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A</a:t>
            </a:r>
            <a:endParaRPr sz="1800">
              <a:solidFill>
                <a:srgbClr val="FF0000"/>
              </a:solidFill>
            </a:endParaRPr>
          </a:p>
        </p:txBody>
      </p:sp>
      <p:sp>
        <p:nvSpPr>
          <p:cNvPr id="240" name="Google Shape;240;p31"/>
          <p:cNvSpPr txBox="1"/>
          <p:nvPr/>
        </p:nvSpPr>
        <p:spPr>
          <a:xfrm>
            <a:off x="3449100" y="2185038"/>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B</a:t>
            </a:r>
            <a:endParaRPr sz="1800">
              <a:solidFill>
                <a:srgbClr val="FF0000"/>
              </a:solidFill>
            </a:endParaRPr>
          </a:p>
        </p:txBody>
      </p:sp>
      <p:pic>
        <p:nvPicPr>
          <p:cNvPr id="241" name="Google Shape;241;p31" title="Screenshot 2026-07-21 at 2.10.38 PM.png"/>
          <p:cNvPicPr preferRelativeResize="0"/>
          <p:nvPr/>
        </p:nvPicPr>
        <p:blipFill>
          <a:blip r:embed="rId4">
            <a:alphaModFix/>
          </a:blip>
          <a:stretch>
            <a:fillRect/>
          </a:stretch>
        </p:blipFill>
        <p:spPr>
          <a:xfrm>
            <a:off x="5415088" y="1766988"/>
            <a:ext cx="2721122" cy="1684500"/>
          </a:xfrm>
          <a:prstGeom prst="rect">
            <a:avLst/>
          </a:prstGeom>
          <a:noFill/>
          <a:ln>
            <a:noFill/>
          </a:ln>
        </p:spPr>
      </p:pic>
      <p:sp>
        <p:nvSpPr>
          <p:cNvPr id="242" name="Google Shape;242;p31"/>
          <p:cNvSpPr txBox="1"/>
          <p:nvPr/>
        </p:nvSpPr>
        <p:spPr>
          <a:xfrm>
            <a:off x="5164088" y="2341288"/>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A</a:t>
            </a:r>
            <a:endParaRPr sz="1800">
              <a:solidFill>
                <a:srgbClr val="FF0000"/>
              </a:solidFill>
            </a:endParaRPr>
          </a:p>
        </p:txBody>
      </p:sp>
      <p:sp>
        <p:nvSpPr>
          <p:cNvPr id="243" name="Google Shape;243;p31"/>
          <p:cNvSpPr txBox="1"/>
          <p:nvPr/>
        </p:nvSpPr>
        <p:spPr>
          <a:xfrm>
            <a:off x="8180275" y="2922363"/>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C</a:t>
            </a:r>
            <a:endParaRPr sz="1800">
              <a:solidFill>
                <a:srgbClr val="FF0000"/>
              </a:solidFill>
            </a:endParaRPr>
          </a:p>
        </p:txBody>
      </p:sp>
      <p:sp>
        <p:nvSpPr>
          <p:cNvPr id="244" name="Google Shape;244;p31"/>
          <p:cNvSpPr txBox="1"/>
          <p:nvPr/>
        </p:nvSpPr>
        <p:spPr>
          <a:xfrm>
            <a:off x="6879075" y="2151113"/>
            <a:ext cx="3594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FF0000"/>
                </a:solidFill>
              </a:rPr>
              <a:t>B</a:t>
            </a:r>
            <a:endParaRPr sz="1800">
              <a:solidFill>
                <a:srgbClr val="FF0000"/>
              </a:solidFill>
            </a:endParaRPr>
          </a:p>
        </p:txBody>
      </p:sp>
      <p:sp>
        <p:nvSpPr>
          <p:cNvPr id="245" name="Google Shape;245;p31"/>
          <p:cNvSpPr txBox="1"/>
          <p:nvPr/>
        </p:nvSpPr>
        <p:spPr>
          <a:xfrm>
            <a:off x="4655100" y="3547150"/>
            <a:ext cx="42411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000" b="1">
                <a:solidFill>
                  <a:schemeClr val="dk1"/>
                </a:solidFill>
              </a:rPr>
              <a:t>Indirect Pathway (A → B; B → C):</a:t>
            </a:r>
            <a:r>
              <a:rPr lang="en" sz="1000">
                <a:solidFill>
                  <a:schemeClr val="dk1"/>
                </a:solidFill>
              </a:rPr>
              <a:t> </a:t>
            </a:r>
            <a:r>
              <a:rPr lang="en" sz="1000" b="1">
                <a:solidFill>
                  <a:schemeClr val="dk1"/>
                </a:solidFill>
              </a:rPr>
              <a:t>:</a:t>
            </a:r>
            <a:r>
              <a:rPr lang="en" sz="1000">
                <a:solidFill>
                  <a:schemeClr val="dk1"/>
                </a:solidFill>
              </a:rPr>
              <a:t> Increased sunlight boosts phytoplankton growth (</a:t>
            </a:r>
            <a:r>
              <a:rPr lang="en" sz="1000" b="1">
                <a:solidFill>
                  <a:schemeClr val="dk1"/>
                </a:solidFill>
              </a:rPr>
              <a:t>A → B)</a:t>
            </a:r>
            <a:r>
              <a:rPr lang="en" sz="1000">
                <a:solidFill>
                  <a:schemeClr val="dk1"/>
                </a:solidFill>
              </a:rPr>
              <a:t>, which feeds small marine life and ultimately builds up commercial fish populations (</a:t>
            </a:r>
            <a:r>
              <a:rPr lang="en" sz="1000" b="1">
                <a:solidFill>
                  <a:schemeClr val="dk1"/>
                </a:solidFill>
              </a:rPr>
              <a:t>B → C</a:t>
            </a:r>
            <a:r>
              <a:rPr lang="en" sz="1000">
                <a:solidFill>
                  <a:schemeClr val="dk1"/>
                </a:solidFill>
              </a:rPr>
              <a:t>).</a:t>
            </a:r>
            <a:endParaRPr sz="1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000" b="1">
                <a:solidFill>
                  <a:schemeClr val="dk1"/>
                </a:solidFill>
              </a:rPr>
              <a:t>Direct Pathway (A → C):</a:t>
            </a:r>
            <a:r>
              <a:rPr lang="en" sz="1000">
                <a:solidFill>
                  <a:schemeClr val="dk1"/>
                </a:solidFill>
              </a:rPr>
              <a:t> Sunlight directly warms surface waters and alters fish migration routes </a:t>
            </a:r>
            <a:r>
              <a:rPr lang="en" sz="1000" b="1">
                <a:solidFill>
                  <a:schemeClr val="dk1"/>
                </a:solidFill>
              </a:rPr>
              <a:t>(A → C)</a:t>
            </a:r>
            <a:r>
              <a:rPr lang="en" sz="1000">
                <a:solidFill>
                  <a:schemeClr val="dk1"/>
                </a:solidFill>
              </a:rPr>
              <a:t>, changing where fish gather and affecting local seafood availability and prices.</a:t>
            </a:r>
            <a:endParaRPr sz="1000">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E9EBE8"/>
        </a:solidFill>
        <a:effectLst/>
      </p:bgPr>
    </p:bg>
    <p:spTree>
      <p:nvGrpSpPr>
        <p:cNvPr id="1" name="Shape 249"/>
        <p:cNvGrpSpPr/>
        <p:nvPr/>
      </p:nvGrpSpPr>
      <p:grpSpPr>
        <a:xfrm>
          <a:off x="0" y="0"/>
          <a:ext cx="0" cy="0"/>
          <a:chOff x="0" y="0"/>
          <a:chExt cx="0" cy="0"/>
        </a:xfrm>
      </p:grpSpPr>
      <p:sp>
        <p:nvSpPr>
          <p:cNvPr id="250" name="Google Shape;250;p32"/>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20</a:t>
            </a:r>
            <a:endParaRPr sz="1200">
              <a:solidFill>
                <a:srgbClr val="000000"/>
              </a:solidFill>
            </a:endParaRPr>
          </a:p>
        </p:txBody>
      </p:sp>
      <p:sp>
        <p:nvSpPr>
          <p:cNvPr id="251" name="Google Shape;251;p32"/>
          <p:cNvSpPr txBox="1">
            <a:spLocks noGrp="1"/>
          </p:cNvSpPr>
          <p:nvPr>
            <p:ph type="title"/>
          </p:nvPr>
        </p:nvSpPr>
        <p:spPr>
          <a:xfrm>
            <a:off x="311700" y="166700"/>
            <a:ext cx="7151700" cy="74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Student SageModeler Instructions</a:t>
            </a:r>
            <a:endParaRPr b="1">
              <a:solidFill>
                <a:srgbClr val="541900"/>
              </a:solidFill>
            </a:endParaRPr>
          </a:p>
          <a:p>
            <a:pPr marL="0" lvl="0" indent="0" algn="l" rtl="0">
              <a:spcBef>
                <a:spcPts val="0"/>
              </a:spcBef>
              <a:spcAft>
                <a:spcPts val="0"/>
              </a:spcAft>
              <a:buNone/>
            </a:pPr>
            <a:endParaRPr sz="3200" b="1">
              <a:solidFill>
                <a:srgbClr val="541900"/>
              </a:solidFill>
            </a:endParaRPr>
          </a:p>
        </p:txBody>
      </p:sp>
      <p:sp>
        <p:nvSpPr>
          <p:cNvPr id="252" name="Google Shape;252;p32"/>
          <p:cNvSpPr txBox="1">
            <a:spLocks noGrp="1"/>
          </p:cNvSpPr>
          <p:nvPr>
            <p:ph type="body" idx="2"/>
          </p:nvPr>
        </p:nvSpPr>
        <p:spPr>
          <a:xfrm>
            <a:off x="338875" y="846725"/>
            <a:ext cx="3682800" cy="813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b="1">
                <a:solidFill>
                  <a:srgbClr val="9FA617"/>
                </a:solidFill>
              </a:rPr>
              <a:t>Continue </a:t>
            </a:r>
            <a:r>
              <a:rPr lang="en">
                <a:solidFill>
                  <a:schemeClr val="dk1"/>
                </a:solidFill>
              </a:rPr>
              <a:t>to add components, processes, and interactions from your list to the model.</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 b="1">
                <a:solidFill>
                  <a:srgbClr val="9FA617"/>
                </a:solidFill>
              </a:rPr>
              <a:t>Create different causal relationships</a:t>
            </a:r>
            <a:r>
              <a:rPr lang="en">
                <a:solidFill>
                  <a:schemeClr val="dk1"/>
                </a:solidFill>
              </a:rPr>
              <a:t>- linear chains, causal chains, feedback loops, and indirect links.</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53" name="Google Shape;253;p32"/>
          <p:cNvSpPr txBox="1">
            <a:spLocks noGrp="1"/>
          </p:cNvSpPr>
          <p:nvPr>
            <p:ph type="body" idx="2"/>
          </p:nvPr>
        </p:nvSpPr>
        <p:spPr>
          <a:xfrm>
            <a:off x="338875" y="3168975"/>
            <a:ext cx="3499800" cy="81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9FA617"/>
                </a:solidFill>
              </a:rPr>
              <a:t>Save</a:t>
            </a:r>
            <a:r>
              <a:rPr lang="en">
                <a:solidFill>
                  <a:schemeClr val="dk1"/>
                </a:solidFill>
              </a:rPr>
              <a:t> your model when you’re done.</a:t>
            </a:r>
            <a:endParaRPr>
              <a:solidFill>
                <a:schemeClr val="dk1"/>
              </a:solidFill>
            </a:endParaRPr>
          </a:p>
          <a:p>
            <a:pPr marL="0" lvl="0" indent="0" algn="l" rtl="0">
              <a:spcBef>
                <a:spcPts val="1200"/>
              </a:spcBef>
              <a:spcAft>
                <a:spcPts val="0"/>
              </a:spcAft>
              <a:buNone/>
            </a:pPr>
            <a:r>
              <a:rPr lang="en">
                <a:solidFill>
                  <a:schemeClr val="dk1"/>
                </a:solidFill>
              </a:rPr>
              <a:t>Connect to Google Drive to save your model in a shareable location.</a:t>
            </a:r>
            <a:endParaRPr>
              <a:solidFill>
                <a:schemeClr val="dk1"/>
              </a:solidFill>
            </a:endParaRPr>
          </a:p>
          <a:p>
            <a:pPr marL="0" lvl="0" indent="0" algn="l" rtl="0">
              <a:lnSpc>
                <a:spcPct val="100000"/>
              </a:lnSpc>
              <a:spcBef>
                <a:spcPts val="120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1200"/>
              </a:spcBef>
              <a:spcAft>
                <a:spcPts val="1200"/>
              </a:spcAft>
              <a:buNone/>
            </a:pPr>
            <a:endParaRPr>
              <a:solidFill>
                <a:schemeClr val="dk1"/>
              </a:solidFill>
            </a:endParaRPr>
          </a:p>
        </p:txBody>
      </p:sp>
      <p:pic>
        <p:nvPicPr>
          <p:cNvPr id="254" name="Google Shape;254;p32" title="Screenshot 2026-07-21 at 1.23.15 PM.png"/>
          <p:cNvPicPr preferRelativeResize="0"/>
          <p:nvPr/>
        </p:nvPicPr>
        <p:blipFill>
          <a:blip r:embed="rId3">
            <a:alphaModFix/>
          </a:blip>
          <a:stretch>
            <a:fillRect/>
          </a:stretch>
        </p:blipFill>
        <p:spPr>
          <a:xfrm>
            <a:off x="4503000" y="3168975"/>
            <a:ext cx="1970376" cy="1496300"/>
          </a:xfrm>
          <a:prstGeom prst="rect">
            <a:avLst/>
          </a:prstGeom>
          <a:noFill/>
          <a:ln>
            <a:noFill/>
          </a:ln>
        </p:spPr>
      </p:pic>
      <p:sp>
        <p:nvSpPr>
          <p:cNvPr id="255" name="Google Shape;255;p32"/>
          <p:cNvSpPr/>
          <p:nvPr/>
        </p:nvSpPr>
        <p:spPr>
          <a:xfrm>
            <a:off x="3702875" y="3913700"/>
            <a:ext cx="697500" cy="324300"/>
          </a:xfrm>
          <a:prstGeom prst="rightArrow">
            <a:avLst>
              <a:gd name="adj1" fmla="val 50000"/>
              <a:gd name="adj2" fmla="val 50000"/>
            </a:avLst>
          </a:prstGeom>
          <a:solidFill>
            <a:srgbClr val="9FA617"/>
          </a:solidFill>
          <a:ln w="9525" cap="flat" cmpd="sng">
            <a:solidFill>
              <a:srgbClr val="355E3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6" name="Google Shape;256;p32" title="Screenshot 2026-07-21 at 1.24.24 PM.png"/>
          <p:cNvPicPr preferRelativeResize="0"/>
          <p:nvPr/>
        </p:nvPicPr>
        <p:blipFill>
          <a:blip r:embed="rId4">
            <a:alphaModFix/>
          </a:blip>
          <a:stretch>
            <a:fillRect/>
          </a:stretch>
        </p:blipFill>
        <p:spPr>
          <a:xfrm>
            <a:off x="6645025" y="3168979"/>
            <a:ext cx="2331642" cy="1496299"/>
          </a:xfrm>
          <a:prstGeom prst="rect">
            <a:avLst/>
          </a:prstGeom>
          <a:noFill/>
          <a:ln>
            <a:noFill/>
          </a:ln>
        </p:spPr>
      </p:pic>
      <p:pic>
        <p:nvPicPr>
          <p:cNvPr id="257" name="Google Shape;257;p32" title="Screenshot 2026-07-21 at 2.16.22 PM.png"/>
          <p:cNvPicPr preferRelativeResize="0"/>
          <p:nvPr/>
        </p:nvPicPr>
        <p:blipFill>
          <a:blip r:embed="rId5">
            <a:alphaModFix/>
          </a:blip>
          <a:stretch>
            <a:fillRect/>
          </a:stretch>
        </p:blipFill>
        <p:spPr>
          <a:xfrm>
            <a:off x="5429000" y="846725"/>
            <a:ext cx="2493208" cy="19495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61"/>
        <p:cNvGrpSpPr/>
        <p:nvPr/>
      </p:nvGrpSpPr>
      <p:grpSpPr>
        <a:xfrm>
          <a:off x="0" y="0"/>
          <a:ext cx="0" cy="0"/>
          <a:chOff x="0" y="0"/>
          <a:chExt cx="0" cy="0"/>
        </a:xfrm>
      </p:grpSpPr>
      <p:sp>
        <p:nvSpPr>
          <p:cNvPr id="262" name="Google Shape;262;p33"/>
          <p:cNvSpPr txBox="1">
            <a:spLocks noGrp="1"/>
          </p:cNvSpPr>
          <p:nvPr>
            <p:ph type="title"/>
          </p:nvPr>
        </p:nvSpPr>
        <p:spPr>
          <a:xfrm>
            <a:off x="311700" y="445025"/>
            <a:ext cx="8648400" cy="72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b="1">
                <a:solidFill>
                  <a:srgbClr val="541900"/>
                </a:solidFill>
              </a:rPr>
              <a:t>Simulating Changes with SageModeler</a:t>
            </a:r>
            <a:endParaRPr sz="3600" b="1">
              <a:solidFill>
                <a:srgbClr val="541900"/>
              </a:solidFill>
            </a:endParaRPr>
          </a:p>
        </p:txBody>
      </p:sp>
      <p:sp>
        <p:nvSpPr>
          <p:cNvPr id="263" name="Google Shape;263;p33"/>
          <p:cNvSpPr txBox="1">
            <a:spLocks noGrp="1"/>
          </p:cNvSpPr>
          <p:nvPr>
            <p:ph type="body" idx="2"/>
          </p:nvPr>
        </p:nvSpPr>
        <p:spPr>
          <a:xfrm>
            <a:off x="303750" y="1894625"/>
            <a:ext cx="5123100" cy="22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Click on the </a:t>
            </a:r>
            <a:r>
              <a:rPr lang="en" sz="1600" b="1">
                <a:solidFill>
                  <a:srgbClr val="9FA617"/>
                </a:solidFill>
              </a:rPr>
              <a:t>Simulate</a:t>
            </a:r>
            <a:r>
              <a:rPr lang="en" sz="1600">
                <a:solidFill>
                  <a:schemeClr val="dk1"/>
                </a:solidFill>
              </a:rPr>
              <a:t> icon in the upper right-hand corner of SageModeler to simulate change on different factors within your model.</a:t>
            </a:r>
            <a:endParaRPr sz="1600">
              <a:solidFill>
                <a:schemeClr val="dk1"/>
              </a:solidFill>
            </a:endParaRPr>
          </a:p>
          <a:p>
            <a:pPr marL="0" lvl="0" indent="0" algn="l" rtl="0">
              <a:spcBef>
                <a:spcPts val="1200"/>
              </a:spcBef>
              <a:spcAft>
                <a:spcPts val="0"/>
              </a:spcAft>
              <a:buNone/>
            </a:pPr>
            <a:r>
              <a:rPr lang="en" sz="1600">
                <a:solidFill>
                  <a:schemeClr val="dk1"/>
                </a:solidFill>
              </a:rPr>
              <a:t>As you test your simulations, think about the following:</a:t>
            </a:r>
            <a:endParaRPr sz="1600">
              <a:solidFill>
                <a:schemeClr val="dk1"/>
              </a:solidFill>
            </a:endParaRPr>
          </a:p>
          <a:p>
            <a:pPr marL="457200" lvl="0" indent="-330200" algn="l" rtl="0">
              <a:spcBef>
                <a:spcPts val="1200"/>
              </a:spcBef>
              <a:spcAft>
                <a:spcPts val="0"/>
              </a:spcAft>
              <a:buClr>
                <a:schemeClr val="dk1"/>
              </a:buClr>
              <a:buSzPts val="1600"/>
              <a:buChar char="●"/>
            </a:pPr>
            <a:r>
              <a:rPr lang="en" sz="1600" b="1">
                <a:solidFill>
                  <a:srgbClr val="9FA617"/>
                </a:solidFill>
              </a:rPr>
              <a:t>How does a change in a component, process, or interaction within your model affect your team’s chosen value?</a:t>
            </a:r>
            <a:endParaRPr sz="1600" b="1">
              <a:solidFill>
                <a:srgbClr val="9FA617"/>
              </a:solidFill>
            </a:endParaRPr>
          </a:p>
        </p:txBody>
      </p:sp>
      <p:sp>
        <p:nvSpPr>
          <p:cNvPr id="264" name="Google Shape;264;p33"/>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21</a:t>
            </a:r>
            <a:endParaRPr sz="1200">
              <a:solidFill>
                <a:srgbClr val="000000"/>
              </a:solidFill>
            </a:endParaRPr>
          </a:p>
        </p:txBody>
      </p:sp>
      <p:sp>
        <p:nvSpPr>
          <p:cNvPr id="265" name="Google Shape;265;p33"/>
          <p:cNvSpPr txBox="1">
            <a:spLocks noGrp="1"/>
          </p:cNvSpPr>
          <p:nvPr>
            <p:ph type="body" idx="2"/>
          </p:nvPr>
        </p:nvSpPr>
        <p:spPr>
          <a:xfrm>
            <a:off x="303749" y="1169825"/>
            <a:ext cx="8656349" cy="7248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900" dirty="0">
                <a:solidFill>
                  <a:srgbClr val="355E3B"/>
                </a:solidFill>
              </a:rPr>
              <a:t>Now that your team has a complete model, take a moment to simulate change to see how changes in portions of your model impact your chosen value.</a:t>
            </a:r>
            <a:endParaRPr sz="1900" dirty="0">
              <a:solidFill>
                <a:srgbClr val="355E3B"/>
              </a:solidFill>
            </a:endParaRPr>
          </a:p>
        </p:txBody>
      </p:sp>
      <p:pic>
        <p:nvPicPr>
          <p:cNvPr id="266" name="Google Shape;266;p33" title="Screenshot 2026-07-21 at 1.28.22 PM.png"/>
          <p:cNvPicPr preferRelativeResize="0"/>
          <p:nvPr/>
        </p:nvPicPr>
        <p:blipFill>
          <a:blip r:embed="rId3">
            <a:alphaModFix/>
          </a:blip>
          <a:stretch>
            <a:fillRect/>
          </a:stretch>
        </p:blipFill>
        <p:spPr>
          <a:xfrm>
            <a:off x="5547750" y="2250125"/>
            <a:ext cx="3412349" cy="2146677"/>
          </a:xfrm>
          <a:prstGeom prst="rect">
            <a:avLst/>
          </a:prstGeom>
          <a:noFill/>
          <a:ln>
            <a:noFill/>
          </a:ln>
        </p:spPr>
      </p:pic>
      <p:sp>
        <p:nvSpPr>
          <p:cNvPr id="267" name="Google Shape;267;p33"/>
          <p:cNvSpPr/>
          <p:nvPr/>
        </p:nvSpPr>
        <p:spPr>
          <a:xfrm>
            <a:off x="7694000" y="2144125"/>
            <a:ext cx="394500" cy="483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33"/>
          <p:cNvSpPr/>
          <p:nvPr/>
        </p:nvSpPr>
        <p:spPr>
          <a:xfrm>
            <a:off x="5795075" y="3275525"/>
            <a:ext cx="150600" cy="229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9" name="Google Shape;269;p33"/>
          <p:cNvPicPr preferRelativeResize="0"/>
          <p:nvPr/>
        </p:nvPicPr>
        <p:blipFill>
          <a:blip r:embed="rId4">
            <a:alphaModFix/>
          </a:blip>
          <a:stretch>
            <a:fillRect/>
          </a:stretch>
        </p:blipFill>
        <p:spPr>
          <a:xfrm>
            <a:off x="5580525" y="2513875"/>
            <a:ext cx="1699863" cy="1882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73"/>
        <p:cNvGrpSpPr/>
        <p:nvPr/>
      </p:nvGrpSpPr>
      <p:grpSpPr>
        <a:xfrm>
          <a:off x="0" y="0"/>
          <a:ext cx="0" cy="0"/>
          <a:chOff x="0" y="0"/>
          <a:chExt cx="0" cy="0"/>
        </a:xfrm>
      </p:grpSpPr>
      <p:sp>
        <p:nvSpPr>
          <p:cNvPr id="274" name="Google Shape;274;p34"/>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22</a:t>
            </a:r>
            <a:endParaRPr sz="1200">
              <a:solidFill>
                <a:srgbClr val="000000"/>
              </a:solidFill>
            </a:endParaRPr>
          </a:p>
        </p:txBody>
      </p:sp>
      <p:sp>
        <p:nvSpPr>
          <p:cNvPr id="275" name="Google Shape;275;p34"/>
          <p:cNvSpPr txBox="1"/>
          <p:nvPr/>
        </p:nvSpPr>
        <p:spPr>
          <a:xfrm>
            <a:off x="311700" y="1059725"/>
            <a:ext cx="8648400" cy="125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2100">
                <a:solidFill>
                  <a:srgbClr val="355E3B"/>
                </a:solidFill>
              </a:rPr>
              <a:t>Now that your team has completed their model, take a moment to screenshot and save your chatbot conversations in your Google Drive. Save this snapshot as you will need it for module 4.4.</a:t>
            </a:r>
            <a:endParaRPr sz="2100">
              <a:solidFill>
                <a:srgbClr val="355E3B"/>
              </a:solidFill>
            </a:endParaRPr>
          </a:p>
        </p:txBody>
      </p:sp>
      <p:sp>
        <p:nvSpPr>
          <p:cNvPr id="276" name="Google Shape;276;p34"/>
          <p:cNvSpPr txBox="1">
            <a:spLocks noGrp="1"/>
          </p:cNvSpPr>
          <p:nvPr>
            <p:ph type="title"/>
          </p:nvPr>
        </p:nvSpPr>
        <p:spPr>
          <a:xfrm>
            <a:off x="311700" y="209850"/>
            <a:ext cx="8648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541900"/>
                </a:solidFill>
              </a:rPr>
              <a:t>Take and Save a Snapshot of Your Chatbot Conversations</a:t>
            </a:r>
            <a:endParaRPr b="1">
              <a:solidFill>
                <a:srgbClr val="541900"/>
              </a:solidFill>
            </a:endParaRPr>
          </a:p>
        </p:txBody>
      </p:sp>
      <p:sp>
        <p:nvSpPr>
          <p:cNvPr id="277" name="Google Shape;277;p34"/>
          <p:cNvSpPr txBox="1"/>
          <p:nvPr/>
        </p:nvSpPr>
        <p:spPr>
          <a:xfrm>
            <a:off x="311700" y="2212150"/>
            <a:ext cx="5477700" cy="227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latin typeface="Calibri"/>
                <a:ea typeface="Calibri"/>
                <a:cs typeface="Calibri"/>
                <a:sym typeface="Calibri"/>
              </a:rPr>
              <a:t>Devices will differ in ways to take a snapshot.</a:t>
            </a:r>
            <a:endParaRPr sz="1700">
              <a:latin typeface="Calibri"/>
              <a:ea typeface="Calibri"/>
              <a:cs typeface="Calibri"/>
              <a:sym typeface="Calibri"/>
            </a:endParaRPr>
          </a:p>
          <a:p>
            <a:pPr marL="457200" lvl="0" indent="-336550" algn="l" rtl="0">
              <a:spcBef>
                <a:spcPts val="0"/>
              </a:spcBef>
              <a:spcAft>
                <a:spcPts val="0"/>
              </a:spcAft>
              <a:buSzPts val="1700"/>
              <a:buFont typeface="Calibri"/>
              <a:buChar char="●"/>
            </a:pPr>
            <a:r>
              <a:rPr lang="en" sz="1700">
                <a:latin typeface="Calibri"/>
                <a:ea typeface="Calibri"/>
                <a:cs typeface="Calibri"/>
                <a:sym typeface="Calibri"/>
              </a:rPr>
              <a:t>If on a Windows computer </a:t>
            </a:r>
            <a:endParaRPr sz="1700">
              <a:latin typeface="Calibri"/>
              <a:ea typeface="Calibri"/>
              <a:cs typeface="Calibri"/>
              <a:sym typeface="Calibri"/>
            </a:endParaRPr>
          </a:p>
          <a:p>
            <a:pPr marL="914400" lvl="1" indent="-336550" algn="l" rtl="0">
              <a:spcBef>
                <a:spcPts val="0"/>
              </a:spcBef>
              <a:spcAft>
                <a:spcPts val="0"/>
              </a:spcAft>
              <a:buSzPts val="1700"/>
              <a:buFont typeface="Calibri"/>
              <a:buChar char="○"/>
            </a:pPr>
            <a:r>
              <a:rPr lang="en" sz="1700">
                <a:latin typeface="Calibri"/>
                <a:ea typeface="Calibri"/>
                <a:cs typeface="Calibri"/>
                <a:sym typeface="Calibri"/>
              </a:rPr>
              <a:t>Press </a:t>
            </a:r>
            <a:r>
              <a:rPr lang="en" sz="1700" b="1">
                <a:latin typeface="Calibri"/>
                <a:ea typeface="Calibri"/>
                <a:cs typeface="Calibri"/>
                <a:sym typeface="Calibri"/>
              </a:rPr>
              <a:t>Window + Shift + S</a:t>
            </a:r>
            <a:r>
              <a:rPr lang="en" sz="1700">
                <a:latin typeface="Calibri"/>
                <a:ea typeface="Calibri"/>
                <a:cs typeface="Calibri"/>
                <a:sym typeface="Calibri"/>
              </a:rPr>
              <a:t> at the same time</a:t>
            </a:r>
            <a:endParaRPr sz="1700">
              <a:latin typeface="Calibri"/>
              <a:ea typeface="Calibri"/>
              <a:cs typeface="Calibri"/>
              <a:sym typeface="Calibri"/>
            </a:endParaRPr>
          </a:p>
          <a:p>
            <a:pPr marL="457200" lvl="0" indent="-336550" algn="l" rtl="0">
              <a:spcBef>
                <a:spcPts val="0"/>
              </a:spcBef>
              <a:spcAft>
                <a:spcPts val="0"/>
              </a:spcAft>
              <a:buSzPts val="1700"/>
              <a:buFont typeface="Calibri"/>
              <a:buChar char="●"/>
            </a:pPr>
            <a:r>
              <a:rPr lang="en" sz="1700">
                <a:latin typeface="Calibri"/>
                <a:ea typeface="Calibri"/>
                <a:cs typeface="Calibri"/>
                <a:sym typeface="Calibri"/>
              </a:rPr>
              <a:t>If on a Mac computer</a:t>
            </a:r>
            <a:endParaRPr sz="1700">
              <a:latin typeface="Calibri"/>
              <a:ea typeface="Calibri"/>
              <a:cs typeface="Calibri"/>
              <a:sym typeface="Calibri"/>
            </a:endParaRPr>
          </a:p>
          <a:p>
            <a:pPr marL="914400" lvl="1" indent="-336550" algn="l" rtl="0">
              <a:spcBef>
                <a:spcPts val="0"/>
              </a:spcBef>
              <a:spcAft>
                <a:spcPts val="0"/>
              </a:spcAft>
              <a:buSzPts val="1700"/>
              <a:buFont typeface="Calibri"/>
              <a:buChar char="○"/>
            </a:pPr>
            <a:r>
              <a:rPr lang="en" sz="1700">
                <a:latin typeface="Calibri"/>
                <a:ea typeface="Calibri"/>
                <a:cs typeface="Calibri"/>
                <a:sym typeface="Calibri"/>
              </a:rPr>
              <a:t>Press </a:t>
            </a:r>
            <a:r>
              <a:rPr lang="en" sz="1700" b="1">
                <a:latin typeface="Calibri"/>
                <a:ea typeface="Calibri"/>
                <a:cs typeface="Calibri"/>
                <a:sym typeface="Calibri"/>
              </a:rPr>
              <a:t>Command (⌘) + Shift + 4</a:t>
            </a:r>
            <a:r>
              <a:rPr lang="en" sz="1700">
                <a:latin typeface="Calibri"/>
                <a:ea typeface="Calibri"/>
                <a:cs typeface="Calibri"/>
                <a:sym typeface="Calibri"/>
              </a:rPr>
              <a:t> at the same time</a:t>
            </a:r>
            <a:endParaRPr sz="1700">
              <a:latin typeface="Calibri"/>
              <a:ea typeface="Calibri"/>
              <a:cs typeface="Calibri"/>
              <a:sym typeface="Calibri"/>
            </a:endParaRPr>
          </a:p>
          <a:p>
            <a:pPr marL="457200" lvl="0" indent="-336550" algn="l" rtl="0">
              <a:spcBef>
                <a:spcPts val="0"/>
              </a:spcBef>
              <a:spcAft>
                <a:spcPts val="0"/>
              </a:spcAft>
              <a:buSzPts val="1700"/>
              <a:buFont typeface="Calibri"/>
              <a:buChar char="●"/>
            </a:pPr>
            <a:r>
              <a:rPr lang="en" sz="1700">
                <a:latin typeface="Calibri"/>
                <a:ea typeface="Calibri"/>
                <a:cs typeface="Calibri"/>
                <a:sym typeface="Calibri"/>
              </a:rPr>
              <a:t>If on a Chromebook</a:t>
            </a:r>
            <a:endParaRPr sz="1700">
              <a:latin typeface="Calibri"/>
              <a:ea typeface="Calibri"/>
              <a:cs typeface="Calibri"/>
              <a:sym typeface="Calibri"/>
            </a:endParaRPr>
          </a:p>
          <a:p>
            <a:pPr marL="914400" lvl="1" indent="-336550" algn="l" rtl="0">
              <a:spcBef>
                <a:spcPts val="0"/>
              </a:spcBef>
              <a:spcAft>
                <a:spcPts val="0"/>
              </a:spcAft>
              <a:buSzPts val="1700"/>
              <a:buFont typeface="Calibri"/>
              <a:buChar char="○"/>
            </a:pPr>
            <a:r>
              <a:rPr lang="en" sz="1700">
                <a:latin typeface="Calibri"/>
                <a:ea typeface="Calibri"/>
                <a:cs typeface="Calibri"/>
                <a:sym typeface="Calibri"/>
              </a:rPr>
              <a:t>Press </a:t>
            </a:r>
            <a:r>
              <a:rPr lang="en" sz="1700" b="1">
                <a:latin typeface="Calibri"/>
                <a:ea typeface="Calibri"/>
                <a:cs typeface="Calibri"/>
                <a:sym typeface="Calibri"/>
              </a:rPr>
              <a:t>Ctrl + Shift + Show Windows</a:t>
            </a:r>
            <a:r>
              <a:rPr lang="en" sz="1700">
                <a:latin typeface="Calibri"/>
                <a:ea typeface="Calibri"/>
                <a:cs typeface="Calibri"/>
                <a:sym typeface="Calibri"/>
              </a:rPr>
              <a:t> at the same time</a:t>
            </a:r>
            <a:endParaRPr sz="2000">
              <a:solidFill>
                <a:schemeClr val="dk1"/>
              </a:solidFill>
              <a:latin typeface="Calibri"/>
              <a:ea typeface="Calibri"/>
              <a:cs typeface="Calibri"/>
              <a:sym typeface="Calibri"/>
            </a:endParaRPr>
          </a:p>
        </p:txBody>
      </p:sp>
      <p:pic>
        <p:nvPicPr>
          <p:cNvPr id="278" name="Google Shape;278;p34" title="Screenshot 2026-07-21 at 2.16.22 PM.png"/>
          <p:cNvPicPr preferRelativeResize="0"/>
          <p:nvPr/>
        </p:nvPicPr>
        <p:blipFill>
          <a:blip r:embed="rId3">
            <a:alphaModFix/>
          </a:blip>
          <a:stretch>
            <a:fillRect/>
          </a:stretch>
        </p:blipFill>
        <p:spPr>
          <a:xfrm>
            <a:off x="5819700" y="2354900"/>
            <a:ext cx="3049800" cy="238480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82"/>
        <p:cNvGrpSpPr/>
        <p:nvPr/>
      </p:nvGrpSpPr>
      <p:grpSpPr>
        <a:xfrm>
          <a:off x="0" y="0"/>
          <a:ext cx="0" cy="0"/>
          <a:chOff x="0" y="0"/>
          <a:chExt cx="0" cy="0"/>
        </a:xfrm>
      </p:grpSpPr>
      <p:sp>
        <p:nvSpPr>
          <p:cNvPr id="283" name="Google Shape;283;p35"/>
          <p:cNvSpPr txBox="1">
            <a:spLocks noGrp="1"/>
          </p:cNvSpPr>
          <p:nvPr>
            <p:ph type="title"/>
          </p:nvPr>
        </p:nvSpPr>
        <p:spPr>
          <a:xfrm>
            <a:off x="311700" y="445025"/>
            <a:ext cx="8648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541900"/>
                </a:solidFill>
              </a:rPr>
              <a:t>Gallery Walk</a:t>
            </a:r>
            <a:endParaRPr sz="3600" b="1">
              <a:solidFill>
                <a:srgbClr val="541900"/>
              </a:solidFill>
            </a:endParaRPr>
          </a:p>
        </p:txBody>
      </p:sp>
      <p:sp>
        <p:nvSpPr>
          <p:cNvPr id="284" name="Google Shape;284;p35"/>
          <p:cNvSpPr txBox="1">
            <a:spLocks noGrp="1"/>
          </p:cNvSpPr>
          <p:nvPr>
            <p:ph type="body" idx="2"/>
          </p:nvPr>
        </p:nvSpPr>
        <p:spPr>
          <a:xfrm>
            <a:off x="303750" y="1773900"/>
            <a:ext cx="8536500" cy="28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During the gallery walk, your team will provide feedback to other models created by your peers using post-it notes. Use one post it note per comment.</a:t>
            </a:r>
            <a:endParaRPr>
              <a:solidFill>
                <a:schemeClr val="dk1"/>
              </a:solidFill>
            </a:endParaRPr>
          </a:p>
          <a:p>
            <a:pPr marL="0" lvl="0" indent="0" algn="l" rtl="0">
              <a:spcBef>
                <a:spcPts val="1200"/>
              </a:spcBef>
              <a:spcAft>
                <a:spcPts val="0"/>
              </a:spcAft>
              <a:buNone/>
            </a:pPr>
            <a:r>
              <a:rPr lang="en">
                <a:solidFill>
                  <a:schemeClr val="dk1"/>
                </a:solidFill>
              </a:rPr>
              <a:t>Consider the following questions as you visit each model:</a:t>
            </a:r>
            <a:endParaRPr>
              <a:solidFill>
                <a:schemeClr val="dk1"/>
              </a:solidFill>
            </a:endParaRPr>
          </a:p>
          <a:p>
            <a:pPr marL="457200" lvl="0" indent="-317500" algn="l" rtl="0">
              <a:spcBef>
                <a:spcPts val="1200"/>
              </a:spcBef>
              <a:spcAft>
                <a:spcPts val="0"/>
              </a:spcAft>
              <a:buClr>
                <a:srgbClr val="541900"/>
              </a:buClr>
              <a:buSzPts val="1400"/>
              <a:buChar char="●"/>
            </a:pPr>
            <a:r>
              <a:rPr lang="en">
                <a:solidFill>
                  <a:schemeClr val="dk1"/>
                </a:solidFill>
              </a:rPr>
              <a:t>Does this model include a variety of components, processes, and interactions? Is there anything that is missing that might help explain the system better?</a:t>
            </a:r>
            <a:endParaRPr>
              <a:solidFill>
                <a:schemeClr val="dk1"/>
              </a:solidFill>
            </a:endParaRPr>
          </a:p>
          <a:p>
            <a:pPr marL="457200" lvl="0" indent="-317500" algn="l" rtl="0">
              <a:spcBef>
                <a:spcPts val="0"/>
              </a:spcBef>
              <a:spcAft>
                <a:spcPts val="0"/>
              </a:spcAft>
              <a:buClr>
                <a:srgbClr val="541900"/>
              </a:buClr>
              <a:buSzPts val="1400"/>
              <a:buChar char="●"/>
            </a:pPr>
            <a:r>
              <a:rPr lang="en">
                <a:solidFill>
                  <a:schemeClr val="dk1"/>
                </a:solidFill>
              </a:rPr>
              <a:t>Do the components, processes, and interactions help explain why that value is important and how it might be impacted by climate change?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What part of this model helped you understand how climate change is impacting the chosen value?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What suggestions do you have to make this model more complete or clear?</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285" name="Google Shape;285;p35"/>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23</a:t>
            </a:r>
            <a:endParaRPr sz="1200">
              <a:solidFill>
                <a:srgbClr val="000000"/>
              </a:solidFill>
            </a:endParaRPr>
          </a:p>
        </p:txBody>
      </p:sp>
      <p:sp>
        <p:nvSpPr>
          <p:cNvPr id="286" name="Google Shape;286;p35"/>
          <p:cNvSpPr txBox="1">
            <a:spLocks noGrp="1"/>
          </p:cNvSpPr>
          <p:nvPr>
            <p:ph type="body" idx="2"/>
          </p:nvPr>
        </p:nvSpPr>
        <p:spPr>
          <a:xfrm>
            <a:off x="303750" y="1050975"/>
            <a:ext cx="8536500" cy="659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a:solidFill>
                  <a:srgbClr val="355E3B"/>
                </a:solidFill>
              </a:rPr>
              <a:t>As a class, it is now time to conduct a gallery walk to your team’s model with models created by your classmates.</a:t>
            </a:r>
            <a:endParaRPr sz="1700">
              <a:solidFill>
                <a:srgbClr val="355E3B"/>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90"/>
        <p:cNvGrpSpPr/>
        <p:nvPr/>
      </p:nvGrpSpPr>
      <p:grpSpPr>
        <a:xfrm>
          <a:off x="0" y="0"/>
          <a:ext cx="0" cy="0"/>
          <a:chOff x="0" y="0"/>
          <a:chExt cx="0" cy="0"/>
        </a:xfrm>
      </p:grpSpPr>
      <p:sp>
        <p:nvSpPr>
          <p:cNvPr id="291" name="Google Shape;291;p36"/>
          <p:cNvSpPr txBox="1">
            <a:spLocks noGrp="1"/>
          </p:cNvSpPr>
          <p:nvPr>
            <p:ph type="body" idx="1"/>
          </p:nvPr>
        </p:nvSpPr>
        <p:spPr>
          <a:xfrm>
            <a:off x="311700" y="1196325"/>
            <a:ext cx="4543500" cy="951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700">
                <a:solidFill>
                  <a:srgbClr val="355E3B"/>
                </a:solidFill>
              </a:rPr>
              <a:t>Now that your team has seen other model examples, take a look back at your model and answer the following.</a:t>
            </a:r>
            <a:endParaRPr sz="1700">
              <a:solidFill>
                <a:srgbClr val="355E3B"/>
              </a:solidFill>
            </a:endParaRPr>
          </a:p>
        </p:txBody>
      </p:sp>
      <p:sp>
        <p:nvSpPr>
          <p:cNvPr id="292" name="Google Shape;292;p36"/>
          <p:cNvSpPr txBox="1">
            <a:spLocks noGrp="1"/>
          </p:cNvSpPr>
          <p:nvPr>
            <p:ph type="title"/>
          </p:nvPr>
        </p:nvSpPr>
        <p:spPr>
          <a:xfrm>
            <a:off x="311700" y="445025"/>
            <a:ext cx="4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Discussion</a:t>
            </a:r>
            <a:endParaRPr sz="4200" b="1">
              <a:solidFill>
                <a:srgbClr val="541900"/>
              </a:solidFill>
            </a:endParaRPr>
          </a:p>
        </p:txBody>
      </p:sp>
      <p:sp>
        <p:nvSpPr>
          <p:cNvPr id="293" name="Google Shape;293;p36"/>
          <p:cNvSpPr txBox="1">
            <a:spLocks noGrp="1"/>
          </p:cNvSpPr>
          <p:nvPr>
            <p:ph type="body" idx="2"/>
          </p:nvPr>
        </p:nvSpPr>
        <p:spPr>
          <a:xfrm>
            <a:off x="311700" y="2147950"/>
            <a:ext cx="4543500" cy="2334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541900"/>
              </a:buClr>
              <a:buSzPts val="1800"/>
              <a:buFont typeface="Arial"/>
              <a:buChar char="●"/>
            </a:pPr>
            <a:r>
              <a:rPr lang="en" sz="1800">
                <a:solidFill>
                  <a:schemeClr val="dk1"/>
                </a:solidFill>
              </a:rPr>
              <a:t>What patterns did you notice as you conducted your gallery walk?</a:t>
            </a:r>
            <a:endParaRPr sz="1800">
              <a:solidFill>
                <a:schemeClr val="dk1"/>
              </a:solidFill>
            </a:endParaRPr>
          </a:p>
          <a:p>
            <a:pPr marL="457200" lvl="0" indent="-342900" algn="l" rtl="0">
              <a:spcBef>
                <a:spcPts val="0"/>
              </a:spcBef>
              <a:spcAft>
                <a:spcPts val="0"/>
              </a:spcAft>
              <a:buClr>
                <a:srgbClr val="541900"/>
              </a:buClr>
              <a:buSzPts val="1800"/>
              <a:buFont typeface="Arial"/>
              <a:buChar char="●"/>
            </a:pPr>
            <a:r>
              <a:rPr lang="en" sz="1800">
                <a:solidFill>
                  <a:schemeClr val="dk1"/>
                </a:solidFill>
              </a:rPr>
              <a:t>Were there any ideas or aspects you saw in other models that you would like to incorporate in your own team’s model?</a:t>
            </a:r>
            <a:endParaRPr sz="1600">
              <a:solidFill>
                <a:schemeClr val="dk1"/>
              </a:solidFill>
            </a:endParaRPr>
          </a:p>
        </p:txBody>
      </p:sp>
      <p:sp>
        <p:nvSpPr>
          <p:cNvPr id="294" name="Google Shape;294;p36"/>
          <p:cNvSpPr txBox="1"/>
          <p:nvPr/>
        </p:nvSpPr>
        <p:spPr>
          <a:xfrm>
            <a:off x="5007600" y="3901600"/>
            <a:ext cx="39840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t>Sea otters. </a:t>
            </a:r>
            <a:r>
              <a:rPr lang="en" sz="1000"/>
              <a:t>Source: https://www.nps.gov/chis/learn/nature/kelp-forests.htm</a:t>
            </a:r>
            <a:endParaRPr sz="1000">
              <a:solidFill>
                <a:srgbClr val="000000"/>
              </a:solidFill>
            </a:endParaRPr>
          </a:p>
        </p:txBody>
      </p:sp>
      <p:sp>
        <p:nvSpPr>
          <p:cNvPr id="295" name="Google Shape;295;p36"/>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24</a:t>
            </a:r>
            <a:endParaRPr sz="1200">
              <a:solidFill>
                <a:srgbClr val="000000"/>
              </a:solidFill>
            </a:endParaRPr>
          </a:p>
        </p:txBody>
      </p:sp>
      <p:pic>
        <p:nvPicPr>
          <p:cNvPr id="296" name="Google Shape;296;p36"/>
          <p:cNvPicPr preferRelativeResize="0"/>
          <p:nvPr/>
        </p:nvPicPr>
        <p:blipFill>
          <a:blip r:embed="rId3">
            <a:alphaModFix/>
          </a:blip>
          <a:stretch>
            <a:fillRect/>
          </a:stretch>
        </p:blipFill>
        <p:spPr>
          <a:xfrm>
            <a:off x="5007600" y="1170125"/>
            <a:ext cx="3983999" cy="23352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300"/>
        <p:cNvGrpSpPr/>
        <p:nvPr/>
      </p:nvGrpSpPr>
      <p:grpSpPr>
        <a:xfrm>
          <a:off x="0" y="0"/>
          <a:ext cx="0" cy="0"/>
          <a:chOff x="0" y="0"/>
          <a:chExt cx="0" cy="0"/>
        </a:xfrm>
      </p:grpSpPr>
      <p:sp>
        <p:nvSpPr>
          <p:cNvPr id="301" name="Google Shape;301;p37"/>
          <p:cNvSpPr txBox="1">
            <a:spLocks noGrp="1"/>
          </p:cNvSpPr>
          <p:nvPr>
            <p:ph type="body" idx="1"/>
          </p:nvPr>
        </p:nvSpPr>
        <p:spPr>
          <a:xfrm>
            <a:off x="311700" y="1196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dirty="0">
                <a:solidFill>
                  <a:srgbClr val="355E3B"/>
                </a:solidFill>
              </a:rPr>
              <a:t>Reflect on what you learned in your </a:t>
            </a:r>
            <a:r>
              <a:rPr lang="en" sz="2000" dirty="0">
                <a:solidFill>
                  <a:srgbClr val="355E3A"/>
                </a:solidFill>
              </a:rPr>
              <a:t>science journal </a:t>
            </a:r>
            <a:r>
              <a:rPr lang="en" sz="2000" dirty="0">
                <a:solidFill>
                  <a:srgbClr val="355E3B"/>
                </a:solidFill>
              </a:rPr>
              <a:t>(p.19) for Module 2.1:</a:t>
            </a:r>
            <a:endParaRPr sz="2000" dirty="0">
              <a:solidFill>
                <a:srgbClr val="355E3B"/>
              </a:solidFill>
            </a:endParaRPr>
          </a:p>
        </p:txBody>
      </p:sp>
      <p:sp>
        <p:nvSpPr>
          <p:cNvPr id="302" name="Google Shape;302;p37"/>
          <p:cNvSpPr txBox="1">
            <a:spLocks noGrp="1"/>
          </p:cNvSpPr>
          <p:nvPr>
            <p:ph type="title"/>
          </p:nvPr>
        </p:nvSpPr>
        <p:spPr>
          <a:xfrm>
            <a:off x="311700" y="4450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Reflect</a:t>
            </a:r>
            <a:endParaRPr sz="4200" b="1">
              <a:solidFill>
                <a:srgbClr val="541900"/>
              </a:solidFill>
            </a:endParaRPr>
          </a:p>
        </p:txBody>
      </p:sp>
      <p:sp>
        <p:nvSpPr>
          <p:cNvPr id="303" name="Google Shape;303;p37"/>
          <p:cNvSpPr txBox="1">
            <a:spLocks noGrp="1"/>
          </p:cNvSpPr>
          <p:nvPr>
            <p:ph type="body" idx="2"/>
          </p:nvPr>
        </p:nvSpPr>
        <p:spPr>
          <a:xfrm>
            <a:off x="311700" y="1885800"/>
            <a:ext cx="4543500" cy="2906400"/>
          </a:xfrm>
          <a:prstGeom prst="rect">
            <a:avLst/>
          </a:prstGeom>
        </p:spPr>
        <p:txBody>
          <a:bodyPr spcFirstLastPara="1" wrap="square" lIns="91425" tIns="91425" rIns="91425" bIns="91425" anchor="t" anchorCtr="0">
            <a:normAutofit/>
          </a:bodyPr>
          <a:lstStyle/>
          <a:p>
            <a:pPr marL="457200" lvl="0" indent="-323850" algn="l" rtl="0">
              <a:lnSpc>
                <a:spcPct val="115000"/>
              </a:lnSpc>
              <a:spcBef>
                <a:spcPts val="0"/>
              </a:spcBef>
              <a:spcAft>
                <a:spcPts val="0"/>
              </a:spcAft>
              <a:buClr>
                <a:schemeClr val="dk1"/>
              </a:buClr>
              <a:buSzPts val="1500"/>
              <a:buFont typeface="Arial"/>
              <a:buChar char="●"/>
            </a:pPr>
            <a:r>
              <a:rPr lang="en" sz="1500" dirty="0">
                <a:solidFill>
                  <a:schemeClr val="dk1"/>
                </a:solidFill>
              </a:rPr>
              <a:t>What did you learn about the components, processes, and interactions in the ocean while building your model? </a:t>
            </a:r>
            <a:endParaRPr sz="1500" dirty="0">
              <a:solidFill>
                <a:schemeClr val="dk1"/>
              </a:solidFill>
            </a:endParaRPr>
          </a:p>
          <a:p>
            <a:pPr marL="457200" lvl="0" indent="-323850" algn="l" rtl="0">
              <a:lnSpc>
                <a:spcPct val="115000"/>
              </a:lnSpc>
              <a:spcBef>
                <a:spcPts val="0"/>
              </a:spcBef>
              <a:spcAft>
                <a:spcPts val="0"/>
              </a:spcAft>
              <a:buClr>
                <a:schemeClr val="dk1"/>
              </a:buClr>
              <a:buSzPts val="1500"/>
              <a:buFont typeface="Arial"/>
              <a:buChar char="●"/>
            </a:pPr>
            <a:r>
              <a:rPr lang="en" sz="1500" dirty="0">
                <a:solidFill>
                  <a:schemeClr val="dk1"/>
                </a:solidFill>
              </a:rPr>
              <a:t>How are these components, processes, and interactions connected to the value you chose?</a:t>
            </a:r>
            <a:endParaRPr sz="1500" dirty="0">
              <a:solidFill>
                <a:schemeClr val="dk1"/>
              </a:solidFill>
            </a:endParaRPr>
          </a:p>
          <a:p>
            <a:pPr marL="457200" lvl="0" indent="-323850" algn="l" rtl="0">
              <a:lnSpc>
                <a:spcPct val="115000"/>
              </a:lnSpc>
              <a:spcBef>
                <a:spcPts val="0"/>
              </a:spcBef>
              <a:spcAft>
                <a:spcPts val="0"/>
              </a:spcAft>
              <a:buClr>
                <a:schemeClr val="dk1"/>
              </a:buClr>
              <a:buSzPts val="1500"/>
              <a:buFont typeface="Arial"/>
              <a:buChar char="●"/>
            </a:pPr>
            <a:r>
              <a:rPr lang="en" sz="1500" dirty="0">
                <a:solidFill>
                  <a:schemeClr val="dk1"/>
                </a:solidFill>
              </a:rPr>
              <a:t>Which parts of your model would you like to learn more about? How might you investigate or gather information to explore these areas further?</a:t>
            </a:r>
            <a:endParaRPr sz="2100" dirty="0">
              <a:solidFill>
                <a:schemeClr val="dk1"/>
              </a:solidFill>
            </a:endParaRPr>
          </a:p>
        </p:txBody>
      </p:sp>
      <p:sp>
        <p:nvSpPr>
          <p:cNvPr id="304" name="Google Shape;304;p37"/>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25</a:t>
            </a:r>
            <a:endParaRPr sz="1200">
              <a:solidFill>
                <a:srgbClr val="000000"/>
              </a:solidFill>
            </a:endParaRPr>
          </a:p>
        </p:txBody>
      </p:sp>
      <p:pic>
        <p:nvPicPr>
          <p:cNvPr id="305" name="Google Shape;305;p37"/>
          <p:cNvPicPr preferRelativeResize="0"/>
          <p:nvPr/>
        </p:nvPicPr>
        <p:blipFill rotWithShape="1">
          <a:blip r:embed="rId3">
            <a:alphaModFix/>
          </a:blip>
          <a:srcRect l="40" t="23662" r="-40" b="4287"/>
          <a:stretch/>
        </p:blipFill>
        <p:spPr>
          <a:xfrm>
            <a:off x="4972050" y="0"/>
            <a:ext cx="4023150" cy="4361101"/>
          </a:xfrm>
          <a:prstGeom prst="rect">
            <a:avLst/>
          </a:prstGeom>
          <a:noFill/>
          <a:ln>
            <a:noFill/>
          </a:ln>
        </p:spPr>
      </p:pic>
      <p:sp>
        <p:nvSpPr>
          <p:cNvPr id="306" name="Google Shape;306;p37"/>
          <p:cNvSpPr txBox="1"/>
          <p:nvPr/>
        </p:nvSpPr>
        <p:spPr>
          <a:xfrm>
            <a:off x="4895850" y="4351075"/>
            <a:ext cx="4023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595959"/>
                </a:solidFill>
              </a:rPr>
              <a:t>Image created with ChatGPT</a:t>
            </a:r>
            <a:br>
              <a:rPr lang="en" sz="1000">
                <a:solidFill>
                  <a:srgbClr val="595959"/>
                </a:solidFill>
              </a:rPr>
            </a:br>
            <a:r>
              <a:rPr lang="en" sz="1000" i="1">
                <a:solidFill>
                  <a:srgbClr val="595959"/>
                </a:solidFill>
              </a:rPr>
              <a:t>Prompt: Create an image about SoCal beaches.</a:t>
            </a:r>
            <a:endParaRPr sz="1700" i="1">
              <a:solidFill>
                <a:srgbClr val="59595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310"/>
        <p:cNvGrpSpPr/>
        <p:nvPr/>
      </p:nvGrpSpPr>
      <p:grpSpPr>
        <a:xfrm>
          <a:off x="0" y="0"/>
          <a:ext cx="0" cy="0"/>
          <a:chOff x="0" y="0"/>
          <a:chExt cx="0" cy="0"/>
        </a:xfrm>
      </p:grpSpPr>
      <p:sp>
        <p:nvSpPr>
          <p:cNvPr id="311" name="Google Shape;311;p38"/>
          <p:cNvSpPr txBox="1">
            <a:spLocks noGrp="1"/>
          </p:cNvSpPr>
          <p:nvPr>
            <p:ph type="title"/>
          </p:nvPr>
        </p:nvSpPr>
        <p:spPr>
          <a:xfrm>
            <a:off x="311700" y="445025"/>
            <a:ext cx="4900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b="1">
                <a:solidFill>
                  <a:srgbClr val="541900"/>
                </a:solidFill>
              </a:rPr>
              <a:t>Your Next Steps</a:t>
            </a:r>
            <a:endParaRPr sz="4200" b="1">
              <a:solidFill>
                <a:srgbClr val="541900"/>
              </a:solidFill>
            </a:endParaRPr>
          </a:p>
        </p:txBody>
      </p:sp>
      <p:sp>
        <p:nvSpPr>
          <p:cNvPr id="312" name="Google Shape;312;p38"/>
          <p:cNvSpPr txBox="1">
            <a:spLocks noGrp="1"/>
          </p:cNvSpPr>
          <p:nvPr>
            <p:ph type="body" idx="2"/>
          </p:nvPr>
        </p:nvSpPr>
        <p:spPr>
          <a:xfrm>
            <a:off x="311700" y="1276525"/>
            <a:ext cx="4260300" cy="233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i="1">
                <a:solidFill>
                  <a:srgbClr val="355E3B"/>
                </a:solidFill>
              </a:rPr>
              <a:t>In our next session, we’re going to take more time to refine and incorporate new ideas into your team’s model. </a:t>
            </a:r>
            <a:endParaRPr sz="1800" i="1">
              <a:solidFill>
                <a:srgbClr val="355E3B"/>
              </a:solidFill>
            </a:endParaRPr>
          </a:p>
          <a:p>
            <a:pPr marL="0" lvl="0" indent="0" algn="l" rtl="0">
              <a:spcBef>
                <a:spcPts val="1200"/>
              </a:spcBef>
              <a:spcAft>
                <a:spcPts val="0"/>
              </a:spcAft>
              <a:buClr>
                <a:schemeClr val="dk1"/>
              </a:buClr>
              <a:buSzPts val="1100"/>
              <a:buFont typeface="Arial"/>
              <a:buNone/>
            </a:pPr>
            <a:r>
              <a:rPr lang="en" sz="1800" i="1">
                <a:solidFill>
                  <a:srgbClr val="355E3B"/>
                </a:solidFill>
              </a:rPr>
              <a:t>We’ll have a conversation with generative AI chatbots, to see if there are potential areas of improvement for your team’s model.</a:t>
            </a:r>
            <a:endParaRPr sz="1800" i="1">
              <a:solidFill>
                <a:srgbClr val="355E3B"/>
              </a:solidFill>
            </a:endParaRPr>
          </a:p>
          <a:p>
            <a:pPr marL="0" lvl="0" indent="0" algn="l" rtl="0">
              <a:spcBef>
                <a:spcPts val="1200"/>
              </a:spcBef>
              <a:spcAft>
                <a:spcPts val="1200"/>
              </a:spcAft>
              <a:buNone/>
            </a:pPr>
            <a:endParaRPr sz="1800" i="1">
              <a:solidFill>
                <a:srgbClr val="355E3B"/>
              </a:solidFill>
            </a:endParaRPr>
          </a:p>
        </p:txBody>
      </p:sp>
      <p:sp>
        <p:nvSpPr>
          <p:cNvPr id="313" name="Google Shape;313;p38"/>
          <p:cNvSpPr txBox="1"/>
          <p:nvPr/>
        </p:nvSpPr>
        <p:spPr>
          <a:xfrm>
            <a:off x="311700" y="4571275"/>
            <a:ext cx="4343400" cy="32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a:solidFill>
                  <a:schemeClr val="dk1"/>
                </a:solidFill>
              </a:rPr>
              <a:t>Module 2.1 Building a Model</a:t>
            </a:r>
            <a:br>
              <a:rPr lang="en" sz="1200">
                <a:solidFill>
                  <a:srgbClr val="000000"/>
                </a:solidFill>
              </a:rPr>
            </a:br>
            <a:r>
              <a:rPr lang="en" sz="1200"/>
              <a:t>Slide 26</a:t>
            </a:r>
            <a:endParaRPr sz="1200">
              <a:solidFill>
                <a:srgbClr val="000000"/>
              </a:solidFill>
            </a:endParaRPr>
          </a:p>
        </p:txBody>
      </p:sp>
      <p:pic>
        <p:nvPicPr>
          <p:cNvPr id="314" name="Google Shape;314;p38"/>
          <p:cNvPicPr preferRelativeResize="0"/>
          <p:nvPr/>
        </p:nvPicPr>
        <p:blipFill>
          <a:blip r:embed="rId3">
            <a:alphaModFix/>
          </a:blip>
          <a:stretch>
            <a:fillRect/>
          </a:stretch>
        </p:blipFill>
        <p:spPr>
          <a:xfrm>
            <a:off x="5212500" y="0"/>
            <a:ext cx="3931500" cy="51435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318"/>
        <p:cNvGrpSpPr/>
        <p:nvPr/>
      </p:nvGrpSpPr>
      <p:grpSpPr>
        <a:xfrm>
          <a:off x="0" y="0"/>
          <a:ext cx="0" cy="0"/>
          <a:chOff x="0" y="0"/>
          <a:chExt cx="0" cy="0"/>
        </a:xfrm>
      </p:grpSpPr>
      <p:sp>
        <p:nvSpPr>
          <p:cNvPr id="319" name="Google Shape;319;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320" name="Google Shape;320;p39"/>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321" name="Google Shape;321;p39"/>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 UNC</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322" name="Google Shape;322;p39"/>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323" name="Google Shape;323;p39"/>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324" name="Google Shape;324;p39"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325" name="Google Shape;325;p39"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326" name="Google Shape;326;p39"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4971</Words>
  <Application>Microsoft Macintosh PowerPoint</Application>
  <PresentationFormat>On-screen Show (16:9)</PresentationFormat>
  <Paragraphs>333</Paragraphs>
  <Slides>27</Slides>
  <Notes>27</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Simple Light</vt:lpstr>
      <vt:lpstr>Building a Model</vt:lpstr>
      <vt:lpstr>Reflecting on What We’ve Done</vt:lpstr>
      <vt:lpstr>Reflecting on What We’ve Done</vt:lpstr>
      <vt:lpstr>Module Overview</vt:lpstr>
      <vt:lpstr>Peer Discussion</vt:lpstr>
      <vt:lpstr>Brainstorming</vt:lpstr>
      <vt:lpstr>Brainstorming</vt:lpstr>
      <vt:lpstr>Identifying a Value for Your Model</vt:lpstr>
      <vt:lpstr>Identifying a Value for Your Model </vt:lpstr>
      <vt:lpstr>Refining Your Team’s List</vt:lpstr>
      <vt:lpstr>Building Our Model</vt:lpstr>
      <vt:lpstr>Getting Started with SageModeler</vt:lpstr>
      <vt:lpstr>Student SageModeler Instructions </vt:lpstr>
      <vt:lpstr>Student SageModeler Instructions</vt:lpstr>
      <vt:lpstr>Student SageModeler Instructions </vt:lpstr>
      <vt:lpstr>Student SageModeler Instructions </vt:lpstr>
      <vt:lpstr>Student SageModeler Instructions </vt:lpstr>
      <vt:lpstr>Different Types of Causal Relationships </vt:lpstr>
      <vt:lpstr>Different Types of Causal Relationships </vt:lpstr>
      <vt:lpstr>Student SageModeler Instructions </vt:lpstr>
      <vt:lpstr>Simulating Changes with SageModeler</vt:lpstr>
      <vt:lpstr>Take and Save a Snapshot of Your Chatbot Conversations</vt:lpstr>
      <vt:lpstr>Gallery Walk</vt:lpstr>
      <vt:lpstr>Discussion</vt:lpstr>
      <vt:lpstr>Reflect</vt:lpstr>
      <vt:lpstr>Your Next Steps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4</cp:revision>
  <dcterms:modified xsi:type="dcterms:W3CDTF">2026-08-20T04:08:54Z</dcterms:modified>
</cp:coreProperties>
</file>