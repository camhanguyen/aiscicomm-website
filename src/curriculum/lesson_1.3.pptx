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5E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_XZ5QtVAif7GVtEIFDwZXWpw-5BJJdSh/edit"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4b4d44d7b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4b4d44d7b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Link to </a:t>
            </a:r>
            <a:r>
              <a:rPr lang="en" u="sng">
                <a:solidFill>
                  <a:schemeClr val="hlink"/>
                </a:solidFill>
                <a:hlinkClick r:id="rId3"/>
              </a:rPr>
              <a:t>Module 1.3 Lesson Plan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Decide whether you will have students sort the interview themes onto a physical poster board or onto a virtual document.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If you choose to physically sort, make sure to set up the poster boards for each in advance. Color-code each theme using colored markers, and then physically write the name of each theme on the poster board.</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 science journal is intended to be a digital notebook. However, if you decide to print copies for students, they may need a writing instrument (pen, pencil, etc.).</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228600" marR="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1 </a:t>
            </a:r>
            <a:r>
              <a:rPr lang="en" sz="1200">
                <a:solidFill>
                  <a:schemeClr val="dk1"/>
                </a:solidFill>
                <a:latin typeface="Calibri"/>
                <a:ea typeface="Calibri"/>
                <a:cs typeface="Calibri"/>
                <a:sym typeface="Calibri"/>
              </a:rPr>
              <a:t>and introduce lesson 1.3.</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4cba3347ae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4cba3347ae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the slideshow to </a:t>
            </a:r>
            <a:r>
              <a:rPr lang="en" sz="1200" b="1">
                <a:solidFill>
                  <a:schemeClr val="dk1"/>
                </a:solidFill>
                <a:latin typeface="Calibri"/>
                <a:ea typeface="Calibri"/>
                <a:cs typeface="Calibri"/>
                <a:sym typeface="Calibri"/>
              </a:rPr>
              <a:t>Slide 2,</a:t>
            </a:r>
            <a:r>
              <a:rPr lang="en" sz="1200">
                <a:solidFill>
                  <a:schemeClr val="dk1"/>
                </a:solidFill>
                <a:latin typeface="Calibri"/>
                <a:ea typeface="Calibri"/>
                <a:cs typeface="Calibri"/>
                <a:sym typeface="Calibri"/>
              </a:rPr>
              <a:t> and as a class, ask students to share their team’s experience with conducting an interview.</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Who did you interview?</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was your experience with the interviews? </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notice? What stood out to you?</a:t>
            </a:r>
            <a:endParaRPr sz="1200">
              <a:solidFill>
                <a:schemeClr val="dk1"/>
              </a:solidFill>
              <a:latin typeface="Calibri"/>
              <a:ea typeface="Calibri"/>
              <a:cs typeface="Calibri"/>
              <a:sym typeface="Calibri"/>
            </a:endParaRPr>
          </a:p>
          <a:p>
            <a:pPr marL="457200" marR="1143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questions do you still have?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4d33b5e50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4d33b5e5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the slideshow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and give students an overview of the day</a:t>
            </a:r>
            <a:r>
              <a:rPr lang="en" sz="1200" b="1" i="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Inform students that now that they have conducted interviews, their next step is to analyze their interview data to make sense of it. Some goals of Lesson 1.3 will be to:</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Analyze your interview notes to categorize them into themes.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Identify patterns in the interview notes to explore what values your community members place on the ocean.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Tell students that now that we’ve had a chance to interview community members to learn more about their experiences with the ocean, our next step is to analyze our interview notes to look for patterns. </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4b4d44d7b6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4b4d44d7b6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Move on to </a:t>
            </a:r>
            <a:r>
              <a:rPr lang="en" sz="1200" b="1">
                <a:solidFill>
                  <a:schemeClr val="dk1"/>
                </a:solidFill>
                <a:latin typeface="Calibri"/>
                <a:ea typeface="Calibri"/>
                <a:cs typeface="Calibri"/>
                <a:sym typeface="Calibri"/>
              </a:rPr>
              <a:t>Slide 4</a:t>
            </a:r>
            <a:r>
              <a:rPr lang="en" sz="1200">
                <a:solidFill>
                  <a:schemeClr val="dk1"/>
                </a:solidFill>
                <a:latin typeface="Calibri"/>
                <a:ea typeface="Calibri"/>
                <a:cs typeface="Calibri"/>
                <a:sym typeface="Calibri"/>
              </a:rPr>
              <a:t> and invite students to share their initial ideas as a class:</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Why did you conduct a community interview? </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information did you want to gather from the community interview?</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you analyze your interview notes to find out how climate change is affecting Southern California’s ocean?</a:t>
            </a:r>
            <a:endParaRPr sz="1200" b="1">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Give students a chance to share their initial ideas out loud. </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shared their initial ideas, inform them that now that they have collected interview data, they need to analyze the responses to see why community members might care about the ocean.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4b4d44d7b6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4b4d44d7b6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5,</a:t>
            </a:r>
            <a:r>
              <a:rPr lang="en" sz="1200">
                <a:solidFill>
                  <a:schemeClr val="dk1"/>
                </a:solidFill>
                <a:latin typeface="Calibri"/>
                <a:ea typeface="Calibri"/>
                <a:cs typeface="Calibri"/>
                <a:sym typeface="Calibri"/>
              </a:rPr>
              <a:t> tell students that following an interview, social scientists often have to make sense of the data. One way that they do this is by categorizing the responses of the interviews into categories of themes.</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Share with students that they will work with their teams to categorize their data into themes, just like social scientists do. However, they will have three categories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#1</a:t>
            </a:r>
            <a:r>
              <a:rPr lang="en" sz="1200">
                <a:solidFill>
                  <a:schemeClr val="dk1"/>
                </a:solidFill>
                <a:latin typeface="Calibri"/>
                <a:ea typeface="Calibri"/>
                <a:cs typeface="Calibri"/>
                <a:sym typeface="Calibri"/>
              </a:rPr>
              <a:t>: Past experiences with the ocean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#2:</a:t>
            </a:r>
            <a:r>
              <a:rPr lang="en" sz="1200">
                <a:solidFill>
                  <a:schemeClr val="dk1"/>
                </a:solidFill>
                <a:latin typeface="Calibri"/>
                <a:ea typeface="Calibri"/>
                <a:cs typeface="Calibri"/>
                <a:sym typeface="Calibri"/>
              </a:rPr>
              <a:t> Reasons the interviewee cares about the ocean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#3:</a:t>
            </a:r>
            <a:r>
              <a:rPr lang="en" sz="1200">
                <a:solidFill>
                  <a:schemeClr val="dk1"/>
                </a:solidFill>
                <a:latin typeface="Calibri"/>
                <a:ea typeface="Calibri"/>
                <a:cs typeface="Calibri"/>
                <a:sym typeface="Calibri"/>
              </a:rPr>
              <a:t> Ideas about how the ocean is changing</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Inform students that before they work on their interview notes, they will have a chance to practice with some examples.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b4d44d7b6_0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4b4d44d7b6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Slides 6-8</a:t>
            </a:r>
            <a:r>
              <a:rPr lang="en" sz="1200">
                <a:solidFill>
                  <a:schemeClr val="dk1"/>
                </a:solidFill>
                <a:latin typeface="Calibri"/>
                <a:ea typeface="Calibri"/>
                <a:cs typeface="Calibri"/>
                <a:sym typeface="Calibri"/>
              </a:rPr>
              <a:t> where students will have examples of interview responses to categorize. As a class, work together to identify which category each response will fit under, if it fits under more than one.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Example 1:</a:t>
            </a:r>
            <a:r>
              <a:rPr lang="en" sz="1200">
                <a:solidFill>
                  <a:schemeClr val="dk1"/>
                </a:solidFill>
                <a:latin typeface="Calibri"/>
                <a:ea typeface="Calibri"/>
                <a:cs typeface="Calibri"/>
                <a:sym typeface="Calibri"/>
              </a:rPr>
              <a:t> “I grew up visiting the state parks and going to tidepools with my siblings.”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#1: Past experiences with the ocean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#2: Reasons the interviewee cares about the ocean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Category #3: Ideas about how the ocean is changing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4cba3347ae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4cba3347ae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Slides 6-8</a:t>
            </a:r>
            <a:r>
              <a:rPr lang="en" sz="1200">
                <a:solidFill>
                  <a:schemeClr val="dk1"/>
                </a:solidFill>
                <a:latin typeface="Calibri"/>
                <a:ea typeface="Calibri"/>
                <a:cs typeface="Calibri"/>
                <a:sym typeface="Calibri"/>
              </a:rPr>
              <a:t> where students will have examples of interview responses to categorize. As a class, work together to identify which category each response will fit under, if it fits under more than one.</a:t>
            </a: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b="1">
                <a:solidFill>
                  <a:schemeClr val="dk1"/>
                </a:solidFill>
                <a:latin typeface="Calibri"/>
                <a:ea typeface="Calibri"/>
                <a:cs typeface="Calibri"/>
                <a:sym typeface="Calibri"/>
              </a:rPr>
              <a:t>Example 2: “</a:t>
            </a:r>
            <a:r>
              <a:rPr lang="en" sz="1200">
                <a:solidFill>
                  <a:schemeClr val="dk1"/>
                </a:solidFill>
                <a:latin typeface="Calibri"/>
                <a:ea typeface="Calibri"/>
                <a:cs typeface="Calibri"/>
                <a:sym typeface="Calibri"/>
              </a:rPr>
              <a:t>We used to not have as many intense storms.”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Category #1: Past experiences with the ocean</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Category #2: Reasons the interviewee cares about the ocean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Category #3: Ideas about how the ocean is changing</a:t>
            </a: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cba3347ae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4cba3347ae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Slides 6-8</a:t>
            </a:r>
            <a:r>
              <a:rPr lang="en" sz="1200">
                <a:solidFill>
                  <a:schemeClr val="dk1"/>
                </a:solidFill>
                <a:latin typeface="Calibri"/>
                <a:ea typeface="Calibri"/>
                <a:cs typeface="Calibri"/>
                <a:sym typeface="Calibri"/>
              </a:rPr>
              <a:t> where students will have examples of interview responses to categorize. As a class, work together to identify which category each response will fit under, if it fits under more than one.</a:t>
            </a:r>
            <a:endParaRPr sz="1200">
              <a:solidFill>
                <a:schemeClr val="dk1"/>
              </a:solidFill>
              <a:latin typeface="Calibri"/>
              <a:ea typeface="Calibri"/>
              <a:cs typeface="Calibri"/>
              <a:sym typeface="Calibri"/>
            </a:endParaRPr>
          </a:p>
          <a:p>
            <a:pPr marL="228600" marR="0" lvl="0" indent="-304800" algn="l" rtl="0">
              <a:lnSpc>
                <a:spcPct val="115000"/>
              </a:lnSpc>
              <a:spcBef>
                <a:spcPts val="0"/>
              </a:spcBef>
              <a:spcAft>
                <a:spcPts val="0"/>
              </a:spcAft>
              <a:buClr>
                <a:schemeClr val="dk1"/>
              </a:buClr>
              <a:buSzPts val="1200"/>
              <a:buFont typeface="Calibri"/>
              <a:buAutoNum type="arabicPeriod"/>
            </a:pPr>
            <a:r>
              <a:rPr lang="en" sz="1200" b="1">
                <a:solidFill>
                  <a:schemeClr val="dk1"/>
                </a:solidFill>
                <a:latin typeface="Calibri"/>
                <a:ea typeface="Calibri"/>
                <a:cs typeface="Calibri"/>
                <a:sym typeface="Calibri"/>
              </a:rPr>
              <a:t>Example 3: “</a:t>
            </a:r>
            <a:r>
              <a:rPr lang="en" sz="1200">
                <a:solidFill>
                  <a:schemeClr val="dk1"/>
                </a:solidFill>
                <a:latin typeface="Calibri"/>
                <a:ea typeface="Calibri"/>
                <a:cs typeface="Calibri"/>
                <a:sym typeface="Calibri"/>
              </a:rPr>
              <a:t>Food is the first thing that I think of. I love seafood, particularly octopus salad.”</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Category #1: Past experiences with the ocean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Category #2: Reasons the interviewee cares about the ocean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Category #3: Ideas about how the ocean is changing</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4cba3347ae_1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4cba3347ae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the class has had a chance to practice with the examples, advance to </a:t>
            </a:r>
            <a:r>
              <a:rPr lang="en" sz="1200" b="1">
                <a:solidFill>
                  <a:schemeClr val="dk1"/>
                </a:solidFill>
                <a:latin typeface="Calibri"/>
                <a:ea typeface="Calibri"/>
                <a:cs typeface="Calibri"/>
                <a:sym typeface="Calibri"/>
              </a:rPr>
              <a:t>Slide 9</a:t>
            </a:r>
            <a:r>
              <a:rPr lang="en" sz="1200">
                <a:solidFill>
                  <a:schemeClr val="dk1"/>
                </a:solidFill>
                <a:latin typeface="Calibri"/>
                <a:ea typeface="Calibri"/>
                <a:cs typeface="Calibri"/>
                <a:sym typeface="Calibri"/>
              </a:rPr>
              <a:t>. Have the students work with their teams to review their community interview notes (refer to</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1.2 Part 2: Conducting Community Interviews (Student Task: Optional Interview Notes)</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in the Science Journal) to highlight or underline any ideas related to the three categories. If something does not fit into one of the three categories, they should not highlight it.</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As students do so, move between the groups to answer questions and provide support on questions they may have.</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 teams have had an opportunity to highlight their ideas, tell them that their next step is to categorize these ideas. </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b4d44d7b6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b4d44d7b6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10</a:t>
            </a:r>
            <a:r>
              <a:rPr lang="en" sz="1200">
                <a:solidFill>
                  <a:schemeClr val="dk1"/>
                </a:solidFill>
                <a:latin typeface="Calibri"/>
                <a:ea typeface="Calibri"/>
                <a:cs typeface="Calibri"/>
                <a:sym typeface="Calibri"/>
              </a:rPr>
              <a:t> and ask students to create three category piles and place their post-it notes under the appropriate category.</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#1</a:t>
            </a:r>
            <a:r>
              <a:rPr lang="en" sz="1200">
                <a:solidFill>
                  <a:schemeClr val="dk1"/>
                </a:solidFill>
                <a:latin typeface="Calibri"/>
                <a:ea typeface="Calibri"/>
                <a:cs typeface="Calibri"/>
                <a:sym typeface="Calibri"/>
              </a:rPr>
              <a:t>: Past experiences with the ocean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#2:</a:t>
            </a:r>
            <a:r>
              <a:rPr lang="en" sz="1200">
                <a:solidFill>
                  <a:schemeClr val="dk1"/>
                </a:solidFill>
                <a:latin typeface="Calibri"/>
                <a:ea typeface="Calibri"/>
                <a:cs typeface="Calibri"/>
                <a:sym typeface="Calibri"/>
              </a:rPr>
              <a:t> Reasons the interviewee cares about the ocean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Category #3:</a:t>
            </a:r>
            <a:r>
              <a:rPr lang="en" sz="1200">
                <a:solidFill>
                  <a:schemeClr val="dk1"/>
                </a:solidFill>
                <a:latin typeface="Calibri"/>
                <a:ea typeface="Calibri"/>
                <a:cs typeface="Calibri"/>
                <a:sym typeface="Calibri"/>
              </a:rPr>
              <a:t> Ideas about how the ocean is changing</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Note: If you have three different color post-it notes, it might be helpful to have students use a different post it note color for each category.</a:t>
            </a:r>
            <a:r>
              <a:rPr lang="en" sz="1200">
                <a:solidFill>
                  <a:schemeClr val="dk1"/>
                </a:solidFill>
                <a:latin typeface="Calibri"/>
                <a:ea typeface="Calibri"/>
                <a:cs typeface="Calibri"/>
                <a:sym typeface="Calibri"/>
              </a:rPr>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4b4d44d7b6_0_3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4b4d44d7b6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finished categorizing their responses from their community interview, advance to </a:t>
            </a:r>
            <a:r>
              <a:rPr lang="en" sz="1200" b="1">
                <a:solidFill>
                  <a:schemeClr val="dk1"/>
                </a:solidFill>
                <a:latin typeface="Calibri"/>
                <a:ea typeface="Calibri"/>
                <a:cs typeface="Calibri"/>
                <a:sym typeface="Calibri"/>
              </a:rPr>
              <a:t>Slide 11</a:t>
            </a:r>
            <a:r>
              <a:rPr lang="en" sz="1200">
                <a:solidFill>
                  <a:schemeClr val="dk1"/>
                </a:solidFill>
                <a:latin typeface="Calibri"/>
                <a:ea typeface="Calibri"/>
                <a:cs typeface="Calibri"/>
                <a:sym typeface="Calibri"/>
              </a:rPr>
              <a:t>. Tell them that our next step is to look for patterns in the responses that our interviewees shared and place these ideas on a poster around the classroom. </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do this, we’ll sort the post-its into themes. These themes can be centered around values, or why an individual may feel connected to the ocean any may include: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Emotional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Wellbeing &amp; feelings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Financial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Tradition</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4b4d44d7b6_0_7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4b4d44d7b6_0_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 posters are ready, place them around the classroom and advance to </a:t>
            </a:r>
            <a:r>
              <a:rPr lang="en" sz="1200" b="1">
                <a:solidFill>
                  <a:schemeClr val="dk1"/>
                </a:solidFill>
                <a:latin typeface="Calibri"/>
                <a:ea typeface="Calibri"/>
                <a:cs typeface="Calibri"/>
                <a:sym typeface="Calibri"/>
              </a:rPr>
              <a:t>Slide 12</a:t>
            </a:r>
            <a:r>
              <a:rPr lang="en" sz="1200">
                <a:solidFill>
                  <a:schemeClr val="dk1"/>
                </a:solidFill>
                <a:latin typeface="Calibri"/>
                <a:ea typeface="Calibri"/>
                <a:cs typeface="Calibri"/>
                <a:sym typeface="Calibri"/>
              </a:rPr>
              <a:t>. Tell students that they will be participating in a gallery walk to see how other community members place value on the ocean.</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Inform students that they will first conduct a gallery walk and then return as a class to discuss their findings. </a:t>
            </a:r>
            <a:r>
              <a:rPr lang="en" sz="1200" b="1">
                <a:solidFill>
                  <a:schemeClr val="dk1"/>
                </a:solidFill>
                <a:latin typeface="Calibri"/>
                <a:ea typeface="Calibri"/>
                <a:cs typeface="Calibri"/>
                <a:sym typeface="Calibri"/>
              </a:rPr>
              <a:t>To structure the gallery walk, provide students the following questions to get them started.</a:t>
            </a:r>
            <a:endParaRPr sz="1200" b="1">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rgbClr val="0F0F0F"/>
              </a:buClr>
              <a:buSzPts val="1200"/>
              <a:buFont typeface="Calibri"/>
              <a:buChar char="●"/>
            </a:pPr>
            <a:r>
              <a:rPr lang="en" sz="1200">
                <a:solidFill>
                  <a:schemeClr val="dk1"/>
                </a:solidFill>
                <a:latin typeface="Calibri"/>
                <a:ea typeface="Calibri"/>
                <a:cs typeface="Calibri"/>
                <a:sym typeface="Calibri"/>
              </a:rPr>
              <a:t>What patterns or themes did you identify that are similar than the patterns or themes your team identified?</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rgbClr val="0F0F0F"/>
              </a:buClr>
              <a:buSzPts val="1200"/>
              <a:buFont typeface="Calibri"/>
              <a:buChar char="●"/>
            </a:pPr>
            <a:r>
              <a:rPr lang="en" sz="1200">
                <a:solidFill>
                  <a:schemeClr val="dk1"/>
                </a:solidFill>
                <a:latin typeface="Calibri"/>
                <a:ea typeface="Calibri"/>
                <a:cs typeface="Calibri"/>
                <a:sym typeface="Calibri"/>
              </a:rPr>
              <a:t>What patterns or themes did you identify that are different than the patterns or themes your team identified?</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rgbClr val="0F0F0F"/>
              </a:buClr>
              <a:buSzPts val="1200"/>
              <a:buFont typeface="Calibri"/>
              <a:buChar char="●"/>
            </a:pPr>
            <a:r>
              <a:rPr lang="en" sz="1200">
                <a:solidFill>
                  <a:schemeClr val="dk1"/>
                </a:solidFill>
                <a:latin typeface="Calibri"/>
                <a:ea typeface="Calibri"/>
                <a:cs typeface="Calibri"/>
                <a:sym typeface="Calibri"/>
              </a:rPr>
              <a:t>What changes might you make to your own poster after seeing other posters?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4b4d44d7b6_0_7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4b4d44d7b6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the gallery walk, bring the class back together and advance to </a:t>
            </a:r>
            <a:r>
              <a:rPr lang="en" sz="1200" b="1">
                <a:solidFill>
                  <a:schemeClr val="dk1"/>
                </a:solidFill>
                <a:latin typeface="Calibri"/>
                <a:ea typeface="Calibri"/>
                <a:cs typeface="Calibri"/>
                <a:sym typeface="Calibri"/>
              </a:rPr>
              <a:t>Slide 13</a:t>
            </a:r>
            <a:r>
              <a:rPr lang="en" sz="1200">
                <a:solidFill>
                  <a:schemeClr val="dk1"/>
                </a:solidFill>
                <a:latin typeface="Calibri"/>
                <a:ea typeface="Calibri"/>
                <a:cs typeface="Calibri"/>
                <a:sym typeface="Calibri"/>
              </a:rPr>
              <a:t>. As a whole class, discuss the following: </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there any common themes you noticed during the gallery walk?</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is a theme or pattern that you found interesting or different from your own?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you use these patterns to identify why the community cares about the ocean?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b4d44d7b6_0_7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4b4d44d7b6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a final task, advance to </a:t>
            </a:r>
            <a:r>
              <a:rPr lang="en" sz="1200" b="1">
                <a:solidFill>
                  <a:schemeClr val="dk1"/>
                </a:solidFill>
                <a:latin typeface="Calibri"/>
                <a:ea typeface="Calibri"/>
                <a:cs typeface="Calibri"/>
                <a:sym typeface="Calibri"/>
              </a:rPr>
              <a:t>Slide 14</a:t>
            </a:r>
            <a:r>
              <a:rPr lang="en" sz="1200">
                <a:solidFill>
                  <a:schemeClr val="dk1"/>
                </a:solidFill>
                <a:latin typeface="Calibri"/>
                <a:ea typeface="Calibri"/>
                <a:cs typeface="Calibri"/>
                <a:sym typeface="Calibri"/>
              </a:rPr>
              <a:t> and give students some time to reflect on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1.3: Analyzing Interview Data (Student Reflection), page 8</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of their </a:t>
            </a:r>
            <a:r>
              <a:rPr lang="en" sz="1200" b="1">
                <a:solidFill>
                  <a:schemeClr val="dk1"/>
                </a:solidFill>
                <a:latin typeface="Calibri"/>
                <a:ea typeface="Calibri"/>
                <a:cs typeface="Calibri"/>
                <a:sym typeface="Calibri"/>
              </a:rPr>
              <a:t>Science Journals. </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learn from analyzing your interview responses? How has your thinking about why people value the ocean or how it is changing been affected?</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Why is it important to analyze responses to interview questions? What can this tell us about how communities value the ocean?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will you use what you learned in Module 1 to build your model of how climate change is impacting Southern California’s ocean? For example, what information will you add or show to explain these impacts?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4b4d44d7b6_0_8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4b4d44d7b6_0_8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15</a:t>
            </a:r>
            <a:r>
              <a:rPr lang="en" sz="1200">
                <a:solidFill>
                  <a:schemeClr val="dk1"/>
                </a:solidFill>
                <a:latin typeface="Calibri"/>
                <a:ea typeface="Calibri"/>
                <a:cs typeface="Calibri"/>
                <a:sym typeface="Calibri"/>
              </a:rPr>
              <a:t>. As the time wraps up for the day, thank students for their time. Inform students that this concludes module 1. In the module 2 students will step into the next step in the process, using their information to create a model.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707700" y="1616800"/>
            <a:ext cx="3551400" cy="1239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3900" b="1">
                <a:solidFill>
                  <a:srgbClr val="541900"/>
                </a:solidFill>
              </a:rPr>
              <a:t>Analyzing Interview Data</a:t>
            </a:r>
            <a:endParaRPr sz="3900" b="1">
              <a:solidFill>
                <a:srgbClr val="541900"/>
              </a:solidFill>
            </a:endParaRPr>
          </a:p>
        </p:txBody>
      </p:sp>
      <p:sp>
        <p:nvSpPr>
          <p:cNvPr id="55" name="Google Shape;55;p13"/>
          <p:cNvSpPr txBox="1">
            <a:spLocks noGrp="1"/>
          </p:cNvSpPr>
          <p:nvPr>
            <p:ph type="body" idx="4294967295"/>
          </p:nvPr>
        </p:nvSpPr>
        <p:spPr>
          <a:xfrm>
            <a:off x="2369700" y="2856500"/>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1200"/>
              </a:spcAft>
              <a:buNone/>
            </a:pPr>
            <a:r>
              <a:rPr lang="en" sz="1200">
                <a:solidFill>
                  <a:srgbClr val="355E3B"/>
                </a:solidFill>
                <a:latin typeface="Arial"/>
                <a:ea typeface="Arial"/>
                <a:cs typeface="Arial"/>
                <a:sym typeface="Arial"/>
              </a:rPr>
              <a:t>Module </a:t>
            </a:r>
            <a:r>
              <a:rPr lang="en" sz="1200">
                <a:solidFill>
                  <a:srgbClr val="355E3B"/>
                </a:solidFill>
              </a:rPr>
              <a:t>1.3</a:t>
            </a:r>
            <a:endParaRPr sz="1200">
              <a:solidFill>
                <a:srgbClr val="355E3B"/>
              </a:solidFill>
              <a:latin typeface="Arial"/>
              <a:ea typeface="Arial"/>
              <a:cs typeface="Arial"/>
              <a:sym typeface="Arial"/>
            </a:endParaRPr>
          </a:p>
        </p:txBody>
      </p:sp>
      <p:sp>
        <p:nvSpPr>
          <p:cNvPr id="56" name="Google Shape;56;p13"/>
          <p:cNvSpPr txBox="1">
            <a:spLocks noGrp="1"/>
          </p:cNvSpPr>
          <p:nvPr>
            <p:ph type="subTitle"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AISciComm | </a:t>
            </a:r>
            <a:r>
              <a:rPr lang="en" sz="1200">
                <a:solidFill>
                  <a:schemeClr val="dk1"/>
                </a:solidFill>
                <a:latin typeface="Arial"/>
                <a:ea typeface="Arial"/>
                <a:cs typeface="Arial"/>
                <a:sym typeface="Arial"/>
              </a:rPr>
              <a:t>Module </a:t>
            </a:r>
            <a:r>
              <a:rPr lang="en" sz="1200">
                <a:solidFill>
                  <a:schemeClr val="dk1"/>
                </a:solidFill>
              </a:rPr>
              <a:t>1.3 Analyzing Interview Data</a:t>
            </a:r>
            <a:endParaRPr sz="1200">
              <a:solidFill>
                <a:schemeClr val="dk1"/>
              </a:solidFill>
              <a:latin typeface="Arial"/>
              <a:ea typeface="Arial"/>
              <a:cs typeface="Arial"/>
              <a:sym typeface="Arial"/>
            </a:endParaRPr>
          </a:p>
        </p:txBody>
      </p:sp>
      <p:pic>
        <p:nvPicPr>
          <p:cNvPr id="57" name="Google Shape;57;p13"/>
          <p:cNvPicPr preferRelativeResize="0"/>
          <p:nvPr/>
        </p:nvPicPr>
        <p:blipFill rotWithShape="1">
          <a:blip r:embed="rId3">
            <a:alphaModFix/>
          </a:blip>
          <a:srcRect r="47641"/>
          <a:stretch/>
        </p:blipFill>
        <p:spPr>
          <a:xfrm>
            <a:off x="4919100" y="0"/>
            <a:ext cx="4224900" cy="5143500"/>
          </a:xfrm>
          <a:prstGeom prst="rect">
            <a:avLst/>
          </a:prstGeom>
          <a:noFill/>
          <a:ln>
            <a:noFill/>
          </a:ln>
        </p:spPr>
      </p:pic>
      <p:sp>
        <p:nvSpPr>
          <p:cNvPr id="58" name="Google Shape;5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4900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Interview Recap</a:t>
            </a:r>
            <a:endParaRPr sz="4200" b="1">
              <a:solidFill>
                <a:srgbClr val="541900"/>
              </a:solidFill>
            </a:endParaRPr>
          </a:p>
        </p:txBody>
      </p:sp>
      <p:sp>
        <p:nvSpPr>
          <p:cNvPr id="64" name="Google Shape;64;p14"/>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1.3 Analyzing Interview Data</a:t>
            </a:r>
            <a:br>
              <a:rPr lang="en" sz="1200">
                <a:solidFill>
                  <a:srgbClr val="000000"/>
                </a:solidFill>
              </a:rPr>
            </a:br>
            <a:r>
              <a:rPr lang="en" sz="1200"/>
              <a:t>Slide 2</a:t>
            </a:r>
            <a:endParaRPr sz="1200">
              <a:solidFill>
                <a:srgbClr val="000000"/>
              </a:solidFill>
            </a:endParaRPr>
          </a:p>
        </p:txBody>
      </p:sp>
      <p:sp>
        <p:nvSpPr>
          <p:cNvPr id="65" name="Google Shape;65;p14"/>
          <p:cNvSpPr txBox="1">
            <a:spLocks noGrp="1"/>
          </p:cNvSpPr>
          <p:nvPr>
            <p:ph type="body" idx="2"/>
          </p:nvPr>
        </p:nvSpPr>
        <p:spPr>
          <a:xfrm>
            <a:off x="311700" y="1341300"/>
            <a:ext cx="8202600" cy="290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2100" i="1">
                <a:solidFill>
                  <a:srgbClr val="355E3B"/>
                </a:solidFill>
              </a:rPr>
              <a:t>Now that you have conducted an interview, share your experiences with the class.</a:t>
            </a:r>
            <a:endParaRPr sz="2100" i="1">
              <a:solidFill>
                <a:srgbClr val="355E3B"/>
              </a:solidFill>
            </a:endParaRPr>
          </a:p>
          <a:p>
            <a:pPr marL="0" lvl="0" indent="0" algn="l" rtl="0">
              <a:lnSpc>
                <a:spcPct val="100000"/>
              </a:lnSpc>
              <a:spcBef>
                <a:spcPts val="0"/>
              </a:spcBef>
              <a:spcAft>
                <a:spcPts val="0"/>
              </a:spcAft>
              <a:buNone/>
            </a:pPr>
            <a:endParaRPr sz="2100" i="1">
              <a:solidFill>
                <a:srgbClr val="355E3B"/>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Who did you interview?</a:t>
            </a: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What was your experience with the interviews? </a:t>
            </a: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What did you notice? What stood out to you?</a:t>
            </a: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What questions do you still have?</a:t>
            </a:r>
            <a:endParaRPr sz="2000">
              <a:solidFill>
                <a:schemeClr val="dk1"/>
              </a:solidFill>
            </a:endParaRPr>
          </a:p>
          <a:p>
            <a:pPr marL="457200" lvl="0" indent="0" algn="l" rtl="0">
              <a:spcBef>
                <a:spcPts val="0"/>
              </a:spcBef>
              <a:spcAft>
                <a:spcPts val="1200"/>
              </a:spcAft>
              <a:buNone/>
            </a:pPr>
            <a:endParaRPr sz="2000">
              <a:solidFill>
                <a:schemeClr val="dk1"/>
              </a:solidFill>
            </a:endParaRPr>
          </a:p>
        </p:txBody>
      </p:sp>
      <p:sp>
        <p:nvSpPr>
          <p:cNvPr id="66" name="Google Shape;6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0"/>
        <p:cNvGrpSpPr/>
        <p:nvPr/>
      </p:nvGrpSpPr>
      <p:grpSpPr>
        <a:xfrm>
          <a:off x="0" y="0"/>
          <a:ext cx="0" cy="0"/>
          <a:chOff x="0" y="0"/>
          <a:chExt cx="0" cy="0"/>
        </a:xfrm>
      </p:grpSpPr>
      <p:sp>
        <p:nvSpPr>
          <p:cNvPr id="71" name="Google Shape;71;p15"/>
          <p:cNvSpPr txBox="1">
            <a:spLocks noGrp="1"/>
          </p:cNvSpPr>
          <p:nvPr>
            <p:ph type="body" idx="1"/>
          </p:nvPr>
        </p:nvSpPr>
        <p:spPr>
          <a:xfrm>
            <a:off x="311700" y="847675"/>
            <a:ext cx="4521900" cy="51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solidFill>
                  <a:srgbClr val="355E3B"/>
                </a:solidFill>
              </a:rPr>
              <a:t>During module 1.3, you will:</a:t>
            </a:r>
            <a:endParaRPr sz="2000">
              <a:solidFill>
                <a:srgbClr val="355E3B"/>
              </a:solidFill>
            </a:endParaRPr>
          </a:p>
        </p:txBody>
      </p:sp>
      <p:sp>
        <p:nvSpPr>
          <p:cNvPr id="72" name="Google Shape;72;p1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b="1">
                <a:solidFill>
                  <a:srgbClr val="541900"/>
                </a:solidFill>
              </a:rPr>
              <a:t>Module Overview</a:t>
            </a:r>
            <a:endParaRPr sz="4100" b="1">
              <a:solidFill>
                <a:srgbClr val="541900"/>
              </a:solidFill>
            </a:endParaRPr>
          </a:p>
        </p:txBody>
      </p:sp>
      <p:sp>
        <p:nvSpPr>
          <p:cNvPr id="73" name="Google Shape;73;p15"/>
          <p:cNvSpPr txBox="1">
            <a:spLocks noGrp="1"/>
          </p:cNvSpPr>
          <p:nvPr>
            <p:ph type="body" idx="4294967295"/>
          </p:nvPr>
        </p:nvSpPr>
        <p:spPr>
          <a:xfrm>
            <a:off x="235500" y="1360075"/>
            <a:ext cx="4521900" cy="2906400"/>
          </a:xfrm>
          <a:prstGeom prst="rect">
            <a:avLst/>
          </a:prstGeom>
        </p:spPr>
        <p:txBody>
          <a:bodyPr spcFirstLastPara="1" wrap="square" lIns="91425" tIns="91425" rIns="91425" bIns="91425" anchor="t" anchorCtr="0">
            <a:normAutofit/>
          </a:bodyPr>
          <a:lstStyle/>
          <a:p>
            <a:pPr marL="457200" lvl="0" indent="-349250" algn="l" rtl="0">
              <a:lnSpc>
                <a:spcPct val="115000"/>
              </a:lnSpc>
              <a:spcBef>
                <a:spcPts val="0"/>
              </a:spcBef>
              <a:spcAft>
                <a:spcPts val="0"/>
              </a:spcAft>
              <a:buClr>
                <a:srgbClr val="541900"/>
              </a:buClr>
              <a:buSzPts val="1900"/>
              <a:buChar char="●"/>
            </a:pPr>
            <a:r>
              <a:rPr lang="en" sz="1900">
                <a:solidFill>
                  <a:schemeClr val="dk1"/>
                </a:solidFill>
              </a:rPr>
              <a:t>Analyze your interview notes to categorize them into themes.</a:t>
            </a:r>
            <a:endParaRPr sz="1900">
              <a:solidFill>
                <a:schemeClr val="dk1"/>
              </a:solidFill>
            </a:endParaRPr>
          </a:p>
          <a:p>
            <a:pPr marL="457200" lvl="0" indent="-349250" algn="l" rtl="0">
              <a:lnSpc>
                <a:spcPct val="115000"/>
              </a:lnSpc>
              <a:spcBef>
                <a:spcPts val="0"/>
              </a:spcBef>
              <a:spcAft>
                <a:spcPts val="0"/>
              </a:spcAft>
              <a:buClr>
                <a:srgbClr val="541900"/>
              </a:buClr>
              <a:buSzPts val="1900"/>
              <a:buChar char="●"/>
            </a:pPr>
            <a:r>
              <a:rPr lang="en" sz="1900">
                <a:solidFill>
                  <a:schemeClr val="dk1"/>
                </a:solidFill>
              </a:rPr>
              <a:t>Identify patterns in the interview notes to explore what values your community members place on the ocean.</a:t>
            </a:r>
            <a:endParaRPr sz="1900">
              <a:solidFill>
                <a:schemeClr val="dk1"/>
              </a:solidFill>
            </a:endParaRPr>
          </a:p>
        </p:txBody>
      </p:sp>
      <p:pic>
        <p:nvPicPr>
          <p:cNvPr id="74" name="Google Shape;74;p15" title="PXL_20231208_203932984~2.jpg"/>
          <p:cNvPicPr preferRelativeResize="0"/>
          <p:nvPr/>
        </p:nvPicPr>
        <p:blipFill rotWithShape="1">
          <a:blip r:embed="rId3">
            <a:alphaModFix/>
          </a:blip>
          <a:srcRect l="36387" t="3026"/>
          <a:stretch/>
        </p:blipFill>
        <p:spPr>
          <a:xfrm>
            <a:off x="4978400" y="0"/>
            <a:ext cx="4054825" cy="4654026"/>
          </a:xfrm>
          <a:prstGeom prst="rect">
            <a:avLst/>
          </a:prstGeom>
          <a:noFill/>
          <a:ln>
            <a:noFill/>
          </a:ln>
        </p:spPr>
      </p:pic>
      <p:sp>
        <p:nvSpPr>
          <p:cNvPr id="75" name="Google Shape;75;p15"/>
          <p:cNvSpPr txBox="1"/>
          <p:nvPr/>
        </p:nvSpPr>
        <p:spPr>
          <a:xfrm>
            <a:off x="6269900" y="4654025"/>
            <a:ext cx="14907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ctr" rtl="0">
              <a:spcBef>
                <a:spcPts val="0"/>
              </a:spcBef>
              <a:spcAft>
                <a:spcPts val="0"/>
              </a:spcAft>
              <a:buNone/>
            </a:pPr>
            <a:r>
              <a:rPr lang="en" sz="800" b="1">
                <a:solidFill>
                  <a:schemeClr val="dk2"/>
                </a:solidFill>
              </a:rPr>
              <a:t>Newport Beach, California</a:t>
            </a:r>
            <a:endParaRPr sz="800" b="1">
              <a:solidFill>
                <a:schemeClr val="dk2"/>
              </a:solidFill>
            </a:endParaRPr>
          </a:p>
        </p:txBody>
      </p:sp>
      <p:sp>
        <p:nvSpPr>
          <p:cNvPr id="76" name="Google Shape;76;p15"/>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rgbClr val="000000"/>
                </a:solidFill>
              </a:rPr>
              <a:t>Module 1.</a:t>
            </a:r>
            <a:r>
              <a:rPr lang="en" sz="1200"/>
              <a:t>3 Analyzing Interview Data</a:t>
            </a:r>
            <a:br>
              <a:rPr lang="en" sz="1200">
                <a:solidFill>
                  <a:srgbClr val="000000"/>
                </a:solidFill>
              </a:rPr>
            </a:br>
            <a:r>
              <a:rPr lang="en" sz="1200"/>
              <a:t>Slide 3</a:t>
            </a:r>
            <a:endParaRPr sz="1200">
              <a:solidFill>
                <a:srgbClr val="000000"/>
              </a:solidFill>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1"/>
        <p:cNvGrpSpPr/>
        <p:nvPr/>
      </p:nvGrpSpPr>
      <p:grpSpPr>
        <a:xfrm>
          <a:off x="0" y="0"/>
          <a:ext cx="0" cy="0"/>
          <a:chOff x="0" y="0"/>
          <a:chExt cx="0" cy="0"/>
        </a:xfrm>
      </p:grpSpPr>
      <p:sp>
        <p:nvSpPr>
          <p:cNvPr id="82" name="Google Shape;82;p16"/>
          <p:cNvSpPr txBox="1">
            <a:spLocks noGrp="1"/>
          </p:cNvSpPr>
          <p:nvPr>
            <p:ph type="body" idx="1"/>
          </p:nvPr>
        </p:nvSpPr>
        <p:spPr>
          <a:xfrm>
            <a:off x="311700" y="1196325"/>
            <a:ext cx="4543500" cy="535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i="1">
                <a:solidFill>
                  <a:srgbClr val="355E3B"/>
                </a:solidFill>
              </a:rPr>
              <a:t>As a class, discuss the following questions after you’ve conducted your interview.</a:t>
            </a:r>
            <a:endParaRPr sz="1700" i="1">
              <a:solidFill>
                <a:srgbClr val="355E3B"/>
              </a:solidFill>
            </a:endParaRPr>
          </a:p>
        </p:txBody>
      </p:sp>
      <p:sp>
        <p:nvSpPr>
          <p:cNvPr id="83" name="Google Shape;83;p16"/>
          <p:cNvSpPr txBox="1">
            <a:spLocks noGrp="1"/>
          </p:cNvSpPr>
          <p:nvPr>
            <p:ph type="title"/>
          </p:nvPr>
        </p:nvSpPr>
        <p:spPr>
          <a:xfrm>
            <a:off x="311700" y="445025"/>
            <a:ext cx="4900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Interview Analysis</a:t>
            </a:r>
            <a:endParaRPr sz="4200" b="1">
              <a:solidFill>
                <a:srgbClr val="541900"/>
              </a:solidFill>
            </a:endParaRPr>
          </a:p>
        </p:txBody>
      </p:sp>
      <p:sp>
        <p:nvSpPr>
          <p:cNvPr id="84" name="Google Shape;84;p16"/>
          <p:cNvSpPr txBox="1">
            <a:spLocks noGrp="1"/>
          </p:cNvSpPr>
          <p:nvPr>
            <p:ph type="body" idx="2"/>
          </p:nvPr>
        </p:nvSpPr>
        <p:spPr>
          <a:xfrm>
            <a:off x="311700" y="1910425"/>
            <a:ext cx="4543500" cy="25521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rgbClr val="541900"/>
              </a:buClr>
              <a:buSzPts val="1800"/>
              <a:buFont typeface="Arial"/>
              <a:buChar char="●"/>
            </a:pPr>
            <a:r>
              <a:rPr lang="en" sz="1800">
                <a:solidFill>
                  <a:schemeClr val="dk1"/>
                </a:solidFill>
              </a:rPr>
              <a:t>Why did you conduct a community interview? </a:t>
            </a:r>
            <a:endParaRPr sz="1800">
              <a:solidFill>
                <a:schemeClr val="dk1"/>
              </a:solidFill>
            </a:endParaRPr>
          </a:p>
          <a:p>
            <a:pPr marL="457200" lvl="0" indent="-342900" algn="l" rtl="0">
              <a:lnSpc>
                <a:spcPct val="100000"/>
              </a:lnSpc>
              <a:spcBef>
                <a:spcPts val="0"/>
              </a:spcBef>
              <a:spcAft>
                <a:spcPts val="0"/>
              </a:spcAft>
              <a:buClr>
                <a:srgbClr val="541900"/>
              </a:buClr>
              <a:buSzPts val="1800"/>
              <a:buFont typeface="Arial"/>
              <a:buChar char="●"/>
            </a:pPr>
            <a:r>
              <a:rPr lang="en" sz="1800">
                <a:solidFill>
                  <a:schemeClr val="dk1"/>
                </a:solidFill>
              </a:rPr>
              <a:t>What information did you want to gather from the community interview?</a:t>
            </a:r>
            <a:endParaRPr sz="1800">
              <a:solidFill>
                <a:schemeClr val="dk1"/>
              </a:solidFill>
            </a:endParaRPr>
          </a:p>
          <a:p>
            <a:pPr marL="457200" lvl="0" indent="-342900" algn="l" rtl="0">
              <a:lnSpc>
                <a:spcPct val="100000"/>
              </a:lnSpc>
              <a:spcBef>
                <a:spcPts val="0"/>
              </a:spcBef>
              <a:spcAft>
                <a:spcPts val="0"/>
              </a:spcAft>
              <a:buClr>
                <a:srgbClr val="541900"/>
              </a:buClr>
              <a:buSzPts val="1800"/>
              <a:buFont typeface="Arial"/>
              <a:buChar char="●"/>
            </a:pPr>
            <a:r>
              <a:rPr lang="en" sz="1800">
                <a:solidFill>
                  <a:schemeClr val="dk1"/>
                </a:solidFill>
              </a:rPr>
              <a:t>How might you analyze your interview notes to find out how climate change is affecting Southern California’s ocean?</a:t>
            </a:r>
            <a:endParaRPr sz="1800">
              <a:solidFill>
                <a:srgbClr val="FF0000"/>
              </a:solidFill>
            </a:endParaRPr>
          </a:p>
          <a:p>
            <a:pPr marL="0" lvl="0" indent="0" algn="l" rtl="0">
              <a:spcBef>
                <a:spcPts val="0"/>
              </a:spcBef>
              <a:spcAft>
                <a:spcPts val="1200"/>
              </a:spcAft>
              <a:buNone/>
            </a:pPr>
            <a:endParaRPr sz="1800">
              <a:solidFill>
                <a:schemeClr val="dk1"/>
              </a:solidFill>
            </a:endParaRPr>
          </a:p>
        </p:txBody>
      </p:sp>
      <p:sp>
        <p:nvSpPr>
          <p:cNvPr id="85" name="Google Shape;85;p16"/>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4</a:t>
            </a:fld>
            <a:endParaRPr sz="1200"/>
          </a:p>
          <a:p>
            <a:pPr marL="0" lvl="0" indent="0" algn="l" rtl="0">
              <a:lnSpc>
                <a:spcPct val="115000"/>
              </a:lnSpc>
              <a:spcBef>
                <a:spcPts val="1200"/>
              </a:spcBef>
              <a:spcAft>
                <a:spcPts val="1200"/>
              </a:spcAft>
              <a:buNone/>
            </a:pPr>
            <a:endParaRPr sz="1200"/>
          </a:p>
        </p:txBody>
      </p:sp>
      <p:pic>
        <p:nvPicPr>
          <p:cNvPr id="86" name="Google Shape;86;p16"/>
          <p:cNvPicPr preferRelativeResize="0"/>
          <p:nvPr/>
        </p:nvPicPr>
        <p:blipFill>
          <a:blip r:embed="rId3">
            <a:alphaModFix/>
          </a:blip>
          <a:stretch>
            <a:fillRect/>
          </a:stretch>
        </p:blipFill>
        <p:spPr>
          <a:xfrm>
            <a:off x="5362775" y="1154888"/>
            <a:ext cx="3781225" cy="2834525"/>
          </a:xfrm>
          <a:prstGeom prst="rect">
            <a:avLst/>
          </a:prstGeom>
          <a:noFill/>
          <a:ln>
            <a:noFill/>
          </a:ln>
        </p:spPr>
      </p:pic>
      <p:sp>
        <p:nvSpPr>
          <p:cNvPr id="87" name="Google Shape;87;p16"/>
          <p:cNvSpPr txBox="1"/>
          <p:nvPr/>
        </p:nvSpPr>
        <p:spPr>
          <a:xfrm>
            <a:off x="5362775" y="3989413"/>
            <a:ext cx="39840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t>Abalone Cove Shoreline Park. </a:t>
            </a:r>
            <a:br>
              <a:rPr lang="en" sz="1200"/>
            </a:br>
            <a:r>
              <a:rPr lang="en" sz="900"/>
              <a:t>Source: https://daytripsla.com/abalone-cove-shoreline-park-tidepools/</a:t>
            </a:r>
            <a:endParaRPr sz="900">
              <a:solidFill>
                <a:srgbClr val="000000"/>
              </a:solidFill>
            </a:endParaRPr>
          </a:p>
        </p:txBody>
      </p:sp>
      <p:sp>
        <p:nvSpPr>
          <p:cNvPr id="88" name="Google Shape;88;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Review Your Interview Notes</a:t>
            </a:r>
            <a:endParaRPr sz="4500" b="1">
              <a:solidFill>
                <a:srgbClr val="541900"/>
              </a:solidFill>
            </a:endParaRPr>
          </a:p>
        </p:txBody>
      </p:sp>
      <p:sp>
        <p:nvSpPr>
          <p:cNvPr id="94" name="Google Shape;94;p17"/>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5</a:t>
            </a:fld>
            <a:endParaRPr sz="1200"/>
          </a:p>
        </p:txBody>
      </p:sp>
      <p:sp>
        <p:nvSpPr>
          <p:cNvPr id="95" name="Google Shape;95;p17"/>
          <p:cNvSpPr txBox="1">
            <a:spLocks noGrp="1"/>
          </p:cNvSpPr>
          <p:nvPr>
            <p:ph type="body" idx="1"/>
          </p:nvPr>
        </p:nvSpPr>
        <p:spPr>
          <a:xfrm>
            <a:off x="311700" y="1132825"/>
            <a:ext cx="8760600" cy="696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i="1">
                <a:solidFill>
                  <a:srgbClr val="355E3B"/>
                </a:solidFill>
              </a:rPr>
              <a:t>After an interview, social scientists often have to make sense of the data, they can do this by categorizing the responses.</a:t>
            </a:r>
            <a:endParaRPr sz="1700" i="1">
              <a:solidFill>
                <a:srgbClr val="355E3B"/>
              </a:solidFill>
            </a:endParaRPr>
          </a:p>
        </p:txBody>
      </p:sp>
      <p:sp>
        <p:nvSpPr>
          <p:cNvPr id="96" name="Google Shape;96;p17"/>
          <p:cNvSpPr txBox="1">
            <a:spLocks noGrp="1"/>
          </p:cNvSpPr>
          <p:nvPr>
            <p:ph type="body" idx="1"/>
          </p:nvPr>
        </p:nvSpPr>
        <p:spPr>
          <a:xfrm>
            <a:off x="311700" y="1875750"/>
            <a:ext cx="8760600" cy="249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With your team, you will categorize your interview response into three different categories.</a:t>
            </a:r>
            <a:endParaRPr sz="1700">
              <a:solidFill>
                <a:schemeClr val="dk1"/>
              </a:solidFill>
            </a:endParaRPr>
          </a:p>
          <a:p>
            <a:pPr marL="457200" lvl="0" indent="-336550" algn="l" rtl="0">
              <a:spcBef>
                <a:spcPts val="1200"/>
              </a:spcBef>
              <a:spcAft>
                <a:spcPts val="0"/>
              </a:spcAft>
              <a:buClr>
                <a:srgbClr val="541900"/>
              </a:buClr>
              <a:buSzPts val="1700"/>
              <a:buAutoNum type="arabicPeriod"/>
            </a:pPr>
            <a:r>
              <a:rPr lang="en" sz="1700">
                <a:solidFill>
                  <a:schemeClr val="dk1"/>
                </a:solidFill>
              </a:rPr>
              <a:t>Past experiences with the ocean</a:t>
            </a:r>
            <a:endParaRPr sz="1700">
              <a:solidFill>
                <a:schemeClr val="dk1"/>
              </a:solidFill>
            </a:endParaRPr>
          </a:p>
          <a:p>
            <a:pPr marL="457200" lvl="0" indent="-336550" algn="l" rtl="0">
              <a:spcBef>
                <a:spcPts val="0"/>
              </a:spcBef>
              <a:spcAft>
                <a:spcPts val="0"/>
              </a:spcAft>
              <a:buClr>
                <a:srgbClr val="541900"/>
              </a:buClr>
              <a:buSzPts val="1700"/>
              <a:buAutoNum type="arabicPeriod"/>
            </a:pPr>
            <a:r>
              <a:rPr lang="en" sz="1700">
                <a:solidFill>
                  <a:schemeClr val="dk1"/>
                </a:solidFill>
              </a:rPr>
              <a:t>Reasons the interviewee cares about the ocean</a:t>
            </a:r>
            <a:endParaRPr sz="1700">
              <a:solidFill>
                <a:schemeClr val="dk1"/>
              </a:solidFill>
            </a:endParaRPr>
          </a:p>
          <a:p>
            <a:pPr marL="457200" lvl="0" indent="-336550" algn="l" rtl="0">
              <a:spcBef>
                <a:spcPts val="0"/>
              </a:spcBef>
              <a:spcAft>
                <a:spcPts val="0"/>
              </a:spcAft>
              <a:buClr>
                <a:srgbClr val="541900"/>
              </a:buClr>
              <a:buSzPts val="1700"/>
              <a:buAutoNum type="arabicPeriod"/>
            </a:pPr>
            <a:r>
              <a:rPr lang="en" sz="1700">
                <a:solidFill>
                  <a:schemeClr val="dk1"/>
                </a:solidFill>
              </a:rPr>
              <a:t>Ideas about how the ocean is changing</a:t>
            </a:r>
            <a:endParaRPr sz="1700">
              <a:solidFill>
                <a:schemeClr val="dk1"/>
              </a:solidFill>
            </a:endParaRPr>
          </a:p>
          <a:p>
            <a:pPr marL="0" lvl="0" indent="0" algn="l" rtl="0">
              <a:spcBef>
                <a:spcPts val="1200"/>
              </a:spcBef>
              <a:spcAft>
                <a:spcPts val="1200"/>
              </a:spcAft>
              <a:buNone/>
            </a:pPr>
            <a:r>
              <a:rPr lang="en" sz="1700">
                <a:solidFill>
                  <a:schemeClr val="dk1"/>
                </a:solidFill>
              </a:rPr>
              <a:t>Before you categorize your responses with your team, let’s practice with a few examples on the following slides.</a:t>
            </a:r>
            <a:endParaRPr sz="1700">
              <a:solidFill>
                <a:schemeClr val="dk1"/>
              </a:solidFill>
            </a:endParaRPr>
          </a:p>
        </p:txBody>
      </p:sp>
      <p:sp>
        <p:nvSpPr>
          <p:cNvPr id="97" name="Google Shape;97;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11700" y="445025"/>
            <a:ext cx="4343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Example #1</a:t>
            </a:r>
            <a:endParaRPr sz="4000" b="1">
              <a:solidFill>
                <a:srgbClr val="541900"/>
              </a:solidFill>
            </a:endParaRPr>
          </a:p>
        </p:txBody>
      </p:sp>
      <p:sp>
        <p:nvSpPr>
          <p:cNvPr id="103" name="Google Shape;103;p18"/>
          <p:cNvSpPr txBox="1"/>
          <p:nvPr/>
        </p:nvSpPr>
        <p:spPr>
          <a:xfrm>
            <a:off x="4655100" y="1141500"/>
            <a:ext cx="4293600" cy="2860500"/>
          </a:xfrm>
          <a:prstGeom prst="rect">
            <a:avLst/>
          </a:prstGeom>
          <a:solidFill>
            <a:srgbClr val="E9EBE8"/>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9FA617"/>
                </a:solidFill>
              </a:rPr>
              <a:t>Interview Response Categories</a:t>
            </a:r>
            <a:endParaRPr sz="2000" b="1">
              <a:solidFill>
                <a:srgbClr val="9FA6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Past experiences with the ocean.</a:t>
            </a:r>
            <a:endParaRPr sz="2000">
              <a:solidFill>
                <a:srgbClr val="133817"/>
              </a:solidFill>
            </a:endParaRPr>
          </a:p>
          <a:p>
            <a:pPr marL="457200" lvl="0" indent="0" algn="l" rtl="0">
              <a:spcBef>
                <a:spcPts val="0"/>
              </a:spcBef>
              <a:spcAft>
                <a:spcPts val="0"/>
              </a:spcAft>
              <a:buNone/>
            </a:pPr>
            <a:endParaRPr sz="2000">
              <a:solidFill>
                <a:srgbClr val="1338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Reasons the interviewee cares about the ocean.</a:t>
            </a:r>
            <a:endParaRPr sz="2000">
              <a:solidFill>
                <a:srgbClr val="133817"/>
              </a:solidFill>
            </a:endParaRPr>
          </a:p>
          <a:p>
            <a:pPr marL="457200" lvl="0" indent="0" algn="l" rtl="0">
              <a:spcBef>
                <a:spcPts val="0"/>
              </a:spcBef>
              <a:spcAft>
                <a:spcPts val="0"/>
              </a:spcAft>
              <a:buNone/>
            </a:pPr>
            <a:r>
              <a:rPr lang="en" sz="2000">
                <a:solidFill>
                  <a:srgbClr val="133817"/>
                </a:solidFill>
              </a:rPr>
              <a:t> </a:t>
            </a:r>
            <a:endParaRPr sz="2000">
              <a:solidFill>
                <a:srgbClr val="1338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Ideas about how the ocean is changing. </a:t>
            </a:r>
            <a:endParaRPr sz="2000">
              <a:solidFill>
                <a:srgbClr val="133817"/>
              </a:solidFill>
            </a:endParaRPr>
          </a:p>
          <a:p>
            <a:pPr marL="0" lvl="0" indent="0" algn="l" rtl="0">
              <a:spcBef>
                <a:spcPts val="0"/>
              </a:spcBef>
              <a:spcAft>
                <a:spcPts val="0"/>
              </a:spcAft>
              <a:buNone/>
            </a:pPr>
            <a:endParaRPr sz="2000">
              <a:solidFill>
                <a:srgbClr val="133817"/>
              </a:solidFill>
            </a:endParaRPr>
          </a:p>
        </p:txBody>
      </p:sp>
      <p:sp>
        <p:nvSpPr>
          <p:cNvPr id="104" name="Google Shape;104;p18"/>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6</a:t>
            </a:fld>
            <a:endParaRPr sz="1200"/>
          </a:p>
          <a:p>
            <a:pPr marL="0" lvl="0" indent="0" algn="l" rtl="0">
              <a:lnSpc>
                <a:spcPct val="115000"/>
              </a:lnSpc>
              <a:spcBef>
                <a:spcPts val="1200"/>
              </a:spcBef>
              <a:spcAft>
                <a:spcPts val="1200"/>
              </a:spcAft>
              <a:buNone/>
            </a:pPr>
            <a:endParaRPr sz="1200"/>
          </a:p>
        </p:txBody>
      </p:sp>
      <p:sp>
        <p:nvSpPr>
          <p:cNvPr id="105" name="Google Shape;105;p18"/>
          <p:cNvSpPr txBox="1">
            <a:spLocks noGrp="1"/>
          </p:cNvSpPr>
          <p:nvPr>
            <p:ph type="title"/>
          </p:nvPr>
        </p:nvSpPr>
        <p:spPr>
          <a:xfrm>
            <a:off x="311700" y="1239700"/>
            <a:ext cx="4343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355E3B"/>
                </a:solidFill>
              </a:rPr>
              <a:t>Which theme(s) is the following quote an example of?</a:t>
            </a:r>
            <a:endParaRPr sz="2000" b="1">
              <a:solidFill>
                <a:srgbClr val="355E3B"/>
              </a:solidFill>
            </a:endParaRPr>
          </a:p>
          <a:p>
            <a:pPr marL="0" lvl="0" indent="0" algn="l" rtl="0">
              <a:spcBef>
                <a:spcPts val="0"/>
              </a:spcBef>
              <a:spcAft>
                <a:spcPts val="0"/>
              </a:spcAft>
              <a:buNone/>
            </a:pPr>
            <a:endParaRPr sz="2000" b="1">
              <a:solidFill>
                <a:srgbClr val="541900"/>
              </a:solidFill>
            </a:endParaRPr>
          </a:p>
          <a:p>
            <a:pPr marL="0" lvl="0" indent="0" algn="l" rtl="0">
              <a:lnSpc>
                <a:spcPct val="115000"/>
              </a:lnSpc>
              <a:spcBef>
                <a:spcPts val="0"/>
              </a:spcBef>
              <a:spcAft>
                <a:spcPts val="0"/>
              </a:spcAft>
              <a:buClr>
                <a:schemeClr val="dk1"/>
              </a:buClr>
              <a:buSzPts val="1100"/>
              <a:buFont typeface="Arial"/>
              <a:buNone/>
            </a:pPr>
            <a:r>
              <a:rPr lang="en" sz="2000" b="1">
                <a:solidFill>
                  <a:srgbClr val="9FA617"/>
                </a:solidFill>
              </a:rPr>
              <a:t>Interview Quote: </a:t>
            </a:r>
            <a:r>
              <a:rPr lang="en" sz="2000"/>
              <a:t>“I grew up visiting the state parks and going to tidepools with my siblings.”</a:t>
            </a:r>
            <a:endParaRPr sz="2000"/>
          </a:p>
          <a:p>
            <a:pPr marL="0" lvl="0" indent="0" algn="l" rtl="0">
              <a:spcBef>
                <a:spcPts val="1200"/>
              </a:spcBef>
              <a:spcAft>
                <a:spcPts val="0"/>
              </a:spcAft>
              <a:buNone/>
            </a:pPr>
            <a:endParaRPr sz="2000" b="1">
              <a:solidFill>
                <a:srgbClr val="541900"/>
              </a:solidFill>
            </a:endParaRPr>
          </a:p>
        </p:txBody>
      </p:sp>
      <p:cxnSp>
        <p:nvCxnSpPr>
          <p:cNvPr id="106" name="Google Shape;106;p18"/>
          <p:cNvCxnSpPr/>
          <p:nvPr/>
        </p:nvCxnSpPr>
        <p:spPr>
          <a:xfrm>
            <a:off x="4542975" y="1141500"/>
            <a:ext cx="0" cy="2860500"/>
          </a:xfrm>
          <a:prstGeom prst="straightConnector1">
            <a:avLst/>
          </a:prstGeom>
          <a:noFill/>
          <a:ln w="9525" cap="flat" cmpd="sng">
            <a:solidFill>
              <a:srgbClr val="595959"/>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0"/>
        <p:cNvGrpSpPr/>
        <p:nvPr/>
      </p:nvGrpSpPr>
      <p:grpSpPr>
        <a:xfrm>
          <a:off x="0" y="0"/>
          <a:ext cx="0" cy="0"/>
          <a:chOff x="0" y="0"/>
          <a:chExt cx="0" cy="0"/>
        </a:xfrm>
      </p:grpSpPr>
      <p:sp>
        <p:nvSpPr>
          <p:cNvPr id="111" name="Google Shape;111;p19"/>
          <p:cNvSpPr txBox="1">
            <a:spLocks noGrp="1"/>
          </p:cNvSpPr>
          <p:nvPr>
            <p:ph type="title"/>
          </p:nvPr>
        </p:nvSpPr>
        <p:spPr>
          <a:xfrm>
            <a:off x="311700" y="445025"/>
            <a:ext cx="4343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Example #2</a:t>
            </a:r>
            <a:endParaRPr sz="4000" b="1">
              <a:solidFill>
                <a:srgbClr val="541900"/>
              </a:solidFill>
            </a:endParaRPr>
          </a:p>
        </p:txBody>
      </p:sp>
      <p:sp>
        <p:nvSpPr>
          <p:cNvPr id="112" name="Google Shape;112;p19"/>
          <p:cNvSpPr txBox="1"/>
          <p:nvPr/>
        </p:nvSpPr>
        <p:spPr>
          <a:xfrm>
            <a:off x="4655100" y="1141500"/>
            <a:ext cx="4293600" cy="2860500"/>
          </a:xfrm>
          <a:prstGeom prst="rect">
            <a:avLst/>
          </a:prstGeom>
          <a:solidFill>
            <a:srgbClr val="E9EBE8"/>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9FA617"/>
                </a:solidFill>
              </a:rPr>
              <a:t>Interview Response Categories</a:t>
            </a:r>
            <a:endParaRPr sz="2000" b="1">
              <a:solidFill>
                <a:srgbClr val="9FA6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Past experiences with the ocean.</a:t>
            </a:r>
            <a:endParaRPr sz="2000">
              <a:solidFill>
                <a:srgbClr val="133817"/>
              </a:solidFill>
            </a:endParaRPr>
          </a:p>
          <a:p>
            <a:pPr marL="457200" lvl="0" indent="0" algn="l" rtl="0">
              <a:spcBef>
                <a:spcPts val="0"/>
              </a:spcBef>
              <a:spcAft>
                <a:spcPts val="0"/>
              </a:spcAft>
              <a:buNone/>
            </a:pPr>
            <a:endParaRPr sz="2000">
              <a:solidFill>
                <a:srgbClr val="1338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Reasons the interviewee cares about the ocean.</a:t>
            </a:r>
            <a:endParaRPr sz="2000">
              <a:solidFill>
                <a:srgbClr val="133817"/>
              </a:solidFill>
            </a:endParaRPr>
          </a:p>
          <a:p>
            <a:pPr marL="457200" lvl="0" indent="0" algn="l" rtl="0">
              <a:spcBef>
                <a:spcPts val="0"/>
              </a:spcBef>
              <a:spcAft>
                <a:spcPts val="0"/>
              </a:spcAft>
              <a:buNone/>
            </a:pPr>
            <a:r>
              <a:rPr lang="en" sz="2000">
                <a:solidFill>
                  <a:srgbClr val="133817"/>
                </a:solidFill>
              </a:rPr>
              <a:t> </a:t>
            </a:r>
            <a:endParaRPr sz="2000">
              <a:solidFill>
                <a:srgbClr val="1338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Ideas about how the ocean is changing. </a:t>
            </a:r>
            <a:endParaRPr sz="2000">
              <a:solidFill>
                <a:srgbClr val="133817"/>
              </a:solidFill>
            </a:endParaRPr>
          </a:p>
          <a:p>
            <a:pPr marL="0" lvl="0" indent="0" algn="l" rtl="0">
              <a:spcBef>
                <a:spcPts val="0"/>
              </a:spcBef>
              <a:spcAft>
                <a:spcPts val="0"/>
              </a:spcAft>
              <a:buNone/>
            </a:pPr>
            <a:endParaRPr sz="2000">
              <a:solidFill>
                <a:srgbClr val="133817"/>
              </a:solidFill>
            </a:endParaRPr>
          </a:p>
        </p:txBody>
      </p:sp>
      <p:sp>
        <p:nvSpPr>
          <p:cNvPr id="113" name="Google Shape;113;p19"/>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7</a:t>
            </a:fld>
            <a:endParaRPr sz="1200"/>
          </a:p>
          <a:p>
            <a:pPr marL="0" lvl="0" indent="0" algn="l" rtl="0">
              <a:lnSpc>
                <a:spcPct val="115000"/>
              </a:lnSpc>
              <a:spcBef>
                <a:spcPts val="1200"/>
              </a:spcBef>
              <a:spcAft>
                <a:spcPts val="1200"/>
              </a:spcAft>
              <a:buNone/>
            </a:pPr>
            <a:endParaRPr sz="1200"/>
          </a:p>
        </p:txBody>
      </p:sp>
      <p:sp>
        <p:nvSpPr>
          <p:cNvPr id="114" name="Google Shape;114;p19"/>
          <p:cNvSpPr txBox="1">
            <a:spLocks noGrp="1"/>
          </p:cNvSpPr>
          <p:nvPr>
            <p:ph type="title"/>
          </p:nvPr>
        </p:nvSpPr>
        <p:spPr>
          <a:xfrm>
            <a:off x="311700" y="1239700"/>
            <a:ext cx="4343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355E3B"/>
                </a:solidFill>
              </a:rPr>
              <a:t>Which theme(s) is the following quote an example of?</a:t>
            </a:r>
            <a:endParaRPr sz="2000" b="1">
              <a:solidFill>
                <a:srgbClr val="355E3B"/>
              </a:solidFill>
            </a:endParaRPr>
          </a:p>
          <a:p>
            <a:pPr marL="0" lvl="0" indent="0" algn="l" rtl="0">
              <a:spcBef>
                <a:spcPts val="0"/>
              </a:spcBef>
              <a:spcAft>
                <a:spcPts val="0"/>
              </a:spcAft>
              <a:buNone/>
            </a:pPr>
            <a:endParaRPr sz="2000" b="1">
              <a:solidFill>
                <a:srgbClr val="541900"/>
              </a:solidFill>
            </a:endParaRPr>
          </a:p>
          <a:p>
            <a:pPr marL="0" lvl="0" indent="0" algn="l" rtl="0">
              <a:lnSpc>
                <a:spcPct val="115000"/>
              </a:lnSpc>
              <a:spcBef>
                <a:spcPts val="0"/>
              </a:spcBef>
              <a:spcAft>
                <a:spcPts val="0"/>
              </a:spcAft>
              <a:buNone/>
            </a:pPr>
            <a:r>
              <a:rPr lang="en" sz="2000" b="1">
                <a:solidFill>
                  <a:srgbClr val="9FA617"/>
                </a:solidFill>
              </a:rPr>
              <a:t>Interview Quote: </a:t>
            </a:r>
            <a:r>
              <a:rPr lang="en" sz="2000"/>
              <a:t>“We used to not have as many intense storms.”</a:t>
            </a:r>
            <a:endParaRPr sz="2000"/>
          </a:p>
          <a:p>
            <a:pPr marL="0" lvl="0" indent="0" algn="l" rtl="0">
              <a:spcBef>
                <a:spcPts val="1200"/>
              </a:spcBef>
              <a:spcAft>
                <a:spcPts val="0"/>
              </a:spcAft>
              <a:buNone/>
            </a:pPr>
            <a:endParaRPr sz="2000" b="1">
              <a:solidFill>
                <a:srgbClr val="541900"/>
              </a:solidFill>
            </a:endParaRPr>
          </a:p>
        </p:txBody>
      </p:sp>
      <p:cxnSp>
        <p:nvCxnSpPr>
          <p:cNvPr id="115" name="Google Shape;115;p19"/>
          <p:cNvCxnSpPr/>
          <p:nvPr/>
        </p:nvCxnSpPr>
        <p:spPr>
          <a:xfrm>
            <a:off x="4542975" y="1141500"/>
            <a:ext cx="0" cy="2860500"/>
          </a:xfrm>
          <a:prstGeom prst="straightConnector1">
            <a:avLst/>
          </a:prstGeom>
          <a:noFill/>
          <a:ln w="9525" cap="flat" cmpd="sng">
            <a:solidFill>
              <a:srgbClr val="595959"/>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311700" y="445025"/>
            <a:ext cx="4343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Example #3</a:t>
            </a:r>
            <a:endParaRPr sz="4000" b="1">
              <a:solidFill>
                <a:srgbClr val="541900"/>
              </a:solidFill>
            </a:endParaRPr>
          </a:p>
        </p:txBody>
      </p:sp>
      <p:sp>
        <p:nvSpPr>
          <p:cNvPr id="121" name="Google Shape;121;p20"/>
          <p:cNvSpPr txBox="1"/>
          <p:nvPr/>
        </p:nvSpPr>
        <p:spPr>
          <a:xfrm>
            <a:off x="4655100" y="1141500"/>
            <a:ext cx="4293600" cy="2860500"/>
          </a:xfrm>
          <a:prstGeom prst="rect">
            <a:avLst/>
          </a:prstGeom>
          <a:solidFill>
            <a:srgbClr val="E9EBE8"/>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9FA617"/>
                </a:solidFill>
              </a:rPr>
              <a:t>Interview Response Categories</a:t>
            </a:r>
            <a:endParaRPr sz="2000">
              <a:solidFill>
                <a:srgbClr val="1338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Past experiences with the ocean.</a:t>
            </a:r>
            <a:endParaRPr sz="2000">
              <a:solidFill>
                <a:srgbClr val="133817"/>
              </a:solidFill>
            </a:endParaRPr>
          </a:p>
          <a:p>
            <a:pPr marL="457200" lvl="0" indent="0" algn="l" rtl="0">
              <a:spcBef>
                <a:spcPts val="0"/>
              </a:spcBef>
              <a:spcAft>
                <a:spcPts val="0"/>
              </a:spcAft>
              <a:buNone/>
            </a:pPr>
            <a:endParaRPr sz="2000">
              <a:solidFill>
                <a:srgbClr val="1338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Reasons the interviewee cares about the ocean.</a:t>
            </a:r>
            <a:endParaRPr sz="2000">
              <a:solidFill>
                <a:srgbClr val="133817"/>
              </a:solidFill>
            </a:endParaRPr>
          </a:p>
          <a:p>
            <a:pPr marL="457200" lvl="0" indent="0" algn="l" rtl="0">
              <a:spcBef>
                <a:spcPts val="0"/>
              </a:spcBef>
              <a:spcAft>
                <a:spcPts val="0"/>
              </a:spcAft>
              <a:buNone/>
            </a:pPr>
            <a:r>
              <a:rPr lang="en" sz="2000">
                <a:solidFill>
                  <a:srgbClr val="133817"/>
                </a:solidFill>
              </a:rPr>
              <a:t> </a:t>
            </a:r>
            <a:endParaRPr sz="2000">
              <a:solidFill>
                <a:srgbClr val="133817"/>
              </a:solidFill>
            </a:endParaRPr>
          </a:p>
          <a:p>
            <a:pPr marL="457200" lvl="0" indent="-355600" algn="l" rtl="0">
              <a:spcBef>
                <a:spcPts val="0"/>
              </a:spcBef>
              <a:spcAft>
                <a:spcPts val="0"/>
              </a:spcAft>
              <a:buClr>
                <a:srgbClr val="541900"/>
              </a:buClr>
              <a:buSzPts val="2000"/>
              <a:buAutoNum type="arabicPeriod"/>
            </a:pPr>
            <a:r>
              <a:rPr lang="en" sz="2000">
                <a:solidFill>
                  <a:srgbClr val="133817"/>
                </a:solidFill>
              </a:rPr>
              <a:t>Ideas about how the ocean is changing. </a:t>
            </a:r>
            <a:endParaRPr sz="2000">
              <a:solidFill>
                <a:srgbClr val="133817"/>
              </a:solidFill>
            </a:endParaRPr>
          </a:p>
          <a:p>
            <a:pPr marL="0" lvl="0" indent="0" algn="l" rtl="0">
              <a:spcBef>
                <a:spcPts val="0"/>
              </a:spcBef>
              <a:spcAft>
                <a:spcPts val="0"/>
              </a:spcAft>
              <a:buNone/>
            </a:pPr>
            <a:endParaRPr sz="2000">
              <a:solidFill>
                <a:srgbClr val="133817"/>
              </a:solidFill>
            </a:endParaRPr>
          </a:p>
        </p:txBody>
      </p:sp>
      <p:sp>
        <p:nvSpPr>
          <p:cNvPr id="122" name="Google Shape;122;p20"/>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8</a:t>
            </a:fld>
            <a:endParaRPr sz="1200"/>
          </a:p>
          <a:p>
            <a:pPr marL="0" lvl="0" indent="0" algn="l" rtl="0">
              <a:lnSpc>
                <a:spcPct val="115000"/>
              </a:lnSpc>
              <a:spcBef>
                <a:spcPts val="1200"/>
              </a:spcBef>
              <a:spcAft>
                <a:spcPts val="1200"/>
              </a:spcAft>
              <a:buNone/>
            </a:pPr>
            <a:endParaRPr sz="1200"/>
          </a:p>
        </p:txBody>
      </p:sp>
      <p:sp>
        <p:nvSpPr>
          <p:cNvPr id="123" name="Google Shape;123;p20"/>
          <p:cNvSpPr txBox="1">
            <a:spLocks noGrp="1"/>
          </p:cNvSpPr>
          <p:nvPr>
            <p:ph type="title"/>
          </p:nvPr>
        </p:nvSpPr>
        <p:spPr>
          <a:xfrm>
            <a:off x="311700" y="1239700"/>
            <a:ext cx="4343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355E3B"/>
                </a:solidFill>
              </a:rPr>
              <a:t>Which theme(s) is the following quote an example of?</a:t>
            </a:r>
            <a:endParaRPr sz="2000" b="1">
              <a:solidFill>
                <a:srgbClr val="355E3B"/>
              </a:solidFill>
            </a:endParaRPr>
          </a:p>
          <a:p>
            <a:pPr marL="0" lvl="0" indent="0" algn="l" rtl="0">
              <a:spcBef>
                <a:spcPts val="0"/>
              </a:spcBef>
              <a:spcAft>
                <a:spcPts val="0"/>
              </a:spcAft>
              <a:buNone/>
            </a:pPr>
            <a:endParaRPr sz="2000" b="1">
              <a:solidFill>
                <a:srgbClr val="541900"/>
              </a:solidFill>
            </a:endParaRPr>
          </a:p>
          <a:p>
            <a:pPr marL="0" lvl="0" indent="0" algn="l" rtl="0">
              <a:lnSpc>
                <a:spcPct val="115000"/>
              </a:lnSpc>
              <a:spcBef>
                <a:spcPts val="0"/>
              </a:spcBef>
              <a:spcAft>
                <a:spcPts val="0"/>
              </a:spcAft>
              <a:buNone/>
            </a:pPr>
            <a:r>
              <a:rPr lang="en" sz="2000" b="1">
                <a:solidFill>
                  <a:srgbClr val="9FA617"/>
                </a:solidFill>
              </a:rPr>
              <a:t>Interview Quote: </a:t>
            </a:r>
            <a:r>
              <a:rPr lang="en" sz="2000"/>
              <a:t>“Food is the first thing that I think of. I love seafood, particularly octopus salad.”</a:t>
            </a:r>
            <a:endParaRPr sz="2000"/>
          </a:p>
          <a:p>
            <a:pPr marL="0" lvl="0" indent="0" algn="l" rtl="0">
              <a:spcBef>
                <a:spcPts val="1200"/>
              </a:spcBef>
              <a:spcAft>
                <a:spcPts val="0"/>
              </a:spcAft>
              <a:buNone/>
            </a:pPr>
            <a:endParaRPr sz="2000" b="1">
              <a:solidFill>
                <a:srgbClr val="541900"/>
              </a:solidFill>
            </a:endParaRPr>
          </a:p>
        </p:txBody>
      </p:sp>
      <p:cxnSp>
        <p:nvCxnSpPr>
          <p:cNvPr id="124" name="Google Shape;124;p20"/>
          <p:cNvCxnSpPr/>
          <p:nvPr/>
        </p:nvCxnSpPr>
        <p:spPr>
          <a:xfrm>
            <a:off x="4542975" y="1141500"/>
            <a:ext cx="0" cy="2860500"/>
          </a:xfrm>
          <a:prstGeom prst="straightConnector1">
            <a:avLst/>
          </a:prstGeom>
          <a:noFill/>
          <a:ln w="9525" cap="flat" cmpd="sng">
            <a:solidFill>
              <a:srgbClr val="595959"/>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318189" y="445025"/>
            <a:ext cx="5189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Now it is Your Turn!</a:t>
            </a:r>
            <a:endParaRPr sz="3500" b="1">
              <a:solidFill>
                <a:srgbClr val="541900"/>
              </a:solidFill>
            </a:endParaRPr>
          </a:p>
        </p:txBody>
      </p:sp>
      <p:sp>
        <p:nvSpPr>
          <p:cNvPr id="130" name="Google Shape;130;p21"/>
          <p:cNvSpPr txBox="1"/>
          <p:nvPr/>
        </p:nvSpPr>
        <p:spPr>
          <a:xfrm>
            <a:off x="278400" y="2193100"/>
            <a:ext cx="5130300" cy="1999500"/>
          </a:xfrm>
          <a:prstGeom prst="rect">
            <a:avLst/>
          </a:prstGeom>
          <a:solidFill>
            <a:srgbClr val="E9EBE8"/>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9FA617"/>
                </a:solidFill>
              </a:rPr>
              <a:t>Interview Response Categories</a:t>
            </a:r>
            <a:endParaRPr sz="1700">
              <a:solidFill>
                <a:srgbClr val="133817"/>
              </a:solidFill>
            </a:endParaRPr>
          </a:p>
          <a:p>
            <a:pPr marL="457200" lvl="0" indent="-336550" algn="l" rtl="0">
              <a:spcBef>
                <a:spcPts val="0"/>
              </a:spcBef>
              <a:spcAft>
                <a:spcPts val="0"/>
              </a:spcAft>
              <a:buClr>
                <a:srgbClr val="541900"/>
              </a:buClr>
              <a:buSzPts val="1700"/>
              <a:buAutoNum type="arabicPeriod"/>
            </a:pPr>
            <a:r>
              <a:rPr lang="en" sz="1700">
                <a:solidFill>
                  <a:srgbClr val="133817"/>
                </a:solidFill>
              </a:rPr>
              <a:t>Past experiences with the ocean.</a:t>
            </a:r>
            <a:endParaRPr sz="1700">
              <a:solidFill>
                <a:srgbClr val="133817"/>
              </a:solidFill>
            </a:endParaRPr>
          </a:p>
          <a:p>
            <a:pPr marL="457200" lvl="0" indent="0" algn="l" rtl="0">
              <a:spcBef>
                <a:spcPts val="0"/>
              </a:spcBef>
              <a:spcAft>
                <a:spcPts val="0"/>
              </a:spcAft>
              <a:buNone/>
            </a:pPr>
            <a:endParaRPr sz="1700">
              <a:solidFill>
                <a:srgbClr val="133817"/>
              </a:solidFill>
            </a:endParaRPr>
          </a:p>
          <a:p>
            <a:pPr marL="457200" lvl="0" indent="-336550" algn="l" rtl="0">
              <a:spcBef>
                <a:spcPts val="0"/>
              </a:spcBef>
              <a:spcAft>
                <a:spcPts val="0"/>
              </a:spcAft>
              <a:buClr>
                <a:srgbClr val="541900"/>
              </a:buClr>
              <a:buSzPts val="1700"/>
              <a:buAutoNum type="arabicPeriod"/>
            </a:pPr>
            <a:r>
              <a:rPr lang="en" sz="1700">
                <a:solidFill>
                  <a:srgbClr val="133817"/>
                </a:solidFill>
              </a:rPr>
              <a:t>Reasons the interviewee cares about the ocean.</a:t>
            </a:r>
            <a:endParaRPr sz="1700">
              <a:solidFill>
                <a:srgbClr val="133817"/>
              </a:solidFill>
            </a:endParaRPr>
          </a:p>
          <a:p>
            <a:pPr marL="457200" lvl="0" indent="0" algn="l" rtl="0">
              <a:spcBef>
                <a:spcPts val="0"/>
              </a:spcBef>
              <a:spcAft>
                <a:spcPts val="0"/>
              </a:spcAft>
              <a:buNone/>
            </a:pPr>
            <a:r>
              <a:rPr lang="en" sz="1700">
                <a:solidFill>
                  <a:srgbClr val="133817"/>
                </a:solidFill>
              </a:rPr>
              <a:t> </a:t>
            </a:r>
            <a:endParaRPr sz="1700">
              <a:solidFill>
                <a:srgbClr val="133817"/>
              </a:solidFill>
            </a:endParaRPr>
          </a:p>
          <a:p>
            <a:pPr marL="457200" lvl="0" indent="-336550" algn="l" rtl="0">
              <a:spcBef>
                <a:spcPts val="0"/>
              </a:spcBef>
              <a:spcAft>
                <a:spcPts val="0"/>
              </a:spcAft>
              <a:buClr>
                <a:srgbClr val="541900"/>
              </a:buClr>
              <a:buSzPts val="1700"/>
              <a:buAutoNum type="arabicPeriod"/>
            </a:pPr>
            <a:r>
              <a:rPr lang="en" sz="1700">
                <a:solidFill>
                  <a:srgbClr val="133817"/>
                </a:solidFill>
              </a:rPr>
              <a:t>Ideas about how the ocean is changing. </a:t>
            </a:r>
            <a:endParaRPr sz="1700">
              <a:solidFill>
                <a:srgbClr val="133817"/>
              </a:solidFill>
            </a:endParaRPr>
          </a:p>
          <a:p>
            <a:pPr marL="0" lvl="0" indent="0" algn="l" rtl="0">
              <a:spcBef>
                <a:spcPts val="0"/>
              </a:spcBef>
              <a:spcAft>
                <a:spcPts val="0"/>
              </a:spcAft>
              <a:buNone/>
            </a:pPr>
            <a:endParaRPr sz="1700">
              <a:solidFill>
                <a:srgbClr val="133817"/>
              </a:solidFill>
            </a:endParaRPr>
          </a:p>
        </p:txBody>
      </p:sp>
      <p:sp>
        <p:nvSpPr>
          <p:cNvPr id="131" name="Google Shape;131;p21"/>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9</a:t>
            </a:fld>
            <a:endParaRPr sz="1200"/>
          </a:p>
          <a:p>
            <a:pPr marL="0" lvl="0" indent="0" algn="l" rtl="0">
              <a:lnSpc>
                <a:spcPct val="115000"/>
              </a:lnSpc>
              <a:spcBef>
                <a:spcPts val="1200"/>
              </a:spcBef>
              <a:spcAft>
                <a:spcPts val="1200"/>
              </a:spcAft>
              <a:buNone/>
            </a:pPr>
            <a:endParaRPr sz="1200"/>
          </a:p>
        </p:txBody>
      </p:sp>
      <p:sp>
        <p:nvSpPr>
          <p:cNvPr id="132" name="Google Shape;132;p21"/>
          <p:cNvSpPr txBox="1">
            <a:spLocks noGrp="1"/>
          </p:cNvSpPr>
          <p:nvPr>
            <p:ph type="title"/>
          </p:nvPr>
        </p:nvSpPr>
        <p:spPr>
          <a:xfrm>
            <a:off x="318200" y="1239700"/>
            <a:ext cx="5189700" cy="95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rgbClr val="355E3B"/>
                </a:solidFill>
              </a:rPr>
              <a:t>With your research team, review your interview notes and </a:t>
            </a:r>
            <a:r>
              <a:rPr lang="en" sz="1700" b="1">
                <a:solidFill>
                  <a:srgbClr val="9FA617"/>
                </a:solidFill>
              </a:rPr>
              <a:t>highlight </a:t>
            </a:r>
            <a:r>
              <a:rPr lang="en" sz="1700">
                <a:solidFill>
                  <a:srgbClr val="355E3B"/>
                </a:solidFill>
              </a:rPr>
              <a:t>any responses that fit under the three interview themes.</a:t>
            </a:r>
            <a:endParaRPr sz="1700">
              <a:solidFill>
                <a:srgbClr val="541900"/>
              </a:solidFill>
            </a:endParaRPr>
          </a:p>
        </p:txBody>
      </p:sp>
      <p:pic>
        <p:nvPicPr>
          <p:cNvPr id="133" name="Google Shape;133;p21"/>
          <p:cNvPicPr preferRelativeResize="0"/>
          <p:nvPr/>
        </p:nvPicPr>
        <p:blipFill>
          <a:blip r:embed="rId3">
            <a:alphaModFix/>
          </a:blip>
          <a:stretch>
            <a:fillRect/>
          </a:stretch>
        </p:blipFill>
        <p:spPr>
          <a:xfrm>
            <a:off x="5944099" y="0"/>
            <a:ext cx="2927700" cy="4391551"/>
          </a:xfrm>
          <a:prstGeom prst="rect">
            <a:avLst/>
          </a:prstGeom>
          <a:noFill/>
          <a:ln>
            <a:noFill/>
          </a:ln>
        </p:spPr>
      </p:pic>
      <p:sp>
        <p:nvSpPr>
          <p:cNvPr id="134" name="Google Shape;134;p21"/>
          <p:cNvSpPr txBox="1"/>
          <p:nvPr/>
        </p:nvSpPr>
        <p:spPr>
          <a:xfrm>
            <a:off x="5944100" y="4391550"/>
            <a:ext cx="2927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2"/>
                </a:solidFill>
              </a:rPr>
              <a:t>Image created with ChatGPT</a:t>
            </a:r>
            <a:br>
              <a:rPr lang="en" sz="1000">
                <a:solidFill>
                  <a:schemeClr val="dk2"/>
                </a:solidFill>
              </a:rPr>
            </a:br>
            <a:r>
              <a:rPr lang="en" sz="1000" i="1">
                <a:solidFill>
                  <a:schemeClr val="dk2"/>
                </a:solidFill>
              </a:rPr>
              <a:t>Prompt: Generate an image of interview notes with some highlighted text of why a community member might care about the ocean.</a:t>
            </a:r>
            <a:endParaRPr sz="1700" i="1">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311700" y="445025"/>
            <a:ext cx="5586600" cy="78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800" b="1">
                <a:solidFill>
                  <a:srgbClr val="541900"/>
                </a:solidFill>
              </a:rPr>
              <a:t>Categorizing Your Data</a:t>
            </a:r>
            <a:endParaRPr sz="3800" b="1">
              <a:solidFill>
                <a:srgbClr val="541900"/>
              </a:solidFill>
            </a:endParaRPr>
          </a:p>
        </p:txBody>
      </p:sp>
      <p:sp>
        <p:nvSpPr>
          <p:cNvPr id="140" name="Google Shape;140;p22"/>
          <p:cNvSpPr txBox="1">
            <a:spLocks noGrp="1"/>
          </p:cNvSpPr>
          <p:nvPr>
            <p:ph type="body" idx="1"/>
          </p:nvPr>
        </p:nvSpPr>
        <p:spPr>
          <a:xfrm>
            <a:off x="311700" y="1233425"/>
            <a:ext cx="5449500" cy="825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900">
                <a:solidFill>
                  <a:srgbClr val="355E3B"/>
                </a:solidFill>
              </a:rPr>
              <a:t>With your research team, you will now categorize each idea into its appropriate category.</a:t>
            </a:r>
            <a:endParaRPr i="1">
              <a:solidFill>
                <a:srgbClr val="355E3B"/>
              </a:solidFill>
            </a:endParaRPr>
          </a:p>
        </p:txBody>
      </p:sp>
      <p:sp>
        <p:nvSpPr>
          <p:cNvPr id="141" name="Google Shape;141;p22"/>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10</a:t>
            </a:fld>
            <a:endParaRPr sz="1200"/>
          </a:p>
          <a:p>
            <a:pPr marL="0" lvl="0" indent="0" algn="l" rtl="0">
              <a:lnSpc>
                <a:spcPct val="115000"/>
              </a:lnSpc>
              <a:spcBef>
                <a:spcPts val="1200"/>
              </a:spcBef>
              <a:spcAft>
                <a:spcPts val="1200"/>
              </a:spcAft>
              <a:buNone/>
            </a:pPr>
            <a:endParaRPr sz="1200"/>
          </a:p>
        </p:txBody>
      </p:sp>
      <p:sp>
        <p:nvSpPr>
          <p:cNvPr id="142" name="Google Shape;142;p22"/>
          <p:cNvSpPr txBox="1">
            <a:spLocks noGrp="1"/>
          </p:cNvSpPr>
          <p:nvPr>
            <p:ph type="body" idx="1"/>
          </p:nvPr>
        </p:nvSpPr>
        <p:spPr>
          <a:xfrm>
            <a:off x="311700" y="2059325"/>
            <a:ext cx="5449500" cy="244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chemeClr val="dk1"/>
                </a:solidFill>
              </a:rPr>
              <a:t>To categorize your ideas, follow these steps:</a:t>
            </a:r>
            <a:endParaRPr sz="1900">
              <a:solidFill>
                <a:schemeClr val="dk1"/>
              </a:solidFill>
            </a:endParaRPr>
          </a:p>
          <a:p>
            <a:pPr marL="457200" lvl="0" indent="-349250" algn="l" rtl="0">
              <a:spcBef>
                <a:spcPts val="1200"/>
              </a:spcBef>
              <a:spcAft>
                <a:spcPts val="0"/>
              </a:spcAft>
              <a:buClr>
                <a:srgbClr val="541900"/>
              </a:buClr>
              <a:buSzPts val="1900"/>
              <a:buAutoNum type="arabicPeriod"/>
            </a:pPr>
            <a:r>
              <a:rPr lang="en" sz="1900">
                <a:solidFill>
                  <a:schemeClr val="dk1"/>
                </a:solidFill>
              </a:rPr>
              <a:t>Write each category on a post-it note.</a:t>
            </a:r>
            <a:endParaRPr sz="1900">
              <a:solidFill>
                <a:schemeClr val="dk1"/>
              </a:solidFill>
            </a:endParaRPr>
          </a:p>
          <a:p>
            <a:pPr marL="457200" lvl="0" indent="-349250" algn="l" rtl="0">
              <a:spcBef>
                <a:spcPts val="0"/>
              </a:spcBef>
              <a:spcAft>
                <a:spcPts val="0"/>
              </a:spcAft>
              <a:buClr>
                <a:srgbClr val="541900"/>
              </a:buClr>
              <a:buSzPts val="1900"/>
              <a:buAutoNum type="arabicPeriod"/>
            </a:pPr>
            <a:r>
              <a:rPr lang="en" sz="1900">
                <a:solidFill>
                  <a:schemeClr val="dk1"/>
                </a:solidFill>
              </a:rPr>
              <a:t>Write each idea on their own individual post-it note.</a:t>
            </a:r>
            <a:endParaRPr sz="1900">
              <a:solidFill>
                <a:schemeClr val="dk1"/>
              </a:solidFill>
            </a:endParaRPr>
          </a:p>
          <a:p>
            <a:pPr marL="457200" lvl="0" indent="-349250" algn="l" rtl="0">
              <a:spcBef>
                <a:spcPts val="0"/>
              </a:spcBef>
              <a:spcAft>
                <a:spcPts val="0"/>
              </a:spcAft>
              <a:buClr>
                <a:srgbClr val="541900"/>
              </a:buClr>
              <a:buSzPts val="1900"/>
              <a:buAutoNum type="arabicPeriod"/>
            </a:pPr>
            <a:r>
              <a:rPr lang="en" sz="1900">
                <a:solidFill>
                  <a:schemeClr val="dk1"/>
                </a:solidFill>
              </a:rPr>
              <a:t>Place each idea within the appropriate category.</a:t>
            </a:r>
            <a:endParaRPr sz="1900">
              <a:solidFill>
                <a:schemeClr val="dk1"/>
              </a:solidFill>
            </a:endParaRPr>
          </a:p>
        </p:txBody>
      </p:sp>
      <p:pic>
        <p:nvPicPr>
          <p:cNvPr id="143" name="Google Shape;143;p22"/>
          <p:cNvPicPr preferRelativeResize="0"/>
          <p:nvPr/>
        </p:nvPicPr>
        <p:blipFill>
          <a:blip r:embed="rId3">
            <a:alphaModFix/>
          </a:blip>
          <a:stretch>
            <a:fillRect/>
          </a:stretch>
        </p:blipFill>
        <p:spPr>
          <a:xfrm>
            <a:off x="5761200" y="1408475"/>
            <a:ext cx="3382802" cy="2255201"/>
          </a:xfrm>
          <a:prstGeom prst="rect">
            <a:avLst/>
          </a:prstGeom>
          <a:noFill/>
          <a:ln>
            <a:noFill/>
          </a:ln>
        </p:spPr>
      </p:pic>
      <p:sp>
        <p:nvSpPr>
          <p:cNvPr id="144" name="Google Shape;144;p22"/>
          <p:cNvSpPr txBox="1"/>
          <p:nvPr/>
        </p:nvSpPr>
        <p:spPr>
          <a:xfrm>
            <a:off x="5761200" y="3663675"/>
            <a:ext cx="33828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2"/>
                </a:solidFill>
              </a:rPr>
              <a:t>Image created with ChatGPT</a:t>
            </a:r>
            <a:br>
              <a:rPr lang="en" sz="1000">
                <a:solidFill>
                  <a:schemeClr val="dk2"/>
                </a:solidFill>
              </a:rPr>
            </a:br>
            <a:r>
              <a:rPr lang="en" sz="1000" i="1">
                <a:solidFill>
                  <a:schemeClr val="dk2"/>
                </a:solidFill>
              </a:rPr>
              <a:t>Prompt: Generate an image containing post-it notes that categorize ideas under three categories.</a:t>
            </a:r>
            <a:endParaRPr sz="1000" i="1">
              <a:solidFill>
                <a:schemeClr val="dk2"/>
              </a:solidFill>
            </a:endParaRPr>
          </a:p>
          <a:p>
            <a:pPr marL="0" lvl="0" indent="0" algn="l" rtl="0">
              <a:spcBef>
                <a:spcPts val="0"/>
              </a:spcBef>
              <a:spcAft>
                <a:spcPts val="0"/>
              </a:spcAft>
              <a:buNone/>
            </a:pPr>
            <a:r>
              <a:rPr lang="en" sz="1000" i="1">
                <a:solidFill>
                  <a:schemeClr val="dk2"/>
                </a:solidFill>
              </a:rPr>
              <a:t>Category #1: Past experiences with the ocean </a:t>
            </a:r>
            <a:endParaRPr sz="1000" i="1">
              <a:solidFill>
                <a:schemeClr val="dk2"/>
              </a:solidFill>
            </a:endParaRPr>
          </a:p>
          <a:p>
            <a:pPr marL="0" lvl="0" indent="0" algn="l" rtl="0">
              <a:spcBef>
                <a:spcPts val="0"/>
              </a:spcBef>
              <a:spcAft>
                <a:spcPts val="0"/>
              </a:spcAft>
              <a:buNone/>
            </a:pPr>
            <a:r>
              <a:rPr lang="en" sz="1000" i="1">
                <a:solidFill>
                  <a:schemeClr val="dk2"/>
                </a:solidFill>
              </a:rPr>
              <a:t>Category #2: Reasons the interviewee cares about the ocean </a:t>
            </a:r>
            <a:endParaRPr sz="1000" i="1">
              <a:solidFill>
                <a:schemeClr val="dk2"/>
              </a:solidFill>
            </a:endParaRPr>
          </a:p>
          <a:p>
            <a:pPr marL="0" lvl="0" indent="0" algn="l" rtl="0">
              <a:spcBef>
                <a:spcPts val="0"/>
              </a:spcBef>
              <a:spcAft>
                <a:spcPts val="0"/>
              </a:spcAft>
              <a:buNone/>
            </a:pPr>
            <a:r>
              <a:rPr lang="en" sz="1000" i="1">
                <a:solidFill>
                  <a:schemeClr val="dk2"/>
                </a:solidFill>
              </a:rPr>
              <a:t>Category #3: Ideas about how the ocean is changing</a:t>
            </a:r>
            <a:endParaRPr sz="1000" i="1">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445025"/>
            <a:ext cx="4717500" cy="121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800" b="1">
                <a:solidFill>
                  <a:srgbClr val="541900"/>
                </a:solidFill>
              </a:rPr>
              <a:t>Identify Patterns in Your Data</a:t>
            </a:r>
            <a:endParaRPr sz="3800" b="1">
              <a:solidFill>
                <a:srgbClr val="541900"/>
              </a:solidFill>
            </a:endParaRPr>
          </a:p>
        </p:txBody>
      </p:sp>
      <p:sp>
        <p:nvSpPr>
          <p:cNvPr id="150" name="Google Shape;150;p23"/>
          <p:cNvSpPr txBox="1">
            <a:spLocks noGrp="1"/>
          </p:cNvSpPr>
          <p:nvPr>
            <p:ph type="body" idx="1"/>
          </p:nvPr>
        </p:nvSpPr>
        <p:spPr>
          <a:xfrm>
            <a:off x="311700" y="1660025"/>
            <a:ext cx="4717500" cy="727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400" i="1">
                <a:solidFill>
                  <a:srgbClr val="355E3B"/>
                </a:solidFill>
              </a:rPr>
              <a:t>Now that your team has categorized the community interview responses, you will now identify patterns within your data.</a:t>
            </a:r>
            <a:endParaRPr sz="1400" i="1">
              <a:solidFill>
                <a:srgbClr val="355E3B"/>
              </a:solidFill>
            </a:endParaRPr>
          </a:p>
        </p:txBody>
      </p:sp>
      <p:sp>
        <p:nvSpPr>
          <p:cNvPr id="151" name="Google Shape;151;p23"/>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11</a:t>
            </a:fld>
            <a:endParaRPr sz="1200"/>
          </a:p>
          <a:p>
            <a:pPr marL="0" lvl="0" indent="0" algn="l" rtl="0">
              <a:lnSpc>
                <a:spcPct val="115000"/>
              </a:lnSpc>
              <a:spcBef>
                <a:spcPts val="1200"/>
              </a:spcBef>
              <a:spcAft>
                <a:spcPts val="1200"/>
              </a:spcAft>
              <a:buNone/>
            </a:pPr>
            <a:endParaRPr sz="1200"/>
          </a:p>
        </p:txBody>
      </p:sp>
      <p:sp>
        <p:nvSpPr>
          <p:cNvPr id="152" name="Google Shape;152;p23"/>
          <p:cNvSpPr txBox="1">
            <a:spLocks noGrp="1"/>
          </p:cNvSpPr>
          <p:nvPr>
            <p:ph type="body" idx="1"/>
          </p:nvPr>
        </p:nvSpPr>
        <p:spPr>
          <a:xfrm>
            <a:off x="311700" y="2387225"/>
            <a:ext cx="4717500" cy="2215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400">
                <a:solidFill>
                  <a:schemeClr val="dk1"/>
                </a:solidFill>
              </a:rPr>
              <a:t>To identify patterns in your data, sort your idea into themes on a posterboard. These themes can be centered around values, or why an individual may feel connected to the ocean.</a:t>
            </a:r>
            <a:endParaRPr sz="1400">
              <a:solidFill>
                <a:schemeClr val="dk1"/>
              </a:solidFill>
            </a:endParaRPr>
          </a:p>
          <a:p>
            <a:pPr marL="0" lvl="0" indent="0" algn="l" rtl="0">
              <a:lnSpc>
                <a:spcPct val="100000"/>
              </a:lnSpc>
              <a:spcBef>
                <a:spcPts val="0"/>
              </a:spcBef>
              <a:spcAft>
                <a:spcPts val="0"/>
              </a:spcAft>
              <a:buNone/>
            </a:pPr>
            <a:endParaRPr sz="1400">
              <a:solidFill>
                <a:schemeClr val="dk1"/>
              </a:solidFill>
            </a:endParaRPr>
          </a:p>
          <a:p>
            <a:pPr marL="0" lvl="0" indent="0" algn="l" rtl="0">
              <a:lnSpc>
                <a:spcPct val="100000"/>
              </a:lnSpc>
              <a:spcBef>
                <a:spcPts val="0"/>
              </a:spcBef>
              <a:spcAft>
                <a:spcPts val="0"/>
              </a:spcAft>
              <a:buNone/>
            </a:pPr>
            <a:r>
              <a:rPr lang="en" sz="1400">
                <a:solidFill>
                  <a:srgbClr val="9FA617"/>
                </a:solidFill>
              </a:rPr>
              <a:t>Examples of themes include: </a:t>
            </a:r>
            <a:endParaRPr sz="1400">
              <a:solidFill>
                <a:srgbClr val="9FA617"/>
              </a:solidFill>
            </a:endParaRPr>
          </a:p>
          <a:p>
            <a:pPr marL="457200" lvl="0" indent="-317500" algn="l" rtl="0">
              <a:lnSpc>
                <a:spcPct val="100000"/>
              </a:lnSpc>
              <a:spcBef>
                <a:spcPts val="0"/>
              </a:spcBef>
              <a:spcAft>
                <a:spcPts val="0"/>
              </a:spcAft>
              <a:buClr>
                <a:srgbClr val="541900"/>
              </a:buClr>
              <a:buSzPts val="1400"/>
              <a:buFont typeface="Arial"/>
              <a:buChar char="●"/>
            </a:pPr>
            <a:r>
              <a:rPr lang="en" sz="1400">
                <a:solidFill>
                  <a:schemeClr val="dk1"/>
                </a:solidFill>
              </a:rPr>
              <a:t>Emotional</a:t>
            </a:r>
            <a:endParaRPr sz="1400">
              <a:solidFill>
                <a:schemeClr val="dk1"/>
              </a:solidFill>
            </a:endParaRPr>
          </a:p>
          <a:p>
            <a:pPr marL="457200" lvl="0" indent="-317500" algn="l" rtl="0">
              <a:lnSpc>
                <a:spcPct val="100000"/>
              </a:lnSpc>
              <a:spcBef>
                <a:spcPts val="0"/>
              </a:spcBef>
              <a:spcAft>
                <a:spcPts val="0"/>
              </a:spcAft>
              <a:buClr>
                <a:srgbClr val="541900"/>
              </a:buClr>
              <a:buSzPts val="1400"/>
              <a:buFont typeface="Arial"/>
              <a:buChar char="●"/>
            </a:pPr>
            <a:r>
              <a:rPr lang="en" sz="1400">
                <a:solidFill>
                  <a:schemeClr val="dk1"/>
                </a:solidFill>
              </a:rPr>
              <a:t>Wellbeing &amp; feelings</a:t>
            </a:r>
            <a:endParaRPr sz="1400">
              <a:solidFill>
                <a:schemeClr val="dk1"/>
              </a:solidFill>
            </a:endParaRPr>
          </a:p>
          <a:p>
            <a:pPr marL="457200" lvl="0" indent="-317500" algn="l" rtl="0">
              <a:lnSpc>
                <a:spcPct val="100000"/>
              </a:lnSpc>
              <a:spcBef>
                <a:spcPts val="0"/>
              </a:spcBef>
              <a:spcAft>
                <a:spcPts val="0"/>
              </a:spcAft>
              <a:buClr>
                <a:srgbClr val="541900"/>
              </a:buClr>
              <a:buSzPts val="1400"/>
              <a:buFont typeface="Arial"/>
              <a:buChar char="●"/>
            </a:pPr>
            <a:r>
              <a:rPr lang="en" sz="1400">
                <a:solidFill>
                  <a:schemeClr val="dk1"/>
                </a:solidFill>
              </a:rPr>
              <a:t>Financial </a:t>
            </a:r>
            <a:endParaRPr sz="1400">
              <a:solidFill>
                <a:schemeClr val="dk1"/>
              </a:solidFill>
            </a:endParaRPr>
          </a:p>
          <a:p>
            <a:pPr marL="457200" lvl="0" indent="-317500" algn="l" rtl="0">
              <a:lnSpc>
                <a:spcPct val="100000"/>
              </a:lnSpc>
              <a:spcBef>
                <a:spcPts val="0"/>
              </a:spcBef>
              <a:spcAft>
                <a:spcPts val="0"/>
              </a:spcAft>
              <a:buClr>
                <a:srgbClr val="541900"/>
              </a:buClr>
              <a:buSzPts val="1400"/>
              <a:buFont typeface="Arial"/>
              <a:buChar char="●"/>
            </a:pPr>
            <a:r>
              <a:rPr lang="en" sz="1400">
                <a:solidFill>
                  <a:schemeClr val="dk1"/>
                </a:solidFill>
              </a:rPr>
              <a:t>Tradition</a:t>
            </a:r>
            <a:endParaRPr sz="1700" i="1">
              <a:solidFill>
                <a:srgbClr val="355E3B"/>
              </a:solidFill>
            </a:endParaRPr>
          </a:p>
        </p:txBody>
      </p:sp>
      <p:pic>
        <p:nvPicPr>
          <p:cNvPr id="153" name="Google Shape;153;p23"/>
          <p:cNvPicPr preferRelativeResize="0"/>
          <p:nvPr/>
        </p:nvPicPr>
        <p:blipFill>
          <a:blip r:embed="rId3">
            <a:alphaModFix/>
          </a:blip>
          <a:stretch>
            <a:fillRect/>
          </a:stretch>
        </p:blipFill>
        <p:spPr>
          <a:xfrm>
            <a:off x="5029200" y="1194700"/>
            <a:ext cx="3981675" cy="2754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57"/>
        <p:cNvGrpSpPr/>
        <p:nvPr/>
      </p:nvGrpSpPr>
      <p:grpSpPr>
        <a:xfrm>
          <a:off x="0" y="0"/>
          <a:ext cx="0" cy="0"/>
          <a:chOff x="0" y="0"/>
          <a:chExt cx="0" cy="0"/>
        </a:xfrm>
      </p:grpSpPr>
      <p:sp>
        <p:nvSpPr>
          <p:cNvPr id="158" name="Google Shape;158;p24"/>
          <p:cNvSpPr txBox="1">
            <a:spLocks noGrp="1"/>
          </p:cNvSpPr>
          <p:nvPr>
            <p:ph type="title"/>
          </p:nvPr>
        </p:nvSpPr>
        <p:spPr>
          <a:xfrm>
            <a:off x="311700" y="445025"/>
            <a:ext cx="873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Gallery Walk</a:t>
            </a:r>
            <a:endParaRPr sz="4500" b="1">
              <a:solidFill>
                <a:srgbClr val="541900"/>
              </a:solidFill>
            </a:endParaRPr>
          </a:p>
        </p:txBody>
      </p:sp>
      <p:sp>
        <p:nvSpPr>
          <p:cNvPr id="159" name="Google Shape;159;p24"/>
          <p:cNvSpPr txBox="1">
            <a:spLocks noGrp="1"/>
          </p:cNvSpPr>
          <p:nvPr>
            <p:ph type="body" idx="1"/>
          </p:nvPr>
        </p:nvSpPr>
        <p:spPr>
          <a:xfrm>
            <a:off x="311700" y="1255875"/>
            <a:ext cx="8520600" cy="1237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100" i="1">
                <a:solidFill>
                  <a:srgbClr val="355E3B"/>
                </a:solidFill>
              </a:rPr>
              <a:t>As a class, conduct a gallery walk to see how other community members value the ocean. Afterwards, you will gather as a class to discuss your experience.</a:t>
            </a:r>
            <a:endParaRPr sz="2000" i="1">
              <a:solidFill>
                <a:srgbClr val="355E3B"/>
              </a:solidFill>
            </a:endParaRPr>
          </a:p>
        </p:txBody>
      </p:sp>
      <p:sp>
        <p:nvSpPr>
          <p:cNvPr id="160" name="Google Shape;160;p24"/>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12</a:t>
            </a:fld>
            <a:endParaRPr sz="1200"/>
          </a:p>
          <a:p>
            <a:pPr marL="0" lvl="0" indent="0" algn="l" rtl="0">
              <a:lnSpc>
                <a:spcPct val="115000"/>
              </a:lnSpc>
              <a:spcBef>
                <a:spcPts val="1200"/>
              </a:spcBef>
              <a:spcAft>
                <a:spcPts val="1200"/>
              </a:spcAft>
              <a:buNone/>
            </a:pPr>
            <a:endParaRPr sz="1200"/>
          </a:p>
        </p:txBody>
      </p:sp>
      <p:sp>
        <p:nvSpPr>
          <p:cNvPr id="161" name="Google Shape;161;p24"/>
          <p:cNvSpPr txBox="1"/>
          <p:nvPr/>
        </p:nvSpPr>
        <p:spPr>
          <a:xfrm>
            <a:off x="311850" y="2493375"/>
            <a:ext cx="8520600" cy="20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133817"/>
                </a:solidFill>
              </a:rPr>
              <a:t>As you conduct your gallery walk, keep the following questions in mind.</a:t>
            </a:r>
            <a:endParaRPr sz="1800">
              <a:solidFill>
                <a:srgbClr val="133817"/>
              </a:solidFill>
            </a:endParaRPr>
          </a:p>
          <a:p>
            <a:pPr marL="457200" lvl="0" indent="-342900" algn="l" rtl="0">
              <a:lnSpc>
                <a:spcPct val="115000"/>
              </a:lnSpc>
              <a:spcBef>
                <a:spcPts val="0"/>
              </a:spcBef>
              <a:spcAft>
                <a:spcPts val="0"/>
              </a:spcAft>
              <a:buClr>
                <a:srgbClr val="541900"/>
              </a:buClr>
              <a:buSzPts val="1800"/>
              <a:buFont typeface="Arial"/>
              <a:buChar char="●"/>
            </a:pPr>
            <a:r>
              <a:rPr lang="en" sz="1800">
                <a:solidFill>
                  <a:schemeClr val="dk1"/>
                </a:solidFill>
              </a:rPr>
              <a:t>What patterns or themes did you identify that are similar than the patterns or themes your team identified?</a:t>
            </a:r>
            <a:endParaRPr sz="1800">
              <a:solidFill>
                <a:schemeClr val="dk1"/>
              </a:solidFill>
            </a:endParaRPr>
          </a:p>
          <a:p>
            <a:pPr marL="457200" lvl="0" indent="-342900" algn="l" rtl="0">
              <a:lnSpc>
                <a:spcPct val="115000"/>
              </a:lnSpc>
              <a:spcBef>
                <a:spcPts val="0"/>
              </a:spcBef>
              <a:spcAft>
                <a:spcPts val="0"/>
              </a:spcAft>
              <a:buClr>
                <a:srgbClr val="541900"/>
              </a:buClr>
              <a:buSzPts val="1800"/>
              <a:buFont typeface="Arial"/>
              <a:buChar char="●"/>
            </a:pPr>
            <a:r>
              <a:rPr lang="en" sz="1800">
                <a:solidFill>
                  <a:schemeClr val="dk1"/>
                </a:solidFill>
              </a:rPr>
              <a:t>What patterns or themes did you identify that are different than the patterns or themes your team identified?</a:t>
            </a:r>
            <a:endParaRPr sz="1800">
              <a:solidFill>
                <a:schemeClr val="dk1"/>
              </a:solidFill>
            </a:endParaRPr>
          </a:p>
          <a:p>
            <a:pPr marL="457200" lvl="0" indent="-342900" algn="l" rtl="0">
              <a:lnSpc>
                <a:spcPct val="115000"/>
              </a:lnSpc>
              <a:spcBef>
                <a:spcPts val="0"/>
              </a:spcBef>
              <a:spcAft>
                <a:spcPts val="0"/>
              </a:spcAft>
              <a:buClr>
                <a:srgbClr val="541900"/>
              </a:buClr>
              <a:buSzPts val="1800"/>
              <a:buFont typeface="Arial"/>
              <a:buChar char="●"/>
            </a:pPr>
            <a:r>
              <a:rPr lang="en" sz="1800">
                <a:solidFill>
                  <a:schemeClr val="dk1"/>
                </a:solidFill>
              </a:rPr>
              <a:t>What changes might you make to your own poster after seeing other posters?</a:t>
            </a:r>
            <a:endParaRPr sz="1800">
              <a:solidFill>
                <a:srgbClr val="13381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5"/>
        <p:cNvGrpSpPr/>
        <p:nvPr/>
      </p:nvGrpSpPr>
      <p:grpSpPr>
        <a:xfrm>
          <a:off x="0" y="0"/>
          <a:ext cx="0" cy="0"/>
          <a:chOff x="0" y="0"/>
          <a:chExt cx="0" cy="0"/>
        </a:xfrm>
      </p:grpSpPr>
      <p:sp>
        <p:nvSpPr>
          <p:cNvPr id="166" name="Google Shape;166;p25"/>
          <p:cNvSpPr txBox="1">
            <a:spLocks noGrp="1"/>
          </p:cNvSpPr>
          <p:nvPr>
            <p:ph type="body" idx="1"/>
          </p:nvPr>
        </p:nvSpPr>
        <p:spPr>
          <a:xfrm>
            <a:off x="311700" y="1196325"/>
            <a:ext cx="8459700" cy="462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As a class, share your experience on conducting the gallery walk.</a:t>
            </a:r>
            <a:endParaRPr sz="2000" i="1">
              <a:solidFill>
                <a:srgbClr val="355E3B"/>
              </a:solidFill>
            </a:endParaRPr>
          </a:p>
        </p:txBody>
      </p:sp>
      <p:sp>
        <p:nvSpPr>
          <p:cNvPr id="167" name="Google Shape;167;p25"/>
          <p:cNvSpPr txBox="1">
            <a:spLocks noGrp="1"/>
          </p:cNvSpPr>
          <p:nvPr>
            <p:ph type="title"/>
          </p:nvPr>
        </p:nvSpPr>
        <p:spPr>
          <a:xfrm>
            <a:off x="311700" y="445025"/>
            <a:ext cx="8459700" cy="75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Share</a:t>
            </a:r>
            <a:endParaRPr sz="4200" b="1">
              <a:solidFill>
                <a:srgbClr val="541900"/>
              </a:solidFill>
            </a:endParaRPr>
          </a:p>
        </p:txBody>
      </p:sp>
      <p:sp>
        <p:nvSpPr>
          <p:cNvPr id="168" name="Google Shape;168;p25"/>
          <p:cNvSpPr txBox="1">
            <a:spLocks noGrp="1"/>
          </p:cNvSpPr>
          <p:nvPr>
            <p:ph type="body" idx="2"/>
          </p:nvPr>
        </p:nvSpPr>
        <p:spPr>
          <a:xfrm>
            <a:off x="311700" y="1658325"/>
            <a:ext cx="8459700" cy="23346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rgbClr val="541900"/>
              </a:buClr>
              <a:buSzPts val="2000"/>
              <a:buFont typeface="Arial"/>
              <a:buChar char="●"/>
            </a:pPr>
            <a:r>
              <a:rPr lang="en" sz="2000">
                <a:solidFill>
                  <a:schemeClr val="dk1"/>
                </a:solidFill>
              </a:rPr>
              <a:t>Are there any common themes you noticed during the gallery walk?</a:t>
            </a:r>
            <a:endParaRPr sz="2000">
              <a:solidFill>
                <a:schemeClr val="dk1"/>
              </a:solidFill>
            </a:endParaRPr>
          </a:p>
          <a:p>
            <a:pPr marL="457200" lvl="0" indent="-355600" algn="l" rtl="0">
              <a:lnSpc>
                <a:spcPct val="115000"/>
              </a:lnSpc>
              <a:spcBef>
                <a:spcPts val="0"/>
              </a:spcBef>
              <a:spcAft>
                <a:spcPts val="0"/>
              </a:spcAft>
              <a:buClr>
                <a:srgbClr val="541900"/>
              </a:buClr>
              <a:buSzPts val="2000"/>
              <a:buFont typeface="Arial"/>
              <a:buChar char="●"/>
            </a:pPr>
            <a:r>
              <a:rPr lang="en" sz="2000">
                <a:solidFill>
                  <a:schemeClr val="dk1"/>
                </a:solidFill>
              </a:rPr>
              <a:t>What is a theme or pattern that you found interesting or different from your own?</a:t>
            </a:r>
            <a:endParaRPr sz="2000">
              <a:solidFill>
                <a:schemeClr val="dk1"/>
              </a:solidFill>
            </a:endParaRPr>
          </a:p>
          <a:p>
            <a:pPr marL="457200" lvl="0" indent="-355600" algn="l" rtl="0">
              <a:lnSpc>
                <a:spcPct val="115000"/>
              </a:lnSpc>
              <a:spcBef>
                <a:spcPts val="0"/>
              </a:spcBef>
              <a:spcAft>
                <a:spcPts val="0"/>
              </a:spcAft>
              <a:buClr>
                <a:srgbClr val="541900"/>
              </a:buClr>
              <a:buSzPts val="2000"/>
              <a:buFont typeface="Gowun Batang"/>
              <a:buChar char="●"/>
            </a:pPr>
            <a:r>
              <a:rPr lang="en" sz="2000">
                <a:solidFill>
                  <a:schemeClr val="dk1"/>
                </a:solidFill>
              </a:rPr>
              <a:t>How might you use these patterns to identify why the community cares about the ocean?</a:t>
            </a:r>
            <a:endParaRPr sz="2000">
              <a:solidFill>
                <a:schemeClr val="dk1"/>
              </a:solidFill>
            </a:endParaRPr>
          </a:p>
          <a:p>
            <a:pPr marL="0" lvl="0" indent="0" algn="l" rtl="0">
              <a:spcBef>
                <a:spcPts val="0"/>
              </a:spcBef>
              <a:spcAft>
                <a:spcPts val="1200"/>
              </a:spcAft>
              <a:buNone/>
            </a:pPr>
            <a:endParaRPr sz="2000">
              <a:solidFill>
                <a:schemeClr val="dk1"/>
              </a:solidFill>
            </a:endParaRPr>
          </a:p>
        </p:txBody>
      </p:sp>
      <p:sp>
        <p:nvSpPr>
          <p:cNvPr id="169" name="Google Shape;169;p25"/>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13</a:t>
            </a:fld>
            <a:endParaRPr sz="1200"/>
          </a:p>
          <a:p>
            <a:pPr marL="0" lvl="0" indent="0" algn="l" rtl="0">
              <a:lnSpc>
                <a:spcPct val="115000"/>
              </a:lnSpc>
              <a:spcBef>
                <a:spcPts val="1200"/>
              </a:spcBef>
              <a:spcAft>
                <a:spcPts val="1200"/>
              </a:spcAft>
              <a:buNone/>
            </a:pP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73"/>
        <p:cNvGrpSpPr/>
        <p:nvPr/>
      </p:nvGrpSpPr>
      <p:grpSpPr>
        <a:xfrm>
          <a:off x="0" y="0"/>
          <a:ext cx="0" cy="0"/>
          <a:chOff x="0" y="0"/>
          <a:chExt cx="0" cy="0"/>
        </a:xfrm>
      </p:grpSpPr>
      <p:sp>
        <p:nvSpPr>
          <p:cNvPr id="174" name="Google Shape;174;p26"/>
          <p:cNvSpPr txBox="1">
            <a:spLocks noGrp="1"/>
          </p:cNvSpPr>
          <p:nvPr>
            <p:ph type="body" idx="1"/>
          </p:nvPr>
        </p:nvSpPr>
        <p:spPr>
          <a:xfrm>
            <a:off x="311700" y="11963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dirty="0">
                <a:solidFill>
                  <a:srgbClr val="355E3B"/>
                </a:solidFill>
              </a:rPr>
              <a:t>Reflect on what you learned in your </a:t>
            </a:r>
            <a:r>
              <a:rPr lang="en" sz="2000" i="1" dirty="0">
                <a:solidFill>
                  <a:srgbClr val="355E3A"/>
                </a:solidFill>
              </a:rPr>
              <a:t>science journal </a:t>
            </a:r>
            <a:r>
              <a:rPr lang="en" sz="2000" i="1" dirty="0">
                <a:solidFill>
                  <a:srgbClr val="355E3B"/>
                </a:solidFill>
              </a:rPr>
              <a:t>(p. 8) for Module 1.3:</a:t>
            </a:r>
            <a:endParaRPr sz="2000" i="1" dirty="0">
              <a:solidFill>
                <a:srgbClr val="355E3B"/>
              </a:solidFill>
            </a:endParaRPr>
          </a:p>
        </p:txBody>
      </p:sp>
      <p:sp>
        <p:nvSpPr>
          <p:cNvPr id="175" name="Google Shape;175;p26"/>
          <p:cNvSpPr txBox="1">
            <a:spLocks noGrp="1"/>
          </p:cNvSpPr>
          <p:nvPr>
            <p:ph type="title"/>
          </p:nvPr>
        </p:nvSpPr>
        <p:spPr>
          <a:xfrm>
            <a:off x="311700" y="445025"/>
            <a:ext cx="454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b="1">
                <a:solidFill>
                  <a:srgbClr val="541900"/>
                </a:solidFill>
              </a:rPr>
              <a:t>Reflect</a:t>
            </a:r>
            <a:endParaRPr sz="4200" b="1">
              <a:solidFill>
                <a:srgbClr val="541900"/>
              </a:solidFill>
            </a:endParaRPr>
          </a:p>
        </p:txBody>
      </p:sp>
      <p:sp>
        <p:nvSpPr>
          <p:cNvPr id="176" name="Google Shape;176;p26"/>
          <p:cNvSpPr txBox="1">
            <a:spLocks noGrp="1"/>
          </p:cNvSpPr>
          <p:nvPr>
            <p:ph type="body" idx="2"/>
          </p:nvPr>
        </p:nvSpPr>
        <p:spPr>
          <a:xfrm>
            <a:off x="311700" y="1885800"/>
            <a:ext cx="4543500" cy="2906400"/>
          </a:xfrm>
          <a:prstGeom prst="rect">
            <a:avLst/>
          </a:prstGeom>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Gowun Batang"/>
              <a:buAutoNum type="arabicPeriod"/>
            </a:pPr>
            <a:r>
              <a:rPr lang="en" sz="1300" dirty="0">
                <a:solidFill>
                  <a:schemeClr val="dk1"/>
                </a:solidFill>
              </a:rPr>
              <a:t>What did you learn from analyzing your interview responses? How has your thinking about why people value the ocean or how it is changing been affected?</a:t>
            </a:r>
            <a:endParaRPr sz="1300" dirty="0">
              <a:solidFill>
                <a:schemeClr val="dk1"/>
              </a:solidFill>
            </a:endParaRPr>
          </a:p>
          <a:p>
            <a:pPr marL="457200" lvl="0" indent="-311150" algn="l" rtl="0">
              <a:lnSpc>
                <a:spcPct val="115000"/>
              </a:lnSpc>
              <a:spcBef>
                <a:spcPts val="0"/>
              </a:spcBef>
              <a:spcAft>
                <a:spcPts val="0"/>
              </a:spcAft>
              <a:buClr>
                <a:schemeClr val="dk1"/>
              </a:buClr>
              <a:buSzPts val="1300"/>
              <a:buFont typeface="Arial"/>
              <a:buAutoNum type="arabicPeriod"/>
            </a:pPr>
            <a:r>
              <a:rPr lang="en" sz="1300" dirty="0">
                <a:solidFill>
                  <a:schemeClr val="dk1"/>
                </a:solidFill>
              </a:rPr>
              <a:t>Why is it important to analyze responses to interview questions? </a:t>
            </a:r>
            <a:r>
              <a:rPr lang="en" sz="1300">
                <a:solidFill>
                  <a:schemeClr val="dk1"/>
                </a:solidFill>
              </a:rPr>
              <a:t>What can this tell us about how communities value the ocean?</a:t>
            </a:r>
            <a:endParaRPr sz="1300" dirty="0">
              <a:solidFill>
                <a:schemeClr val="dk1"/>
              </a:solidFill>
            </a:endParaRPr>
          </a:p>
          <a:p>
            <a:pPr marL="457200" lvl="0" indent="-311150" algn="l" rtl="0">
              <a:lnSpc>
                <a:spcPct val="115000"/>
              </a:lnSpc>
              <a:spcBef>
                <a:spcPts val="0"/>
              </a:spcBef>
              <a:spcAft>
                <a:spcPts val="0"/>
              </a:spcAft>
              <a:buClr>
                <a:schemeClr val="dk1"/>
              </a:buClr>
              <a:buSzPts val="1300"/>
              <a:buFont typeface="Arial"/>
              <a:buAutoNum type="arabicPeriod"/>
            </a:pPr>
            <a:r>
              <a:rPr lang="en" sz="1300" dirty="0">
                <a:solidFill>
                  <a:schemeClr val="dk1"/>
                </a:solidFill>
              </a:rPr>
              <a:t>How will you use what you learned in Module 1 to build your model of how climate change is impacting Southern California’s ocean? For example, what information will you add or show to explain these impacts?</a:t>
            </a:r>
            <a:endParaRPr sz="1700" dirty="0">
              <a:solidFill>
                <a:schemeClr val="dk1"/>
              </a:solidFill>
            </a:endParaRPr>
          </a:p>
        </p:txBody>
      </p:sp>
      <p:sp>
        <p:nvSpPr>
          <p:cNvPr id="177" name="Google Shape;177;p26"/>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14</a:t>
            </a:fld>
            <a:endParaRPr sz="1200"/>
          </a:p>
          <a:p>
            <a:pPr marL="0" lvl="0" indent="0" algn="l" rtl="0">
              <a:lnSpc>
                <a:spcPct val="115000"/>
              </a:lnSpc>
              <a:spcBef>
                <a:spcPts val="1200"/>
              </a:spcBef>
              <a:spcAft>
                <a:spcPts val="1200"/>
              </a:spcAft>
              <a:buNone/>
            </a:pPr>
            <a:endParaRPr sz="1200"/>
          </a:p>
        </p:txBody>
      </p:sp>
      <p:pic>
        <p:nvPicPr>
          <p:cNvPr id="178" name="Google Shape;178;p26"/>
          <p:cNvPicPr preferRelativeResize="0"/>
          <p:nvPr/>
        </p:nvPicPr>
        <p:blipFill rotWithShape="1">
          <a:blip r:embed="rId3">
            <a:alphaModFix/>
          </a:blip>
          <a:srcRect l="40" t="23662" r="-40" b="4287"/>
          <a:stretch/>
        </p:blipFill>
        <p:spPr>
          <a:xfrm>
            <a:off x="4972050" y="0"/>
            <a:ext cx="4023150" cy="4361101"/>
          </a:xfrm>
          <a:prstGeom prst="rect">
            <a:avLst/>
          </a:prstGeom>
          <a:noFill/>
          <a:ln>
            <a:noFill/>
          </a:ln>
        </p:spPr>
      </p:pic>
      <p:sp>
        <p:nvSpPr>
          <p:cNvPr id="179" name="Google Shape;179;p26"/>
          <p:cNvSpPr txBox="1"/>
          <p:nvPr/>
        </p:nvSpPr>
        <p:spPr>
          <a:xfrm>
            <a:off x="4895850" y="4351075"/>
            <a:ext cx="4023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Create an image about SoCal beaches.</a:t>
            </a:r>
            <a:endParaRPr sz="1700" i="1">
              <a:solidFill>
                <a:srgbClr val="59595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3"/>
        <p:cNvGrpSpPr/>
        <p:nvPr/>
      </p:nvGrpSpPr>
      <p:grpSpPr>
        <a:xfrm>
          <a:off x="0" y="0"/>
          <a:ext cx="0" cy="0"/>
          <a:chOff x="0" y="0"/>
          <a:chExt cx="0" cy="0"/>
        </a:xfrm>
      </p:grpSpPr>
      <p:sp>
        <p:nvSpPr>
          <p:cNvPr id="184" name="Google Shape;18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185" name="Google Shape;185;p27"/>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186" name="Google Shape;186;p27"/>
          <p:cNvSpPr txBox="1"/>
          <p:nvPr/>
        </p:nvSpPr>
        <p:spPr>
          <a:xfrm>
            <a:off x="318402" y="34110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 UNC</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187" name="Google Shape;187;p27"/>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188" name="Google Shape;188;p27"/>
          <p:cNvPicPr preferRelativeResize="0"/>
          <p:nvPr/>
        </p:nvPicPr>
        <p:blipFill>
          <a:blip r:embed="rId3">
            <a:alphaModFix/>
          </a:blip>
          <a:stretch>
            <a:fillRect/>
          </a:stretch>
        </p:blipFill>
        <p:spPr>
          <a:xfrm>
            <a:off x="5958425" y="3455725"/>
            <a:ext cx="1289949" cy="1102075"/>
          </a:xfrm>
          <a:prstGeom prst="rect">
            <a:avLst/>
          </a:prstGeom>
          <a:noFill/>
          <a:ln>
            <a:noFill/>
          </a:ln>
        </p:spPr>
      </p:pic>
      <p:pic>
        <p:nvPicPr>
          <p:cNvPr id="189" name="Google Shape;189;p27" title="ITO-logo-col-clear.png"/>
          <p:cNvPicPr preferRelativeResize="0"/>
          <p:nvPr/>
        </p:nvPicPr>
        <p:blipFill>
          <a:blip r:embed="rId4">
            <a:alphaModFix/>
          </a:blip>
          <a:stretch>
            <a:fillRect/>
          </a:stretch>
        </p:blipFill>
        <p:spPr>
          <a:xfrm>
            <a:off x="4439452" y="1812950"/>
            <a:ext cx="1289950" cy="1329621"/>
          </a:xfrm>
          <a:prstGeom prst="rect">
            <a:avLst/>
          </a:prstGeom>
          <a:noFill/>
          <a:ln>
            <a:noFill/>
          </a:ln>
        </p:spPr>
      </p:pic>
      <p:pic>
        <p:nvPicPr>
          <p:cNvPr id="190" name="Google Shape;190;p27" title="University_of_California,_Irvine_seal.svg.png"/>
          <p:cNvPicPr preferRelativeResize="0"/>
          <p:nvPr/>
        </p:nvPicPr>
        <p:blipFill>
          <a:blip r:embed="rId5">
            <a:alphaModFix/>
          </a:blip>
          <a:stretch>
            <a:fillRect/>
          </a:stretch>
        </p:blipFill>
        <p:spPr>
          <a:xfrm>
            <a:off x="4495824" y="3394524"/>
            <a:ext cx="1233549" cy="1233576"/>
          </a:xfrm>
          <a:prstGeom prst="rect">
            <a:avLst/>
          </a:prstGeom>
          <a:noFill/>
          <a:ln>
            <a:noFill/>
          </a:ln>
        </p:spPr>
      </p:pic>
      <p:pic>
        <p:nvPicPr>
          <p:cNvPr id="191" name="Google Shape;191;p27" title="OCDE orange county department of education logo.png"/>
          <p:cNvPicPr preferRelativeResize="0"/>
          <p:nvPr/>
        </p:nvPicPr>
        <p:blipFill>
          <a:blip r:embed="rId6">
            <a:alphaModFix/>
          </a:blip>
          <a:stretch>
            <a:fillRect/>
          </a:stretch>
        </p:blipFill>
        <p:spPr>
          <a:xfrm>
            <a:off x="5958425" y="1830825"/>
            <a:ext cx="1289950" cy="1289950"/>
          </a:xfrm>
          <a:prstGeom prst="rect">
            <a:avLst/>
          </a:prstGeom>
          <a:noFill/>
          <a:ln>
            <a:noFill/>
          </a:ln>
        </p:spPr>
      </p:pic>
      <p:sp>
        <p:nvSpPr>
          <p:cNvPr id="192" name="Google Shape;192;p27"/>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rPr>
              <a:t>Module 1.3 Analyzing Interview Data</a:t>
            </a:r>
            <a:br>
              <a:rPr lang="en" sz="1200">
                <a:solidFill>
                  <a:srgbClr val="000000"/>
                </a:solidFill>
              </a:rPr>
            </a:br>
            <a:r>
              <a:rPr lang="en" sz="1200"/>
              <a:t>Slide </a:t>
            </a:r>
            <a:fld id="{00000000-1234-1234-1234-123412341234}" type="slidenum">
              <a:rPr lang="en" sz="1200"/>
              <a:t>15</a:t>
            </a:fld>
            <a:endParaRPr sz="1200"/>
          </a:p>
          <a:p>
            <a:pPr marL="0" lvl="0" indent="0" algn="l" rtl="0">
              <a:lnSpc>
                <a:spcPct val="115000"/>
              </a:lnSpc>
              <a:spcBef>
                <a:spcPts val="1200"/>
              </a:spcBef>
              <a:spcAft>
                <a:spcPts val="1200"/>
              </a:spcAft>
              <a:buNone/>
            </a:pPr>
            <a:endParaRPr sz="12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2609</Words>
  <Application>Microsoft Macintosh PowerPoint</Application>
  <PresentationFormat>On-screen Show (16:9)</PresentationFormat>
  <Paragraphs>222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Gowun Batang</vt:lpstr>
      <vt:lpstr>Simple Light</vt:lpstr>
      <vt:lpstr>Analyzing Interview Data</vt:lpstr>
      <vt:lpstr>Interview Recap</vt:lpstr>
      <vt:lpstr>Module Overview</vt:lpstr>
      <vt:lpstr>Interview Analysis</vt:lpstr>
      <vt:lpstr>Review Your Interview Notes</vt:lpstr>
      <vt:lpstr>Example #1</vt:lpstr>
      <vt:lpstr>Example #2</vt:lpstr>
      <vt:lpstr>Example #3</vt:lpstr>
      <vt:lpstr>Now it is Your Turn!</vt:lpstr>
      <vt:lpstr>Categorizing Your Data</vt:lpstr>
      <vt:lpstr>Identify Patterns in Your Data</vt:lpstr>
      <vt:lpstr>Gallery Walk</vt:lpstr>
      <vt:lpstr>Share</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1</cp:revision>
  <dcterms:modified xsi:type="dcterms:W3CDTF">2026-08-20T04:09:41Z</dcterms:modified>
</cp:coreProperties>
</file>