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embeddedFontLst>
    <p:embeddedFont>
      <p:font typeface="Roboto" panose="02000000000000000000"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2"/>
  </p:normalViewPr>
  <p:slideViewPr>
    <p:cSldViewPr snapToGrid="0">
      <p:cViewPr varScale="1">
        <p:scale>
          <a:sx n="153" d="100"/>
          <a:sy n="153" d="100"/>
        </p:scale>
        <p:origin x="536"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ocs.google.com/document/d/1vclVW5uhHC_P2dbFG5WpVn9j_jweuCSr--uOKo19Vuw/edit?tab=t.0"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phet.colorado.edu/sims/html/greenhouse-effect/latest/greenhouse-effect_all.html" TargetMode="External"/><Relationship Id="rId5" Type="http://schemas.openxmlformats.org/officeDocument/2006/relationships/hyperlink" Target="https://docs.google.com/document/d/1zpMxQv4C3CORs_AdOnCIXHqGJ6N_UK9FpPJxXLtR6-Q/edit?tab=t.0" TargetMode="External"/><Relationship Id="rId4" Type="http://schemas.openxmlformats.org/officeDocument/2006/relationships/hyperlink" Target="https://docs.google.com/document/d/1UndupAAsxXThMWqwfrnMWLxA3dpkoK1Unx8y0T5mxfk/edit?tab=t.0#heading=h.66wasdi8eqf3"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climatecentral.org/graphic/heat-trapping-pollution-2024?graphicSet=Greenhouse+Effect&amp;location=national&amp;lang=en"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cs.google.com/document/d/1vclVW5uhHC_P2dbFG5WpVn9j_jweuCSr--uOKo19Vuw/edit?tab=t.0"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phet.colorado.edu/sims/html/greenhouse-effect/latest/greenhouse-effect_all.html" TargetMode="External"/><Relationship Id="rId5" Type="http://schemas.openxmlformats.org/officeDocument/2006/relationships/hyperlink" Target="https://docs.google.com/document/d/1zpMxQv4C3CORs_AdOnCIXHqGJ6N_UK9FpPJxXLtR6-Q/edit?tab=t.0" TargetMode="External"/><Relationship Id="rId4" Type="http://schemas.openxmlformats.org/officeDocument/2006/relationships/hyperlink" Target="https://docs.google.com/document/d/1UndupAAsxXThMWqwfrnMWLxA3dpkoK1Unx8y0T5mxfk/edit?tab=t.0#heading=h.66wasdi8eqf3"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phet.colorado.edu/sims/html/greenhouse-effect/latest/greenhouse-effect_all.html"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docs.google.com/document/d/1OYL8P-VmXLmU2aZGeU95RMUtoRudtTbaGO24rFNaL1A/edit?tab=t.0"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youtube.com/watch?v=sTvqIijqvTg"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Link to </a:t>
            </a:r>
            <a:r>
              <a:rPr lang="en" u="sng">
                <a:solidFill>
                  <a:schemeClr val="hlink"/>
                </a:solidFill>
                <a:hlinkClick r:id="rId3"/>
              </a:rPr>
              <a:t>Module 3.2 Lesson Plan</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BEFORE YOU START TEACHING</a:t>
            </a:r>
            <a:endParaRPr sz="1200" b="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the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Teacher Facilitation Guide</a:t>
            </a:r>
            <a:r>
              <a:rPr lang="en" sz="1200">
                <a:solidFill>
                  <a:schemeClr val="dk1"/>
                </a:solidFill>
                <a:latin typeface="Calibri"/>
                <a:ea typeface="Calibri"/>
                <a:cs typeface="Calibri"/>
                <a:sym typeface="Calibri"/>
              </a:rPr>
              <a:t> for an overview of content and the curriculum as well as helpful facilitation suggestions.</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For </a:t>
            </a:r>
            <a:r>
              <a:rPr lang="en" sz="1200" b="1">
                <a:solidFill>
                  <a:schemeClr val="dk1"/>
                </a:solidFill>
                <a:latin typeface="Calibri"/>
                <a:ea typeface="Calibri"/>
                <a:cs typeface="Calibri"/>
                <a:sym typeface="Calibri"/>
              </a:rPr>
              <a:t>Day 2</a:t>
            </a:r>
            <a:r>
              <a:rPr lang="en" sz="1200">
                <a:solidFill>
                  <a:schemeClr val="dk1"/>
                </a:solidFill>
                <a:latin typeface="Calibri"/>
                <a:ea typeface="Calibri"/>
                <a:cs typeface="Calibri"/>
                <a:sym typeface="Calibri"/>
              </a:rPr>
              <a:t>, Review </a:t>
            </a:r>
            <a:r>
              <a:rPr lang="en" sz="1200" u="sng">
                <a:solidFill>
                  <a:srgbClr val="1155CC"/>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Student PhET Instructions</a:t>
            </a:r>
            <a:r>
              <a:rPr lang="en" sz="1200">
                <a:solidFill>
                  <a:schemeClr val="dk1"/>
                </a:solidFill>
                <a:latin typeface="Calibri"/>
                <a:ea typeface="Calibri"/>
                <a:cs typeface="Calibri"/>
                <a:sym typeface="Calibri"/>
              </a:rPr>
              <a:t> (also in Science Journal, p. 30-33) to model or support students. Explore </a:t>
            </a:r>
            <a:r>
              <a:rPr lang="en" sz="1200" u="sng">
                <a:solidFill>
                  <a:srgbClr val="1155CC"/>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Greenhouse Effect: Waves Simulation</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Include a numbered list of general steps to set up the investigation before students arrive.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This can also include other things that educators should do or think about before starting the lesson, such as checking for safety concerns.</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_____________</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class begins, welcome students to the classroom and remind them that today, they will continue learning about carbon dioxide and its impact on the environment, and ultimately, how changes to carbon dioxide levels will impact the values they place on the ocean.</a:t>
            </a:r>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a5cdcc2edd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a5cdcc2edd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Open the slideshow to </a:t>
            </a:r>
            <a:r>
              <a:rPr lang="en" sz="1200" b="1">
                <a:solidFill>
                  <a:schemeClr val="dk1"/>
                </a:solidFill>
                <a:latin typeface="Calibri"/>
                <a:ea typeface="Calibri"/>
                <a:cs typeface="Calibri"/>
                <a:sym typeface="Calibri"/>
              </a:rPr>
              <a:t>Slide 2 </a:t>
            </a:r>
            <a:r>
              <a:rPr lang="en" sz="1200">
                <a:solidFill>
                  <a:schemeClr val="dk1"/>
                </a:solidFill>
                <a:latin typeface="Calibri"/>
                <a:ea typeface="Calibri"/>
                <a:cs typeface="Calibri"/>
                <a:sym typeface="Calibri"/>
              </a:rPr>
              <a:t>to introduce students to the overview of </a:t>
            </a:r>
            <a:r>
              <a:rPr lang="en" sz="1200" b="1">
                <a:solidFill>
                  <a:schemeClr val="dk1"/>
                </a:solidFill>
                <a:latin typeface="Calibri"/>
                <a:ea typeface="Calibri"/>
                <a:cs typeface="Calibri"/>
                <a:sym typeface="Calibri"/>
              </a:rPr>
              <a:t>Lesson 3.2.</a:t>
            </a:r>
            <a:endParaRPr sz="1200" b="1">
              <a:solidFill>
                <a:schemeClr val="dk1"/>
              </a:solidFill>
              <a:latin typeface="Calibri"/>
              <a:ea typeface="Calibri"/>
              <a:cs typeface="Calibri"/>
              <a:sym typeface="Calibri"/>
            </a:endParaRPr>
          </a:p>
          <a:p>
            <a:pPr marL="228600" lvl="0" indent="0" algn="l" rtl="0">
              <a:spcBef>
                <a:spcPts val="0"/>
              </a:spcBef>
              <a:spcAft>
                <a:spcPts val="0"/>
              </a:spcAft>
              <a:buNone/>
            </a:pPr>
            <a:endParaRPr sz="1200" b="1">
              <a:solidFill>
                <a:schemeClr val="dk1"/>
              </a:solidFill>
              <a:latin typeface="Calibri"/>
              <a:ea typeface="Calibri"/>
              <a:cs typeface="Calibri"/>
              <a:sym typeface="Calibri"/>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a5cdcc2edd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a5cdcc2edd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Tell students that for the first task of the lesson, you would like them to work with a partner to make some observation of a graph in the next few slides.</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spcBef>
                <a:spcPts val="0"/>
              </a:spcBef>
              <a:spcAft>
                <a:spcPts val="0"/>
              </a:spcAft>
              <a:buNone/>
            </a:pPr>
            <a:r>
              <a:rPr lang="en" sz="1200">
                <a:solidFill>
                  <a:schemeClr val="dk1"/>
                </a:solidFill>
                <a:latin typeface="Calibri"/>
                <a:ea typeface="Calibri"/>
                <a:cs typeface="Calibri"/>
                <a:sym typeface="Calibri"/>
              </a:rPr>
              <a:t>Over the next few slides, students will make observations on a slow reveal graph from NOAA, that shows the average temperature from 1895-2025 in the state of California. </a:t>
            </a:r>
            <a:endParaRPr sz="1200">
              <a:solidFill>
                <a:schemeClr val="dk1"/>
              </a:solidFill>
              <a:latin typeface="Calibri"/>
              <a:ea typeface="Calibri"/>
              <a:cs typeface="Calibri"/>
              <a:sym typeface="Calibri"/>
            </a:endParaRPr>
          </a:p>
          <a:p>
            <a:pPr marL="228600" lvl="0" indent="0" algn="l" rtl="0">
              <a:spcBef>
                <a:spcPts val="0"/>
              </a:spcBef>
              <a:spcAft>
                <a:spcPts val="0"/>
              </a:spcAft>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3</a:t>
            </a:r>
            <a:r>
              <a:rPr lang="en" sz="1200">
                <a:solidFill>
                  <a:schemeClr val="dk1"/>
                </a:solidFill>
                <a:latin typeface="Calibri"/>
                <a:ea typeface="Calibri"/>
                <a:cs typeface="Calibri"/>
                <a:sym typeface="Calibri"/>
              </a:rPr>
              <a:t>, where students will see the first part of a line graph with no axis or title. Ask students:</a:t>
            </a:r>
            <a:endParaRPr sz="1200">
              <a:solidFill>
                <a:schemeClr val="dk1"/>
              </a:solidFill>
              <a:latin typeface="Calibri"/>
              <a:ea typeface="Calibri"/>
              <a:cs typeface="Calibri"/>
              <a:sym typeface="Calibri"/>
            </a:endParaRPr>
          </a:p>
          <a:p>
            <a:pPr marL="685800" lvl="0" indent="-304800" algn="l" rtl="0">
              <a:lnSpc>
                <a:spcPct val="115000"/>
              </a:lnSpc>
              <a:spcBef>
                <a:spcPts val="0"/>
              </a:spcBef>
              <a:spcAft>
                <a:spcPts val="0"/>
              </a:spcAft>
              <a:buClr>
                <a:srgbClr val="0F0F0F"/>
              </a:buClr>
              <a:buSzPts val="1200"/>
              <a:buFont typeface="Calibri"/>
              <a:buChar char="●"/>
            </a:pPr>
            <a:r>
              <a:rPr lang="en" sz="1200">
                <a:solidFill>
                  <a:srgbClr val="0F0F0F"/>
                </a:solidFill>
                <a:latin typeface="Calibri"/>
                <a:ea typeface="Calibri"/>
                <a:cs typeface="Calibri"/>
                <a:sym typeface="Calibri"/>
              </a:rPr>
              <a:t>What do you notice? What do you wonder?</a:t>
            </a:r>
            <a:endParaRPr sz="1200">
              <a:solidFill>
                <a:srgbClr val="0F0F0F"/>
              </a:solidFill>
              <a:latin typeface="Calibri"/>
              <a:ea typeface="Calibri"/>
              <a:cs typeface="Calibri"/>
              <a:sym typeface="Calibri"/>
            </a:endParaRPr>
          </a:p>
          <a:p>
            <a:pPr marL="685800" lvl="0" indent="-304800" algn="l" rtl="0">
              <a:lnSpc>
                <a:spcPct val="115000"/>
              </a:lnSpc>
              <a:spcBef>
                <a:spcPts val="0"/>
              </a:spcBef>
              <a:spcAft>
                <a:spcPts val="0"/>
              </a:spcAft>
              <a:buClr>
                <a:srgbClr val="0F0F0F"/>
              </a:buClr>
              <a:buSzPts val="1200"/>
              <a:buFont typeface="Calibri"/>
              <a:buChar char="●"/>
            </a:pPr>
            <a:r>
              <a:rPr lang="en" sz="1200">
                <a:solidFill>
                  <a:srgbClr val="0F0F0F"/>
                </a:solidFill>
                <a:latin typeface="Calibri"/>
                <a:ea typeface="Calibri"/>
                <a:cs typeface="Calibri"/>
                <a:sym typeface="Calibri"/>
              </a:rPr>
              <a:t>How would you describe the trends that you see?</a:t>
            </a:r>
            <a:endParaRPr sz="1200">
              <a:solidFill>
                <a:srgbClr val="0F0F0F"/>
              </a:solidFill>
              <a:latin typeface="Calibri"/>
              <a:ea typeface="Calibri"/>
              <a:cs typeface="Calibri"/>
              <a:sym typeface="Calibri"/>
            </a:endParaRPr>
          </a:p>
          <a:p>
            <a:pPr marL="2286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a5cdcc2edd_0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a5cdcc2edd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rgbClr val="0F0F0F"/>
              </a:buClr>
              <a:buSzPts val="1200"/>
              <a:buFont typeface="Calibri"/>
              <a:buAutoNum type="arabicPeriod"/>
            </a:pPr>
            <a:r>
              <a:rPr lang="en" sz="1200">
                <a:solidFill>
                  <a:srgbClr val="0F0F0F"/>
                </a:solidFill>
                <a:latin typeface="Calibri"/>
                <a:ea typeface="Calibri"/>
                <a:cs typeface="Calibri"/>
                <a:sym typeface="Calibri"/>
              </a:rPr>
              <a:t>After students have had a chance to share, advance to </a:t>
            </a:r>
            <a:r>
              <a:rPr lang="en" sz="1200" b="1">
                <a:solidFill>
                  <a:srgbClr val="0F0F0F"/>
                </a:solidFill>
                <a:latin typeface="Calibri"/>
                <a:ea typeface="Calibri"/>
                <a:cs typeface="Calibri"/>
                <a:sym typeface="Calibri"/>
              </a:rPr>
              <a:t>Slide 4</a:t>
            </a:r>
            <a:r>
              <a:rPr lang="en" sz="1200">
                <a:solidFill>
                  <a:srgbClr val="0F0F0F"/>
                </a:solidFill>
                <a:latin typeface="Calibri"/>
                <a:ea typeface="Calibri"/>
                <a:cs typeface="Calibri"/>
                <a:sym typeface="Calibri"/>
              </a:rPr>
              <a:t>, and reveal the x-axis which shows the years 1895-2025 and the y-axis that shows the average temperature. Ask students: </a:t>
            </a:r>
            <a:endParaRPr sz="1200">
              <a:solidFill>
                <a:srgbClr val="0F0F0F"/>
              </a:solidFill>
              <a:latin typeface="Calibri"/>
              <a:ea typeface="Calibri"/>
              <a:cs typeface="Calibri"/>
              <a:sym typeface="Calibri"/>
            </a:endParaRPr>
          </a:p>
          <a:p>
            <a:pPr marL="685800" lvl="1" indent="-304800" algn="l" rtl="0">
              <a:lnSpc>
                <a:spcPct val="115000"/>
              </a:lnSpc>
              <a:spcBef>
                <a:spcPts val="0"/>
              </a:spcBef>
              <a:spcAft>
                <a:spcPts val="0"/>
              </a:spcAft>
              <a:buClr>
                <a:srgbClr val="0F0F0F"/>
              </a:buClr>
              <a:buSzPts val="1200"/>
              <a:buFont typeface="Calibri"/>
              <a:buChar char="●"/>
            </a:pPr>
            <a:r>
              <a:rPr lang="en" sz="1200">
                <a:solidFill>
                  <a:srgbClr val="0F0F0F"/>
                </a:solidFill>
                <a:latin typeface="Calibri"/>
                <a:ea typeface="Calibri"/>
                <a:cs typeface="Calibri"/>
                <a:sym typeface="Calibri"/>
              </a:rPr>
              <a:t>What new information do you have? What else do you wonder?</a:t>
            </a:r>
            <a:endParaRPr sz="1200">
              <a:solidFill>
                <a:srgbClr val="0F0F0F"/>
              </a:solidFill>
              <a:latin typeface="Calibri"/>
              <a:ea typeface="Calibri"/>
              <a:cs typeface="Calibri"/>
              <a:sym typeface="Calibri"/>
            </a:endParaRPr>
          </a:p>
          <a:p>
            <a:pPr marL="685800" lvl="1" indent="-304800" algn="l" rtl="0">
              <a:lnSpc>
                <a:spcPct val="115000"/>
              </a:lnSpc>
              <a:spcBef>
                <a:spcPts val="0"/>
              </a:spcBef>
              <a:spcAft>
                <a:spcPts val="0"/>
              </a:spcAft>
              <a:buClr>
                <a:srgbClr val="0F0F0F"/>
              </a:buClr>
              <a:buSzPts val="1200"/>
              <a:buFont typeface="Calibri"/>
              <a:buChar char="●"/>
            </a:pPr>
            <a:r>
              <a:rPr lang="en" sz="1200">
                <a:solidFill>
                  <a:srgbClr val="0F0F0F"/>
                </a:solidFill>
                <a:latin typeface="Calibri"/>
                <a:ea typeface="Calibri"/>
                <a:cs typeface="Calibri"/>
                <a:sym typeface="Calibri"/>
              </a:rPr>
              <a:t>How would you describe the trends that you see?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a5cdcc2edd_0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a5cdcc2edd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rgbClr val="0F0F0F"/>
              </a:buClr>
              <a:buSzPts val="1200"/>
              <a:buFont typeface="Calibri"/>
              <a:buAutoNum type="arabicPeriod"/>
            </a:pPr>
            <a:r>
              <a:rPr lang="en" sz="1200">
                <a:solidFill>
                  <a:srgbClr val="0F0F0F"/>
                </a:solidFill>
                <a:latin typeface="Calibri"/>
                <a:ea typeface="Calibri"/>
                <a:cs typeface="Calibri"/>
                <a:sym typeface="Calibri"/>
              </a:rPr>
              <a:t>Next advance to </a:t>
            </a:r>
            <a:r>
              <a:rPr lang="en" sz="1200" b="1">
                <a:solidFill>
                  <a:srgbClr val="0F0F0F"/>
                </a:solidFill>
                <a:latin typeface="Calibri"/>
                <a:ea typeface="Calibri"/>
                <a:cs typeface="Calibri"/>
                <a:sym typeface="Calibri"/>
              </a:rPr>
              <a:t>Slide 5</a:t>
            </a:r>
            <a:r>
              <a:rPr lang="en" sz="1200">
                <a:solidFill>
                  <a:srgbClr val="0F0F0F"/>
                </a:solidFill>
                <a:latin typeface="Calibri"/>
                <a:ea typeface="Calibri"/>
                <a:cs typeface="Calibri"/>
                <a:sym typeface="Calibri"/>
              </a:rPr>
              <a:t>, which shows the title of the graph. Give students another moment to think and ask them:</a:t>
            </a:r>
            <a:endParaRPr sz="1200">
              <a:solidFill>
                <a:srgbClr val="0F0F0F"/>
              </a:solidFill>
              <a:latin typeface="Calibri"/>
              <a:ea typeface="Calibri"/>
              <a:cs typeface="Calibri"/>
              <a:sym typeface="Calibri"/>
            </a:endParaRPr>
          </a:p>
          <a:p>
            <a:pPr marL="685800" lvl="1" indent="-304800" algn="l" rtl="0">
              <a:lnSpc>
                <a:spcPct val="115000"/>
              </a:lnSpc>
              <a:spcBef>
                <a:spcPts val="0"/>
              </a:spcBef>
              <a:spcAft>
                <a:spcPts val="0"/>
              </a:spcAft>
              <a:buClr>
                <a:srgbClr val="0F0F0F"/>
              </a:buClr>
              <a:buSzPts val="1200"/>
              <a:buFont typeface="Calibri"/>
              <a:buChar char="●"/>
            </a:pPr>
            <a:r>
              <a:rPr lang="en" sz="1200">
                <a:solidFill>
                  <a:srgbClr val="0F0F0F"/>
                </a:solidFill>
                <a:latin typeface="Calibri"/>
                <a:ea typeface="Calibri"/>
                <a:cs typeface="Calibri"/>
                <a:sym typeface="Calibri"/>
              </a:rPr>
              <a:t>How would you describe the trends that you see now that you have this new information?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a5cdcc2edd_0_1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a5cdcc2edd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rgbClr val="0F0F0F"/>
              </a:buClr>
              <a:buSzPts val="1200"/>
              <a:buFont typeface="Calibri"/>
              <a:buAutoNum type="arabicPeriod"/>
            </a:pPr>
            <a:r>
              <a:rPr lang="en" sz="1200">
                <a:solidFill>
                  <a:srgbClr val="0F0F0F"/>
                </a:solidFill>
                <a:latin typeface="Calibri"/>
                <a:ea typeface="Calibri"/>
                <a:cs typeface="Calibri"/>
                <a:sym typeface="Calibri"/>
              </a:rPr>
              <a:t>Lastly, advance to </a:t>
            </a:r>
            <a:r>
              <a:rPr lang="en" sz="1200" b="1">
                <a:solidFill>
                  <a:srgbClr val="0F0F0F"/>
                </a:solidFill>
                <a:latin typeface="Calibri"/>
                <a:ea typeface="Calibri"/>
                <a:cs typeface="Calibri"/>
                <a:sym typeface="Calibri"/>
              </a:rPr>
              <a:t>Slide 6</a:t>
            </a:r>
            <a:r>
              <a:rPr lang="en" sz="1200">
                <a:solidFill>
                  <a:srgbClr val="0F0F0F"/>
                </a:solidFill>
                <a:latin typeface="Calibri"/>
                <a:ea typeface="Calibri"/>
                <a:cs typeface="Calibri"/>
                <a:sym typeface="Calibri"/>
              </a:rPr>
              <a:t> to add the 1895-2025 trendline to the graph. Ask students:</a:t>
            </a:r>
            <a:endParaRPr sz="1200">
              <a:solidFill>
                <a:srgbClr val="0F0F0F"/>
              </a:solidFill>
              <a:latin typeface="Calibri"/>
              <a:ea typeface="Calibri"/>
              <a:cs typeface="Calibri"/>
              <a:sym typeface="Calibri"/>
            </a:endParaRPr>
          </a:p>
          <a:p>
            <a:pPr marL="685800" lvl="1" indent="-304800" algn="l" rtl="0">
              <a:lnSpc>
                <a:spcPct val="115000"/>
              </a:lnSpc>
              <a:spcBef>
                <a:spcPts val="0"/>
              </a:spcBef>
              <a:spcAft>
                <a:spcPts val="0"/>
              </a:spcAft>
              <a:buClr>
                <a:srgbClr val="0F0F0F"/>
              </a:buClr>
              <a:buSzPts val="1200"/>
              <a:buFont typeface="Calibri"/>
              <a:buChar char="●"/>
            </a:pPr>
            <a:r>
              <a:rPr lang="en" sz="1200">
                <a:solidFill>
                  <a:srgbClr val="0F0F0F"/>
                </a:solidFill>
                <a:latin typeface="Calibri"/>
                <a:ea typeface="Calibri"/>
                <a:cs typeface="Calibri"/>
                <a:sym typeface="Calibri"/>
              </a:rPr>
              <a:t>What do you notice about this new information? What is it telling us?</a:t>
            </a:r>
            <a:endParaRPr sz="1200">
              <a:solidFill>
                <a:srgbClr val="0F0F0F"/>
              </a:solidFill>
              <a:latin typeface="Calibri"/>
              <a:ea typeface="Calibri"/>
              <a:cs typeface="Calibri"/>
              <a:sym typeface="Calibri"/>
            </a:endParaRPr>
          </a:p>
          <a:p>
            <a:pPr marL="685800" lvl="1" indent="-304800" algn="l" rtl="0">
              <a:lnSpc>
                <a:spcPct val="115000"/>
              </a:lnSpc>
              <a:spcBef>
                <a:spcPts val="0"/>
              </a:spcBef>
              <a:spcAft>
                <a:spcPts val="0"/>
              </a:spcAft>
              <a:buClr>
                <a:srgbClr val="0F0F0F"/>
              </a:buClr>
              <a:buSzPts val="1200"/>
              <a:buFont typeface="Calibri"/>
              <a:buChar char="●"/>
            </a:pPr>
            <a:r>
              <a:rPr lang="en" sz="1200">
                <a:solidFill>
                  <a:srgbClr val="0F0F0F"/>
                </a:solidFill>
                <a:latin typeface="Calibri"/>
                <a:ea typeface="Calibri"/>
                <a:cs typeface="Calibri"/>
                <a:sym typeface="Calibri"/>
              </a:rPr>
              <a:t>Why do you think we are noticing this trend?</a:t>
            </a:r>
            <a:endParaRPr sz="1200">
              <a:solidFill>
                <a:srgbClr val="0F0F0F"/>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rgbClr val="FF0000"/>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Tell students that today, they are going to begin exploring what is causing the trend they are seeing with temperature in California.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a5cdcc2edd_0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a5cdcc2edd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To begin exploring how the average temperature has changed in California over time, tell students that you will first explore a scenario they can relate to, keeping warm at night.</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the slideshow to </a:t>
            </a:r>
            <a:r>
              <a:rPr lang="en" sz="1200" b="1">
                <a:solidFill>
                  <a:schemeClr val="dk1"/>
                </a:solidFill>
                <a:latin typeface="Calibri"/>
                <a:ea typeface="Calibri"/>
                <a:cs typeface="Calibri"/>
                <a:sym typeface="Calibri"/>
              </a:rPr>
              <a:t>Slide 7, </a:t>
            </a:r>
            <a:r>
              <a:rPr lang="en" sz="1200">
                <a:solidFill>
                  <a:schemeClr val="dk1"/>
                </a:solidFill>
                <a:latin typeface="Calibri"/>
                <a:ea typeface="Calibri"/>
                <a:cs typeface="Calibri"/>
                <a:sym typeface="Calibri"/>
              </a:rPr>
              <a:t>where you see an image of a person laying in bed without a blanket. Ask the class the following questions.</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Where is heat coming from in this picture?</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Where does the heat go once it leaves its source?</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 students share their responses, transition  the slideshow to display arrows that show heat moving from the heat source (person) into the open air.</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Then ask students:</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would you do if you needed to keep warm?</a:t>
            </a:r>
            <a:endParaRPr sz="12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b28cc9bb73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b28cc9bb7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share, reinforce ideas that relate to putting on extra layers, like a blanket. Advance to </a:t>
            </a:r>
            <a:r>
              <a:rPr lang="en" sz="1200" b="1">
                <a:solidFill>
                  <a:schemeClr val="dk1"/>
                </a:solidFill>
                <a:latin typeface="Calibri"/>
                <a:ea typeface="Calibri"/>
                <a:cs typeface="Calibri"/>
                <a:sym typeface="Calibri"/>
              </a:rPr>
              <a:t>Slide 8</a:t>
            </a:r>
            <a:r>
              <a:rPr lang="en" sz="1200">
                <a:solidFill>
                  <a:schemeClr val="dk1"/>
                </a:solidFill>
                <a:latin typeface="Calibri"/>
                <a:ea typeface="Calibri"/>
                <a:cs typeface="Calibri"/>
                <a:sym typeface="Calibri"/>
              </a:rPr>
              <a:t> where you see the same image, but this time, with a blanket covering the person. Ask the class the following questions.</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Where is heat coming from in this picture?</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Where does the heat go once it leaves its source?</a:t>
            </a:r>
            <a:endParaRPr sz="1200">
              <a:solidFill>
                <a:schemeClr val="dk1"/>
              </a:solidFill>
              <a:latin typeface="Calibri"/>
              <a:ea typeface="Calibri"/>
              <a:cs typeface="Calibri"/>
              <a:sym typeface="Calibri"/>
            </a:endParaRPr>
          </a:p>
          <a:p>
            <a:pPr marL="9144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 students share responses, listen for responses that you could build upon later, such as the blanket trapping heat.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4ac343a9b0_0_54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4ac343a9b0_0_54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9</a:t>
            </a:r>
            <a:r>
              <a:rPr lang="en" sz="1200">
                <a:solidFill>
                  <a:schemeClr val="dk1"/>
                </a:solidFill>
                <a:latin typeface="Calibri"/>
                <a:ea typeface="Calibri"/>
                <a:cs typeface="Calibri"/>
                <a:sym typeface="Calibri"/>
              </a:rPr>
              <a:t> and tell students that you would like for them to now apply what they have just discussed to a similar process with Earth. To do so, they will draw a model.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b32cbd2d34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b32cbd2d34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Hand each student group a blank sheet of paper and advance to </a:t>
            </a:r>
            <a:r>
              <a:rPr lang="en" sz="1200" b="1">
                <a:solidFill>
                  <a:schemeClr val="dk1"/>
                </a:solidFill>
                <a:latin typeface="Calibri"/>
                <a:ea typeface="Calibri"/>
                <a:cs typeface="Calibri"/>
                <a:sym typeface="Calibri"/>
              </a:rPr>
              <a:t>Slide 10, </a:t>
            </a:r>
            <a:r>
              <a:rPr lang="en" sz="1200">
                <a:solidFill>
                  <a:schemeClr val="dk1"/>
                </a:solidFill>
                <a:latin typeface="Calibri"/>
                <a:ea typeface="Calibri"/>
                <a:cs typeface="Calibri"/>
                <a:sym typeface="Calibri"/>
              </a:rPr>
              <a:t>which shows them how to set up their paper. Optional use: Science Journal, </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3.2 Student Task: Model and Compare Natural vs. CO2 Atmosphere model, p. 28</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Transition the slide to show the phrase “</a:t>
            </a:r>
            <a:r>
              <a:rPr lang="en" sz="1200" b="1">
                <a:solidFill>
                  <a:schemeClr val="dk1"/>
                </a:solidFill>
                <a:latin typeface="Calibri"/>
                <a:ea typeface="Calibri"/>
                <a:cs typeface="Calibri"/>
                <a:sym typeface="Calibri"/>
              </a:rPr>
              <a:t>Normal Atmosphere”</a:t>
            </a:r>
            <a:r>
              <a:rPr lang="en" sz="1200">
                <a:solidFill>
                  <a:schemeClr val="dk1"/>
                </a:solidFill>
                <a:latin typeface="Calibri"/>
                <a:ea typeface="Calibri"/>
                <a:cs typeface="Calibri"/>
                <a:sym typeface="Calibri"/>
              </a:rPr>
              <a:t> appears in the first box. Give student the following task:</a:t>
            </a:r>
            <a:endParaRPr sz="1200">
              <a:solidFill>
                <a:schemeClr val="dk1"/>
              </a:solidFill>
              <a:latin typeface="Calibri"/>
              <a:ea typeface="Calibri"/>
              <a:cs typeface="Calibri"/>
              <a:sym typeface="Calibri"/>
            </a:endParaRPr>
          </a:p>
          <a:p>
            <a:pPr marL="6858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Draw and label what you think happens to the sun’s light energy as it interacts with the normal atmosphere of Earth that hasn’t been impacted by other processes.</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 groups draw their model, walk around and support their thinking by asking probing and pressing questions.</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 you think the sun’s light energy interacts with the Earth? How does it interact with the atmosphere?</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Think back to the blanket model, what purpose did the blanket serve? Is there something similar or different happening with Earth?</a:t>
            </a:r>
            <a:endParaRPr sz="1200">
              <a:solidFill>
                <a:schemeClr val="dk1"/>
              </a:solidFill>
              <a:latin typeface="Calibri"/>
              <a:ea typeface="Calibri"/>
              <a:cs typeface="Calibri"/>
              <a:sym typeface="Calibri"/>
            </a:endParaRPr>
          </a:p>
          <a:p>
            <a:pPr marL="9144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are finishing up their model, gather the group back together to share their findings from their initial model.</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b28cc9bb73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b28cc9bb73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After students have shared their ideas, advance to </a:t>
            </a:r>
            <a:r>
              <a:rPr lang="en" sz="1200" b="1">
                <a:solidFill>
                  <a:schemeClr val="dk1"/>
                </a:solidFill>
                <a:latin typeface="Calibri"/>
                <a:ea typeface="Calibri"/>
                <a:cs typeface="Calibri"/>
                <a:sym typeface="Calibri"/>
              </a:rPr>
              <a:t>Slide 11</a:t>
            </a:r>
            <a:r>
              <a:rPr lang="en" sz="1200">
                <a:solidFill>
                  <a:schemeClr val="dk1"/>
                </a:solidFill>
                <a:latin typeface="Calibri"/>
                <a:ea typeface="Calibri"/>
                <a:cs typeface="Calibri"/>
                <a:sym typeface="Calibri"/>
              </a:rPr>
              <a:t> and ask students to share the pieces they included in their model.</a:t>
            </a:r>
            <a:endParaRPr sz="1200">
              <a:solidFill>
                <a:schemeClr val="dk1"/>
              </a:solidFill>
              <a:latin typeface="Calibri"/>
              <a:ea typeface="Calibri"/>
              <a:cs typeface="Calibri"/>
              <a:sym typeface="Calibri"/>
            </a:endParaRPr>
          </a:p>
          <a:p>
            <a:pPr marL="6858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did the sun’s energy interact with the Earth?</a:t>
            </a:r>
            <a:endParaRPr sz="1200">
              <a:solidFill>
                <a:schemeClr val="dk1"/>
              </a:solidFill>
              <a:latin typeface="Calibri"/>
              <a:ea typeface="Calibri"/>
              <a:cs typeface="Calibri"/>
              <a:sym typeface="Calibri"/>
            </a:endParaRPr>
          </a:p>
          <a:p>
            <a:pPr marL="685800" lvl="1"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Where did the sun’s energy go once it got to Earth? </a:t>
            </a:r>
            <a:endParaRPr sz="1200">
              <a:solidFill>
                <a:schemeClr val="dk1"/>
              </a:solidFill>
              <a:latin typeface="Calibri"/>
              <a:ea typeface="Calibri"/>
              <a:cs typeface="Calibri"/>
              <a:sym typeface="Calibri"/>
            </a:endParaRPr>
          </a:p>
          <a:p>
            <a:pPr marL="91440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0" algn="l" rtl="0">
              <a:lnSpc>
                <a:spcPct val="115000"/>
              </a:lnSpc>
              <a:spcBef>
                <a:spcPts val="0"/>
              </a:spcBef>
              <a:spcAft>
                <a:spcPts val="0"/>
              </a:spcAft>
              <a:buNone/>
            </a:pPr>
            <a:r>
              <a:rPr lang="en" sz="1200">
                <a:solidFill>
                  <a:schemeClr val="dk1"/>
                </a:solidFill>
                <a:latin typeface="Calibri"/>
                <a:ea typeface="Calibri"/>
                <a:cs typeface="Calibri"/>
                <a:sym typeface="Calibri"/>
              </a:rPr>
              <a:t>As students share, listen for and reinforce two ideas 1) light energy enters the atmosphere and leaves as heat energy, or 2) heat energy gets trapped within Earth and heats the planet. You will build upon the second one in the following session as they learned about elevated CO₂ levels due to human emissions.</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 example model: </a:t>
            </a:r>
            <a:r>
              <a:rPr lang="en" sz="1050" u="sng">
                <a:solidFill>
                  <a:srgbClr val="0B57D0"/>
                </a:solidFill>
                <a:latin typeface="Roboto"/>
                <a:ea typeface="Roboto"/>
                <a:cs typeface="Roboto"/>
                <a:sym typeface="Roboto"/>
                <a:hlinkClick r:id="rId3">
                  <a:extLst>
                    <a:ext uri="{A12FA001-AC4F-418D-AE19-62706E023703}">
                      <ahyp:hlinkClr xmlns:ahyp="http://schemas.microsoft.com/office/drawing/2018/hyperlinkcolor" val="tx"/>
                    </a:ext>
                  </a:extLst>
                </a:hlinkClick>
              </a:rPr>
              <a:t>https://www.climatecentral.org/graphic/heat-trapping-pollution-2024?graphicSet=Greenhouse+Effect&amp;location=national&amp;lang=en</a:t>
            </a:r>
            <a:endParaRPr sz="1200">
              <a:solidFill>
                <a:schemeClr val="dk1"/>
              </a:solidFill>
              <a:latin typeface="Calibri"/>
              <a:ea typeface="Calibri"/>
              <a:cs typeface="Calibri"/>
              <a:sym typeface="Calibri"/>
            </a:endParaRPr>
          </a:p>
          <a:p>
            <a:pPr marL="228600" lvl="0" indent="-228600" algn="l" rtl="0">
              <a:spcBef>
                <a:spcPts val="0"/>
              </a:spcBef>
              <a:spcAft>
                <a:spcPts val="0"/>
              </a:spcAft>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share their responses, ask the following questions</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 you think humans have impacted this natural process?</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have we already learned that can help us expand our model?</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Where might we learn more about this?</a:t>
            </a:r>
            <a:endParaRPr sz="1200">
              <a:solidFill>
                <a:schemeClr val="dk1"/>
              </a:solidFill>
              <a:latin typeface="Calibri"/>
              <a:ea typeface="Calibri"/>
              <a:cs typeface="Calibri"/>
              <a:sym typeface="Calibri"/>
            </a:endParaRPr>
          </a:p>
          <a:p>
            <a:pPr marL="228600" lvl="0" indent="-228600" algn="l" rtl="0">
              <a:spcBef>
                <a:spcPts val="0"/>
              </a:spcBef>
              <a:spcAft>
                <a:spcPts val="0"/>
              </a:spcAft>
              <a:buNone/>
            </a:pPr>
            <a:endParaRPr sz="1200">
              <a:solidFill>
                <a:schemeClr val="dk1"/>
              </a:solidFill>
              <a:latin typeface="Calibri"/>
              <a:ea typeface="Calibri"/>
              <a:cs typeface="Calibri"/>
              <a:sym typeface="Calibri"/>
            </a:endParaRPr>
          </a:p>
          <a:p>
            <a:pPr marL="228600" lvl="0" indent="0" algn="l" rtl="0">
              <a:spcBef>
                <a:spcPts val="0"/>
              </a:spcBef>
              <a:spcAft>
                <a:spcPts val="0"/>
              </a:spcAft>
              <a:buNone/>
            </a:pPr>
            <a:r>
              <a:rPr lang="en" sz="1200">
                <a:solidFill>
                  <a:schemeClr val="dk1"/>
                </a:solidFill>
                <a:latin typeface="Calibri"/>
                <a:ea typeface="Calibri"/>
                <a:cs typeface="Calibri"/>
                <a:sym typeface="Calibri"/>
              </a:rPr>
              <a:t>As students share, listen for connections back to Module 3.1, and human’s impact on carbon dioxide levels in the atmosphere, this is what the following day for the lesson will focus on.</a:t>
            </a:r>
            <a:endParaRPr sz="12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b32cbd2d34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b32cbd2d34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wrap up for the day, their final task for the day is to reflect on the process of learning about the Earth’s atmosphere.</a:t>
            </a:r>
            <a:endParaRPr sz="1200">
              <a:solidFill>
                <a:schemeClr val="dk1"/>
              </a:solidFill>
              <a:latin typeface="Calibri"/>
              <a:ea typeface="Calibri"/>
              <a:cs typeface="Calibri"/>
              <a:sym typeface="Calibri"/>
            </a:endParaRPr>
          </a:p>
          <a:p>
            <a:pPr marL="457200" lvl="0" indent="0" algn="l" rtl="0">
              <a:lnSpc>
                <a:spcPct val="115000"/>
              </a:lnSpc>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12</a:t>
            </a:r>
            <a:r>
              <a:rPr lang="en" sz="1200">
                <a:solidFill>
                  <a:schemeClr val="dk1"/>
                </a:solidFill>
                <a:latin typeface="Calibri"/>
                <a:ea typeface="Calibri"/>
                <a:cs typeface="Calibri"/>
                <a:sym typeface="Calibri"/>
              </a:rPr>
              <a:t> and have student teams work together to answer the following questions together on </a:t>
            </a:r>
            <a:r>
              <a:rPr lang="en" sz="1200" b="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3.2 Day 1 Carbon Dioxide &amp; Weather (Student Reflection), p. 29</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in their Science Journals.</a:t>
            </a:r>
            <a:endParaRPr sz="1200">
              <a:solidFill>
                <a:schemeClr val="dk1"/>
              </a:solidFill>
              <a:latin typeface="Calibri"/>
              <a:ea typeface="Calibri"/>
              <a:cs typeface="Calibri"/>
              <a:sym typeface="Calibri"/>
            </a:endParaRPr>
          </a:p>
          <a:p>
            <a:pPr marL="6858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might trapped heat and changes in weather patterns impact things your community cares about, like beaches, fishing, or wildlife? Consider both </a:t>
            </a:r>
            <a:r>
              <a:rPr lang="en" sz="1200" b="1">
                <a:solidFill>
                  <a:schemeClr val="dk1"/>
                </a:solidFill>
                <a:latin typeface="Calibri"/>
                <a:ea typeface="Calibri"/>
                <a:cs typeface="Calibri"/>
                <a:sym typeface="Calibri"/>
              </a:rPr>
              <a:t>direct effects</a:t>
            </a:r>
            <a:r>
              <a:rPr lang="en" sz="1200">
                <a:solidFill>
                  <a:schemeClr val="dk1"/>
                </a:solidFill>
                <a:latin typeface="Calibri"/>
                <a:ea typeface="Calibri"/>
                <a:cs typeface="Calibri"/>
                <a:sym typeface="Calibri"/>
              </a:rPr>
              <a:t> (e.g., warmer ocean water, stronger storms) and </a:t>
            </a:r>
            <a:r>
              <a:rPr lang="en" sz="1200" b="1">
                <a:solidFill>
                  <a:schemeClr val="dk1"/>
                </a:solidFill>
                <a:latin typeface="Calibri"/>
                <a:ea typeface="Calibri"/>
                <a:cs typeface="Calibri"/>
                <a:sym typeface="Calibri"/>
              </a:rPr>
              <a:t>indirect effects</a:t>
            </a:r>
            <a:r>
              <a:rPr lang="en" sz="1200">
                <a:solidFill>
                  <a:schemeClr val="dk1"/>
                </a:solidFill>
                <a:latin typeface="Calibri"/>
                <a:ea typeface="Calibri"/>
                <a:cs typeface="Calibri"/>
                <a:sym typeface="Calibri"/>
              </a:rPr>
              <a:t> (e.g., changes in recreation, local economy, or ecosystems).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b28cc9bb73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b28cc9bb73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Link to </a:t>
            </a:r>
            <a:r>
              <a:rPr lang="en" u="sng">
                <a:solidFill>
                  <a:schemeClr val="hlink"/>
                </a:solidFill>
                <a:hlinkClick r:id="rId3"/>
              </a:rPr>
              <a:t>Module 3.2 Lesson Plan</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BEFORE YOU START TEACHING</a:t>
            </a:r>
            <a:endParaRPr sz="1200" b="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the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Teacher Facilitation Guide</a:t>
            </a:r>
            <a:r>
              <a:rPr lang="en" sz="1200">
                <a:solidFill>
                  <a:schemeClr val="dk1"/>
                </a:solidFill>
                <a:latin typeface="Calibri"/>
                <a:ea typeface="Calibri"/>
                <a:cs typeface="Calibri"/>
                <a:sym typeface="Calibri"/>
              </a:rPr>
              <a:t> for an overview of content and the curriculum as well as helpful facilitation suggestions.</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For </a:t>
            </a:r>
            <a:r>
              <a:rPr lang="en" sz="1200" b="1">
                <a:solidFill>
                  <a:schemeClr val="dk1"/>
                </a:solidFill>
                <a:latin typeface="Calibri"/>
                <a:ea typeface="Calibri"/>
                <a:cs typeface="Calibri"/>
                <a:sym typeface="Calibri"/>
              </a:rPr>
              <a:t>Day 2</a:t>
            </a:r>
            <a:r>
              <a:rPr lang="en" sz="1200">
                <a:solidFill>
                  <a:schemeClr val="dk1"/>
                </a:solidFill>
                <a:latin typeface="Calibri"/>
                <a:ea typeface="Calibri"/>
                <a:cs typeface="Calibri"/>
                <a:sym typeface="Calibri"/>
              </a:rPr>
              <a:t>, Review </a:t>
            </a:r>
            <a:r>
              <a:rPr lang="en" sz="1200" u="sng">
                <a:solidFill>
                  <a:srgbClr val="1155CC"/>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Student PhET Instructions</a:t>
            </a:r>
            <a:r>
              <a:rPr lang="en" sz="1200">
                <a:solidFill>
                  <a:schemeClr val="dk1"/>
                </a:solidFill>
                <a:latin typeface="Calibri"/>
                <a:ea typeface="Calibri"/>
                <a:cs typeface="Calibri"/>
                <a:sym typeface="Calibri"/>
              </a:rPr>
              <a:t> (also in Science Journal, p. 30-33) to model or support students. Explore </a:t>
            </a:r>
            <a:r>
              <a:rPr lang="en" sz="1200" u="sng">
                <a:solidFill>
                  <a:srgbClr val="1155CC"/>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Greenhouse Effect: Waves Simulation</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Include a numbered list of general steps to set up the investigation before students arrive.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This can also include other things that educators should do or think about before starting the lesson, such as checking for safety concerns.</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_________</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Welcome students back to day two of the CO₂ investigation. Open the slideshow to </a:t>
            </a:r>
            <a:r>
              <a:rPr lang="en" sz="1200" b="1">
                <a:solidFill>
                  <a:schemeClr val="dk1"/>
                </a:solidFill>
                <a:latin typeface="Calibri"/>
                <a:ea typeface="Calibri"/>
                <a:cs typeface="Calibri"/>
                <a:sym typeface="Calibri"/>
              </a:rPr>
              <a:t>Slide 13,</a:t>
            </a:r>
            <a:r>
              <a:rPr lang="en" sz="1200">
                <a:solidFill>
                  <a:schemeClr val="dk1"/>
                </a:solidFill>
                <a:latin typeface="Calibri"/>
                <a:ea typeface="Calibri"/>
                <a:cs typeface="Calibri"/>
                <a:sym typeface="Calibri"/>
              </a:rPr>
              <a:t> where day two starts.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b32cbd2d34_0_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3b32cbd2d34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Ask students to get back into their student teams from the last lesson, and when they are ready, advance to </a:t>
            </a:r>
            <a:r>
              <a:rPr lang="en" sz="1200" b="1">
                <a:solidFill>
                  <a:schemeClr val="dk1"/>
                </a:solidFill>
                <a:latin typeface="Calibri"/>
                <a:ea typeface="Calibri"/>
                <a:cs typeface="Calibri"/>
                <a:sym typeface="Calibri"/>
              </a:rPr>
              <a:t>Slide 14</a:t>
            </a:r>
            <a:r>
              <a:rPr lang="en" sz="1200">
                <a:solidFill>
                  <a:schemeClr val="dk1"/>
                </a:solidFill>
                <a:latin typeface="Calibri"/>
                <a:ea typeface="Calibri"/>
                <a:cs typeface="Calibri"/>
                <a:sym typeface="Calibri"/>
              </a:rPr>
              <a:t>, where they will see an image of the model they began in the previous session. </a:t>
            </a:r>
            <a:endParaRPr sz="1200">
              <a:solidFill>
                <a:schemeClr val="dk1"/>
              </a:solidFill>
              <a:latin typeface="Calibri"/>
              <a:ea typeface="Calibri"/>
              <a:cs typeface="Calibri"/>
              <a:sym typeface="Calibri"/>
            </a:endParaRPr>
          </a:p>
          <a:p>
            <a:pPr marL="228600" lvl="0" indent="-22860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a class, ask the students the following questions from the last session to get them started.</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 you think humans have impacted this natural process?</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have we already learned that can help us expand our model?</a:t>
            </a:r>
            <a:endParaRPr sz="1200">
              <a:solidFill>
                <a:schemeClr val="dk1"/>
              </a:solidFill>
              <a:latin typeface="Calibri"/>
              <a:ea typeface="Calibri"/>
              <a:cs typeface="Calibri"/>
              <a:sym typeface="Calibri"/>
            </a:endParaRPr>
          </a:p>
          <a:p>
            <a:pPr marL="228600" lvl="0" indent="-22860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 students share their responses, highlight any ideas that connect to humans causing an increase of carbon dioxide emissions, that impact the amount of carbon dioxide in the atmosphere.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b28cc9bb73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b28cc9bb73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22860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Move onto </a:t>
            </a:r>
            <a:r>
              <a:rPr lang="en" sz="1200" b="1">
                <a:solidFill>
                  <a:schemeClr val="dk1"/>
                </a:solidFill>
                <a:latin typeface="Calibri"/>
                <a:ea typeface="Calibri"/>
                <a:cs typeface="Calibri"/>
                <a:sym typeface="Calibri"/>
              </a:rPr>
              <a:t>Slide 15</a:t>
            </a:r>
            <a:r>
              <a:rPr lang="en" sz="1200">
                <a:solidFill>
                  <a:schemeClr val="dk1"/>
                </a:solidFill>
                <a:latin typeface="Calibri"/>
                <a:ea typeface="Calibri"/>
                <a:cs typeface="Calibri"/>
                <a:sym typeface="Calibri"/>
              </a:rPr>
              <a:t>, where the phrase </a:t>
            </a:r>
            <a:r>
              <a:rPr lang="en" sz="1200" b="1">
                <a:solidFill>
                  <a:schemeClr val="dk1"/>
                </a:solidFill>
                <a:latin typeface="Calibri"/>
                <a:ea typeface="Calibri"/>
                <a:cs typeface="Calibri"/>
                <a:sym typeface="Calibri"/>
              </a:rPr>
              <a:t>“Increased CO₂ in Atmosphere”</a:t>
            </a:r>
            <a:r>
              <a:rPr lang="en" sz="1200">
                <a:solidFill>
                  <a:schemeClr val="dk1"/>
                </a:solidFill>
                <a:latin typeface="Calibri"/>
                <a:ea typeface="Calibri"/>
                <a:cs typeface="Calibri"/>
                <a:sym typeface="Calibri"/>
              </a:rPr>
              <a:t> appears in the empty box of their model.</a:t>
            </a:r>
            <a:endParaRPr sz="1200">
              <a:solidFill>
                <a:schemeClr val="dk1"/>
              </a:solidFill>
              <a:latin typeface="Calibri"/>
              <a:ea typeface="Calibri"/>
              <a:cs typeface="Calibri"/>
              <a:sym typeface="Calibri"/>
            </a:endParaRPr>
          </a:p>
          <a:p>
            <a:pPr marL="228600" lvl="0" indent="-22860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Remind students that in a previous session they learned about how humans cause an impact on the amount of carbon dioxide in the atmosphere by increasing the amount of carbon dioxide that is emitted.</a:t>
            </a:r>
            <a:endParaRPr sz="1200">
              <a:solidFill>
                <a:schemeClr val="dk1"/>
              </a:solidFill>
              <a:latin typeface="Calibri"/>
              <a:ea typeface="Calibri"/>
              <a:cs typeface="Calibri"/>
              <a:sym typeface="Calibri"/>
            </a:endParaRPr>
          </a:p>
          <a:p>
            <a:pPr marL="228600" lvl="0" indent="-22860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Share with students that the goal of the day is to explore further on how these human caused increased levels of carbon dioxide affect how the sun’s energy interacts with the Earth’s atmosphere.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b32cbd2d34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b32cbd2d34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16 </a:t>
            </a:r>
            <a:r>
              <a:rPr lang="en" sz="1200">
                <a:solidFill>
                  <a:schemeClr val="dk1"/>
                </a:solidFill>
                <a:latin typeface="Calibri"/>
                <a:ea typeface="Calibri"/>
                <a:cs typeface="Calibri"/>
                <a:sym typeface="Calibri"/>
              </a:rPr>
              <a:t>and share PhET Lab, the simulation tool students will use to explore their models further, along with their tasks for the day.</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As a team, you will investigate PhET’s  </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Greenhouse Effect: Waves simulation</a:t>
            </a:r>
            <a:r>
              <a:rPr lang="en" sz="1200">
                <a:solidFill>
                  <a:schemeClr val="dk1"/>
                </a:solidFill>
                <a:latin typeface="Calibri"/>
                <a:ea typeface="Calibri"/>
                <a:cs typeface="Calibri"/>
                <a:sym typeface="Calibri"/>
              </a:rPr>
              <a:t> (</a:t>
            </a:r>
            <a:r>
              <a:rPr lang="en" sz="1200" u="sng">
                <a:solidFill>
                  <a:schemeClr val="hlink"/>
                </a:solidFill>
                <a:latin typeface="Calibri"/>
                <a:ea typeface="Calibri"/>
                <a:cs typeface="Calibri"/>
                <a:sym typeface="Calibri"/>
                <a:hlinkClick r:id="rId3"/>
              </a:rPr>
              <a:t>https://phet.colorado.edu/sims/html/greenhouse-effect/latest/greenhouse-effect_all.html</a:t>
            </a:r>
            <a:r>
              <a:rPr lang="en" sz="1200">
                <a:solidFill>
                  <a:schemeClr val="dk1"/>
                </a:solidFill>
                <a:latin typeface="Calibri"/>
                <a:ea typeface="Calibri"/>
                <a:cs typeface="Calibri"/>
                <a:sym typeface="Calibri"/>
              </a:rPr>
              <a:t>) to explore how light waves are impacted by CO₂</a:t>
            </a:r>
            <a:r>
              <a:rPr lang="en" sz="1200" b="1">
                <a:solidFill>
                  <a:schemeClr val="dk1"/>
                </a:solidFill>
                <a:latin typeface="Calibri"/>
                <a:ea typeface="Calibri"/>
                <a:cs typeface="Calibri"/>
                <a:sym typeface="Calibri"/>
              </a:rPr>
              <a:t> </a:t>
            </a:r>
            <a:r>
              <a:rPr lang="en" sz="1200">
                <a:solidFill>
                  <a:schemeClr val="dk1"/>
                </a:solidFill>
                <a:latin typeface="Calibri"/>
                <a:ea typeface="Calibri"/>
                <a:cs typeface="Calibri"/>
                <a:sym typeface="Calibri"/>
              </a:rPr>
              <a:t>in the atmosphere. </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Module 3.2 Day 2: The Greenhouse Effect with PhET Simulations</a:t>
            </a:r>
            <a:b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b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Exploring Wave Interactions (Student Instructions), p.</a:t>
            </a:r>
            <a:r>
              <a:rPr lang="en" sz="1200">
                <a:solidFill>
                  <a:schemeClr val="dk1"/>
                </a:solidFill>
                <a:latin typeface="Calibri"/>
                <a:ea typeface="Calibri"/>
                <a:cs typeface="Calibri"/>
                <a:sym typeface="Calibri"/>
              </a:rPr>
              <a:t>30-33 of your Science Journal, you will have scenarios to investigate and questions to answer. Work as a team to answer these questions.</a:t>
            </a:r>
            <a:endParaRPr sz="1200">
              <a:solidFill>
                <a:schemeClr val="dk1"/>
              </a:solidFill>
              <a:latin typeface="Calibri"/>
              <a:ea typeface="Calibri"/>
              <a:cs typeface="Calibri"/>
              <a:sym typeface="Calibri"/>
            </a:endParaRPr>
          </a:p>
          <a:p>
            <a:pPr marL="228600" lvl="0" indent="-22860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have opened up their Science Journals and are ready to begin, give them time to explore the Greenhouse Effect: Waves simulation. They will focus on two main scenarios:</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 carbon dioxide present in the atmosphere</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Lots of carbon dioxide present in the atmosphere</a:t>
            </a:r>
            <a:endParaRPr sz="1200">
              <a:solidFill>
                <a:schemeClr val="dk1"/>
              </a:solidFill>
              <a:latin typeface="Calibri"/>
              <a:ea typeface="Calibri"/>
              <a:cs typeface="Calibri"/>
              <a:sym typeface="Calibri"/>
            </a:endParaRPr>
          </a:p>
          <a:p>
            <a:pPr marL="228600" lvl="0" indent="-22860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navigate through the PhET Lab simulation, walk around the group and provide support and ask questions to guide their investigation. Examples include:</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do the different color waves represent?</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When there is no carbon dioxide, what happens to the sunlight when it hits the Earth? What about when you increase the carbon dioxide levels?</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happens to the surface temperature as carbon dioxide levels increase? Why do you think this happens?</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do the width of the waves represent?</a:t>
            </a:r>
            <a:endParaRPr sz="1200">
              <a:solidFill>
                <a:schemeClr val="dk1"/>
              </a:solidFill>
              <a:latin typeface="Calibri"/>
              <a:ea typeface="Calibri"/>
              <a:cs typeface="Calibri"/>
              <a:sym typeface="Calibri"/>
            </a:endParaRPr>
          </a:p>
          <a:p>
            <a:pPr marL="228600" lvl="0" indent="-22860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If time allows, have students explore the temperature at different time periods (calendar icon). As students explore, ask:</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changes did you observe with the land between the ice age, 1750, 1950, and 2020?</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did the greenhouse gas levels (carbon dioxide) change during these periods? What impact did it have on the Earth’s temperature?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b28cc9bb73_0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b28cc9bb73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have explored the simulation, advance to </a:t>
            </a:r>
            <a:r>
              <a:rPr lang="en" sz="1200" b="1">
                <a:solidFill>
                  <a:schemeClr val="dk1"/>
                </a:solidFill>
                <a:latin typeface="Calibri"/>
                <a:ea typeface="Calibri"/>
                <a:cs typeface="Calibri"/>
                <a:sym typeface="Calibri"/>
              </a:rPr>
              <a:t>Slide 17 </a:t>
            </a:r>
            <a:r>
              <a:rPr lang="en" sz="1200">
                <a:solidFill>
                  <a:schemeClr val="dk1"/>
                </a:solidFill>
                <a:latin typeface="Calibri"/>
                <a:ea typeface="Calibri"/>
                <a:cs typeface="Calibri"/>
                <a:sym typeface="Calibri"/>
              </a:rPr>
              <a:t>and bring them back to their paper models and ask them to draw their observations on the model sheet under the section that reads  </a:t>
            </a:r>
            <a:r>
              <a:rPr lang="en" sz="1200" b="1">
                <a:solidFill>
                  <a:schemeClr val="dk1"/>
                </a:solidFill>
                <a:latin typeface="Calibri"/>
                <a:ea typeface="Calibri"/>
                <a:cs typeface="Calibri"/>
                <a:sym typeface="Calibri"/>
              </a:rPr>
              <a:t>“Increased CO₂ in Atmosphere”. </a:t>
            </a:r>
            <a:endParaRPr sz="1200" b="1">
              <a:solidFill>
                <a:schemeClr val="dk1"/>
              </a:solidFill>
              <a:latin typeface="Calibri"/>
              <a:ea typeface="Calibri"/>
              <a:cs typeface="Calibri"/>
              <a:sym typeface="Calibri"/>
            </a:endParaRPr>
          </a:p>
          <a:p>
            <a:pPr marL="228600" lvl="0" indent="-228600" algn="l" rtl="0">
              <a:spcBef>
                <a:spcPts val="0"/>
              </a:spcBef>
              <a:spcAft>
                <a:spcPts val="0"/>
              </a:spcAft>
              <a:buClr>
                <a:schemeClr val="dk1"/>
              </a:buClr>
              <a:buSzPts val="1100"/>
              <a:buFont typeface="Arial"/>
              <a:buNone/>
            </a:pPr>
            <a:endParaRPr sz="1200" b="1">
              <a:solidFill>
                <a:schemeClr val="dk1"/>
              </a:solidFill>
              <a:latin typeface="Calibri"/>
              <a:ea typeface="Calibri"/>
              <a:cs typeface="Calibri"/>
              <a:sym typeface="Calibri"/>
            </a:endParaRPr>
          </a:p>
          <a:p>
            <a:pPr marL="2286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 students draw their models, walk around and support them by asking probing and pressing questions:</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Where is heat coming from in this picture?</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Where does the heat go once it leaves its source?</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does increased levels of carbon dioxide impact this process? </a:t>
            </a:r>
            <a:endParaRPr sz="1200">
              <a:solidFill>
                <a:schemeClr val="dk1"/>
              </a:solidFill>
              <a:latin typeface="Calibri"/>
              <a:ea typeface="Calibri"/>
              <a:cs typeface="Calibri"/>
              <a:sym typeface="Calibri"/>
            </a:endParaRPr>
          </a:p>
          <a:p>
            <a:pPr marL="228600" lvl="0" indent="-22860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finish their models, bring the class back together to share their findings.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b32cbd2d34_0_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3b32cbd2d3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have their models, tell them that you want to share a little more information that can help them refine it even further.</a:t>
            </a:r>
            <a:endParaRPr sz="1200">
              <a:solidFill>
                <a:schemeClr val="dk1"/>
              </a:solidFill>
              <a:latin typeface="Calibri"/>
              <a:ea typeface="Calibri"/>
              <a:cs typeface="Calibri"/>
              <a:sym typeface="Calibri"/>
            </a:endParaRPr>
          </a:p>
          <a:p>
            <a:pPr marL="228600" lvl="0" indent="-22860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18 </a:t>
            </a:r>
            <a:r>
              <a:rPr lang="en" sz="1200">
                <a:solidFill>
                  <a:schemeClr val="dk1"/>
                </a:solidFill>
                <a:latin typeface="Calibri"/>
                <a:ea typeface="Calibri"/>
                <a:cs typeface="Calibri"/>
                <a:sym typeface="Calibri"/>
              </a:rPr>
              <a:t>and play the video</a:t>
            </a:r>
            <a:r>
              <a:rPr lang="en" sz="1200" b="1">
                <a:solidFill>
                  <a:schemeClr val="dk1"/>
                </a:solidFill>
                <a:latin typeface="Calibri"/>
                <a:ea typeface="Calibri"/>
                <a:cs typeface="Calibri"/>
                <a:sym typeface="Calibri"/>
              </a:rPr>
              <a:t> </a:t>
            </a:r>
            <a:r>
              <a:rPr lang="en" sz="1200" b="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How Do Greenhouse Gases Actually Work?</a:t>
            </a:r>
            <a:r>
              <a:rPr lang="en" sz="1200" b="1">
                <a:solidFill>
                  <a:schemeClr val="dk1"/>
                </a:solidFill>
                <a:latin typeface="Calibri"/>
                <a:ea typeface="Calibri"/>
                <a:cs typeface="Calibri"/>
                <a:sym typeface="Calibri"/>
              </a:rPr>
              <a:t> (</a:t>
            </a:r>
            <a:r>
              <a:rPr lang="en" sz="1200" b="1" u="sng">
                <a:solidFill>
                  <a:schemeClr val="hlink"/>
                </a:solidFill>
                <a:latin typeface="Calibri"/>
                <a:ea typeface="Calibri"/>
                <a:cs typeface="Calibri"/>
                <a:sym typeface="Calibri"/>
                <a:hlinkClick r:id="rId3"/>
              </a:rPr>
              <a:t>https://www.youtube.com/watch?v=sTvqIijqvTg</a:t>
            </a:r>
            <a:r>
              <a:rPr lang="en" sz="1200" b="1">
                <a:solidFill>
                  <a:schemeClr val="dk1"/>
                </a:solidFill>
                <a:latin typeface="Calibri"/>
                <a:ea typeface="Calibri"/>
                <a:cs typeface="Calibri"/>
                <a:sym typeface="Calibri"/>
              </a:rPr>
              <a:t>) [3:08] </a:t>
            </a:r>
            <a:r>
              <a:rPr lang="en" sz="1200">
                <a:solidFill>
                  <a:schemeClr val="dk1"/>
                </a:solidFill>
                <a:latin typeface="Calibri"/>
                <a:ea typeface="Calibri"/>
                <a:cs typeface="Calibri"/>
                <a:sym typeface="Calibri"/>
              </a:rPr>
              <a:t>During this video investigation, students get to explore in depth how carbon dioxide interacts with sunlight to trap heat on Earth.</a:t>
            </a:r>
            <a:endParaRPr sz="1200">
              <a:solidFill>
                <a:schemeClr val="dk1"/>
              </a:solidFill>
              <a:latin typeface="Calibri"/>
              <a:ea typeface="Calibri"/>
              <a:cs typeface="Calibri"/>
              <a:sym typeface="Calibri"/>
            </a:endParaRPr>
          </a:p>
          <a:p>
            <a:pPr marL="228600" lvl="0" indent="-22860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 Once students have watched the video, give them a moment to go back to their models and refine them with their newfound knowledge.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b32cbd2d34_0_1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3b32cbd2d34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have their models created, advance to </a:t>
            </a:r>
            <a:r>
              <a:rPr lang="en" sz="1200" b="1">
                <a:solidFill>
                  <a:schemeClr val="dk1"/>
                </a:solidFill>
                <a:latin typeface="Calibri"/>
                <a:ea typeface="Calibri"/>
                <a:cs typeface="Calibri"/>
                <a:sym typeface="Calibri"/>
              </a:rPr>
              <a:t>Slide 19</a:t>
            </a:r>
            <a:r>
              <a:rPr lang="en" sz="1200">
                <a:solidFill>
                  <a:schemeClr val="dk1"/>
                </a:solidFill>
                <a:latin typeface="Calibri"/>
                <a:ea typeface="Calibri"/>
                <a:cs typeface="Calibri"/>
                <a:sym typeface="Calibri"/>
              </a:rPr>
              <a:t> and invite the students to share their models as a class.</a:t>
            </a:r>
            <a:endParaRPr sz="1200">
              <a:solidFill>
                <a:schemeClr val="dk1"/>
              </a:solidFill>
              <a:latin typeface="Calibri"/>
              <a:ea typeface="Calibri"/>
              <a:cs typeface="Calibri"/>
              <a:sym typeface="Calibri"/>
            </a:endParaRPr>
          </a:p>
          <a:p>
            <a:pPr marL="6858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does the sun’s light energy interact with the Earth in your models?</a:t>
            </a:r>
            <a:endParaRPr sz="1200">
              <a:solidFill>
                <a:schemeClr val="dk1"/>
              </a:solidFill>
              <a:latin typeface="Calibri"/>
              <a:ea typeface="Calibri"/>
              <a:cs typeface="Calibri"/>
              <a:sym typeface="Calibri"/>
            </a:endParaRPr>
          </a:p>
          <a:p>
            <a:pPr marL="6858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do increased levels of carbon dioxide have on these interactions?</a:t>
            </a:r>
            <a:endParaRPr sz="1200">
              <a:solidFill>
                <a:schemeClr val="dk1"/>
              </a:solidFill>
              <a:latin typeface="Calibri"/>
              <a:ea typeface="Calibri"/>
              <a:cs typeface="Calibri"/>
              <a:sym typeface="Calibri"/>
            </a:endParaRPr>
          </a:p>
          <a:p>
            <a:pPr marL="228600" lvl="0" indent="-22860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22860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As students share out loud, reinforce ideas that talk about how increased global temperatures means that ice caps can melt, raising sea levels in the process, or that excess carbon dioxide can also interact with the ocean water, impacting the ocean’s chemistry.</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b32cbd2d34_0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3b32cbd2d34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have shared, advance to </a:t>
            </a:r>
            <a:r>
              <a:rPr lang="en" sz="1200" b="1">
                <a:solidFill>
                  <a:schemeClr val="dk1"/>
                </a:solidFill>
                <a:latin typeface="Calibri"/>
                <a:ea typeface="Calibri"/>
                <a:cs typeface="Calibri"/>
                <a:sym typeface="Calibri"/>
              </a:rPr>
              <a:t>Slide 20</a:t>
            </a:r>
            <a:r>
              <a:rPr lang="en" sz="1200">
                <a:solidFill>
                  <a:schemeClr val="dk1"/>
                </a:solidFill>
                <a:latin typeface="Calibri"/>
                <a:ea typeface="Calibri"/>
                <a:cs typeface="Calibri"/>
                <a:sym typeface="Calibri"/>
              </a:rPr>
              <a:t> and ask them to further think about what else they need to explore.</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 you think increased CO₂ impacts the value your community places on Southern California’s ocean?</a:t>
            </a:r>
            <a:endParaRPr sz="1200">
              <a:solidFill>
                <a:schemeClr val="dk1"/>
              </a:solidFill>
              <a:latin typeface="Calibri"/>
              <a:ea typeface="Calibri"/>
              <a:cs typeface="Calibri"/>
              <a:sym typeface="Calibri"/>
            </a:endParaRPr>
          </a:p>
          <a:p>
            <a:pPr marL="6858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might you investigate this?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b32cbd2d3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3b32cbd2d3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wrap up for the day, tell them that their final task is to reflect on what they did.</a:t>
            </a:r>
            <a:endParaRPr sz="1200">
              <a:solidFill>
                <a:schemeClr val="dk1"/>
              </a:solidFill>
              <a:latin typeface="Calibri"/>
              <a:ea typeface="Calibri"/>
              <a:cs typeface="Calibri"/>
              <a:sym typeface="Calibri"/>
            </a:endParaRPr>
          </a:p>
          <a:p>
            <a:pPr marL="228600" lvl="0" indent="-22860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2286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21 </a:t>
            </a:r>
            <a:r>
              <a:rPr lang="en" sz="1200">
                <a:solidFill>
                  <a:schemeClr val="dk1"/>
                </a:solidFill>
                <a:latin typeface="Calibri"/>
                <a:ea typeface="Calibri"/>
                <a:cs typeface="Calibri"/>
                <a:sym typeface="Calibri"/>
              </a:rPr>
              <a:t>and have student teams work together to answer the following questions in </a:t>
            </a:r>
            <a:r>
              <a:rPr lang="en" sz="1200" b="1" u="sng">
                <a:solidFill>
                  <a:schemeClr val="hlink"/>
                </a:solidFill>
                <a:latin typeface="Calibri"/>
                <a:ea typeface="Calibri"/>
                <a:cs typeface="Calibri"/>
                <a:sym typeface="Calibri"/>
                <a:hlinkClick r:id="rId3"/>
              </a:rPr>
              <a:t>Module 3.2 Day 2: Carbon Dioxide &amp; Weather</a:t>
            </a:r>
            <a:r>
              <a:rPr lang="en" sz="1200" b="1">
                <a:solidFill>
                  <a:schemeClr val="dk1"/>
                </a:solidFill>
                <a:latin typeface="Calibri"/>
                <a:ea typeface="Calibri"/>
                <a:cs typeface="Calibri"/>
                <a:sym typeface="Calibri"/>
              </a:rPr>
              <a:t> (Student Reflection)</a:t>
            </a:r>
            <a:r>
              <a:rPr lang="en" sz="1200">
                <a:solidFill>
                  <a:schemeClr val="dk1"/>
                </a:solidFill>
                <a:latin typeface="Calibri"/>
                <a:ea typeface="Calibri"/>
                <a:cs typeface="Calibri"/>
                <a:sym typeface="Calibri"/>
              </a:rPr>
              <a:t>, p. 34 in their science journal.</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did you learn today? How has your thinking changed?</a:t>
            </a:r>
            <a:endParaRPr sz="1200">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might trapped heat and changes in weather patterns impact things your community cares about, like beaches, fishing, or wildlife?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4ac343a9b0_0_55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34ac343a9b0_0_5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with footer">
  <p:cSld name="ONE_COLUMN_TEXT_1">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rmAutofit lnSpcReduction="1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2" name="Google Shape;52;p13"/>
          <p:cNvSpPr txBox="1">
            <a:spLocks noGrp="1"/>
          </p:cNvSpPr>
          <p:nvPr>
            <p:ph type="title"/>
          </p:nvPr>
        </p:nvSpPr>
        <p:spPr>
          <a:xfrm>
            <a:off x="228600" y="2236650"/>
            <a:ext cx="3551400" cy="670200"/>
          </a:xfrm>
          <a:prstGeom prst="rect">
            <a:avLst/>
          </a:prstGeom>
        </p:spPr>
        <p:txBody>
          <a:bodyPr spcFirstLastPara="1" wrap="square" lIns="91425" tIns="91425" rIns="91425" bIns="91425" anchor="ctr" anchorCtr="0">
            <a:norm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
        <p:nvSpPr>
          <p:cNvPr id="53" name="Google Shape;53;p13"/>
          <p:cNvSpPr txBox="1">
            <a:spLocks noGrp="1"/>
          </p:cNvSpPr>
          <p:nvPr>
            <p:ph type="subTitle" idx="1"/>
          </p:nvPr>
        </p:nvSpPr>
        <p:spPr>
          <a:xfrm>
            <a:off x="4572000" y="1004700"/>
            <a:ext cx="4343400" cy="3134100"/>
          </a:xfrm>
          <a:prstGeom prst="rect">
            <a:avLst/>
          </a:prstGeom>
        </p:spPr>
        <p:txBody>
          <a:bodyPr spcFirstLastPara="1" wrap="square" lIns="91425" tIns="91425" rIns="91425" bIns="91425" anchor="t" anchorCtr="0">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13"/>
          <p:cNvSpPr txBox="1">
            <a:spLocks noGrp="1"/>
          </p:cNvSpPr>
          <p:nvPr>
            <p:ph type="body" idx="2"/>
          </p:nvPr>
        </p:nvSpPr>
        <p:spPr>
          <a:xfrm>
            <a:off x="228600" y="4679000"/>
            <a:ext cx="4343400" cy="3243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cxnSp>
        <p:nvCxnSpPr>
          <p:cNvPr id="55" name="Google Shape;55;p13"/>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s://phet.colorado.edu/sims/html/greenhouse-effect/latest/greenhouse-effect_all.html"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www.youtube.com/watch?v=sTvqIijqvTg"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0.jpg"/></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idx="4294967295"/>
          </p:nvPr>
        </p:nvSpPr>
        <p:spPr>
          <a:xfrm>
            <a:off x="236575" y="836925"/>
            <a:ext cx="3939300" cy="670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4500" b="1">
                <a:solidFill>
                  <a:srgbClr val="541900"/>
                </a:solidFill>
              </a:rPr>
              <a:t>Carbon Dioxide </a:t>
            </a:r>
            <a:endParaRPr sz="4500" b="1">
              <a:solidFill>
                <a:srgbClr val="541900"/>
              </a:solidFill>
            </a:endParaRPr>
          </a:p>
          <a:p>
            <a:pPr marL="0" lvl="0" indent="0" algn="r" rtl="0">
              <a:spcBef>
                <a:spcPts val="0"/>
              </a:spcBef>
              <a:spcAft>
                <a:spcPts val="0"/>
              </a:spcAft>
              <a:buNone/>
            </a:pPr>
            <a:r>
              <a:rPr lang="en" sz="4500" b="1">
                <a:solidFill>
                  <a:srgbClr val="541900"/>
                </a:solidFill>
              </a:rPr>
              <a:t>&amp; Weather</a:t>
            </a:r>
            <a:endParaRPr sz="4500" b="1">
              <a:solidFill>
                <a:srgbClr val="541900"/>
              </a:solidFill>
            </a:endParaRPr>
          </a:p>
        </p:txBody>
      </p:sp>
      <p:sp>
        <p:nvSpPr>
          <p:cNvPr id="61" name="Google Shape;61;p14"/>
          <p:cNvSpPr txBox="1">
            <a:spLocks noGrp="1"/>
          </p:cNvSpPr>
          <p:nvPr>
            <p:ph type="body" idx="4294967295"/>
          </p:nvPr>
        </p:nvSpPr>
        <p:spPr>
          <a:xfrm>
            <a:off x="2286475" y="2950275"/>
            <a:ext cx="1889400" cy="6702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r>
              <a:rPr lang="en" sz="1200" b="1">
                <a:solidFill>
                  <a:srgbClr val="355E3B"/>
                </a:solidFill>
              </a:rPr>
              <a:t>Module 3.2</a:t>
            </a:r>
            <a:endParaRPr sz="1200" b="1">
              <a:solidFill>
                <a:srgbClr val="355E3B"/>
              </a:solidFill>
            </a:endParaRPr>
          </a:p>
          <a:p>
            <a:pPr marL="0" lvl="0" indent="0" algn="r" rtl="0">
              <a:spcBef>
                <a:spcPts val="0"/>
              </a:spcBef>
              <a:spcAft>
                <a:spcPts val="0"/>
              </a:spcAft>
              <a:buNone/>
            </a:pPr>
            <a:r>
              <a:rPr lang="en" sz="1200" b="1">
                <a:solidFill>
                  <a:srgbClr val="355E3B"/>
                </a:solidFill>
              </a:rPr>
              <a:t>Day 1</a:t>
            </a:r>
            <a:endParaRPr sz="1200" b="1">
              <a:solidFill>
                <a:srgbClr val="355E3B"/>
              </a:solidFill>
            </a:endParaRPr>
          </a:p>
        </p:txBody>
      </p:sp>
      <p:sp>
        <p:nvSpPr>
          <p:cNvPr id="62" name="Google Shape;62;p14"/>
          <p:cNvSpPr txBox="1"/>
          <p:nvPr/>
        </p:nvSpPr>
        <p:spPr>
          <a:xfrm>
            <a:off x="2400300" y="4641750"/>
            <a:ext cx="4343400" cy="32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000000"/>
                </a:solidFill>
              </a:rPr>
              <a:t>AISciComm | Module 3.</a:t>
            </a:r>
            <a:r>
              <a:rPr lang="en" sz="1200"/>
              <a:t>2</a:t>
            </a:r>
            <a:r>
              <a:rPr lang="en" sz="1200">
                <a:solidFill>
                  <a:srgbClr val="000000"/>
                </a:solidFill>
              </a:rPr>
              <a:t> </a:t>
            </a:r>
            <a:r>
              <a:rPr lang="en" sz="1200"/>
              <a:t>Carbon Dioxide &amp; Weather</a:t>
            </a:r>
            <a:endParaRPr sz="1200">
              <a:solidFill>
                <a:srgbClr val="000000"/>
              </a:solidFill>
            </a:endParaRPr>
          </a:p>
          <a:p>
            <a:pPr marL="0" lvl="0" indent="0" algn="l" rtl="0">
              <a:lnSpc>
                <a:spcPct val="115000"/>
              </a:lnSpc>
              <a:spcBef>
                <a:spcPts val="0"/>
              </a:spcBef>
              <a:spcAft>
                <a:spcPts val="1200"/>
              </a:spcAft>
              <a:buNone/>
            </a:pPr>
            <a:endParaRPr sz="1200">
              <a:solidFill>
                <a:srgbClr val="000000"/>
              </a:solidFill>
            </a:endParaRPr>
          </a:p>
        </p:txBody>
      </p:sp>
      <p:pic>
        <p:nvPicPr>
          <p:cNvPr id="63" name="Google Shape;63;p14"/>
          <p:cNvPicPr preferRelativeResize="0"/>
          <p:nvPr/>
        </p:nvPicPr>
        <p:blipFill>
          <a:blip r:embed="rId3">
            <a:alphaModFix/>
          </a:blip>
          <a:stretch>
            <a:fillRect/>
          </a:stretch>
        </p:blipFill>
        <p:spPr>
          <a:xfrm>
            <a:off x="4480675" y="679225"/>
            <a:ext cx="4663325" cy="3108884"/>
          </a:xfrm>
          <a:prstGeom prst="rect">
            <a:avLst/>
          </a:prstGeom>
          <a:noFill/>
          <a:ln>
            <a:noFill/>
          </a:ln>
        </p:spPr>
      </p:pic>
      <p:sp>
        <p:nvSpPr>
          <p:cNvPr id="64" name="Google Shape;64;p14"/>
          <p:cNvSpPr txBox="1"/>
          <p:nvPr/>
        </p:nvSpPr>
        <p:spPr>
          <a:xfrm>
            <a:off x="4919100" y="3745975"/>
            <a:ext cx="4224900" cy="376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800" b="1">
                <a:solidFill>
                  <a:srgbClr val="595959"/>
                </a:solidFill>
              </a:rPr>
              <a:t>Santa Monica, CA</a:t>
            </a:r>
            <a:endParaRPr sz="800" b="1">
              <a:solidFill>
                <a:srgbClr val="595959"/>
              </a:solidFill>
            </a:endParaRPr>
          </a:p>
          <a:p>
            <a:pPr marL="0" lvl="0" indent="0" algn="r" rtl="0">
              <a:spcBef>
                <a:spcPts val="0"/>
              </a:spcBef>
              <a:spcAft>
                <a:spcPts val="0"/>
              </a:spcAft>
              <a:buNone/>
            </a:pPr>
            <a:r>
              <a:rPr lang="en" sz="800" b="1">
                <a:solidFill>
                  <a:srgbClr val="595959"/>
                </a:solidFill>
              </a:rPr>
              <a:t>Credit: Richard Sharrocks</a:t>
            </a:r>
            <a:endParaRPr sz="800" b="1">
              <a:solidFill>
                <a:srgbClr val="59595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68"/>
        <p:cNvGrpSpPr/>
        <p:nvPr/>
      </p:nvGrpSpPr>
      <p:grpSpPr>
        <a:xfrm>
          <a:off x="0" y="0"/>
          <a:ext cx="0" cy="0"/>
          <a:chOff x="0" y="0"/>
          <a:chExt cx="0" cy="0"/>
        </a:xfrm>
      </p:grpSpPr>
      <p:sp>
        <p:nvSpPr>
          <p:cNvPr id="69" name="Google Shape;69;p15"/>
          <p:cNvSpPr txBox="1">
            <a:spLocks noGrp="1"/>
          </p:cNvSpPr>
          <p:nvPr>
            <p:ph type="body" idx="1"/>
          </p:nvPr>
        </p:nvSpPr>
        <p:spPr>
          <a:xfrm>
            <a:off x="311700" y="11524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i="1">
                <a:solidFill>
                  <a:srgbClr val="355E3B"/>
                </a:solidFill>
              </a:rPr>
              <a:t>By the end of this lesson, you will be able to…</a:t>
            </a:r>
            <a:endParaRPr sz="2000" i="1">
              <a:solidFill>
                <a:srgbClr val="355E3B"/>
              </a:solidFill>
            </a:endParaRPr>
          </a:p>
        </p:txBody>
      </p:sp>
      <p:sp>
        <p:nvSpPr>
          <p:cNvPr id="70" name="Google Shape;70;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Lesson Objectives</a:t>
            </a:r>
            <a:endParaRPr sz="4500" b="1">
              <a:solidFill>
                <a:srgbClr val="541900"/>
              </a:solidFill>
            </a:endParaRPr>
          </a:p>
        </p:txBody>
      </p:sp>
      <p:sp>
        <p:nvSpPr>
          <p:cNvPr id="71" name="Google Shape;71;p15"/>
          <p:cNvSpPr txBox="1">
            <a:spLocks noGrp="1"/>
          </p:cNvSpPr>
          <p:nvPr>
            <p:ph type="body" idx="4294967295"/>
          </p:nvPr>
        </p:nvSpPr>
        <p:spPr>
          <a:xfrm>
            <a:off x="311700" y="1725175"/>
            <a:ext cx="8373300" cy="2906400"/>
          </a:xfrm>
          <a:prstGeom prst="rect">
            <a:avLst/>
          </a:prstGeom>
        </p:spPr>
        <p:txBody>
          <a:bodyPr spcFirstLastPara="1" wrap="square" lIns="91425" tIns="91425" rIns="91425" bIns="91425" anchor="t" anchorCtr="0">
            <a:normAutofit lnSpcReduction="20000"/>
          </a:bodyPr>
          <a:lstStyle/>
          <a:p>
            <a:pPr marL="457200" lvl="0" indent="-355600" algn="l" rtl="0">
              <a:lnSpc>
                <a:spcPct val="115000"/>
              </a:lnSpc>
              <a:spcBef>
                <a:spcPts val="1000"/>
              </a:spcBef>
              <a:spcAft>
                <a:spcPts val="0"/>
              </a:spcAft>
              <a:buClr>
                <a:schemeClr val="dk1"/>
              </a:buClr>
              <a:buSzPts val="2000"/>
              <a:buAutoNum type="arabicPeriod"/>
            </a:pPr>
            <a:r>
              <a:rPr lang="en" sz="2000">
                <a:solidFill>
                  <a:schemeClr val="dk1"/>
                </a:solidFill>
              </a:rPr>
              <a:t>Explain how an increase in atmospheric carbon traps heat energy on Earth.</a:t>
            </a:r>
            <a:endParaRPr sz="2000">
              <a:solidFill>
                <a:schemeClr val="dk1"/>
              </a:solidFill>
            </a:endParaRPr>
          </a:p>
          <a:p>
            <a:pPr marL="457200" lvl="0" indent="-355600" algn="l" rtl="0">
              <a:lnSpc>
                <a:spcPct val="115000"/>
              </a:lnSpc>
              <a:spcBef>
                <a:spcPts val="1000"/>
              </a:spcBef>
              <a:spcAft>
                <a:spcPts val="0"/>
              </a:spcAft>
              <a:buClr>
                <a:schemeClr val="dk1"/>
              </a:buClr>
              <a:buSzPts val="2000"/>
              <a:buAutoNum type="arabicPeriod"/>
            </a:pPr>
            <a:r>
              <a:rPr lang="en" sz="2000">
                <a:solidFill>
                  <a:schemeClr val="dk1"/>
                </a:solidFill>
              </a:rPr>
              <a:t>Draw a model showing how increased levels of carbon dioxide in the Earth’s atmosphere is acting as a blanket and trapping more heat.</a:t>
            </a:r>
            <a:endParaRPr sz="2000">
              <a:solidFill>
                <a:schemeClr val="dk1"/>
              </a:solidFill>
            </a:endParaRPr>
          </a:p>
          <a:p>
            <a:pPr marL="457200" lvl="0" indent="-355600" algn="l" rtl="0">
              <a:lnSpc>
                <a:spcPct val="115000"/>
              </a:lnSpc>
              <a:spcBef>
                <a:spcPts val="1000"/>
              </a:spcBef>
              <a:spcAft>
                <a:spcPts val="0"/>
              </a:spcAft>
              <a:buClr>
                <a:schemeClr val="dk1"/>
              </a:buClr>
              <a:buSzPts val="2000"/>
              <a:buAutoNum type="arabicPeriod"/>
            </a:pPr>
            <a:r>
              <a:rPr lang="en" sz="2000">
                <a:solidFill>
                  <a:schemeClr val="dk1"/>
                </a:solidFill>
              </a:rPr>
              <a:t>Explain how rising atmospheric carbon levels trap heat and influence Earth’s climate.</a:t>
            </a:r>
            <a:endParaRPr sz="2000">
              <a:solidFill>
                <a:schemeClr val="dk1"/>
              </a:solidFill>
            </a:endParaRPr>
          </a:p>
          <a:p>
            <a:pPr marL="457200" lvl="0" indent="-355600" algn="l" rtl="0">
              <a:lnSpc>
                <a:spcPct val="115000"/>
              </a:lnSpc>
              <a:spcBef>
                <a:spcPts val="1000"/>
              </a:spcBef>
              <a:spcAft>
                <a:spcPts val="0"/>
              </a:spcAft>
              <a:buClr>
                <a:schemeClr val="dk1"/>
              </a:buClr>
              <a:buSzPts val="2000"/>
              <a:buAutoNum type="arabicPeriod"/>
            </a:pPr>
            <a:r>
              <a:rPr lang="en" sz="2000">
                <a:solidFill>
                  <a:schemeClr val="dk1"/>
                </a:solidFill>
              </a:rPr>
              <a:t>Predict how increasing temperatures might affect processes in Southern California’s ocean, both now and in the future.</a:t>
            </a:r>
            <a:endParaRPr sz="2000">
              <a:solidFill>
                <a:schemeClr val="dk1"/>
              </a:solidFill>
            </a:endParaRPr>
          </a:p>
        </p:txBody>
      </p:sp>
      <p:sp>
        <p:nvSpPr>
          <p:cNvPr id="72" name="Google Shape;72;p15"/>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3.2 Carbon Dioxide &amp; Weather</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2</a:t>
            </a:r>
            <a:endParaRPr sz="12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76"/>
        <p:cNvGrpSpPr/>
        <p:nvPr/>
      </p:nvGrpSpPr>
      <p:grpSpPr>
        <a:xfrm>
          <a:off x="0" y="0"/>
          <a:ext cx="0" cy="0"/>
          <a:chOff x="0" y="0"/>
          <a:chExt cx="0" cy="0"/>
        </a:xfrm>
      </p:grpSpPr>
      <p:sp>
        <p:nvSpPr>
          <p:cNvPr id="77" name="Google Shape;77;p16"/>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3.2 Carbon Dioxide &amp; Weather</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3</a:t>
            </a:r>
            <a:endParaRPr sz="1200">
              <a:solidFill>
                <a:schemeClr val="dk1"/>
              </a:solidFill>
              <a:latin typeface="Arial"/>
              <a:ea typeface="Arial"/>
              <a:cs typeface="Arial"/>
              <a:sym typeface="Arial"/>
            </a:endParaRPr>
          </a:p>
        </p:txBody>
      </p:sp>
      <p:sp>
        <p:nvSpPr>
          <p:cNvPr id="78" name="Google Shape;78;p16"/>
          <p:cNvSpPr txBox="1">
            <a:spLocks noGrp="1"/>
          </p:cNvSpPr>
          <p:nvPr>
            <p:ph type="body" idx="4294967295"/>
          </p:nvPr>
        </p:nvSpPr>
        <p:spPr>
          <a:xfrm>
            <a:off x="141950" y="433675"/>
            <a:ext cx="3363300" cy="2704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3200" b="1">
                <a:solidFill>
                  <a:srgbClr val="541900"/>
                </a:solidFill>
              </a:rPr>
              <a:t>Making an Observation</a:t>
            </a:r>
            <a:endParaRPr sz="7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What do you notice?</a:t>
            </a:r>
            <a:br>
              <a:rPr lang="en" sz="2000">
                <a:solidFill>
                  <a:schemeClr val="dk1"/>
                </a:solidFill>
              </a:rPr>
            </a:b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What do you wonder?</a:t>
            </a:r>
            <a:br>
              <a:rPr lang="en" sz="2000">
                <a:solidFill>
                  <a:schemeClr val="dk1"/>
                </a:solidFill>
              </a:rPr>
            </a:b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How would you describe the trends that you see?</a:t>
            </a:r>
            <a:endParaRPr sz="2000">
              <a:solidFill>
                <a:schemeClr val="dk1"/>
              </a:solidFill>
            </a:endParaRPr>
          </a:p>
        </p:txBody>
      </p:sp>
      <p:pic>
        <p:nvPicPr>
          <p:cNvPr id="79" name="Google Shape;79;p16" title="California Avg Temp over time.png"/>
          <p:cNvPicPr preferRelativeResize="0"/>
          <p:nvPr/>
        </p:nvPicPr>
        <p:blipFill>
          <a:blip r:embed="rId3">
            <a:alphaModFix/>
          </a:blip>
          <a:stretch>
            <a:fillRect/>
          </a:stretch>
        </p:blipFill>
        <p:spPr>
          <a:xfrm>
            <a:off x="3505309" y="433674"/>
            <a:ext cx="5535515" cy="42761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83"/>
        <p:cNvGrpSpPr/>
        <p:nvPr/>
      </p:nvGrpSpPr>
      <p:grpSpPr>
        <a:xfrm>
          <a:off x="0" y="0"/>
          <a:ext cx="0" cy="0"/>
          <a:chOff x="0" y="0"/>
          <a:chExt cx="0" cy="0"/>
        </a:xfrm>
      </p:grpSpPr>
      <p:sp>
        <p:nvSpPr>
          <p:cNvPr id="84" name="Google Shape;84;p17"/>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3.2 Carbon Dioxide &amp; Weather</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4</a:t>
            </a:r>
            <a:endParaRPr sz="1200">
              <a:solidFill>
                <a:schemeClr val="dk1"/>
              </a:solidFill>
              <a:latin typeface="Arial"/>
              <a:ea typeface="Arial"/>
              <a:cs typeface="Arial"/>
              <a:sym typeface="Arial"/>
            </a:endParaRPr>
          </a:p>
        </p:txBody>
      </p:sp>
      <p:pic>
        <p:nvPicPr>
          <p:cNvPr id="85" name="Google Shape;85;p17" title="7.png"/>
          <p:cNvPicPr preferRelativeResize="0"/>
          <p:nvPr/>
        </p:nvPicPr>
        <p:blipFill>
          <a:blip r:embed="rId3">
            <a:alphaModFix/>
          </a:blip>
          <a:stretch>
            <a:fillRect/>
          </a:stretch>
        </p:blipFill>
        <p:spPr>
          <a:xfrm>
            <a:off x="3505250" y="458774"/>
            <a:ext cx="5470525" cy="4225961"/>
          </a:xfrm>
          <a:prstGeom prst="rect">
            <a:avLst/>
          </a:prstGeom>
          <a:noFill/>
          <a:ln>
            <a:noFill/>
          </a:ln>
        </p:spPr>
      </p:pic>
      <p:sp>
        <p:nvSpPr>
          <p:cNvPr id="86" name="Google Shape;86;p17"/>
          <p:cNvSpPr txBox="1">
            <a:spLocks noGrp="1"/>
          </p:cNvSpPr>
          <p:nvPr>
            <p:ph type="body" idx="4294967295"/>
          </p:nvPr>
        </p:nvSpPr>
        <p:spPr>
          <a:xfrm>
            <a:off x="141950" y="433675"/>
            <a:ext cx="3363300" cy="2704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3200" b="1">
                <a:solidFill>
                  <a:srgbClr val="541900"/>
                </a:solidFill>
              </a:rPr>
              <a:t>Making an Observation</a:t>
            </a:r>
            <a:endParaRPr sz="7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What do you notice?</a:t>
            </a:r>
            <a:br>
              <a:rPr lang="en" sz="2000">
                <a:solidFill>
                  <a:schemeClr val="dk1"/>
                </a:solidFill>
              </a:rPr>
            </a:b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What do you wonder?</a:t>
            </a:r>
            <a:br>
              <a:rPr lang="en" sz="2000">
                <a:solidFill>
                  <a:schemeClr val="dk1"/>
                </a:solidFill>
              </a:rPr>
            </a:b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How would you describe the trends that you see?</a:t>
            </a:r>
            <a:endParaRPr sz="20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90"/>
        <p:cNvGrpSpPr/>
        <p:nvPr/>
      </p:nvGrpSpPr>
      <p:grpSpPr>
        <a:xfrm>
          <a:off x="0" y="0"/>
          <a:ext cx="0" cy="0"/>
          <a:chOff x="0" y="0"/>
          <a:chExt cx="0" cy="0"/>
        </a:xfrm>
      </p:grpSpPr>
      <p:sp>
        <p:nvSpPr>
          <p:cNvPr id="91" name="Google Shape;91;p18"/>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3.2 Carbon Dioxide &amp; Weather</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5</a:t>
            </a:r>
            <a:endParaRPr sz="1200">
              <a:solidFill>
                <a:schemeClr val="dk1"/>
              </a:solidFill>
              <a:latin typeface="Arial"/>
              <a:ea typeface="Arial"/>
              <a:cs typeface="Arial"/>
              <a:sym typeface="Arial"/>
            </a:endParaRPr>
          </a:p>
        </p:txBody>
      </p:sp>
      <p:sp>
        <p:nvSpPr>
          <p:cNvPr id="92" name="Google Shape;92;p18"/>
          <p:cNvSpPr txBox="1">
            <a:spLocks noGrp="1"/>
          </p:cNvSpPr>
          <p:nvPr>
            <p:ph type="body" idx="4294967295"/>
          </p:nvPr>
        </p:nvSpPr>
        <p:spPr>
          <a:xfrm>
            <a:off x="118300" y="317600"/>
            <a:ext cx="3386700" cy="2402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3200" b="1">
                <a:solidFill>
                  <a:srgbClr val="541900"/>
                </a:solidFill>
              </a:rPr>
              <a:t>Making an Observation</a:t>
            </a:r>
            <a:endParaRPr sz="20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How would you describe the trends that you see now that you have this new information?</a:t>
            </a:r>
            <a:endParaRPr sz="2000">
              <a:solidFill>
                <a:schemeClr val="dk1"/>
              </a:solidFill>
            </a:endParaRPr>
          </a:p>
        </p:txBody>
      </p:sp>
      <p:pic>
        <p:nvPicPr>
          <p:cNvPr id="93" name="Google Shape;93;p18" title="8.png"/>
          <p:cNvPicPr preferRelativeResize="0"/>
          <p:nvPr/>
        </p:nvPicPr>
        <p:blipFill>
          <a:blip r:embed="rId3">
            <a:alphaModFix/>
          </a:blip>
          <a:stretch>
            <a:fillRect/>
          </a:stretch>
        </p:blipFill>
        <p:spPr>
          <a:xfrm>
            <a:off x="3504894" y="317599"/>
            <a:ext cx="5506380" cy="4253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97"/>
        <p:cNvGrpSpPr/>
        <p:nvPr/>
      </p:nvGrpSpPr>
      <p:grpSpPr>
        <a:xfrm>
          <a:off x="0" y="0"/>
          <a:ext cx="0" cy="0"/>
          <a:chOff x="0" y="0"/>
          <a:chExt cx="0" cy="0"/>
        </a:xfrm>
      </p:grpSpPr>
      <p:sp>
        <p:nvSpPr>
          <p:cNvPr id="98" name="Google Shape;98;p19"/>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3.2 Carbon Dioxide &amp; Weather</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6</a:t>
            </a:r>
            <a:endParaRPr sz="1200">
              <a:solidFill>
                <a:schemeClr val="dk1"/>
              </a:solidFill>
              <a:latin typeface="Arial"/>
              <a:ea typeface="Arial"/>
              <a:cs typeface="Arial"/>
              <a:sym typeface="Arial"/>
            </a:endParaRPr>
          </a:p>
        </p:txBody>
      </p:sp>
      <p:sp>
        <p:nvSpPr>
          <p:cNvPr id="99" name="Google Shape;99;p19"/>
          <p:cNvSpPr txBox="1">
            <a:spLocks noGrp="1"/>
          </p:cNvSpPr>
          <p:nvPr>
            <p:ph type="body" idx="4294967295"/>
          </p:nvPr>
        </p:nvSpPr>
        <p:spPr>
          <a:xfrm>
            <a:off x="177450" y="362325"/>
            <a:ext cx="2931900" cy="29955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3200" b="1">
                <a:solidFill>
                  <a:srgbClr val="541900"/>
                </a:solidFill>
              </a:rPr>
              <a:t>Making an Observation</a:t>
            </a:r>
            <a:endParaRPr sz="2000" b="1">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What do you notice about this new information?</a:t>
            </a:r>
            <a:br>
              <a:rPr lang="en" sz="2000">
                <a:solidFill>
                  <a:schemeClr val="dk1"/>
                </a:solidFill>
              </a:rPr>
            </a:b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What is it telling us?</a:t>
            </a:r>
            <a:br>
              <a:rPr lang="en" sz="2000">
                <a:solidFill>
                  <a:schemeClr val="dk1"/>
                </a:solidFill>
              </a:rPr>
            </a:b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Why do you think we are noticing this trend?</a:t>
            </a:r>
            <a:endParaRPr sz="2000">
              <a:solidFill>
                <a:schemeClr val="dk1"/>
              </a:solidFill>
            </a:endParaRPr>
          </a:p>
        </p:txBody>
      </p:sp>
      <p:pic>
        <p:nvPicPr>
          <p:cNvPr id="100" name="Google Shape;100;p19" title="9.png"/>
          <p:cNvPicPr preferRelativeResize="0"/>
          <p:nvPr/>
        </p:nvPicPr>
        <p:blipFill>
          <a:blip r:embed="rId3">
            <a:alphaModFix/>
          </a:blip>
          <a:stretch>
            <a:fillRect/>
          </a:stretch>
        </p:blipFill>
        <p:spPr>
          <a:xfrm>
            <a:off x="3243718" y="362313"/>
            <a:ext cx="5720230" cy="44188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04"/>
        <p:cNvGrpSpPr/>
        <p:nvPr/>
      </p:nvGrpSpPr>
      <p:grpSpPr>
        <a:xfrm>
          <a:off x="0" y="0"/>
          <a:ext cx="0" cy="0"/>
          <a:chOff x="0" y="0"/>
          <a:chExt cx="0" cy="0"/>
        </a:xfrm>
      </p:grpSpPr>
      <p:pic>
        <p:nvPicPr>
          <p:cNvPr id="105" name="Google Shape;105;p20" title="is-sleeping-without-a-blanket-good.jpg"/>
          <p:cNvPicPr preferRelativeResize="0"/>
          <p:nvPr/>
        </p:nvPicPr>
        <p:blipFill>
          <a:blip r:embed="rId3">
            <a:alphaModFix/>
          </a:blip>
          <a:stretch>
            <a:fillRect/>
          </a:stretch>
        </p:blipFill>
        <p:spPr>
          <a:xfrm>
            <a:off x="3214800" y="870000"/>
            <a:ext cx="5768575" cy="3403488"/>
          </a:xfrm>
          <a:prstGeom prst="rect">
            <a:avLst/>
          </a:prstGeom>
          <a:noFill/>
          <a:ln>
            <a:noFill/>
          </a:ln>
        </p:spPr>
      </p:pic>
      <p:sp>
        <p:nvSpPr>
          <p:cNvPr id="106" name="Google Shape;106;p20"/>
          <p:cNvSpPr txBox="1">
            <a:spLocks noGrp="1"/>
          </p:cNvSpPr>
          <p:nvPr>
            <p:ph type="body" idx="4294967295"/>
          </p:nvPr>
        </p:nvSpPr>
        <p:spPr>
          <a:xfrm>
            <a:off x="207900" y="870000"/>
            <a:ext cx="3006900" cy="13032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SzPts val="688"/>
              <a:buNone/>
            </a:pPr>
            <a:r>
              <a:rPr lang="en" sz="3000" b="1">
                <a:solidFill>
                  <a:srgbClr val="541900"/>
                </a:solidFill>
              </a:rPr>
              <a:t>Making an Observation</a:t>
            </a:r>
            <a:endParaRPr sz="2250">
              <a:solidFill>
                <a:schemeClr val="dk1"/>
              </a:solidFill>
            </a:endParaRPr>
          </a:p>
          <a:p>
            <a:pPr marL="457200" lvl="0" indent="-371475" algn="l" rtl="0">
              <a:lnSpc>
                <a:spcPct val="95000"/>
              </a:lnSpc>
              <a:spcBef>
                <a:spcPts val="1000"/>
              </a:spcBef>
              <a:spcAft>
                <a:spcPts val="0"/>
              </a:spcAft>
              <a:buClr>
                <a:schemeClr val="dk1"/>
              </a:buClr>
              <a:buSzPts val="2250"/>
              <a:buChar char="●"/>
            </a:pPr>
            <a:r>
              <a:rPr lang="en" sz="2250">
                <a:solidFill>
                  <a:schemeClr val="dk1"/>
                </a:solidFill>
              </a:rPr>
              <a:t>Where is heat coming from in this picture?</a:t>
            </a:r>
            <a:endParaRPr sz="2250">
              <a:solidFill>
                <a:schemeClr val="dk1"/>
              </a:solidFill>
            </a:endParaRPr>
          </a:p>
          <a:p>
            <a:pPr marL="457200" lvl="0" indent="-371475" algn="l" rtl="0">
              <a:lnSpc>
                <a:spcPct val="95000"/>
              </a:lnSpc>
              <a:spcBef>
                <a:spcPts val="0"/>
              </a:spcBef>
              <a:spcAft>
                <a:spcPts val="0"/>
              </a:spcAft>
              <a:buClr>
                <a:schemeClr val="dk1"/>
              </a:buClr>
              <a:buSzPts val="2250"/>
              <a:buChar char="●"/>
            </a:pPr>
            <a:r>
              <a:rPr lang="en" sz="2250">
                <a:solidFill>
                  <a:schemeClr val="dk1"/>
                </a:solidFill>
              </a:rPr>
              <a:t>Where does the heat go once it leaves its source?</a:t>
            </a:r>
            <a:endParaRPr sz="2250">
              <a:solidFill>
                <a:schemeClr val="dk1"/>
              </a:solidFill>
            </a:endParaRPr>
          </a:p>
        </p:txBody>
      </p:sp>
      <p:sp>
        <p:nvSpPr>
          <p:cNvPr id="107" name="Google Shape;107;p20"/>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3.2 Carbon Dioxide &amp; Weather</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7</a:t>
            </a:r>
            <a:endParaRPr sz="1200">
              <a:solidFill>
                <a:schemeClr val="dk1"/>
              </a:solidFill>
              <a:latin typeface="Arial"/>
              <a:ea typeface="Arial"/>
              <a:cs typeface="Arial"/>
              <a:sym typeface="Arial"/>
            </a:endParaRPr>
          </a:p>
        </p:txBody>
      </p:sp>
      <p:grpSp>
        <p:nvGrpSpPr>
          <p:cNvPr id="108" name="Google Shape;108;p20"/>
          <p:cNvGrpSpPr/>
          <p:nvPr/>
        </p:nvGrpSpPr>
        <p:grpSpPr>
          <a:xfrm>
            <a:off x="5246950" y="1790075"/>
            <a:ext cx="2758400" cy="1573625"/>
            <a:chOff x="5246950" y="1790075"/>
            <a:chExt cx="2758400" cy="1573625"/>
          </a:xfrm>
        </p:grpSpPr>
        <p:grpSp>
          <p:nvGrpSpPr>
            <p:cNvPr id="109" name="Google Shape;109;p20"/>
            <p:cNvGrpSpPr/>
            <p:nvPr/>
          </p:nvGrpSpPr>
          <p:grpSpPr>
            <a:xfrm>
              <a:off x="5246950" y="1790075"/>
              <a:ext cx="532200" cy="1135800"/>
              <a:chOff x="5246950" y="1790075"/>
              <a:chExt cx="532200" cy="1135800"/>
            </a:xfrm>
          </p:grpSpPr>
          <p:sp>
            <p:nvSpPr>
              <p:cNvPr id="110" name="Google Shape;110;p20"/>
              <p:cNvSpPr/>
              <p:nvPr/>
            </p:nvSpPr>
            <p:spPr>
              <a:xfrm rot="-5400000">
                <a:off x="4998850" y="2074976"/>
                <a:ext cx="1028400" cy="532200"/>
              </a:xfrm>
              <a:prstGeom prst="rightArrow">
                <a:avLst>
                  <a:gd name="adj1" fmla="val 50000"/>
                  <a:gd name="adj2" fmla="val 50000"/>
                </a:avLst>
              </a:prstGeom>
              <a:solidFill>
                <a:srgbClr val="FF0000"/>
              </a:solidFill>
              <a:ln w="11625" cap="flat" cmpd="sng">
                <a:solidFill>
                  <a:schemeClr val="dk2"/>
                </a:solidFill>
                <a:prstDash val="solid"/>
                <a:round/>
                <a:headEnd type="none" w="sm" len="sm"/>
                <a:tailEnd type="none" w="sm" len="sm"/>
              </a:ln>
            </p:spPr>
            <p:txBody>
              <a:bodyPr spcFirstLastPara="1" wrap="square" lIns="111525" tIns="111525" rIns="111525" bIns="111525" anchor="ctr" anchorCtr="0">
                <a:noAutofit/>
              </a:bodyPr>
              <a:lstStyle/>
              <a:p>
                <a:pPr marL="0" lvl="0" indent="0" algn="ctr" rtl="0">
                  <a:spcBef>
                    <a:spcPts val="0"/>
                  </a:spcBef>
                  <a:spcAft>
                    <a:spcPts val="0"/>
                  </a:spcAft>
                  <a:buNone/>
                </a:pPr>
                <a:endParaRPr sz="1708"/>
              </a:p>
            </p:txBody>
          </p:sp>
          <p:sp>
            <p:nvSpPr>
              <p:cNvPr id="111" name="Google Shape;111;p20"/>
              <p:cNvSpPr txBox="1"/>
              <p:nvPr/>
            </p:nvSpPr>
            <p:spPr>
              <a:xfrm rot="-5400000">
                <a:off x="4945068" y="2151425"/>
                <a:ext cx="1135800" cy="413100"/>
              </a:xfrm>
              <a:prstGeom prst="rect">
                <a:avLst/>
              </a:prstGeom>
              <a:noFill/>
              <a:ln>
                <a:noFill/>
              </a:ln>
            </p:spPr>
            <p:txBody>
              <a:bodyPr spcFirstLastPara="1" wrap="square" lIns="111525" tIns="111525" rIns="111525" bIns="111525" anchor="t" anchorCtr="0">
                <a:spAutoFit/>
              </a:bodyPr>
              <a:lstStyle/>
              <a:p>
                <a:pPr marL="0" lvl="0" indent="0" algn="l" rtl="0">
                  <a:spcBef>
                    <a:spcPts val="0"/>
                  </a:spcBef>
                  <a:spcAft>
                    <a:spcPts val="0"/>
                  </a:spcAft>
                  <a:buNone/>
                </a:pPr>
                <a:r>
                  <a:rPr lang="en" sz="1220" b="1">
                    <a:solidFill>
                      <a:schemeClr val="dk1"/>
                    </a:solidFill>
                  </a:rPr>
                  <a:t>Heat energy</a:t>
                </a:r>
                <a:endParaRPr sz="1220" b="1">
                  <a:solidFill>
                    <a:schemeClr val="dk1"/>
                  </a:solidFill>
                </a:endParaRPr>
              </a:p>
            </p:txBody>
          </p:sp>
        </p:grpSp>
        <p:grpSp>
          <p:nvGrpSpPr>
            <p:cNvPr id="112" name="Google Shape;112;p20"/>
            <p:cNvGrpSpPr/>
            <p:nvPr/>
          </p:nvGrpSpPr>
          <p:grpSpPr>
            <a:xfrm>
              <a:off x="6360050" y="1920325"/>
              <a:ext cx="532200" cy="1135800"/>
              <a:chOff x="5246950" y="1790075"/>
              <a:chExt cx="532200" cy="1135800"/>
            </a:xfrm>
          </p:grpSpPr>
          <p:sp>
            <p:nvSpPr>
              <p:cNvPr id="113" name="Google Shape;113;p20"/>
              <p:cNvSpPr/>
              <p:nvPr/>
            </p:nvSpPr>
            <p:spPr>
              <a:xfrm rot="-5400000">
                <a:off x="4998850" y="2074976"/>
                <a:ext cx="1028400" cy="532200"/>
              </a:xfrm>
              <a:prstGeom prst="rightArrow">
                <a:avLst>
                  <a:gd name="adj1" fmla="val 50000"/>
                  <a:gd name="adj2" fmla="val 50000"/>
                </a:avLst>
              </a:prstGeom>
              <a:solidFill>
                <a:srgbClr val="FF0000"/>
              </a:solidFill>
              <a:ln w="11625" cap="flat" cmpd="sng">
                <a:solidFill>
                  <a:schemeClr val="dk2"/>
                </a:solidFill>
                <a:prstDash val="solid"/>
                <a:round/>
                <a:headEnd type="none" w="sm" len="sm"/>
                <a:tailEnd type="none" w="sm" len="sm"/>
              </a:ln>
            </p:spPr>
            <p:txBody>
              <a:bodyPr spcFirstLastPara="1" wrap="square" lIns="111525" tIns="111525" rIns="111525" bIns="111525" anchor="ctr" anchorCtr="0">
                <a:noAutofit/>
              </a:bodyPr>
              <a:lstStyle/>
              <a:p>
                <a:pPr marL="0" lvl="0" indent="0" algn="ctr" rtl="0">
                  <a:spcBef>
                    <a:spcPts val="0"/>
                  </a:spcBef>
                  <a:spcAft>
                    <a:spcPts val="0"/>
                  </a:spcAft>
                  <a:buNone/>
                </a:pPr>
                <a:endParaRPr sz="1708"/>
              </a:p>
            </p:txBody>
          </p:sp>
          <p:sp>
            <p:nvSpPr>
              <p:cNvPr id="114" name="Google Shape;114;p20"/>
              <p:cNvSpPr txBox="1"/>
              <p:nvPr/>
            </p:nvSpPr>
            <p:spPr>
              <a:xfrm rot="-5400000">
                <a:off x="4945068" y="2151425"/>
                <a:ext cx="1135800" cy="413100"/>
              </a:xfrm>
              <a:prstGeom prst="rect">
                <a:avLst/>
              </a:prstGeom>
              <a:noFill/>
              <a:ln>
                <a:noFill/>
              </a:ln>
            </p:spPr>
            <p:txBody>
              <a:bodyPr spcFirstLastPara="1" wrap="square" lIns="111525" tIns="111525" rIns="111525" bIns="111525" anchor="t" anchorCtr="0">
                <a:spAutoFit/>
              </a:bodyPr>
              <a:lstStyle/>
              <a:p>
                <a:pPr marL="0" lvl="0" indent="0" algn="l" rtl="0">
                  <a:spcBef>
                    <a:spcPts val="0"/>
                  </a:spcBef>
                  <a:spcAft>
                    <a:spcPts val="0"/>
                  </a:spcAft>
                  <a:buNone/>
                </a:pPr>
                <a:r>
                  <a:rPr lang="en" sz="1220" b="1">
                    <a:solidFill>
                      <a:schemeClr val="dk1"/>
                    </a:solidFill>
                  </a:rPr>
                  <a:t>Heat energy</a:t>
                </a:r>
                <a:endParaRPr sz="1220" b="1">
                  <a:solidFill>
                    <a:schemeClr val="dk1"/>
                  </a:solidFill>
                </a:endParaRPr>
              </a:p>
            </p:txBody>
          </p:sp>
        </p:grpSp>
        <p:grpSp>
          <p:nvGrpSpPr>
            <p:cNvPr id="115" name="Google Shape;115;p20"/>
            <p:cNvGrpSpPr/>
            <p:nvPr/>
          </p:nvGrpSpPr>
          <p:grpSpPr>
            <a:xfrm>
              <a:off x="7473150" y="2227900"/>
              <a:ext cx="532200" cy="1135800"/>
              <a:chOff x="5246950" y="1790075"/>
              <a:chExt cx="532200" cy="1135800"/>
            </a:xfrm>
          </p:grpSpPr>
          <p:sp>
            <p:nvSpPr>
              <p:cNvPr id="116" name="Google Shape;116;p20"/>
              <p:cNvSpPr/>
              <p:nvPr/>
            </p:nvSpPr>
            <p:spPr>
              <a:xfrm rot="-5400000">
                <a:off x="4998850" y="2074976"/>
                <a:ext cx="1028400" cy="532200"/>
              </a:xfrm>
              <a:prstGeom prst="rightArrow">
                <a:avLst>
                  <a:gd name="adj1" fmla="val 50000"/>
                  <a:gd name="adj2" fmla="val 50000"/>
                </a:avLst>
              </a:prstGeom>
              <a:solidFill>
                <a:srgbClr val="FF0000"/>
              </a:solidFill>
              <a:ln w="11625" cap="flat" cmpd="sng">
                <a:solidFill>
                  <a:schemeClr val="dk2"/>
                </a:solidFill>
                <a:prstDash val="solid"/>
                <a:round/>
                <a:headEnd type="none" w="sm" len="sm"/>
                <a:tailEnd type="none" w="sm" len="sm"/>
              </a:ln>
            </p:spPr>
            <p:txBody>
              <a:bodyPr spcFirstLastPara="1" wrap="square" lIns="111525" tIns="111525" rIns="111525" bIns="111525" anchor="ctr" anchorCtr="0">
                <a:noAutofit/>
              </a:bodyPr>
              <a:lstStyle/>
              <a:p>
                <a:pPr marL="0" lvl="0" indent="0" algn="ctr" rtl="0">
                  <a:spcBef>
                    <a:spcPts val="0"/>
                  </a:spcBef>
                  <a:spcAft>
                    <a:spcPts val="0"/>
                  </a:spcAft>
                  <a:buNone/>
                </a:pPr>
                <a:endParaRPr sz="1708"/>
              </a:p>
            </p:txBody>
          </p:sp>
          <p:sp>
            <p:nvSpPr>
              <p:cNvPr id="117" name="Google Shape;117;p20"/>
              <p:cNvSpPr txBox="1"/>
              <p:nvPr/>
            </p:nvSpPr>
            <p:spPr>
              <a:xfrm rot="-5400000">
                <a:off x="4945068" y="2151425"/>
                <a:ext cx="1135800" cy="413100"/>
              </a:xfrm>
              <a:prstGeom prst="rect">
                <a:avLst/>
              </a:prstGeom>
              <a:noFill/>
              <a:ln>
                <a:noFill/>
              </a:ln>
            </p:spPr>
            <p:txBody>
              <a:bodyPr spcFirstLastPara="1" wrap="square" lIns="111525" tIns="111525" rIns="111525" bIns="111525" anchor="t" anchorCtr="0">
                <a:spAutoFit/>
              </a:bodyPr>
              <a:lstStyle/>
              <a:p>
                <a:pPr marL="0" lvl="0" indent="0" algn="l" rtl="0">
                  <a:spcBef>
                    <a:spcPts val="0"/>
                  </a:spcBef>
                  <a:spcAft>
                    <a:spcPts val="0"/>
                  </a:spcAft>
                  <a:buNone/>
                </a:pPr>
                <a:r>
                  <a:rPr lang="en" sz="1220" b="1">
                    <a:solidFill>
                      <a:schemeClr val="dk1"/>
                    </a:solidFill>
                  </a:rPr>
                  <a:t>Heat energy</a:t>
                </a:r>
                <a:endParaRPr sz="1220" b="1">
                  <a:solidFill>
                    <a:schemeClr val="dk1"/>
                  </a:solidFill>
                </a:endParaRPr>
              </a:p>
            </p:txBody>
          </p:sp>
        </p:grpSp>
      </p:grpSp>
    </p:spTree>
  </p:cSld>
  <p:clrMapOvr>
    <a:masterClrMapping/>
  </p:clrMapOvr>
  <p:transition spd="med">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21"/>
        <p:cNvGrpSpPr/>
        <p:nvPr/>
      </p:nvGrpSpPr>
      <p:grpSpPr>
        <a:xfrm>
          <a:off x="0" y="0"/>
          <a:ext cx="0" cy="0"/>
          <a:chOff x="0" y="0"/>
          <a:chExt cx="0" cy="0"/>
        </a:xfrm>
      </p:grpSpPr>
      <p:pic>
        <p:nvPicPr>
          <p:cNvPr id="122" name="Google Shape;122;p21" title="is-sleeping-without-a-blanket-good.jpg"/>
          <p:cNvPicPr preferRelativeResize="0"/>
          <p:nvPr/>
        </p:nvPicPr>
        <p:blipFill>
          <a:blip r:embed="rId3">
            <a:alphaModFix/>
          </a:blip>
          <a:stretch>
            <a:fillRect/>
          </a:stretch>
        </p:blipFill>
        <p:spPr>
          <a:xfrm>
            <a:off x="3214800" y="870000"/>
            <a:ext cx="5768575" cy="3403488"/>
          </a:xfrm>
          <a:prstGeom prst="rect">
            <a:avLst/>
          </a:prstGeom>
          <a:noFill/>
          <a:ln>
            <a:noFill/>
          </a:ln>
        </p:spPr>
      </p:pic>
      <p:sp>
        <p:nvSpPr>
          <p:cNvPr id="123" name="Google Shape;123;p21"/>
          <p:cNvSpPr txBox="1">
            <a:spLocks noGrp="1"/>
          </p:cNvSpPr>
          <p:nvPr>
            <p:ph type="body" idx="4294967295"/>
          </p:nvPr>
        </p:nvSpPr>
        <p:spPr>
          <a:xfrm>
            <a:off x="207900" y="870000"/>
            <a:ext cx="3006900" cy="13032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SzPts val="688"/>
              <a:buNone/>
            </a:pPr>
            <a:r>
              <a:rPr lang="en" sz="3000" b="1">
                <a:solidFill>
                  <a:srgbClr val="541900"/>
                </a:solidFill>
              </a:rPr>
              <a:t>Making an Observation</a:t>
            </a:r>
            <a:endParaRPr sz="2250">
              <a:solidFill>
                <a:schemeClr val="dk1"/>
              </a:solidFill>
            </a:endParaRPr>
          </a:p>
          <a:p>
            <a:pPr marL="457200" lvl="0" indent="-371475" algn="l" rtl="0">
              <a:lnSpc>
                <a:spcPct val="95000"/>
              </a:lnSpc>
              <a:spcBef>
                <a:spcPts val="1000"/>
              </a:spcBef>
              <a:spcAft>
                <a:spcPts val="0"/>
              </a:spcAft>
              <a:buClr>
                <a:schemeClr val="dk1"/>
              </a:buClr>
              <a:buSzPts val="2250"/>
              <a:buChar char="●"/>
            </a:pPr>
            <a:r>
              <a:rPr lang="en" sz="2250">
                <a:solidFill>
                  <a:schemeClr val="dk1"/>
                </a:solidFill>
              </a:rPr>
              <a:t>Where is heat coming from in this picture?</a:t>
            </a:r>
            <a:endParaRPr sz="2250">
              <a:solidFill>
                <a:schemeClr val="dk1"/>
              </a:solidFill>
            </a:endParaRPr>
          </a:p>
          <a:p>
            <a:pPr marL="457200" lvl="0" indent="-371475" algn="l" rtl="0">
              <a:lnSpc>
                <a:spcPct val="95000"/>
              </a:lnSpc>
              <a:spcBef>
                <a:spcPts val="0"/>
              </a:spcBef>
              <a:spcAft>
                <a:spcPts val="0"/>
              </a:spcAft>
              <a:buClr>
                <a:schemeClr val="dk1"/>
              </a:buClr>
              <a:buSzPts val="2250"/>
              <a:buChar char="●"/>
            </a:pPr>
            <a:r>
              <a:rPr lang="en" sz="2250">
                <a:solidFill>
                  <a:schemeClr val="dk1"/>
                </a:solidFill>
              </a:rPr>
              <a:t>Where does the heat go once it leaves its source?</a:t>
            </a:r>
            <a:endParaRPr sz="2250">
              <a:solidFill>
                <a:schemeClr val="dk1"/>
              </a:solidFill>
            </a:endParaRPr>
          </a:p>
        </p:txBody>
      </p:sp>
      <p:sp>
        <p:nvSpPr>
          <p:cNvPr id="124" name="Google Shape;124;p21"/>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3.2 Carbon Dioxide &amp; Weather</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7</a:t>
            </a:r>
            <a:endParaRPr sz="1200">
              <a:solidFill>
                <a:schemeClr val="dk1"/>
              </a:solidFill>
              <a:latin typeface="Arial"/>
              <a:ea typeface="Arial"/>
              <a:cs typeface="Arial"/>
              <a:sym typeface="Arial"/>
            </a:endParaRPr>
          </a:p>
        </p:txBody>
      </p:sp>
      <p:pic>
        <p:nvPicPr>
          <p:cNvPr id="125" name="Google Shape;125;p21" title="372-3724124_episode-interactive-blanket-overlay.png"/>
          <p:cNvPicPr preferRelativeResize="0"/>
          <p:nvPr/>
        </p:nvPicPr>
        <p:blipFill>
          <a:blip r:embed="rId4">
            <a:alphaModFix/>
          </a:blip>
          <a:stretch>
            <a:fillRect/>
          </a:stretch>
        </p:blipFill>
        <p:spPr>
          <a:xfrm rot="564921">
            <a:off x="4994415" y="2399802"/>
            <a:ext cx="3905843" cy="1880972"/>
          </a:xfrm>
          <a:prstGeom prst="rect">
            <a:avLst/>
          </a:prstGeom>
          <a:noFill/>
          <a:ln>
            <a:noFill/>
          </a:ln>
        </p:spPr>
      </p:pic>
      <p:pic>
        <p:nvPicPr>
          <p:cNvPr id="126" name="Google Shape;126;p21" title="372-3724124_episode-interactive-blanket-overlay.png"/>
          <p:cNvPicPr preferRelativeResize="0"/>
          <p:nvPr/>
        </p:nvPicPr>
        <p:blipFill>
          <a:blip r:embed="rId4">
            <a:alphaModFix/>
          </a:blip>
          <a:stretch>
            <a:fillRect/>
          </a:stretch>
        </p:blipFill>
        <p:spPr>
          <a:xfrm rot="564922">
            <a:off x="5837116" y="2860297"/>
            <a:ext cx="3251922" cy="144168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30"/>
        <p:cNvGrpSpPr/>
        <p:nvPr/>
      </p:nvGrpSpPr>
      <p:grpSpPr>
        <a:xfrm>
          <a:off x="0" y="0"/>
          <a:ext cx="0" cy="0"/>
          <a:chOff x="0" y="0"/>
          <a:chExt cx="0" cy="0"/>
        </a:xfrm>
      </p:grpSpPr>
      <p:sp>
        <p:nvSpPr>
          <p:cNvPr id="131" name="Google Shape;131;p22"/>
          <p:cNvSpPr txBox="1">
            <a:spLocks noGrp="1"/>
          </p:cNvSpPr>
          <p:nvPr>
            <p:ph type="title"/>
          </p:nvPr>
        </p:nvSpPr>
        <p:spPr>
          <a:xfrm>
            <a:off x="311700" y="445025"/>
            <a:ext cx="8335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100" b="1">
                <a:solidFill>
                  <a:srgbClr val="541900"/>
                </a:solidFill>
              </a:rPr>
              <a:t>How does this process apply to the Earth?</a:t>
            </a:r>
            <a:endParaRPr sz="3100" b="1">
              <a:solidFill>
                <a:srgbClr val="541900"/>
              </a:solidFill>
            </a:endParaRPr>
          </a:p>
          <a:p>
            <a:pPr marL="0" lvl="0" indent="0" algn="l" rtl="0">
              <a:lnSpc>
                <a:spcPct val="115000"/>
              </a:lnSpc>
              <a:spcBef>
                <a:spcPts val="0"/>
              </a:spcBef>
              <a:spcAft>
                <a:spcPts val="0"/>
              </a:spcAft>
              <a:buClr>
                <a:schemeClr val="dk1"/>
              </a:buClr>
              <a:buSzPts val="1100"/>
              <a:buFont typeface="Arial"/>
              <a:buNone/>
            </a:pPr>
            <a:r>
              <a:rPr lang="en" sz="2000" i="1">
                <a:solidFill>
                  <a:srgbClr val="355E3B"/>
                </a:solidFill>
              </a:rPr>
              <a:t>To see how this process applies to the Earth, you and your team will create a drawn model.</a:t>
            </a:r>
            <a:endParaRPr sz="2000" i="1">
              <a:solidFill>
                <a:srgbClr val="355E3B"/>
              </a:solidFill>
            </a:endParaRPr>
          </a:p>
          <a:p>
            <a:pPr marL="0" lvl="0" indent="0" algn="ctr" rtl="0">
              <a:spcBef>
                <a:spcPts val="1200"/>
              </a:spcBef>
              <a:spcAft>
                <a:spcPts val="0"/>
              </a:spcAft>
              <a:buNone/>
            </a:pPr>
            <a:endParaRPr sz="3100" b="1">
              <a:solidFill>
                <a:srgbClr val="541900"/>
              </a:solidFill>
            </a:endParaRPr>
          </a:p>
        </p:txBody>
      </p:sp>
      <p:sp>
        <p:nvSpPr>
          <p:cNvPr id="132" name="Google Shape;132;p22"/>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3.2 Carbon Dioxide &amp; Weather</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9</a:t>
            </a:r>
            <a:endParaRPr sz="1200">
              <a:solidFill>
                <a:schemeClr val="dk1"/>
              </a:solidFill>
              <a:latin typeface="Arial"/>
              <a:ea typeface="Arial"/>
              <a:cs typeface="Arial"/>
              <a:sym typeface="Arial"/>
            </a:endParaRPr>
          </a:p>
        </p:txBody>
      </p:sp>
      <p:pic>
        <p:nvPicPr>
          <p:cNvPr id="133" name="Google Shape;133;p22" title="is-sleeping-without-a-blanket-good.jpg"/>
          <p:cNvPicPr preferRelativeResize="0"/>
          <p:nvPr/>
        </p:nvPicPr>
        <p:blipFill>
          <a:blip r:embed="rId3">
            <a:alphaModFix/>
          </a:blip>
          <a:stretch>
            <a:fillRect/>
          </a:stretch>
        </p:blipFill>
        <p:spPr>
          <a:xfrm>
            <a:off x="569350" y="2006075"/>
            <a:ext cx="3847250" cy="2269882"/>
          </a:xfrm>
          <a:prstGeom prst="rect">
            <a:avLst/>
          </a:prstGeom>
          <a:noFill/>
          <a:ln w="10475" cap="flat" cmpd="sng">
            <a:solidFill>
              <a:schemeClr val="dk1"/>
            </a:solidFill>
            <a:prstDash val="solid"/>
            <a:round/>
            <a:headEnd type="none" w="sm" len="sm"/>
            <a:tailEnd type="none" w="sm" len="sm"/>
          </a:ln>
        </p:spPr>
      </p:pic>
      <p:pic>
        <p:nvPicPr>
          <p:cNvPr id="134" name="Google Shape;134;p22" title="is-sleeping-without-a-blanket-good.jpg"/>
          <p:cNvPicPr preferRelativeResize="0"/>
          <p:nvPr/>
        </p:nvPicPr>
        <p:blipFill>
          <a:blip r:embed="rId3">
            <a:alphaModFix/>
          </a:blip>
          <a:stretch>
            <a:fillRect/>
          </a:stretch>
        </p:blipFill>
        <p:spPr>
          <a:xfrm>
            <a:off x="4700689" y="2006075"/>
            <a:ext cx="3847250" cy="2269882"/>
          </a:xfrm>
          <a:prstGeom prst="rect">
            <a:avLst/>
          </a:prstGeom>
          <a:noFill/>
          <a:ln w="10475" cap="flat" cmpd="sng">
            <a:solidFill>
              <a:schemeClr val="dk1"/>
            </a:solidFill>
            <a:prstDash val="solid"/>
            <a:round/>
            <a:headEnd type="none" w="sm" len="sm"/>
            <a:tailEnd type="none" w="sm" len="sm"/>
          </a:ln>
        </p:spPr>
      </p:pic>
      <p:pic>
        <p:nvPicPr>
          <p:cNvPr id="135" name="Google Shape;135;p22" title="372-3724124_episode-interactive-blanket-overlay.png"/>
          <p:cNvPicPr preferRelativeResize="0"/>
          <p:nvPr/>
        </p:nvPicPr>
        <p:blipFill>
          <a:blip r:embed="rId4">
            <a:alphaModFix/>
          </a:blip>
          <a:stretch>
            <a:fillRect/>
          </a:stretch>
        </p:blipFill>
        <p:spPr>
          <a:xfrm rot="612907">
            <a:off x="5936198" y="3018653"/>
            <a:ext cx="2547543" cy="1337324"/>
          </a:xfrm>
          <a:prstGeom prst="rect">
            <a:avLst/>
          </a:prstGeom>
          <a:noFill/>
          <a:ln>
            <a:noFill/>
          </a:ln>
        </p:spPr>
      </p:pic>
      <p:pic>
        <p:nvPicPr>
          <p:cNvPr id="136" name="Google Shape;136;p22" title="372-3724124_episode-interactive-blanket-overlay.png"/>
          <p:cNvPicPr preferRelativeResize="0"/>
          <p:nvPr/>
        </p:nvPicPr>
        <p:blipFill>
          <a:blip r:embed="rId4">
            <a:alphaModFix/>
          </a:blip>
          <a:stretch>
            <a:fillRect/>
          </a:stretch>
        </p:blipFill>
        <p:spPr>
          <a:xfrm rot="612917">
            <a:off x="6565174" y="3382045"/>
            <a:ext cx="2018742" cy="8942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40"/>
        <p:cNvGrpSpPr/>
        <p:nvPr/>
      </p:nvGrpSpPr>
      <p:grpSpPr>
        <a:xfrm>
          <a:off x="0" y="0"/>
          <a:ext cx="0" cy="0"/>
          <a:chOff x="0" y="0"/>
          <a:chExt cx="0" cy="0"/>
        </a:xfrm>
      </p:grpSpPr>
      <p:sp>
        <p:nvSpPr>
          <p:cNvPr id="141" name="Google Shape;141;p23"/>
          <p:cNvSpPr txBox="1">
            <a:spLocks noGrp="1"/>
          </p:cNvSpPr>
          <p:nvPr>
            <p:ph type="title"/>
          </p:nvPr>
        </p:nvSpPr>
        <p:spPr>
          <a:xfrm>
            <a:off x="231175" y="367400"/>
            <a:ext cx="4518600" cy="170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b="1" dirty="0">
                <a:solidFill>
                  <a:srgbClr val="541900"/>
                </a:solidFill>
              </a:rPr>
              <a:t>Modeling Earth’s Processes</a:t>
            </a:r>
            <a:endParaRPr sz="2400" b="1" dirty="0">
              <a:solidFill>
                <a:srgbClr val="541900"/>
              </a:solidFill>
            </a:endParaRPr>
          </a:p>
          <a:p>
            <a:pPr marL="0" lvl="0" indent="0" algn="l" rtl="0">
              <a:lnSpc>
                <a:spcPct val="115000"/>
              </a:lnSpc>
              <a:spcBef>
                <a:spcPts val="0"/>
              </a:spcBef>
              <a:spcAft>
                <a:spcPts val="1200"/>
              </a:spcAft>
              <a:buNone/>
            </a:pPr>
            <a:r>
              <a:rPr lang="en" sz="1500" i="1" dirty="0">
                <a:solidFill>
                  <a:srgbClr val="355E3B"/>
                </a:solidFill>
              </a:rPr>
              <a:t>Take a piece of paper and split it into two equal halves or use </a:t>
            </a:r>
            <a:r>
              <a:rPr lang="en" sz="1500" i="1" u="sng" dirty="0">
                <a:solidFill>
                  <a:schemeClr val="hlink"/>
                </a:solidFill>
              </a:rPr>
              <a:t>Science Journal p. 28</a:t>
            </a:r>
            <a:r>
              <a:rPr lang="en" sz="1500" i="1" dirty="0">
                <a:solidFill>
                  <a:srgbClr val="355E3B"/>
                </a:solidFill>
              </a:rPr>
              <a:t>. Use the image on the right as a framework to help you think about how light energy interacts with Earth.</a:t>
            </a:r>
            <a:endParaRPr sz="2600" b="1" dirty="0">
              <a:solidFill>
                <a:srgbClr val="541900"/>
              </a:solidFill>
            </a:endParaRPr>
          </a:p>
        </p:txBody>
      </p:sp>
      <p:sp>
        <p:nvSpPr>
          <p:cNvPr id="142" name="Google Shape;142;p23"/>
          <p:cNvSpPr txBox="1">
            <a:spLocks noGrp="1"/>
          </p:cNvSpPr>
          <p:nvPr>
            <p:ph type="body" idx="2"/>
          </p:nvPr>
        </p:nvSpPr>
        <p:spPr>
          <a:xfrm>
            <a:off x="311575" y="2069300"/>
            <a:ext cx="4438200" cy="2906400"/>
          </a:xfrm>
          <a:prstGeom prst="rect">
            <a:avLst/>
          </a:prstGeom>
        </p:spPr>
        <p:txBody>
          <a:bodyPr spcFirstLastPara="1" wrap="square" lIns="91425" tIns="91425" rIns="91425" bIns="91425" anchor="t" anchorCtr="0">
            <a:normAutofit lnSpcReduction="10000"/>
          </a:bodyPr>
          <a:lstStyle/>
          <a:p>
            <a:pPr marL="457200" lvl="0" indent="-355600" algn="l" rtl="0">
              <a:lnSpc>
                <a:spcPct val="115000"/>
              </a:lnSpc>
              <a:spcBef>
                <a:spcPts val="1000"/>
              </a:spcBef>
              <a:spcAft>
                <a:spcPts val="0"/>
              </a:spcAft>
              <a:buClr>
                <a:schemeClr val="dk1"/>
              </a:buClr>
              <a:buSzPts val="2000"/>
              <a:buChar char="●"/>
            </a:pPr>
            <a:r>
              <a:rPr lang="en" sz="2000" dirty="0">
                <a:solidFill>
                  <a:schemeClr val="dk1"/>
                </a:solidFill>
              </a:rPr>
              <a:t>How do you think the sun’s light energy interacts with Earth? How does it interact with the atmosphere?</a:t>
            </a:r>
            <a:endParaRPr sz="2000" dirty="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dirty="0">
                <a:solidFill>
                  <a:schemeClr val="dk1"/>
                </a:solidFill>
              </a:rPr>
              <a:t>Think back to the blanket model, what purpose did the blanket serve? Is there something similar happening with Earth?</a:t>
            </a:r>
            <a:endParaRPr sz="2000" dirty="0">
              <a:solidFill>
                <a:schemeClr val="dk1"/>
              </a:solidFill>
            </a:endParaRPr>
          </a:p>
        </p:txBody>
      </p:sp>
      <p:grpSp>
        <p:nvGrpSpPr>
          <p:cNvPr id="143" name="Google Shape;143;p23"/>
          <p:cNvGrpSpPr/>
          <p:nvPr/>
        </p:nvGrpSpPr>
        <p:grpSpPr>
          <a:xfrm>
            <a:off x="4805875" y="367400"/>
            <a:ext cx="4140475" cy="4408675"/>
            <a:chOff x="4805875" y="367400"/>
            <a:chExt cx="4140475" cy="4408675"/>
          </a:xfrm>
        </p:grpSpPr>
        <p:pic>
          <p:nvPicPr>
            <p:cNvPr id="144" name="Google Shape;144;p23"/>
            <p:cNvPicPr preferRelativeResize="0"/>
            <p:nvPr/>
          </p:nvPicPr>
          <p:blipFill rotWithShape="1">
            <a:blip r:embed="rId3">
              <a:alphaModFix/>
            </a:blip>
            <a:srcRect t="37371"/>
            <a:stretch/>
          </p:blipFill>
          <p:spPr>
            <a:xfrm rot="-5400000">
              <a:off x="4671775" y="501500"/>
              <a:ext cx="4408675" cy="4140475"/>
            </a:xfrm>
            <a:prstGeom prst="rect">
              <a:avLst/>
            </a:prstGeom>
            <a:noFill/>
            <a:ln>
              <a:noFill/>
            </a:ln>
          </p:spPr>
        </p:pic>
        <p:sp>
          <p:nvSpPr>
            <p:cNvPr id="145" name="Google Shape;145;p23"/>
            <p:cNvSpPr/>
            <p:nvPr/>
          </p:nvSpPr>
          <p:spPr>
            <a:xfrm rot="10800000">
              <a:off x="7079725" y="517400"/>
              <a:ext cx="1854900" cy="4249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 name="Google Shape;146;p23"/>
            <p:cNvSpPr/>
            <p:nvPr/>
          </p:nvSpPr>
          <p:spPr>
            <a:xfrm>
              <a:off x="5638625" y="3000800"/>
              <a:ext cx="1062000" cy="679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 name="Google Shape;147;p23"/>
            <p:cNvSpPr/>
            <p:nvPr/>
          </p:nvSpPr>
          <p:spPr>
            <a:xfrm>
              <a:off x="5585600" y="3268500"/>
              <a:ext cx="318000" cy="627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 name="Google Shape;148;p23"/>
            <p:cNvSpPr/>
            <p:nvPr/>
          </p:nvSpPr>
          <p:spPr>
            <a:xfrm>
              <a:off x="5491800" y="3747475"/>
              <a:ext cx="327900" cy="148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 name="Google Shape;149;p23"/>
            <p:cNvSpPr/>
            <p:nvPr/>
          </p:nvSpPr>
          <p:spPr>
            <a:xfrm>
              <a:off x="5684275" y="2391700"/>
              <a:ext cx="531000" cy="577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 name="Google Shape;150;p23"/>
            <p:cNvSpPr/>
            <p:nvPr/>
          </p:nvSpPr>
          <p:spPr>
            <a:xfrm>
              <a:off x="5510500" y="3855450"/>
              <a:ext cx="54000" cy="61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 name="Google Shape;151;p23"/>
            <p:cNvSpPr/>
            <p:nvPr/>
          </p:nvSpPr>
          <p:spPr>
            <a:xfrm>
              <a:off x="5799775" y="3882250"/>
              <a:ext cx="49200" cy="19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 name="Google Shape;152;p23"/>
            <p:cNvSpPr/>
            <p:nvPr/>
          </p:nvSpPr>
          <p:spPr>
            <a:xfrm>
              <a:off x="5525325" y="3929950"/>
              <a:ext cx="49200" cy="19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 name="Google Shape;153;p23"/>
            <p:cNvSpPr/>
            <p:nvPr/>
          </p:nvSpPr>
          <p:spPr>
            <a:xfrm>
              <a:off x="5795675" y="3913525"/>
              <a:ext cx="49200" cy="19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 name="Google Shape;154;p23"/>
            <p:cNvSpPr/>
            <p:nvPr/>
          </p:nvSpPr>
          <p:spPr>
            <a:xfrm>
              <a:off x="5812358" y="2979200"/>
              <a:ext cx="19800" cy="840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5" name="Google Shape;155;p23"/>
            <p:cNvSpPr/>
            <p:nvPr/>
          </p:nvSpPr>
          <p:spPr>
            <a:xfrm>
              <a:off x="6049396" y="2980258"/>
              <a:ext cx="29700" cy="840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56" name="Google Shape;156;p23"/>
          <p:cNvSpPr txBox="1"/>
          <p:nvPr/>
        </p:nvSpPr>
        <p:spPr>
          <a:xfrm>
            <a:off x="5391325" y="4244625"/>
            <a:ext cx="9525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2"/>
                </a:solidFill>
              </a:rPr>
              <a:t>Earth</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60"/>
        <p:cNvGrpSpPr/>
        <p:nvPr/>
      </p:nvGrpSpPr>
      <p:grpSpPr>
        <a:xfrm>
          <a:off x="0" y="0"/>
          <a:ext cx="0" cy="0"/>
          <a:chOff x="0" y="0"/>
          <a:chExt cx="0" cy="0"/>
        </a:xfrm>
      </p:grpSpPr>
      <p:sp>
        <p:nvSpPr>
          <p:cNvPr id="161" name="Google Shape;161;p24"/>
          <p:cNvSpPr txBox="1">
            <a:spLocks noGrp="1"/>
          </p:cNvSpPr>
          <p:nvPr>
            <p:ph type="title"/>
          </p:nvPr>
        </p:nvSpPr>
        <p:spPr>
          <a:xfrm>
            <a:off x="231175" y="367400"/>
            <a:ext cx="4518600" cy="108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100" b="1">
                <a:solidFill>
                  <a:srgbClr val="541900"/>
                </a:solidFill>
              </a:rPr>
              <a:t>Share Your Model</a:t>
            </a:r>
            <a:endParaRPr sz="3100" b="1">
              <a:solidFill>
                <a:srgbClr val="541900"/>
              </a:solidFill>
            </a:endParaRPr>
          </a:p>
          <a:p>
            <a:pPr marL="0" lvl="0" indent="0" algn="l" rtl="0">
              <a:lnSpc>
                <a:spcPct val="115000"/>
              </a:lnSpc>
              <a:spcBef>
                <a:spcPts val="0"/>
              </a:spcBef>
              <a:spcAft>
                <a:spcPts val="1200"/>
              </a:spcAft>
              <a:buNone/>
            </a:pPr>
            <a:r>
              <a:rPr lang="en" sz="2000" i="1">
                <a:solidFill>
                  <a:srgbClr val="355E3B"/>
                </a:solidFill>
              </a:rPr>
              <a:t>Now that you’ve had a chance to create a model as a team, share as a class.</a:t>
            </a:r>
            <a:endParaRPr sz="3100" b="1">
              <a:solidFill>
                <a:srgbClr val="541900"/>
              </a:solidFill>
            </a:endParaRPr>
          </a:p>
        </p:txBody>
      </p:sp>
      <p:sp>
        <p:nvSpPr>
          <p:cNvPr id="162" name="Google Shape;162;p24"/>
          <p:cNvSpPr txBox="1">
            <a:spLocks noGrp="1"/>
          </p:cNvSpPr>
          <p:nvPr>
            <p:ph type="body" idx="2"/>
          </p:nvPr>
        </p:nvSpPr>
        <p:spPr>
          <a:xfrm>
            <a:off x="311700" y="1943650"/>
            <a:ext cx="4438200" cy="2906400"/>
          </a:xfrm>
          <a:prstGeom prst="rect">
            <a:avLst/>
          </a:prstGeom>
        </p:spPr>
        <p:txBody>
          <a:bodyPr spcFirstLastPara="1" wrap="square" lIns="91425" tIns="91425" rIns="91425" bIns="91425" anchor="t" anchorCtr="0">
            <a:normAutofit/>
          </a:bodyPr>
          <a:lstStyle/>
          <a:p>
            <a:pPr marL="457200" lvl="0" indent="-355600" algn="l" rtl="0">
              <a:lnSpc>
                <a:spcPct val="115000"/>
              </a:lnSpc>
              <a:spcBef>
                <a:spcPts val="1000"/>
              </a:spcBef>
              <a:spcAft>
                <a:spcPts val="0"/>
              </a:spcAft>
              <a:buClr>
                <a:schemeClr val="dk1"/>
              </a:buClr>
              <a:buSzPts val="2000"/>
              <a:buChar char="●"/>
            </a:pPr>
            <a:r>
              <a:rPr lang="en" sz="2000">
                <a:solidFill>
                  <a:schemeClr val="dk1"/>
                </a:solidFill>
              </a:rPr>
              <a:t>How did the sun’s energy interact with Earth?</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Where did the sun’s energy go once it got to Earth?</a:t>
            </a:r>
            <a:endParaRPr sz="2000">
              <a:solidFill>
                <a:schemeClr val="dk1"/>
              </a:solidFill>
            </a:endParaRPr>
          </a:p>
        </p:txBody>
      </p:sp>
      <p:sp>
        <p:nvSpPr>
          <p:cNvPr id="163" name="Google Shape;163;p24"/>
          <p:cNvSpPr txBox="1"/>
          <p:nvPr/>
        </p:nvSpPr>
        <p:spPr>
          <a:xfrm>
            <a:off x="5391325" y="4244625"/>
            <a:ext cx="9525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2"/>
                </a:solidFill>
              </a:rPr>
              <a:t>Earth</a:t>
            </a:r>
            <a:endParaRPr sz="1800">
              <a:solidFill>
                <a:schemeClr val="dk2"/>
              </a:solidFill>
            </a:endParaRPr>
          </a:p>
        </p:txBody>
      </p:sp>
      <p:grpSp>
        <p:nvGrpSpPr>
          <p:cNvPr id="164" name="Google Shape;164;p24"/>
          <p:cNvGrpSpPr/>
          <p:nvPr/>
        </p:nvGrpSpPr>
        <p:grpSpPr>
          <a:xfrm>
            <a:off x="4805875" y="367400"/>
            <a:ext cx="4140475" cy="4408675"/>
            <a:chOff x="4805875" y="367400"/>
            <a:chExt cx="4140475" cy="4408675"/>
          </a:xfrm>
        </p:grpSpPr>
        <p:pic>
          <p:nvPicPr>
            <p:cNvPr id="165" name="Google Shape;165;p24"/>
            <p:cNvPicPr preferRelativeResize="0"/>
            <p:nvPr/>
          </p:nvPicPr>
          <p:blipFill rotWithShape="1">
            <a:blip r:embed="rId3">
              <a:alphaModFix/>
            </a:blip>
            <a:srcRect t="37371"/>
            <a:stretch/>
          </p:blipFill>
          <p:spPr>
            <a:xfrm rot="-5400000">
              <a:off x="4671775" y="501500"/>
              <a:ext cx="4408675" cy="4140475"/>
            </a:xfrm>
            <a:prstGeom prst="rect">
              <a:avLst/>
            </a:prstGeom>
            <a:noFill/>
            <a:ln>
              <a:noFill/>
            </a:ln>
          </p:spPr>
        </p:pic>
        <p:sp>
          <p:nvSpPr>
            <p:cNvPr id="166" name="Google Shape;166;p24"/>
            <p:cNvSpPr/>
            <p:nvPr/>
          </p:nvSpPr>
          <p:spPr>
            <a:xfrm rot="10800000">
              <a:off x="7079725" y="517400"/>
              <a:ext cx="1854900" cy="4249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 name="Google Shape;167;p24"/>
            <p:cNvSpPr/>
            <p:nvPr/>
          </p:nvSpPr>
          <p:spPr>
            <a:xfrm>
              <a:off x="5638625" y="3000800"/>
              <a:ext cx="1062000" cy="679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 name="Google Shape;168;p24"/>
            <p:cNvSpPr/>
            <p:nvPr/>
          </p:nvSpPr>
          <p:spPr>
            <a:xfrm>
              <a:off x="5585600" y="3268500"/>
              <a:ext cx="318000" cy="6273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 name="Google Shape;169;p24"/>
            <p:cNvSpPr/>
            <p:nvPr/>
          </p:nvSpPr>
          <p:spPr>
            <a:xfrm>
              <a:off x="5491800" y="3747475"/>
              <a:ext cx="327900" cy="148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 name="Google Shape;170;p24"/>
            <p:cNvSpPr/>
            <p:nvPr/>
          </p:nvSpPr>
          <p:spPr>
            <a:xfrm>
              <a:off x="5684275" y="2391700"/>
              <a:ext cx="531000" cy="577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 name="Google Shape;171;p24"/>
            <p:cNvSpPr/>
            <p:nvPr/>
          </p:nvSpPr>
          <p:spPr>
            <a:xfrm>
              <a:off x="5510500" y="3855450"/>
              <a:ext cx="54000" cy="61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 name="Google Shape;172;p24"/>
            <p:cNvSpPr/>
            <p:nvPr/>
          </p:nvSpPr>
          <p:spPr>
            <a:xfrm>
              <a:off x="5799775" y="3882250"/>
              <a:ext cx="49200" cy="19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 name="Google Shape;173;p24"/>
            <p:cNvSpPr/>
            <p:nvPr/>
          </p:nvSpPr>
          <p:spPr>
            <a:xfrm>
              <a:off x="5525325" y="3929950"/>
              <a:ext cx="49200" cy="19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 name="Google Shape;174;p24"/>
            <p:cNvSpPr/>
            <p:nvPr/>
          </p:nvSpPr>
          <p:spPr>
            <a:xfrm>
              <a:off x="5795675" y="3913525"/>
              <a:ext cx="49200" cy="19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 name="Google Shape;175;p24"/>
            <p:cNvSpPr/>
            <p:nvPr/>
          </p:nvSpPr>
          <p:spPr>
            <a:xfrm>
              <a:off x="5812358" y="2979200"/>
              <a:ext cx="19800" cy="840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 name="Google Shape;176;p24"/>
            <p:cNvSpPr/>
            <p:nvPr/>
          </p:nvSpPr>
          <p:spPr>
            <a:xfrm>
              <a:off x="6049396" y="2980258"/>
              <a:ext cx="29700" cy="840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80"/>
        <p:cNvGrpSpPr/>
        <p:nvPr/>
      </p:nvGrpSpPr>
      <p:grpSpPr>
        <a:xfrm>
          <a:off x="0" y="0"/>
          <a:ext cx="0" cy="0"/>
          <a:chOff x="0" y="0"/>
          <a:chExt cx="0" cy="0"/>
        </a:xfrm>
      </p:grpSpPr>
      <p:sp>
        <p:nvSpPr>
          <p:cNvPr id="181" name="Google Shape;181;p25"/>
          <p:cNvSpPr txBox="1">
            <a:spLocks noGrp="1"/>
          </p:cNvSpPr>
          <p:nvPr>
            <p:ph type="body" idx="1"/>
          </p:nvPr>
        </p:nvSpPr>
        <p:spPr>
          <a:xfrm>
            <a:off x="311700" y="1138325"/>
            <a:ext cx="8520600" cy="108948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000" i="1" dirty="0">
                <a:solidFill>
                  <a:srgbClr val="355E3B"/>
                </a:solidFill>
              </a:rPr>
              <a:t>In your </a:t>
            </a:r>
            <a:r>
              <a:rPr lang="en" sz="2000" i="1" u="sng" dirty="0">
                <a:solidFill>
                  <a:schemeClr val="hlink"/>
                </a:solidFill>
              </a:rPr>
              <a:t>science journal (p. 29)</a:t>
            </a:r>
            <a:r>
              <a:rPr lang="en" sz="2000" i="1" dirty="0">
                <a:solidFill>
                  <a:srgbClr val="355E3B"/>
                </a:solidFill>
              </a:rPr>
              <a:t>, take a couple of minutes to reflect on your experiences during Module 3.2, Day 1.</a:t>
            </a:r>
            <a:endParaRPr sz="2000" i="1" dirty="0">
              <a:solidFill>
                <a:srgbClr val="355E3B"/>
              </a:solidFill>
            </a:endParaRPr>
          </a:p>
          <a:p>
            <a:pPr marL="0" lvl="0" indent="0" algn="l" rtl="0">
              <a:spcBef>
                <a:spcPts val="1200"/>
              </a:spcBef>
              <a:spcAft>
                <a:spcPts val="1200"/>
              </a:spcAft>
              <a:buNone/>
            </a:pPr>
            <a:endParaRPr sz="2000" i="1" dirty="0">
              <a:solidFill>
                <a:srgbClr val="355E3B"/>
              </a:solidFill>
            </a:endParaRPr>
          </a:p>
        </p:txBody>
      </p:sp>
      <p:sp>
        <p:nvSpPr>
          <p:cNvPr id="182" name="Google Shape;182;p25"/>
          <p:cNvSpPr txBox="1">
            <a:spLocks noGrp="1"/>
          </p:cNvSpPr>
          <p:nvPr>
            <p:ph type="title"/>
          </p:nvPr>
        </p:nvSpPr>
        <p:spPr>
          <a:xfrm>
            <a:off x="311700" y="2675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Reflect</a:t>
            </a:r>
            <a:endParaRPr sz="4500" b="1">
              <a:solidFill>
                <a:srgbClr val="541900"/>
              </a:solidFill>
            </a:endParaRPr>
          </a:p>
        </p:txBody>
      </p:sp>
      <p:sp>
        <p:nvSpPr>
          <p:cNvPr id="183" name="Google Shape;183;p25"/>
          <p:cNvSpPr txBox="1">
            <a:spLocks noGrp="1"/>
          </p:cNvSpPr>
          <p:nvPr>
            <p:ph type="body" idx="4294967295"/>
          </p:nvPr>
        </p:nvSpPr>
        <p:spPr>
          <a:xfrm>
            <a:off x="311700" y="2009075"/>
            <a:ext cx="8373300" cy="1989000"/>
          </a:xfrm>
          <a:prstGeom prst="rect">
            <a:avLst/>
          </a:prstGeom>
        </p:spPr>
        <p:txBody>
          <a:bodyPr spcFirstLastPara="1" wrap="square" lIns="91425" tIns="91425" rIns="91425" bIns="91425" anchor="t" anchorCtr="0">
            <a:normAutofit/>
          </a:bodyPr>
          <a:lstStyle/>
          <a:p>
            <a:pPr marL="457200" lvl="0" indent="-355600" algn="l" rtl="0">
              <a:lnSpc>
                <a:spcPct val="115000"/>
              </a:lnSpc>
              <a:spcBef>
                <a:spcPts val="0"/>
              </a:spcBef>
              <a:spcAft>
                <a:spcPts val="0"/>
              </a:spcAft>
              <a:buClr>
                <a:schemeClr val="dk1"/>
              </a:buClr>
              <a:buSzPts val="2000"/>
              <a:buFont typeface="Calibri"/>
              <a:buAutoNum type="arabicPeriod"/>
            </a:pPr>
            <a:r>
              <a:rPr lang="en" sz="2000" dirty="0">
                <a:solidFill>
                  <a:schemeClr val="dk1"/>
                </a:solidFill>
                <a:latin typeface="Calibri"/>
                <a:ea typeface="Calibri"/>
                <a:cs typeface="Calibri"/>
                <a:sym typeface="Calibri"/>
              </a:rPr>
              <a:t>How might trapped heat and changes in weather patterns impact things your community cares about, like beaches, fishing, or wildlife? </a:t>
            </a:r>
            <a:endParaRPr sz="2000" dirty="0">
              <a:solidFill>
                <a:schemeClr val="dk1"/>
              </a:solidFill>
              <a:latin typeface="Calibri"/>
              <a:ea typeface="Calibri"/>
              <a:cs typeface="Calibri"/>
              <a:sym typeface="Calibri"/>
            </a:endParaRPr>
          </a:p>
          <a:p>
            <a:pPr marL="914400" lvl="1" indent="-355600" algn="l" rtl="0">
              <a:lnSpc>
                <a:spcPct val="115000"/>
              </a:lnSpc>
              <a:spcBef>
                <a:spcPts val="0"/>
              </a:spcBef>
              <a:spcAft>
                <a:spcPts val="0"/>
              </a:spcAft>
              <a:buClr>
                <a:schemeClr val="dk1"/>
              </a:buClr>
              <a:buSzPts val="2000"/>
              <a:buFont typeface="Calibri"/>
              <a:buAutoNum type="alphaLcPeriod"/>
            </a:pPr>
            <a:r>
              <a:rPr lang="en" sz="2000" dirty="0">
                <a:solidFill>
                  <a:schemeClr val="dk1"/>
                </a:solidFill>
                <a:latin typeface="Calibri"/>
                <a:ea typeface="Calibri"/>
                <a:cs typeface="Calibri"/>
                <a:sym typeface="Calibri"/>
              </a:rPr>
              <a:t>Consider both </a:t>
            </a:r>
            <a:r>
              <a:rPr lang="en" sz="2000" b="1" dirty="0">
                <a:solidFill>
                  <a:schemeClr val="dk1"/>
                </a:solidFill>
                <a:latin typeface="Calibri"/>
                <a:ea typeface="Calibri"/>
                <a:cs typeface="Calibri"/>
                <a:sym typeface="Calibri"/>
              </a:rPr>
              <a:t>direct effects</a:t>
            </a:r>
            <a:r>
              <a:rPr lang="en" sz="2000" dirty="0">
                <a:solidFill>
                  <a:schemeClr val="dk1"/>
                </a:solidFill>
                <a:latin typeface="Calibri"/>
                <a:ea typeface="Calibri"/>
                <a:cs typeface="Calibri"/>
                <a:sym typeface="Calibri"/>
              </a:rPr>
              <a:t> (e.g., warmer ocean water, stronger storms) and </a:t>
            </a:r>
            <a:r>
              <a:rPr lang="en" sz="2000" b="1" dirty="0">
                <a:solidFill>
                  <a:schemeClr val="dk1"/>
                </a:solidFill>
                <a:latin typeface="Calibri"/>
                <a:ea typeface="Calibri"/>
                <a:cs typeface="Calibri"/>
                <a:sym typeface="Calibri"/>
              </a:rPr>
              <a:t>indirect effects</a:t>
            </a:r>
            <a:r>
              <a:rPr lang="en" sz="2000" dirty="0">
                <a:solidFill>
                  <a:schemeClr val="dk1"/>
                </a:solidFill>
                <a:latin typeface="Calibri"/>
                <a:ea typeface="Calibri"/>
                <a:cs typeface="Calibri"/>
                <a:sym typeface="Calibri"/>
              </a:rPr>
              <a:t> (e.g., changes in recreation, local economy, or ecosystems).</a:t>
            </a:r>
            <a:endParaRPr sz="2000" dirty="0">
              <a:solidFill>
                <a:schemeClr val="dk1"/>
              </a:solidFill>
              <a:latin typeface="Calibri"/>
              <a:ea typeface="Calibri"/>
              <a:cs typeface="Calibri"/>
              <a:sym typeface="Calibri"/>
            </a:endParaRPr>
          </a:p>
        </p:txBody>
      </p:sp>
      <p:sp>
        <p:nvSpPr>
          <p:cNvPr id="184" name="Google Shape;184;p25"/>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Module 3.2 Carbon Dioxide &amp; Weather</a:t>
            </a:r>
            <a:br>
              <a:rPr lang="en" sz="1200">
                <a:solidFill>
                  <a:schemeClr val="dk1"/>
                </a:solidFill>
              </a:rPr>
            </a:br>
            <a:r>
              <a:rPr lang="en" sz="1200">
                <a:solidFill>
                  <a:schemeClr val="dk1"/>
                </a:solidFill>
              </a:rPr>
              <a:t>Slide 12</a:t>
            </a:r>
            <a:endParaRPr sz="1200">
              <a:solidFill>
                <a:schemeClr val="dk1"/>
              </a:solidFill>
            </a:endParaRPr>
          </a:p>
          <a:p>
            <a:pPr marL="0" lvl="0" indent="0" algn="l" rtl="0">
              <a:spcBef>
                <a:spcPts val="1200"/>
              </a:spcBef>
              <a:spcAft>
                <a:spcPts val="1200"/>
              </a:spcAft>
              <a:buNone/>
            </a:pPr>
            <a:endParaRPr sz="12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88"/>
        <p:cNvGrpSpPr/>
        <p:nvPr/>
      </p:nvGrpSpPr>
      <p:grpSpPr>
        <a:xfrm>
          <a:off x="0" y="0"/>
          <a:ext cx="0" cy="0"/>
          <a:chOff x="0" y="0"/>
          <a:chExt cx="0" cy="0"/>
        </a:xfrm>
      </p:grpSpPr>
      <p:sp>
        <p:nvSpPr>
          <p:cNvPr id="189" name="Google Shape;189;p26"/>
          <p:cNvSpPr txBox="1">
            <a:spLocks noGrp="1"/>
          </p:cNvSpPr>
          <p:nvPr>
            <p:ph type="title" idx="4294967295"/>
          </p:nvPr>
        </p:nvSpPr>
        <p:spPr>
          <a:xfrm>
            <a:off x="236575" y="836925"/>
            <a:ext cx="3939300" cy="6702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4500" b="1">
                <a:solidFill>
                  <a:srgbClr val="541900"/>
                </a:solidFill>
              </a:rPr>
              <a:t>Carbon Dioxide </a:t>
            </a:r>
            <a:endParaRPr sz="4500" b="1">
              <a:solidFill>
                <a:srgbClr val="541900"/>
              </a:solidFill>
            </a:endParaRPr>
          </a:p>
          <a:p>
            <a:pPr marL="0" lvl="0" indent="0" algn="r" rtl="0">
              <a:spcBef>
                <a:spcPts val="0"/>
              </a:spcBef>
              <a:spcAft>
                <a:spcPts val="0"/>
              </a:spcAft>
              <a:buNone/>
            </a:pPr>
            <a:r>
              <a:rPr lang="en" sz="4500" b="1">
                <a:solidFill>
                  <a:srgbClr val="541900"/>
                </a:solidFill>
              </a:rPr>
              <a:t>&amp; Weather</a:t>
            </a:r>
            <a:endParaRPr sz="4500" b="1">
              <a:solidFill>
                <a:srgbClr val="541900"/>
              </a:solidFill>
            </a:endParaRPr>
          </a:p>
        </p:txBody>
      </p:sp>
      <p:sp>
        <p:nvSpPr>
          <p:cNvPr id="190" name="Google Shape;190;p26"/>
          <p:cNvSpPr txBox="1">
            <a:spLocks noGrp="1"/>
          </p:cNvSpPr>
          <p:nvPr>
            <p:ph type="body" idx="4294967295"/>
          </p:nvPr>
        </p:nvSpPr>
        <p:spPr>
          <a:xfrm>
            <a:off x="2286475" y="2950275"/>
            <a:ext cx="1889400" cy="6702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r>
              <a:rPr lang="en" sz="1200" b="1">
                <a:solidFill>
                  <a:srgbClr val="355E3B"/>
                </a:solidFill>
              </a:rPr>
              <a:t>Module 3.2</a:t>
            </a:r>
            <a:endParaRPr sz="1200" b="1">
              <a:solidFill>
                <a:srgbClr val="355E3B"/>
              </a:solidFill>
            </a:endParaRPr>
          </a:p>
          <a:p>
            <a:pPr marL="0" lvl="0" indent="0" algn="r" rtl="0">
              <a:spcBef>
                <a:spcPts val="0"/>
              </a:spcBef>
              <a:spcAft>
                <a:spcPts val="0"/>
              </a:spcAft>
              <a:buNone/>
            </a:pPr>
            <a:r>
              <a:rPr lang="en" sz="1200" b="1">
                <a:solidFill>
                  <a:srgbClr val="355E3B"/>
                </a:solidFill>
              </a:rPr>
              <a:t>Day 2</a:t>
            </a:r>
            <a:endParaRPr sz="1200" b="1">
              <a:solidFill>
                <a:srgbClr val="355E3B"/>
              </a:solidFill>
            </a:endParaRPr>
          </a:p>
        </p:txBody>
      </p:sp>
      <p:sp>
        <p:nvSpPr>
          <p:cNvPr id="191" name="Google Shape;191;p26"/>
          <p:cNvSpPr txBox="1"/>
          <p:nvPr/>
        </p:nvSpPr>
        <p:spPr>
          <a:xfrm>
            <a:off x="2400300" y="4641750"/>
            <a:ext cx="4343400" cy="32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000000"/>
                </a:solidFill>
              </a:rPr>
              <a:t>AISciComm | Module 3.</a:t>
            </a:r>
            <a:r>
              <a:rPr lang="en" sz="1200"/>
              <a:t>2</a:t>
            </a:r>
            <a:r>
              <a:rPr lang="en" sz="1200">
                <a:solidFill>
                  <a:srgbClr val="000000"/>
                </a:solidFill>
              </a:rPr>
              <a:t> </a:t>
            </a:r>
            <a:r>
              <a:rPr lang="en" sz="1200"/>
              <a:t>Carbon Dioxide &amp; Weather</a:t>
            </a:r>
            <a:endParaRPr sz="1200">
              <a:solidFill>
                <a:srgbClr val="000000"/>
              </a:solidFill>
            </a:endParaRPr>
          </a:p>
          <a:p>
            <a:pPr marL="0" lvl="0" indent="0" algn="l" rtl="0">
              <a:lnSpc>
                <a:spcPct val="115000"/>
              </a:lnSpc>
              <a:spcBef>
                <a:spcPts val="0"/>
              </a:spcBef>
              <a:spcAft>
                <a:spcPts val="1200"/>
              </a:spcAft>
              <a:buNone/>
            </a:pPr>
            <a:endParaRPr sz="1200">
              <a:solidFill>
                <a:srgbClr val="000000"/>
              </a:solidFill>
            </a:endParaRPr>
          </a:p>
        </p:txBody>
      </p:sp>
      <p:pic>
        <p:nvPicPr>
          <p:cNvPr id="192" name="Google Shape;192;p26"/>
          <p:cNvPicPr preferRelativeResize="0"/>
          <p:nvPr/>
        </p:nvPicPr>
        <p:blipFill>
          <a:blip r:embed="rId3">
            <a:alphaModFix/>
          </a:blip>
          <a:stretch>
            <a:fillRect/>
          </a:stretch>
        </p:blipFill>
        <p:spPr>
          <a:xfrm>
            <a:off x="4480675" y="679225"/>
            <a:ext cx="4663325" cy="3108884"/>
          </a:xfrm>
          <a:prstGeom prst="rect">
            <a:avLst/>
          </a:prstGeom>
          <a:noFill/>
          <a:ln>
            <a:noFill/>
          </a:ln>
        </p:spPr>
      </p:pic>
      <p:sp>
        <p:nvSpPr>
          <p:cNvPr id="193" name="Google Shape;193;p26"/>
          <p:cNvSpPr txBox="1"/>
          <p:nvPr/>
        </p:nvSpPr>
        <p:spPr>
          <a:xfrm>
            <a:off x="4919100" y="3745975"/>
            <a:ext cx="4224900" cy="376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800" b="1">
                <a:solidFill>
                  <a:srgbClr val="595959"/>
                </a:solidFill>
              </a:rPr>
              <a:t>Santa Monica, CA</a:t>
            </a:r>
            <a:endParaRPr sz="800" b="1">
              <a:solidFill>
                <a:srgbClr val="595959"/>
              </a:solidFill>
            </a:endParaRPr>
          </a:p>
          <a:p>
            <a:pPr marL="0" lvl="0" indent="0" algn="r" rtl="0">
              <a:spcBef>
                <a:spcPts val="0"/>
              </a:spcBef>
              <a:spcAft>
                <a:spcPts val="0"/>
              </a:spcAft>
              <a:buNone/>
            </a:pPr>
            <a:r>
              <a:rPr lang="en" sz="800" b="1">
                <a:solidFill>
                  <a:srgbClr val="595959"/>
                </a:solidFill>
              </a:rPr>
              <a:t>Credit: Richard Sharrocks</a:t>
            </a:r>
            <a:endParaRPr sz="800" b="1">
              <a:solidFill>
                <a:srgbClr val="59595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97"/>
        <p:cNvGrpSpPr/>
        <p:nvPr/>
      </p:nvGrpSpPr>
      <p:grpSpPr>
        <a:xfrm>
          <a:off x="0" y="0"/>
          <a:ext cx="0" cy="0"/>
          <a:chOff x="0" y="0"/>
          <a:chExt cx="0" cy="0"/>
        </a:xfrm>
      </p:grpSpPr>
      <p:sp>
        <p:nvSpPr>
          <p:cNvPr id="198" name="Google Shape;198;p27"/>
          <p:cNvSpPr txBox="1">
            <a:spLocks noGrp="1"/>
          </p:cNvSpPr>
          <p:nvPr>
            <p:ph type="body" idx="1"/>
          </p:nvPr>
        </p:nvSpPr>
        <p:spPr>
          <a:xfrm>
            <a:off x="66675" y="1863750"/>
            <a:ext cx="4777500" cy="18552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Clr>
                <a:schemeClr val="dk1"/>
              </a:buClr>
              <a:buSzPts val="2000"/>
              <a:buChar char="●"/>
            </a:pPr>
            <a:r>
              <a:rPr lang="en" sz="2000">
                <a:solidFill>
                  <a:schemeClr val="dk1"/>
                </a:solidFill>
              </a:rPr>
              <a:t>How do you think humans have impacted this natural process?</a:t>
            </a:r>
            <a:endParaRPr sz="2000">
              <a:solidFill>
                <a:schemeClr val="dk1"/>
              </a:solidFill>
            </a:endParaRPr>
          </a:p>
          <a:p>
            <a:pPr marL="457200" lvl="0" indent="-355600" algn="l" rtl="0">
              <a:spcBef>
                <a:spcPts val="0"/>
              </a:spcBef>
              <a:spcAft>
                <a:spcPts val="0"/>
              </a:spcAft>
              <a:buClr>
                <a:schemeClr val="dk1"/>
              </a:buClr>
              <a:buSzPts val="2000"/>
              <a:buChar char="●"/>
            </a:pPr>
            <a:r>
              <a:rPr lang="en" sz="2000">
                <a:solidFill>
                  <a:schemeClr val="dk1"/>
                </a:solidFill>
              </a:rPr>
              <a:t>What have we already learned that can help us expand our model?</a:t>
            </a:r>
            <a:endParaRPr sz="2000">
              <a:solidFill>
                <a:schemeClr val="dk1"/>
              </a:solidFill>
            </a:endParaRPr>
          </a:p>
        </p:txBody>
      </p:sp>
      <p:sp>
        <p:nvSpPr>
          <p:cNvPr id="199" name="Google Shape;199;p27"/>
          <p:cNvSpPr txBox="1">
            <a:spLocks noGrp="1"/>
          </p:cNvSpPr>
          <p:nvPr>
            <p:ph type="title"/>
          </p:nvPr>
        </p:nvSpPr>
        <p:spPr>
          <a:xfrm>
            <a:off x="114325" y="68407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500" b="1">
                <a:solidFill>
                  <a:srgbClr val="541900"/>
                </a:solidFill>
              </a:rPr>
              <a:t>Reflect on </a:t>
            </a:r>
            <a:br>
              <a:rPr lang="en" sz="3500" b="1">
                <a:solidFill>
                  <a:srgbClr val="541900"/>
                </a:solidFill>
              </a:rPr>
            </a:br>
            <a:r>
              <a:rPr lang="en" sz="3500" b="1">
                <a:solidFill>
                  <a:srgbClr val="541900"/>
                </a:solidFill>
              </a:rPr>
              <a:t>Our Models</a:t>
            </a:r>
            <a:endParaRPr sz="3500" b="1">
              <a:solidFill>
                <a:srgbClr val="541900"/>
              </a:solidFill>
            </a:endParaRPr>
          </a:p>
        </p:txBody>
      </p:sp>
      <p:sp>
        <p:nvSpPr>
          <p:cNvPr id="200" name="Google Shape;200;p27"/>
          <p:cNvSpPr txBox="1">
            <a:spLocks noGrp="1"/>
          </p:cNvSpPr>
          <p:nvPr>
            <p:ph type="body" idx="1"/>
          </p:nvPr>
        </p:nvSpPr>
        <p:spPr>
          <a:xfrm>
            <a:off x="66675"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3.2 Carbon Dioxide &amp; Weather</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14</a:t>
            </a:r>
            <a:endParaRPr sz="1200">
              <a:solidFill>
                <a:schemeClr val="dk1"/>
              </a:solidFill>
              <a:latin typeface="Arial"/>
              <a:ea typeface="Arial"/>
              <a:cs typeface="Arial"/>
              <a:sym typeface="Arial"/>
            </a:endParaRPr>
          </a:p>
        </p:txBody>
      </p:sp>
      <p:pic>
        <p:nvPicPr>
          <p:cNvPr id="201" name="Google Shape;201;p27"/>
          <p:cNvPicPr preferRelativeResize="0"/>
          <p:nvPr/>
        </p:nvPicPr>
        <p:blipFill rotWithShape="1">
          <a:blip r:embed="rId3">
            <a:alphaModFix/>
          </a:blip>
          <a:srcRect t="37367" b="1053"/>
          <a:stretch/>
        </p:blipFill>
        <p:spPr>
          <a:xfrm rot="-5400000">
            <a:off x="4675450" y="536138"/>
            <a:ext cx="4408675" cy="4071225"/>
          </a:xfrm>
          <a:prstGeom prst="rect">
            <a:avLst/>
          </a:prstGeom>
          <a:noFill/>
          <a:ln>
            <a:noFill/>
          </a:ln>
        </p:spPr>
      </p:pic>
      <p:sp>
        <p:nvSpPr>
          <p:cNvPr id="202" name="Google Shape;202;p27"/>
          <p:cNvSpPr/>
          <p:nvPr/>
        </p:nvSpPr>
        <p:spPr>
          <a:xfrm rot="10800000">
            <a:off x="7118050" y="517413"/>
            <a:ext cx="1786800" cy="4249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3" name="Google Shape;203;p27"/>
          <p:cNvSpPr/>
          <p:nvPr/>
        </p:nvSpPr>
        <p:spPr>
          <a:xfrm>
            <a:off x="5838075" y="4101863"/>
            <a:ext cx="49200" cy="19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 name="Google Shape;204;p27"/>
          <p:cNvSpPr/>
          <p:nvPr/>
        </p:nvSpPr>
        <p:spPr>
          <a:xfrm>
            <a:off x="5563625" y="4149563"/>
            <a:ext cx="49200" cy="19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5" name="Google Shape;205;p27"/>
          <p:cNvSpPr/>
          <p:nvPr/>
        </p:nvSpPr>
        <p:spPr>
          <a:xfrm>
            <a:off x="5833975" y="4133138"/>
            <a:ext cx="49200" cy="19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6" name="Google Shape;206;p27"/>
          <p:cNvSpPr txBox="1"/>
          <p:nvPr/>
        </p:nvSpPr>
        <p:spPr>
          <a:xfrm>
            <a:off x="5319400" y="4282963"/>
            <a:ext cx="9525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2"/>
                </a:solidFill>
              </a:rPr>
              <a:t>Earth</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10"/>
        <p:cNvGrpSpPr/>
        <p:nvPr/>
      </p:nvGrpSpPr>
      <p:grpSpPr>
        <a:xfrm>
          <a:off x="0" y="0"/>
          <a:ext cx="0" cy="0"/>
          <a:chOff x="0" y="0"/>
          <a:chExt cx="0" cy="0"/>
        </a:xfrm>
      </p:grpSpPr>
      <p:sp>
        <p:nvSpPr>
          <p:cNvPr id="211" name="Google Shape;211;p28"/>
          <p:cNvSpPr txBox="1">
            <a:spLocks noGrp="1"/>
          </p:cNvSpPr>
          <p:nvPr>
            <p:ph type="title"/>
          </p:nvPr>
        </p:nvSpPr>
        <p:spPr>
          <a:xfrm>
            <a:off x="114325" y="68407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500" b="1">
                <a:solidFill>
                  <a:srgbClr val="541900"/>
                </a:solidFill>
              </a:rPr>
              <a:t>Building on Our Models</a:t>
            </a:r>
            <a:endParaRPr sz="3500" b="1">
              <a:solidFill>
                <a:srgbClr val="541900"/>
              </a:solidFill>
            </a:endParaRPr>
          </a:p>
          <a:p>
            <a:pPr marL="0" lvl="0" indent="0" algn="l" rtl="0">
              <a:lnSpc>
                <a:spcPct val="115000"/>
              </a:lnSpc>
              <a:spcBef>
                <a:spcPts val="0"/>
              </a:spcBef>
              <a:spcAft>
                <a:spcPts val="1200"/>
              </a:spcAft>
              <a:buNone/>
            </a:pPr>
            <a:r>
              <a:rPr lang="en" sz="1500" i="1">
                <a:solidFill>
                  <a:srgbClr val="355E3B"/>
                </a:solidFill>
              </a:rPr>
              <a:t>During this lesson, we will be building upon our model to explore how humans have impacted the Earth through increased carbon emissions.</a:t>
            </a:r>
            <a:endParaRPr sz="3500" b="1">
              <a:solidFill>
                <a:srgbClr val="541900"/>
              </a:solidFill>
            </a:endParaRPr>
          </a:p>
        </p:txBody>
      </p:sp>
      <p:sp>
        <p:nvSpPr>
          <p:cNvPr id="212" name="Google Shape;212;p28"/>
          <p:cNvSpPr txBox="1">
            <a:spLocks noGrp="1"/>
          </p:cNvSpPr>
          <p:nvPr>
            <p:ph type="body" idx="1"/>
          </p:nvPr>
        </p:nvSpPr>
        <p:spPr>
          <a:xfrm>
            <a:off x="66675"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3.2 Carbon Dioxide &amp; Weather</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14</a:t>
            </a:r>
            <a:endParaRPr sz="1200">
              <a:solidFill>
                <a:schemeClr val="dk1"/>
              </a:solidFill>
              <a:latin typeface="Arial"/>
              <a:ea typeface="Arial"/>
              <a:cs typeface="Arial"/>
              <a:sym typeface="Arial"/>
            </a:endParaRPr>
          </a:p>
        </p:txBody>
      </p:sp>
      <p:pic>
        <p:nvPicPr>
          <p:cNvPr id="213" name="Google Shape;213;p28"/>
          <p:cNvPicPr preferRelativeResize="0"/>
          <p:nvPr/>
        </p:nvPicPr>
        <p:blipFill rotWithShape="1">
          <a:blip r:embed="rId3">
            <a:alphaModFix/>
          </a:blip>
          <a:srcRect t="37367" b="1053"/>
          <a:stretch/>
        </p:blipFill>
        <p:spPr>
          <a:xfrm rot="-5400000">
            <a:off x="4675450" y="536138"/>
            <a:ext cx="4408675" cy="4071225"/>
          </a:xfrm>
          <a:prstGeom prst="rect">
            <a:avLst/>
          </a:prstGeom>
          <a:noFill/>
          <a:ln>
            <a:noFill/>
          </a:ln>
        </p:spPr>
      </p:pic>
      <p:sp>
        <p:nvSpPr>
          <p:cNvPr id="214" name="Google Shape;214;p28"/>
          <p:cNvSpPr/>
          <p:nvPr/>
        </p:nvSpPr>
        <p:spPr>
          <a:xfrm rot="10800000">
            <a:off x="7117925" y="1182525"/>
            <a:ext cx="1797900" cy="3584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 name="Google Shape;215;p28"/>
          <p:cNvSpPr/>
          <p:nvPr/>
        </p:nvSpPr>
        <p:spPr>
          <a:xfrm>
            <a:off x="5838075" y="4101863"/>
            <a:ext cx="49200" cy="19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6" name="Google Shape;216;p28"/>
          <p:cNvSpPr/>
          <p:nvPr/>
        </p:nvSpPr>
        <p:spPr>
          <a:xfrm>
            <a:off x="5563625" y="4149563"/>
            <a:ext cx="49200" cy="19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7" name="Google Shape;217;p28"/>
          <p:cNvSpPr/>
          <p:nvPr/>
        </p:nvSpPr>
        <p:spPr>
          <a:xfrm>
            <a:off x="5833975" y="4133138"/>
            <a:ext cx="49200" cy="19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28"/>
          <p:cNvSpPr txBox="1"/>
          <p:nvPr/>
        </p:nvSpPr>
        <p:spPr>
          <a:xfrm>
            <a:off x="5319400" y="4282963"/>
            <a:ext cx="9525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2"/>
                </a:solidFill>
              </a:rPr>
              <a:t>Earth</a:t>
            </a:r>
            <a:endParaRPr sz="1800">
              <a:solidFill>
                <a:schemeClr val="dk2"/>
              </a:solidFill>
            </a:endParaRPr>
          </a:p>
        </p:txBody>
      </p:sp>
      <p:pic>
        <p:nvPicPr>
          <p:cNvPr id="219" name="Google Shape;219;p28"/>
          <p:cNvPicPr preferRelativeResize="0"/>
          <p:nvPr/>
        </p:nvPicPr>
        <p:blipFill rotWithShape="1">
          <a:blip r:embed="rId3">
            <a:alphaModFix/>
          </a:blip>
          <a:srcRect l="46238" t="52420" r="45146" b="42926"/>
          <a:stretch/>
        </p:blipFill>
        <p:spPr>
          <a:xfrm rot="-4371023">
            <a:off x="7297950" y="2213325"/>
            <a:ext cx="1427000" cy="1156048"/>
          </a:xfrm>
          <a:prstGeom prst="rect">
            <a:avLst/>
          </a:prstGeom>
          <a:noFill/>
          <a:ln>
            <a:noFill/>
          </a:ln>
        </p:spPr>
      </p:pic>
      <p:sp>
        <p:nvSpPr>
          <p:cNvPr id="220" name="Google Shape;220;p28"/>
          <p:cNvSpPr/>
          <p:nvPr/>
        </p:nvSpPr>
        <p:spPr>
          <a:xfrm rot="644213">
            <a:off x="7639269" y="1899602"/>
            <a:ext cx="1152985" cy="27448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 name="Google Shape;221;p28"/>
          <p:cNvSpPr/>
          <p:nvPr/>
        </p:nvSpPr>
        <p:spPr>
          <a:xfrm rot="643373">
            <a:off x="8185943" y="2723685"/>
            <a:ext cx="327315" cy="27448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 name="Google Shape;222;p28"/>
          <p:cNvSpPr/>
          <p:nvPr/>
        </p:nvSpPr>
        <p:spPr>
          <a:xfrm rot="643373">
            <a:off x="7361193" y="3194485"/>
            <a:ext cx="327315" cy="27448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26"/>
        <p:cNvGrpSpPr/>
        <p:nvPr/>
      </p:nvGrpSpPr>
      <p:grpSpPr>
        <a:xfrm>
          <a:off x="0" y="0"/>
          <a:ext cx="0" cy="0"/>
          <a:chOff x="0" y="0"/>
          <a:chExt cx="0" cy="0"/>
        </a:xfrm>
      </p:grpSpPr>
      <p:sp>
        <p:nvSpPr>
          <p:cNvPr id="227" name="Google Shape;227;p29"/>
          <p:cNvSpPr txBox="1">
            <a:spLocks noGrp="1"/>
          </p:cNvSpPr>
          <p:nvPr>
            <p:ph type="body" idx="1"/>
          </p:nvPr>
        </p:nvSpPr>
        <p:spPr>
          <a:xfrm>
            <a:off x="311700" y="11524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600" i="1" dirty="0">
                <a:solidFill>
                  <a:srgbClr val="355E3B"/>
                </a:solidFill>
              </a:rPr>
              <a:t>As a team, you will investigate </a:t>
            </a:r>
            <a:r>
              <a:rPr lang="en" sz="1600" i="1" dirty="0" err="1">
                <a:solidFill>
                  <a:srgbClr val="355E3B"/>
                </a:solidFill>
              </a:rPr>
              <a:t>PhET’s</a:t>
            </a:r>
            <a:r>
              <a:rPr lang="en" sz="1600" i="1" dirty="0">
                <a:solidFill>
                  <a:srgbClr val="355E3B"/>
                </a:solidFill>
              </a:rPr>
              <a:t>  </a:t>
            </a:r>
            <a:r>
              <a:rPr lang="en" sz="1600" b="1" i="1" u="sng" dirty="0">
                <a:solidFill>
                  <a:srgbClr val="355E3B"/>
                </a:solidFill>
                <a:hlinkClick r:id="rId3">
                  <a:extLst>
                    <a:ext uri="{A12FA001-AC4F-418D-AE19-62706E023703}">
                      <ahyp:hlinkClr xmlns:ahyp="http://schemas.microsoft.com/office/drawing/2018/hyperlinkcolor" val="tx"/>
                    </a:ext>
                  </a:extLst>
                </a:hlinkClick>
              </a:rPr>
              <a:t>Greenhouse Effect: Waves simulation</a:t>
            </a:r>
            <a:r>
              <a:rPr lang="en" sz="1600" i="1" dirty="0">
                <a:solidFill>
                  <a:srgbClr val="355E3B"/>
                </a:solidFill>
              </a:rPr>
              <a:t> to explore how light waves are impacted by CO₂</a:t>
            </a:r>
            <a:r>
              <a:rPr lang="en" sz="1600" b="1" i="1" dirty="0">
                <a:solidFill>
                  <a:srgbClr val="355E3B"/>
                </a:solidFill>
              </a:rPr>
              <a:t> </a:t>
            </a:r>
            <a:r>
              <a:rPr lang="en" sz="1600" i="1" dirty="0">
                <a:solidFill>
                  <a:srgbClr val="355E3B"/>
                </a:solidFill>
              </a:rPr>
              <a:t>in the atmosphere. Answer questions in </a:t>
            </a:r>
            <a:r>
              <a:rPr lang="en" sz="1600" i="1" u="sng" dirty="0">
                <a:solidFill>
                  <a:schemeClr val="hlink"/>
                </a:solidFill>
              </a:rPr>
              <a:t>Science Journal </a:t>
            </a:r>
            <a:r>
              <a:rPr lang="en" sz="1600" i="1" dirty="0">
                <a:solidFill>
                  <a:srgbClr val="355E3B"/>
                </a:solidFill>
              </a:rPr>
              <a:t>under Module 3.2, Day 2 (p.30-33).</a:t>
            </a:r>
            <a:endParaRPr sz="1600" i="1" dirty="0">
              <a:solidFill>
                <a:srgbClr val="355E3B"/>
              </a:solidFill>
            </a:endParaRPr>
          </a:p>
        </p:txBody>
      </p:sp>
      <p:sp>
        <p:nvSpPr>
          <p:cNvPr id="228" name="Google Shape;228;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PhET Lab Exploration</a:t>
            </a:r>
            <a:endParaRPr sz="4500" b="1">
              <a:solidFill>
                <a:srgbClr val="541900"/>
              </a:solidFill>
            </a:endParaRPr>
          </a:p>
        </p:txBody>
      </p:sp>
      <p:sp>
        <p:nvSpPr>
          <p:cNvPr id="229" name="Google Shape;229;p29"/>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3.2 Carbon Dioxide &amp; Weather</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16</a:t>
            </a:r>
            <a:endParaRPr sz="1200">
              <a:solidFill>
                <a:schemeClr val="dk1"/>
              </a:solidFill>
              <a:latin typeface="Arial"/>
              <a:ea typeface="Arial"/>
              <a:cs typeface="Arial"/>
              <a:sym typeface="Arial"/>
            </a:endParaRPr>
          </a:p>
        </p:txBody>
      </p:sp>
      <p:pic>
        <p:nvPicPr>
          <p:cNvPr id="230" name="Google Shape;230;p29" title="Screenshot 2025-12-22 at 11.40.09 AM.png"/>
          <p:cNvPicPr preferRelativeResize="0"/>
          <p:nvPr/>
        </p:nvPicPr>
        <p:blipFill>
          <a:blip r:embed="rId4">
            <a:alphaModFix/>
          </a:blip>
          <a:stretch>
            <a:fillRect/>
          </a:stretch>
        </p:blipFill>
        <p:spPr>
          <a:xfrm>
            <a:off x="2295198" y="2191575"/>
            <a:ext cx="4553604" cy="2221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34"/>
        <p:cNvGrpSpPr/>
        <p:nvPr/>
      </p:nvGrpSpPr>
      <p:grpSpPr>
        <a:xfrm>
          <a:off x="0" y="0"/>
          <a:ext cx="0" cy="0"/>
          <a:chOff x="0" y="0"/>
          <a:chExt cx="0" cy="0"/>
        </a:xfrm>
      </p:grpSpPr>
      <p:sp>
        <p:nvSpPr>
          <p:cNvPr id="235" name="Google Shape;235;p30"/>
          <p:cNvSpPr txBox="1">
            <a:spLocks noGrp="1"/>
          </p:cNvSpPr>
          <p:nvPr>
            <p:ph type="title"/>
          </p:nvPr>
        </p:nvSpPr>
        <p:spPr>
          <a:xfrm>
            <a:off x="114325" y="36742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b="1">
                <a:solidFill>
                  <a:srgbClr val="541900"/>
                </a:solidFill>
              </a:rPr>
              <a:t>Building on Our Models</a:t>
            </a:r>
            <a:endParaRPr sz="3000" b="1">
              <a:solidFill>
                <a:srgbClr val="541900"/>
              </a:solidFill>
            </a:endParaRPr>
          </a:p>
          <a:p>
            <a:pPr marL="0" lvl="0" indent="0" algn="l" rtl="0">
              <a:lnSpc>
                <a:spcPct val="115000"/>
              </a:lnSpc>
              <a:spcBef>
                <a:spcPts val="0"/>
              </a:spcBef>
              <a:spcAft>
                <a:spcPts val="0"/>
              </a:spcAft>
              <a:buNone/>
            </a:pPr>
            <a:r>
              <a:rPr lang="en" sz="1500" i="1">
                <a:solidFill>
                  <a:srgbClr val="355E3B"/>
                </a:solidFill>
              </a:rPr>
              <a:t>Now that you have explored greenhouse gasses on PhET Lab’s simulation, as a group, take a moment to build upon your model and describe how increased CO₂ impacts the Earth’s system. </a:t>
            </a:r>
            <a:endParaRPr sz="1500" i="1">
              <a:solidFill>
                <a:srgbClr val="355E3B"/>
              </a:solidFill>
            </a:endParaRPr>
          </a:p>
          <a:p>
            <a:pPr marL="0" lvl="0" indent="0" algn="l" rtl="0">
              <a:lnSpc>
                <a:spcPct val="115000"/>
              </a:lnSpc>
              <a:spcBef>
                <a:spcPts val="1200"/>
              </a:spcBef>
              <a:spcAft>
                <a:spcPts val="1200"/>
              </a:spcAft>
              <a:buNone/>
            </a:pPr>
            <a:endParaRPr sz="1500" i="1">
              <a:solidFill>
                <a:srgbClr val="355E3B"/>
              </a:solidFill>
            </a:endParaRPr>
          </a:p>
        </p:txBody>
      </p:sp>
      <p:sp>
        <p:nvSpPr>
          <p:cNvPr id="236" name="Google Shape;236;p30"/>
          <p:cNvSpPr txBox="1">
            <a:spLocks noGrp="1"/>
          </p:cNvSpPr>
          <p:nvPr>
            <p:ph type="body" idx="1"/>
          </p:nvPr>
        </p:nvSpPr>
        <p:spPr>
          <a:xfrm>
            <a:off x="66675"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3.2 Carbon Dioxide &amp; Weather</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14</a:t>
            </a:r>
            <a:endParaRPr sz="1200">
              <a:solidFill>
                <a:schemeClr val="dk1"/>
              </a:solidFill>
              <a:latin typeface="Arial"/>
              <a:ea typeface="Arial"/>
              <a:cs typeface="Arial"/>
              <a:sym typeface="Arial"/>
            </a:endParaRPr>
          </a:p>
        </p:txBody>
      </p:sp>
      <p:pic>
        <p:nvPicPr>
          <p:cNvPr id="237" name="Google Shape;237;p30"/>
          <p:cNvPicPr preferRelativeResize="0"/>
          <p:nvPr/>
        </p:nvPicPr>
        <p:blipFill rotWithShape="1">
          <a:blip r:embed="rId3">
            <a:alphaModFix/>
          </a:blip>
          <a:srcRect t="37367" b="1053"/>
          <a:stretch/>
        </p:blipFill>
        <p:spPr>
          <a:xfrm rot="-5400000">
            <a:off x="4675450" y="536138"/>
            <a:ext cx="4408675" cy="4071225"/>
          </a:xfrm>
          <a:prstGeom prst="rect">
            <a:avLst/>
          </a:prstGeom>
          <a:noFill/>
          <a:ln>
            <a:noFill/>
          </a:ln>
        </p:spPr>
      </p:pic>
      <p:sp>
        <p:nvSpPr>
          <p:cNvPr id="238" name="Google Shape;238;p30"/>
          <p:cNvSpPr/>
          <p:nvPr/>
        </p:nvSpPr>
        <p:spPr>
          <a:xfrm rot="10800000">
            <a:off x="7117925" y="1182525"/>
            <a:ext cx="1797900" cy="35841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9" name="Google Shape;239;p30"/>
          <p:cNvSpPr/>
          <p:nvPr/>
        </p:nvSpPr>
        <p:spPr>
          <a:xfrm>
            <a:off x="5838075" y="4101863"/>
            <a:ext cx="49200" cy="19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0" name="Google Shape;240;p30"/>
          <p:cNvSpPr/>
          <p:nvPr/>
        </p:nvSpPr>
        <p:spPr>
          <a:xfrm>
            <a:off x="5563625" y="4149563"/>
            <a:ext cx="49200" cy="19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1" name="Google Shape;241;p30"/>
          <p:cNvSpPr/>
          <p:nvPr/>
        </p:nvSpPr>
        <p:spPr>
          <a:xfrm>
            <a:off x="5833975" y="4133138"/>
            <a:ext cx="49200" cy="198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2" name="Google Shape;242;p30"/>
          <p:cNvSpPr txBox="1"/>
          <p:nvPr/>
        </p:nvSpPr>
        <p:spPr>
          <a:xfrm>
            <a:off x="5319400" y="4282963"/>
            <a:ext cx="9525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2"/>
                </a:solidFill>
              </a:rPr>
              <a:t>Earth</a:t>
            </a:r>
            <a:endParaRPr sz="1800">
              <a:solidFill>
                <a:schemeClr val="dk2"/>
              </a:solidFill>
            </a:endParaRPr>
          </a:p>
        </p:txBody>
      </p:sp>
      <p:pic>
        <p:nvPicPr>
          <p:cNvPr id="243" name="Google Shape;243;p30"/>
          <p:cNvPicPr preferRelativeResize="0"/>
          <p:nvPr/>
        </p:nvPicPr>
        <p:blipFill rotWithShape="1">
          <a:blip r:embed="rId3">
            <a:alphaModFix/>
          </a:blip>
          <a:srcRect l="46238" t="52420" r="45146" b="42926"/>
          <a:stretch/>
        </p:blipFill>
        <p:spPr>
          <a:xfrm rot="-4371023">
            <a:off x="7297950" y="2213325"/>
            <a:ext cx="1427000" cy="1156048"/>
          </a:xfrm>
          <a:prstGeom prst="rect">
            <a:avLst/>
          </a:prstGeom>
          <a:noFill/>
          <a:ln>
            <a:noFill/>
          </a:ln>
        </p:spPr>
      </p:pic>
      <p:sp>
        <p:nvSpPr>
          <p:cNvPr id="244" name="Google Shape;244;p30"/>
          <p:cNvSpPr/>
          <p:nvPr/>
        </p:nvSpPr>
        <p:spPr>
          <a:xfrm rot="644213">
            <a:off x="7639269" y="1899602"/>
            <a:ext cx="1152985" cy="27448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5" name="Google Shape;245;p30"/>
          <p:cNvSpPr/>
          <p:nvPr/>
        </p:nvSpPr>
        <p:spPr>
          <a:xfrm rot="643373">
            <a:off x="8185943" y="2723685"/>
            <a:ext cx="327315" cy="27448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6" name="Google Shape;246;p30"/>
          <p:cNvSpPr/>
          <p:nvPr/>
        </p:nvSpPr>
        <p:spPr>
          <a:xfrm rot="643373">
            <a:off x="7361193" y="3194485"/>
            <a:ext cx="327315" cy="27448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7" name="Google Shape;247;p30"/>
          <p:cNvSpPr txBox="1">
            <a:spLocks noGrp="1"/>
          </p:cNvSpPr>
          <p:nvPr>
            <p:ph type="body" idx="1"/>
          </p:nvPr>
        </p:nvSpPr>
        <p:spPr>
          <a:xfrm>
            <a:off x="66675" y="2046975"/>
            <a:ext cx="4777500" cy="185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100">
                <a:solidFill>
                  <a:schemeClr val="dk1"/>
                </a:solidFill>
              </a:rPr>
              <a:t>As you build on your model, think about the following:</a:t>
            </a:r>
            <a:endParaRPr sz="2100">
              <a:solidFill>
                <a:schemeClr val="dk1"/>
              </a:solidFill>
            </a:endParaRPr>
          </a:p>
          <a:p>
            <a:pPr marL="457200" lvl="0" indent="-361950" algn="l" rtl="0">
              <a:spcBef>
                <a:spcPts val="1200"/>
              </a:spcBef>
              <a:spcAft>
                <a:spcPts val="0"/>
              </a:spcAft>
              <a:buClr>
                <a:schemeClr val="dk1"/>
              </a:buClr>
              <a:buSzPts val="2100"/>
              <a:buChar char="●"/>
            </a:pPr>
            <a:r>
              <a:rPr lang="en" sz="2100">
                <a:solidFill>
                  <a:schemeClr val="dk1"/>
                </a:solidFill>
              </a:rPr>
              <a:t>How do increased levels of CO₂ impact Earth? </a:t>
            </a:r>
            <a:endParaRPr sz="2100">
              <a:solidFill>
                <a:schemeClr val="dk1"/>
              </a:solidFill>
            </a:endParaRPr>
          </a:p>
          <a:p>
            <a:pPr marL="457200" lvl="0" indent="-361950" algn="l" rtl="0">
              <a:spcBef>
                <a:spcPts val="0"/>
              </a:spcBef>
              <a:spcAft>
                <a:spcPts val="0"/>
              </a:spcAft>
              <a:buClr>
                <a:schemeClr val="dk1"/>
              </a:buClr>
              <a:buSzPts val="2100"/>
              <a:buChar char="●"/>
            </a:pPr>
            <a:r>
              <a:rPr lang="en" sz="2100">
                <a:solidFill>
                  <a:schemeClr val="dk1"/>
                </a:solidFill>
              </a:rPr>
              <a:t>How is this different than the “Normal Atmosphere”?</a:t>
            </a:r>
            <a:endParaRPr sz="21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51"/>
        <p:cNvGrpSpPr/>
        <p:nvPr/>
      </p:nvGrpSpPr>
      <p:grpSpPr>
        <a:xfrm>
          <a:off x="0" y="0"/>
          <a:ext cx="0" cy="0"/>
          <a:chOff x="0" y="0"/>
          <a:chExt cx="0" cy="0"/>
        </a:xfrm>
      </p:grpSpPr>
      <p:sp>
        <p:nvSpPr>
          <p:cNvPr id="252" name="Google Shape;252;p31"/>
          <p:cNvSpPr txBox="1">
            <a:spLocks noGrp="1"/>
          </p:cNvSpPr>
          <p:nvPr>
            <p:ph type="title"/>
          </p:nvPr>
        </p:nvSpPr>
        <p:spPr>
          <a:xfrm>
            <a:off x="0" y="215925"/>
            <a:ext cx="914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400" b="1">
                <a:solidFill>
                  <a:srgbClr val="541900"/>
                </a:solidFill>
              </a:rPr>
              <a:t>How Do Greenhouse Gases Actually Work?</a:t>
            </a:r>
            <a:endParaRPr sz="3400" b="1">
              <a:solidFill>
                <a:srgbClr val="541900"/>
              </a:solidFill>
            </a:endParaRPr>
          </a:p>
        </p:txBody>
      </p:sp>
      <p:sp>
        <p:nvSpPr>
          <p:cNvPr id="253" name="Google Shape;253;p31"/>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3.2 Carbon Dioxide &amp; Weather</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18: OPTIONAL EXTENSION</a:t>
            </a:r>
            <a:endParaRPr sz="1200">
              <a:solidFill>
                <a:schemeClr val="dk1"/>
              </a:solidFill>
              <a:latin typeface="Arial"/>
              <a:ea typeface="Arial"/>
              <a:cs typeface="Arial"/>
              <a:sym typeface="Arial"/>
            </a:endParaRPr>
          </a:p>
        </p:txBody>
      </p:sp>
      <p:pic>
        <p:nvPicPr>
          <p:cNvPr id="254" name="Google Shape;254;p31" descr="Thanks to Kurz Gesagt for illustrating this video! http://www.youtube.com/kurzgesagt&#10;And for composing the music!: https://soundcloud.com/epicmountain/minute-earth&#10;&#10;Thanks also to our Patreon patrons:&#10;- AshrafDude&#10;- Nasser Hamed Alminji&#10;- Jeff Straathof&#10;- Mark&#10;- Maarten Bremer&#10;- Today I Found Out&#10;- Avi Yashchin&#10;- Valentin&#10;- Nicholas Buckendorf&#10;- @AntoineCoeur&#10;&#10;And our Subbable Sponsors:&#10;- Tori McClanahan&#10;- Evan Gale&#10;- Ho Yin Michael Cheng - http://lovescomputers.com/&#10;- Raymond Cason&#10;- Shalom Craimer&#10;- Nick Pietrzak&#10;- TPRJones - http://i3.kym-cdn.com/photos/images/newsfeed/000/002/941/Duckroll.jpg&#10;- @Lexify&#10;- @Asajii&#10;- Robin S. - https://code.org/&#10;- Nicholas Buckendorf&#10;- Alison G. - choklitfroggie.tumblr.com&#10;- Cameron Johnson&#10;- Tom Headley - https://www.etsy.com/shop/Piecesofgame&#10;- @thenarcolepsist&#10;- Bas Hessels - http://bashessels.nl&#10;- Nauda Family&#10;- Danielle Lane&#10;___________________________________________&#10;&#10;Want to learn more about the topic in this week’s video? Here are some key words/phrases to get your googling started: &#10;- Radiation balance - incoming radiant energy from the sun minus outgoing energy heading into space. &#10;- Infrared radiation - electromagnetic radiation that is invisible to us; comes in longer wavelengths than visible light and provides energy transfer we call heat.  &#10;________________________&#10;&#10;MinuteEarth provides an energetic and entertaining view of trends in earth’s environment – in just a few minutes!&#10;Subscribe on YouTube: http://www.youtube.com/user/minuteearth?sub_confirmation=1&#10;&#10;Created by Henry Reich&#10;With the MinuteEarth team: Alex Reich, Peter Reich, Emily Elert, Ever Salazar, Kate Yoshida, and Henry Reich. Music by Nathaniel Schroeder: http://www.soundcloud.com/drschroeder&#10;________________________&#10;&#10;Please support us on Patreon: https://www.patreon.com/minuteearth&#10;And follow us on Vessel: https://www.vessel.com/shows/6891774506155638&#10;And here we are on iTunes: https://goo.gl/sfwS6n&#10;Also, say hello on: &#10;Facebook: http://facebook.com/minuteearth&#10;Twitter: http://twitter.com/MinuteEarth&#10;________________________&#10;&#10;References:&#10;&#10;Virtual Chembook, Elmhurst College, Charles E. Ophardt&#10;http://elmhcx9.elmhurst.edu/~chm/vchembook/globalwarmA5.html&#10;&#10;Climate and Earth’s Energy Budget, NASA Earth Observatory&#10;http://earthobservatory.nasa.gov/Features/EnergyBalance/page6.php&#10;&#10;Infrared spectroscopy/Caltech (mirrored from UCLA chemistry)&#10;http://www.wag.caltech.edu/home/jang/genchem/infrared.htm&#10;http://elmhcx9.elmhurst.edu/~chm/vchembook/globalwarmA5.html" title="How Do Greenhouse Gases Actually Work?">
            <a:hlinkClick r:id="rId3"/>
          </p:cNvPr>
          <p:cNvPicPr preferRelativeResize="0"/>
          <p:nvPr/>
        </p:nvPicPr>
        <p:blipFill>
          <a:blip r:embed="rId4">
            <a:alphaModFix/>
          </a:blip>
          <a:stretch>
            <a:fillRect/>
          </a:stretch>
        </p:blipFill>
        <p:spPr>
          <a:xfrm>
            <a:off x="1345113" y="941025"/>
            <a:ext cx="6453778" cy="36302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4"/>
                                        </p:tgtEl>
                                        <p:attrNameLst>
                                          <p:attrName>style.visibility</p:attrName>
                                        </p:attrNameLst>
                                      </p:cBhvr>
                                      <p:to>
                                        <p:strVal val="visible"/>
                                      </p:to>
                                    </p:set>
                                    <p:animEffect transition="in" filter="fade">
                                      <p:cBhvr>
                                        <p:cTn id="7" dur="1000"/>
                                        <p:tgtEl>
                                          <p:spTgt spid="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58"/>
        <p:cNvGrpSpPr/>
        <p:nvPr/>
      </p:nvGrpSpPr>
      <p:grpSpPr>
        <a:xfrm>
          <a:off x="0" y="0"/>
          <a:ext cx="0" cy="0"/>
          <a:chOff x="0" y="0"/>
          <a:chExt cx="0" cy="0"/>
        </a:xfrm>
      </p:grpSpPr>
      <p:sp>
        <p:nvSpPr>
          <p:cNvPr id="259" name="Google Shape;259;p32"/>
          <p:cNvSpPr txBox="1">
            <a:spLocks noGrp="1"/>
          </p:cNvSpPr>
          <p:nvPr>
            <p:ph type="body" idx="1"/>
          </p:nvPr>
        </p:nvSpPr>
        <p:spPr>
          <a:xfrm>
            <a:off x="112825" y="1874825"/>
            <a:ext cx="4777500" cy="18552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Clr>
                <a:schemeClr val="dk1"/>
              </a:buClr>
              <a:buSzPts val="2000"/>
              <a:buChar char="●"/>
            </a:pPr>
            <a:r>
              <a:rPr lang="en" sz="2000">
                <a:solidFill>
                  <a:schemeClr val="dk1"/>
                </a:solidFill>
              </a:rPr>
              <a:t>How does the sun’s light energy interact with the Earth in your models?</a:t>
            </a:r>
            <a:endParaRPr sz="2000">
              <a:solidFill>
                <a:schemeClr val="dk1"/>
              </a:solidFill>
            </a:endParaRPr>
          </a:p>
          <a:p>
            <a:pPr marL="457200" lvl="0" indent="-355600" algn="l" rtl="0">
              <a:spcBef>
                <a:spcPts val="0"/>
              </a:spcBef>
              <a:spcAft>
                <a:spcPts val="0"/>
              </a:spcAft>
              <a:buClr>
                <a:schemeClr val="dk1"/>
              </a:buClr>
              <a:buSzPts val="2000"/>
              <a:buChar char="●"/>
            </a:pPr>
            <a:r>
              <a:rPr lang="en" sz="2000">
                <a:solidFill>
                  <a:schemeClr val="dk1"/>
                </a:solidFill>
              </a:rPr>
              <a:t>What do increased levels of carbon dioxide have on these interactions?</a:t>
            </a:r>
            <a:endParaRPr sz="2000">
              <a:solidFill>
                <a:schemeClr val="dk1"/>
              </a:solidFill>
            </a:endParaRPr>
          </a:p>
        </p:txBody>
      </p:sp>
      <p:sp>
        <p:nvSpPr>
          <p:cNvPr id="260" name="Google Shape;260;p32"/>
          <p:cNvSpPr txBox="1">
            <a:spLocks noGrp="1"/>
          </p:cNvSpPr>
          <p:nvPr>
            <p:ph type="title"/>
          </p:nvPr>
        </p:nvSpPr>
        <p:spPr>
          <a:xfrm>
            <a:off x="229825" y="46087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500" b="1">
                <a:solidFill>
                  <a:srgbClr val="541900"/>
                </a:solidFill>
              </a:rPr>
              <a:t>Share Your Model</a:t>
            </a:r>
            <a:endParaRPr sz="3500" b="1">
              <a:solidFill>
                <a:srgbClr val="541900"/>
              </a:solidFill>
            </a:endParaRPr>
          </a:p>
          <a:p>
            <a:pPr marL="0" lvl="0" indent="0" algn="l" rtl="0">
              <a:lnSpc>
                <a:spcPct val="115000"/>
              </a:lnSpc>
              <a:spcBef>
                <a:spcPts val="0"/>
              </a:spcBef>
              <a:spcAft>
                <a:spcPts val="0"/>
              </a:spcAft>
              <a:buClr>
                <a:schemeClr val="dk1"/>
              </a:buClr>
              <a:buSzPts val="1100"/>
              <a:buFont typeface="Arial"/>
              <a:buNone/>
            </a:pPr>
            <a:r>
              <a:rPr lang="en" sz="1500" i="1">
                <a:solidFill>
                  <a:srgbClr val="355E3B"/>
                </a:solidFill>
              </a:rPr>
              <a:t>As a class, take a moment to share your models and share how an increased level of CO₂ impacts Earth.</a:t>
            </a:r>
            <a:endParaRPr sz="1500" i="1">
              <a:solidFill>
                <a:srgbClr val="355E3B"/>
              </a:solidFill>
            </a:endParaRPr>
          </a:p>
          <a:p>
            <a:pPr marL="0" lvl="0" indent="0" algn="l" rtl="0">
              <a:spcBef>
                <a:spcPts val="1200"/>
              </a:spcBef>
              <a:spcAft>
                <a:spcPts val="0"/>
              </a:spcAft>
              <a:buNone/>
            </a:pPr>
            <a:endParaRPr sz="3500" b="1">
              <a:solidFill>
                <a:srgbClr val="541900"/>
              </a:solidFill>
            </a:endParaRPr>
          </a:p>
        </p:txBody>
      </p:sp>
      <p:sp>
        <p:nvSpPr>
          <p:cNvPr id="261" name="Google Shape;261;p32"/>
          <p:cNvSpPr txBox="1">
            <a:spLocks noGrp="1"/>
          </p:cNvSpPr>
          <p:nvPr>
            <p:ph type="body" idx="1"/>
          </p:nvPr>
        </p:nvSpPr>
        <p:spPr>
          <a:xfrm>
            <a:off x="229825"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3.2 Carbon Dioxide &amp; Weather</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19</a:t>
            </a:r>
            <a:endParaRPr sz="1200">
              <a:solidFill>
                <a:schemeClr val="dk1"/>
              </a:solidFill>
              <a:latin typeface="Arial"/>
              <a:ea typeface="Arial"/>
              <a:cs typeface="Arial"/>
              <a:sym typeface="Arial"/>
            </a:endParaRPr>
          </a:p>
        </p:txBody>
      </p:sp>
      <p:pic>
        <p:nvPicPr>
          <p:cNvPr id="262" name="Google Shape;262;p32"/>
          <p:cNvPicPr preferRelativeResize="0"/>
          <p:nvPr/>
        </p:nvPicPr>
        <p:blipFill rotWithShape="1">
          <a:blip r:embed="rId3">
            <a:alphaModFix/>
          </a:blip>
          <a:srcRect t="37367" b="1053"/>
          <a:stretch/>
        </p:blipFill>
        <p:spPr>
          <a:xfrm rot="-5400000">
            <a:off x="4675450" y="536138"/>
            <a:ext cx="4408675" cy="4071225"/>
          </a:xfrm>
          <a:prstGeom prst="rect">
            <a:avLst/>
          </a:prstGeom>
          <a:noFill/>
          <a:ln>
            <a:noFill/>
          </a:ln>
        </p:spPr>
      </p:pic>
      <p:sp>
        <p:nvSpPr>
          <p:cNvPr id="263" name="Google Shape;263;p32"/>
          <p:cNvSpPr txBox="1"/>
          <p:nvPr/>
        </p:nvSpPr>
        <p:spPr>
          <a:xfrm>
            <a:off x="5319400" y="4282963"/>
            <a:ext cx="9525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2"/>
                </a:solidFill>
              </a:rPr>
              <a:t>Earth</a:t>
            </a:r>
            <a:endParaRPr sz="1800">
              <a:solidFill>
                <a:schemeClr val="dk2"/>
              </a:solidFill>
            </a:endParaRPr>
          </a:p>
        </p:txBody>
      </p:sp>
      <p:sp>
        <p:nvSpPr>
          <p:cNvPr id="264" name="Google Shape;264;p32"/>
          <p:cNvSpPr txBox="1"/>
          <p:nvPr/>
        </p:nvSpPr>
        <p:spPr>
          <a:xfrm>
            <a:off x="7230650" y="4282963"/>
            <a:ext cx="9525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2"/>
                </a:solidFill>
              </a:rPr>
              <a:t>Earth</a:t>
            </a: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68"/>
        <p:cNvGrpSpPr/>
        <p:nvPr/>
      </p:nvGrpSpPr>
      <p:grpSpPr>
        <a:xfrm>
          <a:off x="0" y="0"/>
          <a:ext cx="0" cy="0"/>
          <a:chOff x="0" y="0"/>
          <a:chExt cx="0" cy="0"/>
        </a:xfrm>
      </p:grpSpPr>
      <p:sp>
        <p:nvSpPr>
          <p:cNvPr id="269" name="Google Shape;269;p33"/>
          <p:cNvSpPr txBox="1">
            <a:spLocks noGrp="1"/>
          </p:cNvSpPr>
          <p:nvPr>
            <p:ph type="body" idx="1"/>
          </p:nvPr>
        </p:nvSpPr>
        <p:spPr>
          <a:xfrm>
            <a:off x="4596300" y="1644138"/>
            <a:ext cx="4294800" cy="18552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Clr>
                <a:schemeClr val="dk1"/>
              </a:buClr>
              <a:buSzPts val="2000"/>
              <a:buChar char="●"/>
            </a:pPr>
            <a:r>
              <a:rPr lang="en" sz="2000">
                <a:solidFill>
                  <a:schemeClr val="dk1"/>
                </a:solidFill>
              </a:rPr>
              <a:t>How do you think increased CO₂ impacts the value your community places on Southern California’s ocean?</a:t>
            </a:r>
            <a:endParaRPr sz="2000">
              <a:solidFill>
                <a:schemeClr val="dk1"/>
              </a:solidFill>
            </a:endParaRPr>
          </a:p>
          <a:p>
            <a:pPr marL="457200" lvl="0" indent="-355600" algn="l" rtl="0">
              <a:spcBef>
                <a:spcPts val="0"/>
              </a:spcBef>
              <a:spcAft>
                <a:spcPts val="0"/>
              </a:spcAft>
              <a:buClr>
                <a:schemeClr val="dk1"/>
              </a:buClr>
              <a:buSzPts val="2000"/>
              <a:buChar char="●"/>
            </a:pPr>
            <a:r>
              <a:rPr lang="en" sz="2000">
                <a:solidFill>
                  <a:schemeClr val="dk1"/>
                </a:solidFill>
              </a:rPr>
              <a:t>How might you investigate this?</a:t>
            </a:r>
            <a:endParaRPr sz="2000">
              <a:solidFill>
                <a:schemeClr val="dk1"/>
              </a:solidFill>
            </a:endParaRPr>
          </a:p>
        </p:txBody>
      </p:sp>
      <p:sp>
        <p:nvSpPr>
          <p:cNvPr id="270" name="Google Shape;270;p33"/>
          <p:cNvSpPr txBox="1">
            <a:spLocks noGrp="1"/>
          </p:cNvSpPr>
          <p:nvPr>
            <p:ph type="title"/>
          </p:nvPr>
        </p:nvSpPr>
        <p:spPr>
          <a:xfrm>
            <a:off x="4471950" y="826500"/>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500" b="1">
                <a:solidFill>
                  <a:srgbClr val="541900"/>
                </a:solidFill>
              </a:rPr>
              <a:t>Reflect</a:t>
            </a:r>
            <a:endParaRPr sz="3500" b="1">
              <a:solidFill>
                <a:srgbClr val="541900"/>
              </a:solidFill>
            </a:endParaRPr>
          </a:p>
        </p:txBody>
      </p:sp>
      <p:sp>
        <p:nvSpPr>
          <p:cNvPr id="271" name="Google Shape;271;p33"/>
          <p:cNvSpPr txBox="1">
            <a:spLocks noGrp="1"/>
          </p:cNvSpPr>
          <p:nvPr>
            <p:ph type="body" idx="1"/>
          </p:nvPr>
        </p:nvSpPr>
        <p:spPr>
          <a:xfrm>
            <a:off x="4572000" y="4571275"/>
            <a:ext cx="4343400" cy="324300"/>
          </a:xfrm>
          <a:prstGeom prst="rect">
            <a:avLst/>
          </a:prstGeom>
        </p:spPr>
        <p:txBody>
          <a:bodyPr spcFirstLastPara="1" wrap="square" lIns="91425" tIns="91425" rIns="91425" bIns="91425" anchor="t" anchorCtr="0">
            <a:noAutofit/>
          </a:bodyPr>
          <a:lstStyle/>
          <a:p>
            <a:pPr marL="0" lvl="0" indent="0" algn="r"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3.2 Carbon Dioxide &amp; Weather</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20</a:t>
            </a:r>
            <a:endParaRPr sz="1200">
              <a:solidFill>
                <a:schemeClr val="dk1"/>
              </a:solidFill>
              <a:latin typeface="Arial"/>
              <a:ea typeface="Arial"/>
              <a:cs typeface="Arial"/>
              <a:sym typeface="Arial"/>
            </a:endParaRPr>
          </a:p>
        </p:txBody>
      </p:sp>
      <p:sp>
        <p:nvSpPr>
          <p:cNvPr id="272" name="Google Shape;272;p33"/>
          <p:cNvSpPr txBox="1">
            <a:spLocks noGrp="1"/>
          </p:cNvSpPr>
          <p:nvPr>
            <p:ph type="body" idx="1"/>
          </p:nvPr>
        </p:nvSpPr>
        <p:spPr>
          <a:xfrm>
            <a:off x="117200" y="408915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900">
                <a:solidFill>
                  <a:schemeClr val="dk1"/>
                </a:solidFill>
              </a:rPr>
              <a:t>Photo Credit: Los Angeles Times</a:t>
            </a:r>
            <a:endParaRPr sz="900">
              <a:solidFill>
                <a:schemeClr val="dk1"/>
              </a:solidFill>
              <a:latin typeface="Arial"/>
              <a:ea typeface="Arial"/>
              <a:cs typeface="Arial"/>
              <a:sym typeface="Arial"/>
            </a:endParaRPr>
          </a:p>
        </p:txBody>
      </p:sp>
      <p:pic>
        <p:nvPicPr>
          <p:cNvPr id="273" name="Google Shape;273;p33" title="Screenshot 2025-12-22 at 11.54.13 AM.png"/>
          <p:cNvPicPr preferRelativeResize="0"/>
          <p:nvPr/>
        </p:nvPicPr>
        <p:blipFill>
          <a:blip r:embed="rId3">
            <a:alphaModFix/>
          </a:blip>
          <a:stretch>
            <a:fillRect/>
          </a:stretch>
        </p:blipFill>
        <p:spPr>
          <a:xfrm>
            <a:off x="141525" y="973400"/>
            <a:ext cx="4294750" cy="31966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77"/>
        <p:cNvGrpSpPr/>
        <p:nvPr/>
      </p:nvGrpSpPr>
      <p:grpSpPr>
        <a:xfrm>
          <a:off x="0" y="0"/>
          <a:ext cx="0" cy="0"/>
          <a:chOff x="0" y="0"/>
          <a:chExt cx="0" cy="0"/>
        </a:xfrm>
      </p:grpSpPr>
      <p:sp>
        <p:nvSpPr>
          <p:cNvPr id="278" name="Google Shape;278;p34"/>
          <p:cNvSpPr txBox="1">
            <a:spLocks noGrp="1"/>
          </p:cNvSpPr>
          <p:nvPr>
            <p:ph type="body" idx="1"/>
          </p:nvPr>
        </p:nvSpPr>
        <p:spPr>
          <a:xfrm>
            <a:off x="311700" y="11383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000" i="1" dirty="0">
                <a:solidFill>
                  <a:srgbClr val="355E3B"/>
                </a:solidFill>
              </a:rPr>
              <a:t>In your </a:t>
            </a:r>
            <a:r>
              <a:rPr lang="en" sz="2000" i="1" u="sng" dirty="0">
                <a:solidFill>
                  <a:schemeClr val="hlink"/>
                </a:solidFill>
              </a:rPr>
              <a:t>science journal</a:t>
            </a:r>
            <a:r>
              <a:rPr lang="en" sz="2000" i="1" dirty="0">
                <a:solidFill>
                  <a:srgbClr val="355E3B"/>
                </a:solidFill>
              </a:rPr>
              <a:t> (p.34), take a couple of minutes to reflect on your experiences during Module 3.2, Day 2.</a:t>
            </a:r>
            <a:endParaRPr sz="2000" i="1" dirty="0">
              <a:solidFill>
                <a:srgbClr val="355E3B"/>
              </a:solidFill>
            </a:endParaRPr>
          </a:p>
          <a:p>
            <a:pPr marL="0" lvl="0" indent="0" algn="l" rtl="0">
              <a:spcBef>
                <a:spcPts val="1200"/>
              </a:spcBef>
              <a:spcAft>
                <a:spcPts val="1200"/>
              </a:spcAft>
              <a:buNone/>
            </a:pPr>
            <a:endParaRPr sz="2000" i="1" dirty="0">
              <a:solidFill>
                <a:srgbClr val="355E3B"/>
              </a:solidFill>
            </a:endParaRPr>
          </a:p>
        </p:txBody>
      </p:sp>
      <p:sp>
        <p:nvSpPr>
          <p:cNvPr id="279" name="Google Shape;279;p34"/>
          <p:cNvSpPr txBox="1">
            <a:spLocks noGrp="1"/>
          </p:cNvSpPr>
          <p:nvPr>
            <p:ph type="title"/>
          </p:nvPr>
        </p:nvSpPr>
        <p:spPr>
          <a:xfrm>
            <a:off x="311700" y="2675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Reflect</a:t>
            </a:r>
            <a:endParaRPr sz="4500" b="1">
              <a:solidFill>
                <a:srgbClr val="541900"/>
              </a:solidFill>
            </a:endParaRPr>
          </a:p>
        </p:txBody>
      </p:sp>
      <p:sp>
        <p:nvSpPr>
          <p:cNvPr id="280" name="Google Shape;280;p34"/>
          <p:cNvSpPr txBox="1">
            <a:spLocks noGrp="1"/>
          </p:cNvSpPr>
          <p:nvPr>
            <p:ph type="body" idx="4294967295"/>
          </p:nvPr>
        </p:nvSpPr>
        <p:spPr>
          <a:xfrm>
            <a:off x="311700" y="2009075"/>
            <a:ext cx="8373300" cy="1989000"/>
          </a:xfrm>
          <a:prstGeom prst="rect">
            <a:avLst/>
          </a:prstGeom>
        </p:spPr>
        <p:txBody>
          <a:bodyPr spcFirstLastPara="1" wrap="square" lIns="91425" tIns="91425" rIns="91425" bIns="91425" anchor="t" anchorCtr="0">
            <a:normAutofit/>
          </a:bodyPr>
          <a:lstStyle/>
          <a:p>
            <a:pPr marL="457200" lvl="0" indent="-355600" algn="l" rtl="0">
              <a:lnSpc>
                <a:spcPct val="115000"/>
              </a:lnSpc>
              <a:spcBef>
                <a:spcPts val="0"/>
              </a:spcBef>
              <a:spcAft>
                <a:spcPts val="0"/>
              </a:spcAft>
              <a:buClr>
                <a:schemeClr val="dk1"/>
              </a:buClr>
              <a:buSzPts val="2000"/>
              <a:buFont typeface="Calibri"/>
              <a:buAutoNum type="arabicPeriod"/>
            </a:pPr>
            <a:r>
              <a:rPr lang="en" sz="2000" dirty="0">
                <a:solidFill>
                  <a:schemeClr val="dk1"/>
                </a:solidFill>
                <a:latin typeface="Calibri"/>
                <a:ea typeface="Calibri"/>
                <a:cs typeface="Calibri"/>
                <a:sym typeface="Calibri"/>
              </a:rPr>
              <a:t>What did you learn today? How has your thinking changed?</a:t>
            </a:r>
            <a:endParaRPr sz="2000" dirty="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AutoNum type="arabicPeriod"/>
            </a:pPr>
            <a:r>
              <a:rPr lang="en" sz="2000" dirty="0">
                <a:solidFill>
                  <a:schemeClr val="dk1"/>
                </a:solidFill>
                <a:latin typeface="Calibri"/>
                <a:ea typeface="Calibri"/>
                <a:cs typeface="Calibri"/>
                <a:sym typeface="Calibri"/>
              </a:rPr>
              <a:t>How might trapped heat and changes in weather patterns impact things your community cares about, like beaches, fishing, or wildlife?</a:t>
            </a:r>
            <a:endParaRPr sz="2000" dirty="0">
              <a:solidFill>
                <a:schemeClr val="dk1"/>
              </a:solidFill>
              <a:latin typeface="Calibri"/>
              <a:ea typeface="Calibri"/>
              <a:cs typeface="Calibri"/>
              <a:sym typeface="Calibri"/>
            </a:endParaRPr>
          </a:p>
        </p:txBody>
      </p:sp>
      <p:sp>
        <p:nvSpPr>
          <p:cNvPr id="281" name="Google Shape;281;p34"/>
          <p:cNvSpPr txBox="1">
            <a:spLocks noGrp="1"/>
          </p:cNvSpPr>
          <p:nvPr>
            <p:ph type="body" idx="1"/>
          </p:nvPr>
        </p:nvSpPr>
        <p:spPr>
          <a:xfrm>
            <a:off x="311700" y="4571275"/>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Module 3.2 Carbon Dioxide &amp; Weather</a:t>
            </a:r>
            <a:br>
              <a:rPr lang="en" sz="1200">
                <a:solidFill>
                  <a:schemeClr val="dk1"/>
                </a:solidFill>
              </a:rPr>
            </a:br>
            <a:r>
              <a:rPr lang="en" sz="1200">
                <a:solidFill>
                  <a:schemeClr val="dk1"/>
                </a:solidFill>
              </a:rPr>
              <a:t>Slide 21</a:t>
            </a:r>
            <a:endParaRPr sz="1200">
              <a:solidFill>
                <a:schemeClr val="dk1"/>
              </a:solidFill>
            </a:endParaRPr>
          </a:p>
          <a:p>
            <a:pPr marL="0" lvl="0" indent="0" algn="l" rtl="0">
              <a:spcBef>
                <a:spcPts val="1200"/>
              </a:spcBef>
              <a:spcAft>
                <a:spcPts val="1200"/>
              </a:spcAft>
              <a:buNone/>
            </a:pPr>
            <a:endParaRPr sz="12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285"/>
        <p:cNvGrpSpPr/>
        <p:nvPr/>
      </p:nvGrpSpPr>
      <p:grpSpPr>
        <a:xfrm>
          <a:off x="0" y="0"/>
          <a:ext cx="0" cy="0"/>
          <a:chOff x="0" y="0"/>
          <a:chExt cx="0" cy="0"/>
        </a:xfrm>
      </p:grpSpPr>
      <p:sp>
        <p:nvSpPr>
          <p:cNvPr id="286" name="Google Shape;286;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Thank you!</a:t>
            </a:r>
            <a:endParaRPr sz="4500" b="1">
              <a:solidFill>
                <a:srgbClr val="541900"/>
              </a:solidFill>
            </a:endParaRPr>
          </a:p>
        </p:txBody>
      </p:sp>
      <p:sp>
        <p:nvSpPr>
          <p:cNvPr id="287" name="Google Shape;287;p35"/>
          <p:cNvSpPr txBox="1"/>
          <p:nvPr/>
        </p:nvSpPr>
        <p:spPr>
          <a:xfrm>
            <a:off x="311700" y="1374600"/>
            <a:ext cx="8520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If you have any questions, please feel free to reach out.</a:t>
            </a:r>
            <a:endParaRPr sz="1800">
              <a:solidFill>
                <a:schemeClr val="dk1"/>
              </a:solidFill>
            </a:endParaRPr>
          </a:p>
        </p:txBody>
      </p:sp>
      <p:sp>
        <p:nvSpPr>
          <p:cNvPr id="288" name="Google Shape;288;p35"/>
          <p:cNvSpPr txBox="1"/>
          <p:nvPr/>
        </p:nvSpPr>
        <p:spPr>
          <a:xfrm>
            <a:off x="318402" y="3563413"/>
            <a:ext cx="36402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Ha Nguyen, Ph.D.</a:t>
            </a:r>
            <a:endParaRPr sz="2200" b="1">
              <a:solidFill>
                <a:schemeClr val="dk1"/>
              </a:solidFill>
            </a:endParaRPr>
          </a:p>
          <a:p>
            <a:pPr marL="0" lvl="0" indent="0" algn="l" rtl="0">
              <a:spcBef>
                <a:spcPts val="0"/>
              </a:spcBef>
              <a:spcAft>
                <a:spcPts val="0"/>
              </a:spcAft>
              <a:buNone/>
            </a:pPr>
            <a:r>
              <a:rPr lang="en" sz="2200">
                <a:solidFill>
                  <a:schemeClr val="dk1"/>
                </a:solidFill>
              </a:rPr>
              <a:t>Assistant Professor</a:t>
            </a:r>
            <a:endParaRPr sz="2200">
              <a:solidFill>
                <a:schemeClr val="dk1"/>
              </a:solidFill>
            </a:endParaRPr>
          </a:p>
          <a:p>
            <a:pPr marL="0" lvl="0" indent="0" algn="l" rtl="0">
              <a:spcBef>
                <a:spcPts val="0"/>
              </a:spcBef>
              <a:spcAft>
                <a:spcPts val="0"/>
              </a:spcAft>
              <a:buNone/>
            </a:pPr>
            <a:r>
              <a:rPr lang="en" sz="2200">
                <a:solidFill>
                  <a:schemeClr val="dk1"/>
                </a:solidFill>
              </a:rPr>
              <a:t>ha.nguyen@unc.edu</a:t>
            </a:r>
            <a:endParaRPr sz="2200">
              <a:solidFill>
                <a:schemeClr val="dk1"/>
              </a:solidFill>
            </a:endParaRPr>
          </a:p>
        </p:txBody>
      </p:sp>
      <p:sp>
        <p:nvSpPr>
          <p:cNvPr id="289" name="Google Shape;289;p35"/>
          <p:cNvSpPr txBox="1"/>
          <p:nvPr/>
        </p:nvSpPr>
        <p:spPr>
          <a:xfrm>
            <a:off x="318400" y="1971462"/>
            <a:ext cx="34551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Erick Valdez</a:t>
            </a:r>
            <a:endParaRPr sz="2200" b="1">
              <a:solidFill>
                <a:schemeClr val="dk1"/>
              </a:solidFill>
            </a:endParaRPr>
          </a:p>
          <a:p>
            <a:pPr marL="0" lvl="0" indent="0" algn="l" rtl="0">
              <a:spcBef>
                <a:spcPts val="0"/>
              </a:spcBef>
              <a:spcAft>
                <a:spcPts val="0"/>
              </a:spcAft>
              <a:buNone/>
            </a:pPr>
            <a:r>
              <a:rPr lang="en" sz="2200">
                <a:solidFill>
                  <a:schemeClr val="dk1"/>
                </a:solidFill>
              </a:rPr>
              <a:t>Inside the Outdoors</a:t>
            </a:r>
            <a:endParaRPr sz="2200">
              <a:solidFill>
                <a:schemeClr val="dk1"/>
              </a:solidFill>
            </a:endParaRPr>
          </a:p>
          <a:p>
            <a:pPr marL="0" lvl="0" indent="0" algn="l" rtl="0">
              <a:spcBef>
                <a:spcPts val="0"/>
              </a:spcBef>
              <a:spcAft>
                <a:spcPts val="0"/>
              </a:spcAft>
              <a:buNone/>
            </a:pPr>
            <a:r>
              <a:rPr lang="en" sz="2200">
                <a:solidFill>
                  <a:schemeClr val="dk1"/>
                </a:solidFill>
              </a:rPr>
              <a:t>evaldez@ocde.us</a:t>
            </a:r>
            <a:endParaRPr sz="2200">
              <a:solidFill>
                <a:schemeClr val="dk1"/>
              </a:solidFill>
            </a:endParaRPr>
          </a:p>
        </p:txBody>
      </p:sp>
      <p:pic>
        <p:nvPicPr>
          <p:cNvPr id="290" name="Google Shape;290;p35"/>
          <p:cNvPicPr preferRelativeResize="0"/>
          <p:nvPr/>
        </p:nvPicPr>
        <p:blipFill>
          <a:blip r:embed="rId3">
            <a:alphaModFix/>
          </a:blip>
          <a:stretch>
            <a:fillRect/>
          </a:stretch>
        </p:blipFill>
        <p:spPr>
          <a:xfrm>
            <a:off x="5958425" y="3608125"/>
            <a:ext cx="1289949" cy="1102075"/>
          </a:xfrm>
          <a:prstGeom prst="rect">
            <a:avLst/>
          </a:prstGeom>
          <a:noFill/>
          <a:ln>
            <a:noFill/>
          </a:ln>
        </p:spPr>
      </p:pic>
      <p:pic>
        <p:nvPicPr>
          <p:cNvPr id="291" name="Google Shape;291;p35" title="ITO-logo-col-clear.png"/>
          <p:cNvPicPr preferRelativeResize="0"/>
          <p:nvPr/>
        </p:nvPicPr>
        <p:blipFill>
          <a:blip r:embed="rId4">
            <a:alphaModFix/>
          </a:blip>
          <a:stretch>
            <a:fillRect/>
          </a:stretch>
        </p:blipFill>
        <p:spPr>
          <a:xfrm>
            <a:off x="4439452" y="1965350"/>
            <a:ext cx="1289950" cy="1329621"/>
          </a:xfrm>
          <a:prstGeom prst="rect">
            <a:avLst/>
          </a:prstGeom>
          <a:noFill/>
          <a:ln>
            <a:noFill/>
          </a:ln>
        </p:spPr>
      </p:pic>
      <p:pic>
        <p:nvPicPr>
          <p:cNvPr id="292" name="Google Shape;292;p35" title="University_of_California,_Irvine_seal.svg.png"/>
          <p:cNvPicPr preferRelativeResize="0"/>
          <p:nvPr/>
        </p:nvPicPr>
        <p:blipFill>
          <a:blip r:embed="rId5">
            <a:alphaModFix/>
          </a:blip>
          <a:stretch>
            <a:fillRect/>
          </a:stretch>
        </p:blipFill>
        <p:spPr>
          <a:xfrm>
            <a:off x="4495824" y="3546924"/>
            <a:ext cx="1233549" cy="1233576"/>
          </a:xfrm>
          <a:prstGeom prst="rect">
            <a:avLst/>
          </a:prstGeom>
          <a:noFill/>
          <a:ln>
            <a:noFill/>
          </a:ln>
        </p:spPr>
      </p:pic>
      <p:pic>
        <p:nvPicPr>
          <p:cNvPr id="293" name="Google Shape;293;p35" title="OCDE orange county department of education logo.png"/>
          <p:cNvPicPr preferRelativeResize="0"/>
          <p:nvPr/>
        </p:nvPicPr>
        <p:blipFill>
          <a:blip r:embed="rId6">
            <a:alphaModFix/>
          </a:blip>
          <a:stretch>
            <a:fillRect/>
          </a:stretch>
        </p:blipFill>
        <p:spPr>
          <a:xfrm>
            <a:off x="5958425" y="1983225"/>
            <a:ext cx="1289950" cy="12899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3401</Words>
  <Application>Microsoft Macintosh PowerPoint</Application>
  <PresentationFormat>On-screen Show (16:9)</PresentationFormat>
  <Paragraphs>258</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Calibri</vt:lpstr>
      <vt:lpstr>Arial</vt:lpstr>
      <vt:lpstr>Roboto</vt:lpstr>
      <vt:lpstr>Simple Light</vt:lpstr>
      <vt:lpstr>Carbon Dioxide  &amp; Weather</vt:lpstr>
      <vt:lpstr>Lesson Objectives</vt:lpstr>
      <vt:lpstr>PowerPoint Presentation</vt:lpstr>
      <vt:lpstr>PowerPoint Presentation</vt:lpstr>
      <vt:lpstr>PowerPoint Presentation</vt:lpstr>
      <vt:lpstr>PowerPoint Presentation</vt:lpstr>
      <vt:lpstr>PowerPoint Presentation</vt:lpstr>
      <vt:lpstr>PowerPoint Presentation</vt:lpstr>
      <vt:lpstr>How does this process apply to the Earth? To see how this process applies to the Earth, you and your team will create a drawn model. </vt:lpstr>
      <vt:lpstr>Modeling Earth’s Processes Take a piece of paper and split it into two equal halves or use Science Journal p. 28. Use the image on the right as a framework to help you think about how light energy interacts with Earth.</vt:lpstr>
      <vt:lpstr>Share Your Model Now that you’ve had a chance to create a model as a team, share as a class.</vt:lpstr>
      <vt:lpstr>Reflect</vt:lpstr>
      <vt:lpstr>Carbon Dioxide  &amp; Weather</vt:lpstr>
      <vt:lpstr>Reflect on  Our Models</vt:lpstr>
      <vt:lpstr>Building on Our Models During this lesson, we will be building upon our model to explore how humans have impacted the Earth through increased carbon emissions.</vt:lpstr>
      <vt:lpstr>PhET Lab Exploration</vt:lpstr>
      <vt:lpstr>Building on Our Models Now that you have explored greenhouse gasses on PhET Lab’s simulation, as a group, take a moment to build upon your model and describe how increased CO₂ impacts the Earth’s system.  </vt:lpstr>
      <vt:lpstr>How Do Greenhouse Gases Actually Work?</vt:lpstr>
      <vt:lpstr>Share Your Model As a class, take a moment to share your models and share how an increased level of CO₂ impacts Earth. </vt:lpstr>
      <vt:lpstr>Reflect</vt:lpstr>
      <vt:lpstr>Reflect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Nguyen, Ha</cp:lastModifiedBy>
  <cp:revision>4</cp:revision>
  <dcterms:modified xsi:type="dcterms:W3CDTF">2026-09-01T20:33:09Z</dcterms:modified>
</cp:coreProperties>
</file>