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5E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3"/>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iv5CWMPBWYlpmSJkNk5Rs__z7OYBVGeDD2lnNA5GfGc/edit?tab=t.0" TargetMode="External"/><Relationship Id="rId7" Type="http://schemas.openxmlformats.org/officeDocument/2006/relationships/hyperlink" Target="https://docs.google.com/document/d/1lCsBxAm039ndJ7Xa51ol-18AX9dkCDQFlBT9lb_weiM/edit?tab=t.0"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docs.google.com/document/d/1AYm1JJvNtvK8BfI1KSdVTih6MEEVdB5YrhXqB3QnlYc/edit?tab=t.0#heading=h.7kslg2upum5i" TargetMode="External"/><Relationship Id="rId5" Type="http://schemas.openxmlformats.org/officeDocument/2006/relationships/hyperlink" Target="https://aiscicomm.mylusd.org/"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Link to </a:t>
            </a:r>
            <a:r>
              <a:rPr lang="en" sz="1200" u="sng">
                <a:solidFill>
                  <a:schemeClr val="hlink"/>
                </a:solidFill>
                <a:latin typeface="Calibri"/>
                <a:ea typeface="Calibri"/>
                <a:cs typeface="Calibri"/>
                <a:sym typeface="Calibri"/>
                <a:hlinkClick r:id="rId3"/>
              </a:rPr>
              <a:t>Module 4.3 Lesson Plan</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AISciComm chatbot website</a:t>
            </a:r>
            <a:r>
              <a:rPr lang="en" sz="1200">
                <a:solidFill>
                  <a:schemeClr val="dk1"/>
                </a:solidFill>
                <a:latin typeface="Calibri"/>
                <a:ea typeface="Calibri"/>
                <a:cs typeface="Calibri"/>
                <a:sym typeface="Calibri"/>
              </a:rPr>
              <a:t> to model and/ or support students.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Science Communication Product </a:t>
            </a:r>
            <a:r>
              <a:rPr lang="en" sz="1200" u="sng">
                <a:solidFill>
                  <a:srgbClr val="1155CC"/>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Student Checklist</a:t>
            </a:r>
            <a:r>
              <a:rPr lang="en" sz="1200">
                <a:solidFill>
                  <a:schemeClr val="dk1"/>
                </a:solidFill>
                <a:latin typeface="Calibri"/>
                <a:ea typeface="Calibri"/>
                <a:cs typeface="Calibri"/>
                <a:sym typeface="Calibri"/>
              </a:rPr>
              <a:t> (also in Science Journal p. 60) and </a:t>
            </a:r>
            <a:r>
              <a:rPr lang="en" sz="1200" u="sng">
                <a:solidFill>
                  <a:srgbClr val="1155CC"/>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Teacher Rubric</a:t>
            </a:r>
            <a:r>
              <a:rPr lang="en" sz="1200">
                <a:solidFill>
                  <a:schemeClr val="dk1"/>
                </a:solidFill>
                <a:latin typeface="Calibri"/>
                <a:ea typeface="Calibri"/>
                <a:cs typeface="Calibri"/>
                <a:sym typeface="Calibri"/>
              </a:rPr>
              <a:t> to know the expectations of students.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Throughout the program, students will be working in teams of three (preferably).</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Make sure that you have a way to project a video with sound.</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 science journal is intended to be a digital notebook. However, if you decide to print copies for students they may need a writing instrument (pen, pencil, etc.).</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lang="en" sz="1200" b="1">
                <a:solidFill>
                  <a:schemeClr val="dk1"/>
                </a:solidFill>
                <a:latin typeface="Calibri"/>
                <a:ea typeface="Calibri"/>
                <a:cs typeface="Calibri"/>
                <a:sym typeface="Calibri"/>
              </a:rPr>
              <a:t>slide 1</a:t>
            </a:r>
            <a:r>
              <a:rPr lang="en" sz="1200">
                <a:solidFill>
                  <a:schemeClr val="dk1"/>
                </a:solidFill>
                <a:latin typeface="Calibri"/>
                <a:ea typeface="Calibri"/>
                <a:cs typeface="Calibri"/>
                <a:sym typeface="Calibri"/>
              </a:rPr>
              <a:t> and introduce the lesson. Explain to students that now that we have planned our messages and identified our target audience, </a:t>
            </a:r>
            <a:r>
              <a:rPr lang="en" sz="1200" b="1">
                <a:solidFill>
                  <a:schemeClr val="dk1"/>
                </a:solidFill>
                <a:latin typeface="Calibri"/>
                <a:ea typeface="Calibri"/>
                <a:cs typeface="Calibri"/>
                <a:sym typeface="Calibri"/>
              </a:rPr>
              <a:t>they’ll build a GenAI chatbot to represent their chosen audience and help them test their message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a17da8669d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a17da8669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 </a:t>
            </a:r>
            <a:r>
              <a:rPr lang="en" sz="1200">
                <a:solidFill>
                  <a:schemeClr val="dk1"/>
                </a:solidFill>
                <a:latin typeface="Calibri"/>
                <a:ea typeface="Calibri"/>
                <a:cs typeface="Calibri"/>
                <a:sym typeface="Calibri"/>
              </a:rPr>
              <a:t>and ask students to brainstorm: </a:t>
            </a:r>
            <a:r>
              <a:rPr lang="en" sz="1200" i="1">
                <a:solidFill>
                  <a:schemeClr val="dk1"/>
                </a:solidFill>
                <a:latin typeface="Calibri"/>
                <a:ea typeface="Calibri"/>
                <a:cs typeface="Calibri"/>
                <a:sym typeface="Calibri"/>
              </a:rPr>
              <a:t>What aspects of our target audience do we want to simulate, so that we can test our messages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Students can come up with responses like demographics (e.g., age, gender, occupation), interests, values they associate with the ocean, etc.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4ac343a9b0_0_54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4ac343a9b0_0_5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3 </a:t>
            </a:r>
            <a:r>
              <a:rPr lang="en" sz="1200">
                <a:solidFill>
                  <a:schemeClr val="dk1"/>
                </a:solidFill>
                <a:latin typeface="Calibri"/>
                <a:ea typeface="Calibri"/>
                <a:cs typeface="Calibri"/>
                <a:sym typeface="Calibri"/>
              </a:rPr>
              <a:t>and walk students through a prompt example that contains different characteristics of a simulated profile: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Role</a:t>
            </a:r>
            <a:r>
              <a:rPr lang="en" sz="1200">
                <a:solidFill>
                  <a:schemeClr val="dk1"/>
                </a:solidFill>
                <a:latin typeface="Calibri"/>
                <a:ea typeface="Calibri"/>
                <a:cs typeface="Calibri"/>
                <a:sym typeface="Calibri"/>
              </a:rPr>
              <a:t> (e.g., civil engineer)</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Task</a:t>
            </a:r>
            <a:r>
              <a:rPr lang="en" sz="1200">
                <a:solidFill>
                  <a:schemeClr val="dk1"/>
                </a:solidFill>
                <a:latin typeface="Calibri"/>
                <a:ea typeface="Calibri"/>
                <a:cs typeface="Calibri"/>
                <a:sym typeface="Calibri"/>
              </a:rPr>
              <a:t> (e.g., conversation about climate change)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Background information</a:t>
            </a:r>
            <a:r>
              <a:rPr lang="en" sz="1200">
                <a:solidFill>
                  <a:schemeClr val="dk1"/>
                </a:solidFill>
                <a:latin typeface="Calibri"/>
                <a:ea typeface="Calibri"/>
                <a:cs typeface="Calibri"/>
                <a:sym typeface="Calibri"/>
              </a:rPr>
              <a:t> (e.g., living experiences in OC)</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Constraints</a:t>
            </a:r>
            <a:r>
              <a:rPr lang="en" sz="1200">
                <a:solidFill>
                  <a:schemeClr val="dk1"/>
                </a:solidFill>
                <a:latin typeface="Calibri"/>
                <a:ea typeface="Calibri"/>
                <a:cs typeface="Calibri"/>
                <a:sym typeface="Calibri"/>
              </a:rPr>
              <a:t> (e.g., when to cite sources),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Example responses </a:t>
            </a:r>
            <a:r>
              <a:rPr lang="en" sz="1200">
                <a:solidFill>
                  <a:schemeClr val="dk1"/>
                </a:solidFill>
                <a:latin typeface="Calibri"/>
                <a:ea typeface="Calibri"/>
                <a:cs typeface="Calibri"/>
                <a:sym typeface="Calibri"/>
              </a:rPr>
              <a:t>(e.g., question-answer pairs so the chatbots can sound like our intended character)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a17da8669d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a17da8669d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4. </a:t>
            </a:r>
            <a:r>
              <a:rPr lang="en" sz="1200">
                <a:solidFill>
                  <a:schemeClr val="dk1"/>
                </a:solidFill>
                <a:latin typeface="Calibri"/>
                <a:ea typeface="Calibri"/>
                <a:cs typeface="Calibri"/>
                <a:sym typeface="Calibri"/>
              </a:rPr>
              <a:t>Explain to students that in their project teams, students will work on their science communication plan and develop the prompt for the chatbots to test their plans. Invite students to pull up the target audience profiles they created in Module 4.2.</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Students brainstorm their “target audience” chatbot profile based on the following guiding questions:</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Role: </a:t>
            </a:r>
            <a:r>
              <a:rPr lang="en" sz="1200" i="1">
                <a:solidFill>
                  <a:schemeClr val="dk1"/>
                </a:solidFill>
                <a:latin typeface="Calibri"/>
                <a:ea typeface="Calibri"/>
                <a:cs typeface="Calibri"/>
                <a:sym typeface="Calibri"/>
              </a:rPr>
              <a:t>What role will your chatbot play?</a:t>
            </a:r>
            <a:r>
              <a:rPr lang="en" sz="1200">
                <a:solidFill>
                  <a:schemeClr val="dk1"/>
                </a:solidFill>
                <a:latin typeface="Calibri"/>
                <a:ea typeface="Calibri"/>
                <a:cs typeface="Calibri"/>
                <a:sym typeface="Calibri"/>
              </a:rPr>
              <a:t> It could be another occupation (not already included in Module 3) or a local community figure. It would be best to include roles that you have encountered in your research in prior modules (e.g., interviewing community members, families, teachers, and friends).</a:t>
            </a:r>
            <a:endParaRPr sz="1200" b="1">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Task: </a:t>
            </a:r>
            <a:r>
              <a:rPr lang="en" sz="1200" i="1">
                <a:solidFill>
                  <a:schemeClr val="dk1"/>
                </a:solidFill>
                <a:latin typeface="Calibri"/>
                <a:ea typeface="Calibri"/>
                <a:cs typeface="Calibri"/>
                <a:sym typeface="Calibri"/>
              </a:rPr>
              <a:t>What is the task that your chatbot should perform?</a:t>
            </a:r>
            <a:r>
              <a:rPr lang="en" sz="1200">
                <a:solidFill>
                  <a:schemeClr val="dk1"/>
                </a:solidFill>
                <a:latin typeface="Calibri"/>
                <a:ea typeface="Calibri"/>
                <a:cs typeface="Calibri"/>
                <a:sym typeface="Calibri"/>
              </a:rPr>
              <a:t> It could be: “critique my science communication plan” or “act as a conversational partner and ask me follow-up questions about my message”.</a:t>
            </a:r>
            <a:endParaRPr sz="1200" b="1">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Background information</a:t>
            </a:r>
            <a:r>
              <a:rPr lang="en" sz="1200">
                <a:solidFill>
                  <a:schemeClr val="dk1"/>
                </a:solidFill>
                <a:latin typeface="Calibri"/>
                <a:ea typeface="Calibri"/>
                <a:cs typeface="Calibri"/>
                <a:sym typeface="Calibri"/>
              </a:rPr>
              <a:t>: </a:t>
            </a:r>
            <a:r>
              <a:rPr lang="en" sz="1200" i="1">
                <a:solidFill>
                  <a:schemeClr val="dk1"/>
                </a:solidFill>
                <a:latin typeface="Calibri"/>
                <a:ea typeface="Calibri"/>
                <a:cs typeface="Calibri"/>
                <a:sym typeface="Calibri"/>
              </a:rPr>
              <a:t>Who is your chatbot? </a:t>
            </a:r>
            <a:r>
              <a:rPr lang="en" sz="1200">
                <a:solidFill>
                  <a:schemeClr val="dk1"/>
                </a:solidFill>
                <a:latin typeface="Calibri"/>
                <a:ea typeface="Calibri"/>
                <a:cs typeface="Calibri"/>
                <a:sym typeface="Calibri"/>
              </a:rPr>
              <a:t>You can build this part based on your answers in lesson 4.2 (Target audience).</a:t>
            </a:r>
            <a:endParaRPr sz="1200" b="1">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Age: [Specify age range]</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Race/Ethnicity: [Describe the racial/ethnic background]</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Living Experiences: [Urban, rural, coastal, etc.]</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Constraints: </a:t>
            </a:r>
            <a:r>
              <a:rPr lang="en" sz="1200" i="1">
                <a:solidFill>
                  <a:schemeClr val="dk1"/>
                </a:solidFill>
                <a:latin typeface="Calibri"/>
                <a:ea typeface="Calibri"/>
                <a:cs typeface="Calibri"/>
                <a:sym typeface="Calibri"/>
              </a:rPr>
              <a:t>Are there any constraints you want your chatbot to do, so that its responses will be what you want</a:t>
            </a:r>
            <a:r>
              <a:rPr lang="en" sz="1200">
                <a:solidFill>
                  <a:schemeClr val="dk1"/>
                </a:solidFill>
                <a:latin typeface="Calibri"/>
                <a:ea typeface="Calibri"/>
                <a:cs typeface="Calibri"/>
                <a:sym typeface="Calibri"/>
              </a:rPr>
              <a:t>? For example: only answer questions related to science communication; only answer in 2-3 sentences; answer in fewer than 100 words, etc.</a:t>
            </a:r>
            <a:endParaRPr sz="1200" b="1">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Example interactions (OPTIONAL)</a:t>
            </a:r>
            <a:r>
              <a:rPr lang="en" sz="1200">
                <a:solidFill>
                  <a:schemeClr val="dk1"/>
                </a:solidFill>
                <a:latin typeface="Calibri"/>
                <a:ea typeface="Calibri"/>
                <a:cs typeface="Calibri"/>
                <a:sym typeface="Calibri"/>
              </a:rPr>
              <a:t>: These chatbots work better if we provide them example interactions (e.g., questions-answers) of what the real person will sound like. You could add 2-3 example question-answer pairs here to provide examples for the chatbot.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a17da8669d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a17da8669d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 project teams, students will input the prompt they have just created to create their target audience to the </a:t>
            </a:r>
            <a:r>
              <a:rPr lang="en" sz="1200" b="1">
                <a:solidFill>
                  <a:schemeClr val="dk1"/>
                </a:solidFill>
                <a:latin typeface="Calibri"/>
                <a:ea typeface="Calibri"/>
                <a:cs typeface="Calibri"/>
                <a:sym typeface="Calibri"/>
              </a:rPr>
              <a:t>AISciComm chatbot site &gt; default chatbot. </a:t>
            </a:r>
            <a:endParaRPr sz="1200" b="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5 </a:t>
            </a:r>
            <a:r>
              <a:rPr lang="en" sz="1200">
                <a:solidFill>
                  <a:schemeClr val="dk1"/>
                </a:solidFill>
                <a:latin typeface="Calibri"/>
                <a:ea typeface="Calibri"/>
                <a:cs typeface="Calibri"/>
                <a:sym typeface="Calibri"/>
              </a:rPr>
              <a:t>to show a possible prompt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Science Journals, p. 69</a:t>
            </a:r>
            <a:r>
              <a:rPr lang="en" sz="1200">
                <a:solidFill>
                  <a:schemeClr val="dk1"/>
                </a:solidFill>
                <a:latin typeface="Calibri"/>
                <a:ea typeface="Calibri"/>
                <a:cs typeface="Calibri"/>
                <a:sym typeface="Calibri"/>
              </a:rPr>
              <a:t>). The prompt format could be: see slide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a17da8669d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a17da8669d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6 </a:t>
            </a:r>
            <a:r>
              <a:rPr lang="en" sz="1200">
                <a:solidFill>
                  <a:schemeClr val="dk1"/>
                </a:solidFill>
                <a:latin typeface="Calibri"/>
                <a:ea typeface="Calibri"/>
                <a:cs typeface="Calibri"/>
                <a:sym typeface="Calibri"/>
              </a:rPr>
              <a:t>and show students an example conversation using this template. Ask student teams to test their communication plan and </a:t>
            </a:r>
            <a:r>
              <a:rPr lang="en" sz="1200">
                <a:solidFill>
                  <a:schemeClr val="dk1"/>
                </a:solidFill>
                <a:highlight>
                  <a:srgbClr val="FFFF00"/>
                </a:highlight>
                <a:latin typeface="Calibri"/>
                <a:ea typeface="Calibri"/>
                <a:cs typeface="Calibri"/>
                <a:sym typeface="Calibri"/>
              </a:rPr>
              <a:t>take screenshots of the conversation with the chatbots roleplaying as the target audience and add it to Google Drive. Instructions are on Slide 7.</a:t>
            </a:r>
            <a:endParaRPr sz="1200">
              <a:solidFill>
                <a:schemeClr val="dk1"/>
              </a:solidFill>
              <a:highlight>
                <a:srgbClr val="FFFF00"/>
              </a:highlight>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Remind students to </a:t>
            </a:r>
            <a:r>
              <a:rPr lang="en" sz="1200" b="1">
                <a:solidFill>
                  <a:schemeClr val="dk1"/>
                </a:solidFill>
                <a:latin typeface="Calibri"/>
                <a:ea typeface="Calibri"/>
                <a:cs typeface="Calibri"/>
                <a:sym typeface="Calibri"/>
              </a:rPr>
              <a:t>critically evaluate the chatbots’ response</a:t>
            </a:r>
            <a:r>
              <a:rPr lang="en" sz="1200">
                <a:solidFill>
                  <a:schemeClr val="dk1"/>
                </a:solidFill>
                <a:latin typeface="Calibri"/>
                <a:ea typeface="Calibri"/>
                <a:cs typeface="Calibri"/>
                <a:sym typeface="Calibri"/>
              </a:rPr>
              <a:t>s and </a:t>
            </a:r>
            <a:r>
              <a:rPr lang="en" sz="1200" b="1">
                <a:solidFill>
                  <a:schemeClr val="dk1"/>
                </a:solidFill>
                <a:latin typeface="Calibri"/>
                <a:ea typeface="Calibri"/>
                <a:cs typeface="Calibri"/>
                <a:sym typeface="Calibri"/>
              </a:rPr>
              <a:t>ask follow-up questions and prompts</a:t>
            </a:r>
            <a:r>
              <a:rPr lang="en" sz="1200">
                <a:solidFill>
                  <a:schemeClr val="dk1"/>
                </a:solidFill>
                <a:latin typeface="Calibri"/>
                <a:ea typeface="Calibri"/>
                <a:cs typeface="Calibri"/>
                <a:sym typeface="Calibri"/>
              </a:rPr>
              <a:t> to revise the persona as needed.</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Instructions to take a screenshot for students </a:t>
            </a:r>
            <a:r>
              <a:rPr lang="en" sz="1200" b="1">
                <a:solidFill>
                  <a:schemeClr val="dk1"/>
                </a:solidFill>
                <a:latin typeface="Calibri"/>
                <a:ea typeface="Calibri"/>
                <a:cs typeface="Calibri"/>
                <a:sym typeface="Calibri"/>
              </a:rPr>
              <a:t>slide 7</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Devices will differ in ways to take a snapshot.</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Windows computer </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Press </a:t>
            </a:r>
            <a:r>
              <a:rPr lang="en" sz="1200" b="1">
                <a:solidFill>
                  <a:schemeClr val="dk1"/>
                </a:solidFill>
                <a:latin typeface="Calibri"/>
                <a:ea typeface="Calibri"/>
                <a:cs typeface="Calibri"/>
                <a:sym typeface="Calibri"/>
              </a:rPr>
              <a:t>Window + Shift + S</a:t>
            </a:r>
            <a:r>
              <a:rPr lang="en" sz="1200">
                <a:solidFill>
                  <a:schemeClr val="dk1"/>
                </a:solidFill>
                <a:latin typeface="Calibri"/>
                <a:ea typeface="Calibri"/>
                <a:cs typeface="Calibri"/>
                <a:sym typeface="Calibri"/>
              </a:rPr>
              <a:t> at the same time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Mac computer</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Press </a:t>
            </a:r>
            <a:r>
              <a:rPr lang="en" sz="1200" b="1">
                <a:solidFill>
                  <a:schemeClr val="dk1"/>
                </a:solidFill>
                <a:latin typeface="Calibri"/>
                <a:ea typeface="Calibri"/>
                <a:cs typeface="Calibri"/>
                <a:sym typeface="Calibri"/>
              </a:rPr>
              <a:t>Command (⌘) + Shift + 4</a:t>
            </a:r>
            <a:r>
              <a:rPr lang="en" sz="1200">
                <a:solidFill>
                  <a:schemeClr val="dk1"/>
                </a:solidFill>
                <a:latin typeface="Calibri"/>
                <a:ea typeface="Calibri"/>
                <a:cs typeface="Calibri"/>
                <a:sym typeface="Calibri"/>
              </a:rPr>
              <a:t> at the same time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Chromebook</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Press </a:t>
            </a:r>
            <a:r>
              <a:rPr lang="en" sz="1200" b="1">
                <a:solidFill>
                  <a:schemeClr val="dk1"/>
                </a:solidFill>
                <a:latin typeface="Calibri"/>
                <a:ea typeface="Calibri"/>
                <a:cs typeface="Calibri"/>
                <a:sym typeface="Calibri"/>
              </a:rPr>
              <a:t>Ctrl + Shift + Show Windows</a:t>
            </a:r>
            <a:r>
              <a:rPr lang="en" sz="1200">
                <a:solidFill>
                  <a:schemeClr val="dk1"/>
                </a:solidFill>
                <a:latin typeface="Calibri"/>
                <a:ea typeface="Calibri"/>
                <a:cs typeface="Calibri"/>
                <a:sym typeface="Calibri"/>
              </a:rPr>
              <a:t> at the same time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baffec390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baffec390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Instructions to take a screenshot for students </a:t>
            </a:r>
            <a:r>
              <a:rPr lang="en" sz="1200" b="1">
                <a:solidFill>
                  <a:schemeClr val="dk1"/>
                </a:solidFill>
                <a:latin typeface="Calibri"/>
                <a:ea typeface="Calibri"/>
                <a:cs typeface="Calibri"/>
                <a:sym typeface="Calibri"/>
              </a:rPr>
              <a:t>slide 7</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Devices will differ in ways to take a snapshot.</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Windows computer </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Press </a:t>
            </a:r>
            <a:r>
              <a:rPr lang="en" sz="1200" b="1">
                <a:solidFill>
                  <a:schemeClr val="dk1"/>
                </a:solidFill>
                <a:latin typeface="Calibri"/>
                <a:ea typeface="Calibri"/>
                <a:cs typeface="Calibri"/>
                <a:sym typeface="Calibri"/>
              </a:rPr>
              <a:t>Window + Shift + S</a:t>
            </a:r>
            <a:r>
              <a:rPr lang="en" sz="1200">
                <a:solidFill>
                  <a:schemeClr val="dk1"/>
                </a:solidFill>
                <a:latin typeface="Calibri"/>
                <a:ea typeface="Calibri"/>
                <a:cs typeface="Calibri"/>
                <a:sym typeface="Calibri"/>
              </a:rPr>
              <a:t> at the same time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Mac computer</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Press </a:t>
            </a:r>
            <a:r>
              <a:rPr lang="en" sz="1200" b="1">
                <a:solidFill>
                  <a:schemeClr val="dk1"/>
                </a:solidFill>
                <a:latin typeface="Calibri"/>
                <a:ea typeface="Calibri"/>
                <a:cs typeface="Calibri"/>
                <a:sym typeface="Calibri"/>
              </a:rPr>
              <a:t>Command (⌘) + Shift + 4</a:t>
            </a:r>
            <a:r>
              <a:rPr lang="en" sz="1200">
                <a:solidFill>
                  <a:schemeClr val="dk1"/>
                </a:solidFill>
                <a:latin typeface="Calibri"/>
                <a:ea typeface="Calibri"/>
                <a:cs typeface="Calibri"/>
                <a:sym typeface="Calibri"/>
              </a:rPr>
              <a:t> at the same time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Chromebook</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Press </a:t>
            </a:r>
            <a:r>
              <a:rPr lang="en" sz="1200" b="1">
                <a:solidFill>
                  <a:schemeClr val="dk1"/>
                </a:solidFill>
                <a:latin typeface="Calibri"/>
                <a:ea typeface="Calibri"/>
                <a:cs typeface="Calibri"/>
                <a:sym typeface="Calibri"/>
              </a:rPr>
              <a:t>Ctrl + Shift + Show Windows</a:t>
            </a:r>
            <a:r>
              <a:rPr lang="en" sz="1200">
                <a:solidFill>
                  <a:schemeClr val="dk1"/>
                </a:solidFill>
                <a:latin typeface="Calibri"/>
                <a:ea typeface="Calibri"/>
                <a:cs typeface="Calibri"/>
                <a:sym typeface="Calibri"/>
              </a:rPr>
              <a:t> at the same time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f66d715e6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f66d715e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8</a:t>
            </a:r>
            <a:r>
              <a:rPr lang="en" sz="1200">
                <a:solidFill>
                  <a:schemeClr val="dk1"/>
                </a:solidFill>
                <a:latin typeface="Calibri"/>
                <a:ea typeface="Calibri"/>
                <a:cs typeface="Calibri"/>
                <a:sym typeface="Calibri"/>
              </a:rPr>
              <a:t>. Remind students that they may use the student science communication product checklist as another helpful resource to ask the chatbot additional questions related to specific parts of their product: language and clarity, science accuracy, real-world and personal connections, structure, style and visuals, and audience engagement.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Provide students an example using the Lotería Game designed for middle school students would be to ask specific questions to improve its:</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AutoNum type="romanLcPeriod"/>
            </a:pPr>
            <a:r>
              <a:rPr lang="en" sz="1200" b="1">
                <a:solidFill>
                  <a:schemeClr val="dk1"/>
                </a:solidFill>
                <a:latin typeface="Calibri"/>
                <a:ea typeface="Calibri"/>
                <a:cs typeface="Calibri"/>
                <a:sym typeface="Calibri"/>
              </a:rPr>
              <a:t>Structure:</a:t>
            </a:r>
            <a:r>
              <a:rPr lang="en" sz="1200">
                <a:solidFill>
                  <a:schemeClr val="dk1"/>
                </a:solidFill>
                <a:latin typeface="Calibri"/>
                <a:ea typeface="Calibri"/>
                <a:cs typeface="Calibri"/>
                <a:sym typeface="Calibri"/>
              </a:rPr>
              <a:t> Does it have a logical structure to play the game?</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AutoNum type="romanLcPeriod"/>
            </a:pPr>
            <a:r>
              <a:rPr lang="en" sz="1200" b="1">
                <a:solidFill>
                  <a:schemeClr val="dk1"/>
                </a:solidFill>
                <a:latin typeface="Calibri"/>
                <a:ea typeface="Calibri"/>
                <a:cs typeface="Calibri"/>
                <a:sym typeface="Calibri"/>
              </a:rPr>
              <a:t>Style and visuals: </a:t>
            </a:r>
            <a:r>
              <a:rPr lang="en" sz="1200">
                <a:solidFill>
                  <a:schemeClr val="dk1"/>
                </a:solidFill>
                <a:latin typeface="Calibri"/>
                <a:ea typeface="Calibri"/>
                <a:cs typeface="Calibri"/>
                <a:sym typeface="Calibri"/>
              </a:rPr>
              <a:t>Are there imagery, metaphors, or storytelling elements that could enhance the scientific content?</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b="1">
                <a:solidFill>
                  <a:schemeClr val="dk1"/>
                </a:solidFill>
                <a:latin typeface="Calibri"/>
                <a:ea typeface="Calibri"/>
                <a:cs typeface="Calibri"/>
                <a:sym typeface="Calibri"/>
              </a:rPr>
              <a:t>NOTE: </a:t>
            </a:r>
            <a:r>
              <a:rPr lang="en" b="1">
                <a:solidFill>
                  <a:srgbClr val="0000FF"/>
                </a:solidFill>
              </a:rPr>
              <a:t>Some past student products do not always have all science communication components, such as Loteria game does not explicitly make it clear that their is an audience engagement part. So, in your design, ask the chatbot how you can specifically address them.</a:t>
            </a:r>
            <a:endParaRPr b="1">
              <a:solidFill>
                <a:srgbClr val="0000FF"/>
              </a:solidFill>
            </a:endParaRPr>
          </a:p>
          <a:p>
            <a:pPr marL="914400" lvl="0" indent="0" algn="l" rtl="0">
              <a:spcBef>
                <a:spcPts val="0"/>
              </a:spcBef>
              <a:spcAft>
                <a:spcPts val="0"/>
              </a:spcAft>
              <a:buNone/>
            </a:pPr>
            <a:endParaRPr b="1">
              <a:solidFill>
                <a:srgbClr val="0000FF"/>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b6a2bfefc3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b6a2bfefc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9 </a:t>
            </a:r>
            <a:r>
              <a:rPr lang="en" sz="1200">
                <a:solidFill>
                  <a:schemeClr val="dk1"/>
                </a:solidFill>
                <a:latin typeface="Calibri"/>
                <a:ea typeface="Calibri"/>
                <a:cs typeface="Calibri"/>
                <a:sym typeface="Calibri"/>
              </a:rPr>
              <a:t>(similar to slide 5) so students can see the prompt template.</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a17da8669d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a17da8669d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10. </a:t>
            </a:r>
            <a:r>
              <a:rPr lang="en" sz="1200">
                <a:solidFill>
                  <a:schemeClr val="dk1"/>
                </a:solidFill>
                <a:latin typeface="Calibri"/>
                <a:ea typeface="Calibri"/>
                <a:cs typeface="Calibri"/>
                <a:sym typeface="Calibri"/>
              </a:rPr>
              <a:t>Invite student teams to discuss the chatbot’s responses to improve their science communication plan.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Science Journal p. 71</a:t>
            </a:r>
            <a:r>
              <a:rPr lang="en" sz="1200">
                <a:solidFill>
                  <a:schemeClr val="dk1"/>
                </a:solidFill>
                <a:latin typeface="Calibri"/>
                <a:ea typeface="Calibri"/>
                <a:cs typeface="Calibri"/>
                <a:sym typeface="Calibri"/>
              </a:rPr>
              <a:t> for reference.</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Students complete their individual science journal and respond to the questions: </a:t>
            </a:r>
            <a:r>
              <a:rPr lang="en" sz="1200" i="1">
                <a:solidFill>
                  <a:schemeClr val="dk1"/>
                </a:solidFill>
                <a:latin typeface="Calibri"/>
                <a:ea typeface="Calibri"/>
                <a:cs typeface="Calibri"/>
                <a:sym typeface="Calibri"/>
              </a:rPr>
              <a:t>What feedback about your science communication plan did you learn? Was there anything interesting or surprising?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4ac343a9b0_0_55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4ac343a9b0_0_5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with footer">
  <p:cSld name="ONE_COLUMN_TEXT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rmAutofit lnSpcReduction="1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rm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53" name="Google Shape;53;p13"/>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55" name="Google Shape;55;p1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hyperlink" Target="https://aiscicomm.vercel.app/"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idx="4294967295"/>
          </p:nvPr>
        </p:nvSpPr>
        <p:spPr>
          <a:xfrm>
            <a:off x="225911" y="668250"/>
            <a:ext cx="3741000" cy="227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800" b="1">
                <a:solidFill>
                  <a:srgbClr val="541900"/>
                </a:solidFill>
              </a:rPr>
              <a:t>Build a Chatbot to Test Our Message</a:t>
            </a:r>
            <a:endParaRPr sz="3800" b="1">
              <a:solidFill>
                <a:srgbClr val="541900"/>
              </a:solidFill>
            </a:endParaRPr>
          </a:p>
        </p:txBody>
      </p:sp>
      <p:sp>
        <p:nvSpPr>
          <p:cNvPr id="61" name="Google Shape;61;p14"/>
          <p:cNvSpPr txBox="1">
            <a:spLocks noGrp="1"/>
          </p:cNvSpPr>
          <p:nvPr>
            <p:ph type="body" idx="4294967295"/>
          </p:nvPr>
        </p:nvSpPr>
        <p:spPr>
          <a:xfrm>
            <a:off x="1914220" y="2571750"/>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1200"/>
              </a:spcAft>
              <a:buNone/>
            </a:pPr>
            <a:r>
              <a:rPr lang="en" sz="1200">
                <a:solidFill>
                  <a:srgbClr val="355E3B"/>
                </a:solidFill>
                <a:latin typeface="Arial"/>
                <a:ea typeface="Arial"/>
                <a:cs typeface="Arial"/>
                <a:sym typeface="Arial"/>
              </a:rPr>
              <a:t>Module </a:t>
            </a:r>
            <a:r>
              <a:rPr lang="en" sz="1200">
                <a:solidFill>
                  <a:srgbClr val="355E3B"/>
                </a:solidFill>
              </a:rPr>
              <a:t>4.3</a:t>
            </a:r>
            <a:endParaRPr sz="1200">
              <a:solidFill>
                <a:srgbClr val="355E3B"/>
              </a:solidFill>
              <a:latin typeface="Arial"/>
              <a:ea typeface="Arial"/>
              <a:cs typeface="Arial"/>
              <a:sym typeface="Arial"/>
            </a:endParaRPr>
          </a:p>
        </p:txBody>
      </p:sp>
      <p:sp>
        <p:nvSpPr>
          <p:cNvPr id="62" name="Google Shape;62;p14"/>
          <p:cNvSpPr txBox="1">
            <a:spLocks noGrp="1"/>
          </p:cNvSpPr>
          <p:nvPr>
            <p:ph type="body" idx="4294967295"/>
          </p:nvPr>
        </p:nvSpPr>
        <p:spPr>
          <a:xfrm>
            <a:off x="90599" y="4571275"/>
            <a:ext cx="4487400" cy="288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AISciComm | </a:t>
            </a:r>
            <a:r>
              <a:rPr lang="en" sz="1200">
                <a:solidFill>
                  <a:schemeClr val="dk1"/>
                </a:solidFill>
                <a:latin typeface="Arial"/>
                <a:ea typeface="Arial"/>
                <a:cs typeface="Arial"/>
                <a:sym typeface="Arial"/>
              </a:rPr>
              <a:t>Module</a:t>
            </a:r>
            <a:r>
              <a:rPr lang="en" sz="1200">
                <a:solidFill>
                  <a:schemeClr val="dk1"/>
                </a:solidFill>
              </a:rPr>
              <a:t>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a:t>
            </a:r>
            <a:endParaRPr sz="1200">
              <a:solidFill>
                <a:schemeClr val="dk1"/>
              </a:solidFill>
              <a:latin typeface="Arial"/>
              <a:ea typeface="Arial"/>
              <a:cs typeface="Arial"/>
              <a:sym typeface="Arial"/>
            </a:endParaRPr>
          </a:p>
        </p:txBody>
      </p:sp>
      <p:sp>
        <p:nvSpPr>
          <p:cNvPr id="63" name="Google Shape;63;p14"/>
          <p:cNvSpPr txBox="1"/>
          <p:nvPr/>
        </p:nvSpPr>
        <p:spPr>
          <a:xfrm>
            <a:off x="4723650" y="4489087"/>
            <a:ext cx="4444800" cy="37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595959"/>
                </a:solidFill>
              </a:rPr>
              <a:t>Source: Edweek. https://www.edweek.org/technology/what-is-age-appropriate-use-of-ai-4-developmental-stages-to-know-about/2024/02</a:t>
            </a:r>
            <a:endParaRPr sz="800" b="1">
              <a:solidFill>
                <a:srgbClr val="595959"/>
              </a:solidFill>
            </a:endParaRPr>
          </a:p>
        </p:txBody>
      </p:sp>
      <p:pic>
        <p:nvPicPr>
          <p:cNvPr id="64" name="Google Shape;64;p14"/>
          <p:cNvPicPr preferRelativeResize="0"/>
          <p:nvPr/>
        </p:nvPicPr>
        <p:blipFill>
          <a:blip r:embed="rId3">
            <a:alphaModFix/>
          </a:blip>
          <a:stretch>
            <a:fillRect/>
          </a:stretch>
        </p:blipFill>
        <p:spPr>
          <a:xfrm>
            <a:off x="4228806" y="571328"/>
            <a:ext cx="4718551" cy="31449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body" idx="4294967295"/>
          </p:nvPr>
        </p:nvSpPr>
        <p:spPr>
          <a:xfrm>
            <a:off x="235500" y="1360075"/>
            <a:ext cx="4521900" cy="2906400"/>
          </a:xfrm>
          <a:prstGeom prst="rect">
            <a:avLst/>
          </a:prstGeom>
        </p:spPr>
        <p:txBody>
          <a:bodyPr spcFirstLastPara="1" wrap="square" lIns="91425" tIns="91425" rIns="91425" bIns="91425" anchor="t" anchorCtr="0">
            <a:normAutofit lnSpcReduction="20000"/>
          </a:bodyPr>
          <a:lstStyle/>
          <a:p>
            <a:pPr marL="457200" lvl="0" indent="-355600" algn="l" rtl="0">
              <a:lnSpc>
                <a:spcPct val="100000"/>
              </a:lnSpc>
              <a:spcBef>
                <a:spcPts val="0"/>
              </a:spcBef>
              <a:spcAft>
                <a:spcPts val="0"/>
              </a:spcAft>
              <a:buClr>
                <a:srgbClr val="541900"/>
              </a:buClr>
              <a:buSzPts val="2000"/>
              <a:buChar char="●"/>
            </a:pPr>
            <a:r>
              <a:rPr lang="en" sz="2200">
                <a:solidFill>
                  <a:schemeClr val="dk1"/>
                </a:solidFill>
              </a:rPr>
              <a:t>What aspects of our target audience do we want to simulate, so that we can test our messages?</a:t>
            </a:r>
            <a:endParaRPr sz="2200">
              <a:solidFill>
                <a:schemeClr val="dk1"/>
              </a:solidFill>
            </a:endParaRPr>
          </a:p>
          <a:p>
            <a:pPr marL="914400" lvl="1" indent="-368300" algn="l" rtl="0">
              <a:lnSpc>
                <a:spcPct val="100000"/>
              </a:lnSpc>
              <a:spcBef>
                <a:spcPts val="0"/>
              </a:spcBef>
              <a:spcAft>
                <a:spcPts val="0"/>
              </a:spcAft>
              <a:buClr>
                <a:schemeClr val="dk1"/>
              </a:buClr>
              <a:buSzPts val="2200"/>
              <a:buChar char="○"/>
            </a:pPr>
            <a:r>
              <a:rPr lang="en" sz="2200">
                <a:solidFill>
                  <a:schemeClr val="dk1"/>
                </a:solidFill>
              </a:rPr>
              <a:t>For example, is it their background (age, gender, occupation), interests, motivation, or values they associate with the ocean, etc?</a:t>
            </a:r>
            <a:endParaRPr sz="2200">
              <a:solidFill>
                <a:schemeClr val="dk1"/>
              </a:solidFill>
            </a:endParaRPr>
          </a:p>
        </p:txBody>
      </p:sp>
      <p:sp>
        <p:nvSpPr>
          <p:cNvPr id="70" name="Google Shape;70;p15"/>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a:t>
            </a:r>
            <a:endParaRPr sz="1200">
              <a:solidFill>
                <a:schemeClr val="dk1"/>
              </a:solidFill>
              <a:latin typeface="Arial"/>
              <a:ea typeface="Arial"/>
              <a:cs typeface="Arial"/>
              <a:sym typeface="Arial"/>
            </a:endParaRPr>
          </a:p>
        </p:txBody>
      </p:sp>
      <p:pic>
        <p:nvPicPr>
          <p:cNvPr id="71" name="Google Shape;71;p15"/>
          <p:cNvPicPr preferRelativeResize="0"/>
          <p:nvPr/>
        </p:nvPicPr>
        <p:blipFill>
          <a:blip r:embed="rId3">
            <a:alphaModFix/>
          </a:blip>
          <a:stretch>
            <a:fillRect/>
          </a:stretch>
        </p:blipFill>
        <p:spPr>
          <a:xfrm>
            <a:off x="4909800" y="469600"/>
            <a:ext cx="4081800" cy="2587263"/>
          </a:xfrm>
          <a:prstGeom prst="rect">
            <a:avLst/>
          </a:prstGeom>
          <a:noFill/>
          <a:ln>
            <a:noFill/>
          </a:ln>
        </p:spPr>
      </p:pic>
      <p:sp>
        <p:nvSpPr>
          <p:cNvPr id="72" name="Google Shape;72;p15"/>
          <p:cNvSpPr txBox="1"/>
          <p:nvPr/>
        </p:nvSpPr>
        <p:spPr>
          <a:xfrm>
            <a:off x="4909800" y="3111400"/>
            <a:ext cx="4258800" cy="37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595959"/>
                </a:solidFill>
              </a:rPr>
              <a:t>Illustrative image. Community garden cleanup, Lynwood, CA. Source: https://www.lynwoodca.gov/CivicAlerts.aspx?AID=78&amp;ARC=113</a:t>
            </a:r>
            <a:endParaRPr sz="800" b="1">
              <a:solidFill>
                <a:srgbClr val="595959"/>
              </a:solidFill>
            </a:endParaRPr>
          </a:p>
        </p:txBody>
      </p:sp>
      <p:sp>
        <p:nvSpPr>
          <p:cNvPr id="73" name="Google Shape;73;p15"/>
          <p:cNvSpPr txBox="1"/>
          <p:nvPr/>
        </p:nvSpPr>
        <p:spPr>
          <a:xfrm>
            <a:off x="311700" y="234088"/>
            <a:ext cx="3866700" cy="84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Brainstorm</a:t>
            </a:r>
            <a:endParaRPr sz="4500" b="1">
              <a:solidFill>
                <a:srgbClr val="5419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7"/>
        <p:cNvGrpSpPr/>
        <p:nvPr/>
      </p:nvGrpSpPr>
      <p:grpSpPr>
        <a:xfrm>
          <a:off x="0" y="0"/>
          <a:ext cx="0" cy="0"/>
          <a:chOff x="0" y="0"/>
          <a:chExt cx="0" cy="0"/>
        </a:xfrm>
      </p:grpSpPr>
      <p:sp>
        <p:nvSpPr>
          <p:cNvPr id="78" name="Google Shape;78;p16"/>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3</a:t>
            </a:r>
            <a:endParaRPr sz="1200">
              <a:solidFill>
                <a:schemeClr val="dk1"/>
              </a:solidFill>
              <a:latin typeface="Arial"/>
              <a:ea typeface="Arial"/>
              <a:cs typeface="Arial"/>
              <a:sym typeface="Arial"/>
            </a:endParaRPr>
          </a:p>
        </p:txBody>
      </p:sp>
      <p:sp>
        <p:nvSpPr>
          <p:cNvPr id="79" name="Google Shape;79;p16"/>
          <p:cNvSpPr txBox="1"/>
          <p:nvPr/>
        </p:nvSpPr>
        <p:spPr>
          <a:xfrm>
            <a:off x="311700" y="18305"/>
            <a:ext cx="8520600" cy="84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Prompt Example</a:t>
            </a:r>
            <a:endParaRPr sz="4500" b="1">
              <a:solidFill>
                <a:srgbClr val="541900"/>
              </a:solidFill>
            </a:endParaRPr>
          </a:p>
        </p:txBody>
      </p:sp>
      <p:sp>
        <p:nvSpPr>
          <p:cNvPr id="80" name="Google Shape;80;p16"/>
          <p:cNvSpPr/>
          <p:nvPr/>
        </p:nvSpPr>
        <p:spPr>
          <a:xfrm>
            <a:off x="454188" y="1317642"/>
            <a:ext cx="1479600" cy="708000"/>
          </a:xfrm>
          <a:prstGeom prst="rect">
            <a:avLst/>
          </a:prstGeom>
          <a:solidFill>
            <a:srgbClr val="541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rPr>
              <a:t>Role</a:t>
            </a:r>
            <a:endParaRPr sz="1600">
              <a:solidFill>
                <a:schemeClr val="lt1"/>
              </a:solidFill>
            </a:endParaRPr>
          </a:p>
        </p:txBody>
      </p:sp>
      <p:sp>
        <p:nvSpPr>
          <p:cNvPr id="81" name="Google Shape;81;p16"/>
          <p:cNvSpPr txBox="1"/>
          <p:nvPr/>
        </p:nvSpPr>
        <p:spPr>
          <a:xfrm>
            <a:off x="2003834" y="1202447"/>
            <a:ext cx="6783900" cy="7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You are a construction worker who spends most of the day outdoors and cares about keeping your crew safe and comfortable in changing weather.</a:t>
            </a:r>
            <a:endParaRPr sz="1700">
              <a:solidFill>
                <a:schemeClr val="dk1"/>
              </a:solidFill>
            </a:endParaRPr>
          </a:p>
        </p:txBody>
      </p:sp>
      <p:sp>
        <p:nvSpPr>
          <p:cNvPr id="82" name="Google Shape;82;p16"/>
          <p:cNvSpPr/>
          <p:nvPr/>
        </p:nvSpPr>
        <p:spPr>
          <a:xfrm>
            <a:off x="454188" y="2129017"/>
            <a:ext cx="1479600" cy="581700"/>
          </a:xfrm>
          <a:prstGeom prst="rect">
            <a:avLst/>
          </a:prstGeom>
          <a:solidFill>
            <a:srgbClr val="541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rPr>
              <a:t>Task</a:t>
            </a:r>
            <a:endParaRPr sz="1600">
              <a:solidFill>
                <a:schemeClr val="lt1"/>
              </a:solidFill>
            </a:endParaRPr>
          </a:p>
        </p:txBody>
      </p:sp>
      <p:sp>
        <p:nvSpPr>
          <p:cNvPr id="83" name="Google Shape;83;p16"/>
          <p:cNvSpPr txBox="1"/>
          <p:nvPr/>
        </p:nvSpPr>
        <p:spPr>
          <a:xfrm>
            <a:off x="2000880" y="2040943"/>
            <a:ext cx="64698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t>You are talking with a high school student who is explaining how climate change affects local air quality and heat levels.</a:t>
            </a:r>
            <a:endParaRPr sz="1700"/>
          </a:p>
        </p:txBody>
      </p:sp>
      <p:sp>
        <p:nvSpPr>
          <p:cNvPr id="84" name="Google Shape;84;p16"/>
          <p:cNvSpPr/>
          <p:nvPr/>
        </p:nvSpPr>
        <p:spPr>
          <a:xfrm>
            <a:off x="454188" y="2779892"/>
            <a:ext cx="1479600" cy="708000"/>
          </a:xfrm>
          <a:prstGeom prst="rect">
            <a:avLst/>
          </a:prstGeom>
          <a:solidFill>
            <a:srgbClr val="541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rPr>
              <a:t>Background</a:t>
            </a:r>
            <a:endParaRPr sz="1600">
              <a:solidFill>
                <a:schemeClr val="lt1"/>
              </a:solidFill>
            </a:endParaRPr>
          </a:p>
        </p:txBody>
      </p:sp>
      <p:sp>
        <p:nvSpPr>
          <p:cNvPr id="85" name="Google Shape;85;p16"/>
          <p:cNvSpPr txBox="1"/>
          <p:nvPr/>
        </p:nvSpPr>
        <p:spPr>
          <a:xfrm>
            <a:off x="2024154" y="2668544"/>
            <a:ext cx="6469800" cy="9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t>You live in LA and notice hotter summers over the years. You are a high school graduate and have a lot of knowledge working in the field.</a:t>
            </a:r>
            <a:endParaRPr sz="1700"/>
          </a:p>
        </p:txBody>
      </p:sp>
      <p:sp>
        <p:nvSpPr>
          <p:cNvPr id="86" name="Google Shape;86;p16"/>
          <p:cNvSpPr/>
          <p:nvPr/>
        </p:nvSpPr>
        <p:spPr>
          <a:xfrm>
            <a:off x="454188" y="3582046"/>
            <a:ext cx="1479600" cy="848100"/>
          </a:xfrm>
          <a:prstGeom prst="rect">
            <a:avLst/>
          </a:prstGeom>
          <a:solidFill>
            <a:srgbClr val="541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rPr>
              <a:t>Constraints for the Conversation</a:t>
            </a:r>
            <a:endParaRPr sz="1600">
              <a:solidFill>
                <a:schemeClr val="lt1"/>
              </a:solidFill>
            </a:endParaRPr>
          </a:p>
        </p:txBody>
      </p:sp>
      <p:sp>
        <p:nvSpPr>
          <p:cNvPr id="87" name="Google Shape;87;p16"/>
          <p:cNvSpPr txBox="1"/>
          <p:nvPr/>
        </p:nvSpPr>
        <p:spPr>
          <a:xfrm>
            <a:off x="2035791" y="3547136"/>
            <a:ext cx="64698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t>Keep your responses short (2-3 sentences). Use informal language.</a:t>
            </a:r>
            <a:endParaRPr sz="1700"/>
          </a:p>
        </p:txBody>
      </p:sp>
      <p:sp>
        <p:nvSpPr>
          <p:cNvPr id="88" name="Google Shape;88;p16"/>
          <p:cNvSpPr txBox="1"/>
          <p:nvPr/>
        </p:nvSpPr>
        <p:spPr>
          <a:xfrm>
            <a:off x="347902" y="790672"/>
            <a:ext cx="8520300" cy="5052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000">
                <a:solidFill>
                  <a:srgbClr val="355E3B"/>
                </a:solidFill>
              </a:rPr>
              <a:t>Review the prompt example to get ideas for testing messages.</a:t>
            </a:r>
            <a:endParaRPr sz="2000">
              <a:solidFill>
                <a:srgbClr val="355E3B"/>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2"/>
        <p:cNvGrpSpPr/>
        <p:nvPr/>
      </p:nvGrpSpPr>
      <p:grpSpPr>
        <a:xfrm>
          <a:off x="0" y="0"/>
          <a:ext cx="0" cy="0"/>
          <a:chOff x="0" y="0"/>
          <a:chExt cx="0" cy="0"/>
        </a:xfrm>
      </p:grpSpPr>
      <p:sp>
        <p:nvSpPr>
          <p:cNvPr id="93" name="Google Shape;93;p17"/>
          <p:cNvSpPr txBox="1">
            <a:spLocks noGrp="1"/>
          </p:cNvSpPr>
          <p:nvPr>
            <p:ph type="body" idx="1"/>
          </p:nvPr>
        </p:nvSpPr>
        <p:spPr>
          <a:xfrm>
            <a:off x="311700" y="455095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4</a:t>
            </a:r>
            <a:endParaRPr sz="1200">
              <a:solidFill>
                <a:schemeClr val="dk1"/>
              </a:solidFill>
              <a:latin typeface="Arial"/>
              <a:ea typeface="Arial"/>
              <a:cs typeface="Arial"/>
              <a:sym typeface="Arial"/>
            </a:endParaRPr>
          </a:p>
        </p:txBody>
      </p:sp>
      <p:sp>
        <p:nvSpPr>
          <p:cNvPr id="94" name="Google Shape;94;p17"/>
          <p:cNvSpPr txBox="1"/>
          <p:nvPr/>
        </p:nvSpPr>
        <p:spPr>
          <a:xfrm>
            <a:off x="271060" y="15173"/>
            <a:ext cx="8520600" cy="84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Your Turn</a:t>
            </a:r>
            <a:endParaRPr sz="4500" b="1">
              <a:solidFill>
                <a:srgbClr val="541900"/>
              </a:solidFill>
            </a:endParaRPr>
          </a:p>
        </p:txBody>
      </p:sp>
      <p:sp>
        <p:nvSpPr>
          <p:cNvPr id="95" name="Google Shape;95;p17"/>
          <p:cNvSpPr/>
          <p:nvPr/>
        </p:nvSpPr>
        <p:spPr>
          <a:xfrm>
            <a:off x="516375" y="1683561"/>
            <a:ext cx="1407300" cy="486000"/>
          </a:xfrm>
          <a:prstGeom prst="rect">
            <a:avLst/>
          </a:prstGeom>
          <a:solidFill>
            <a:srgbClr val="541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lt1"/>
                </a:solidFill>
              </a:rPr>
              <a:t>Role</a:t>
            </a:r>
            <a:endParaRPr sz="1700">
              <a:solidFill>
                <a:schemeClr val="lt1"/>
              </a:solidFill>
            </a:endParaRPr>
          </a:p>
        </p:txBody>
      </p:sp>
      <p:sp>
        <p:nvSpPr>
          <p:cNvPr id="96" name="Google Shape;96;p17"/>
          <p:cNvSpPr/>
          <p:nvPr/>
        </p:nvSpPr>
        <p:spPr>
          <a:xfrm>
            <a:off x="516375" y="2300993"/>
            <a:ext cx="1407300" cy="848100"/>
          </a:xfrm>
          <a:prstGeom prst="rect">
            <a:avLst/>
          </a:prstGeom>
          <a:solidFill>
            <a:srgbClr val="541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lt1"/>
                </a:solidFill>
              </a:rPr>
              <a:t>Task</a:t>
            </a:r>
            <a:endParaRPr sz="1700">
              <a:solidFill>
                <a:schemeClr val="lt1"/>
              </a:solidFill>
            </a:endParaRPr>
          </a:p>
        </p:txBody>
      </p:sp>
      <p:sp>
        <p:nvSpPr>
          <p:cNvPr id="97" name="Google Shape;97;p17"/>
          <p:cNvSpPr/>
          <p:nvPr/>
        </p:nvSpPr>
        <p:spPr>
          <a:xfrm>
            <a:off x="516375" y="3229970"/>
            <a:ext cx="1407300" cy="708000"/>
          </a:xfrm>
          <a:prstGeom prst="rect">
            <a:avLst/>
          </a:prstGeom>
          <a:solidFill>
            <a:srgbClr val="541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lt1"/>
                </a:solidFill>
              </a:rPr>
              <a:t>Background</a:t>
            </a:r>
            <a:endParaRPr sz="1700">
              <a:solidFill>
                <a:schemeClr val="lt1"/>
              </a:solidFill>
            </a:endParaRPr>
          </a:p>
        </p:txBody>
      </p:sp>
      <p:sp>
        <p:nvSpPr>
          <p:cNvPr id="98" name="Google Shape;98;p17"/>
          <p:cNvSpPr/>
          <p:nvPr/>
        </p:nvSpPr>
        <p:spPr>
          <a:xfrm>
            <a:off x="516375" y="4026938"/>
            <a:ext cx="1407300" cy="431100"/>
          </a:xfrm>
          <a:prstGeom prst="rect">
            <a:avLst/>
          </a:prstGeom>
          <a:solidFill>
            <a:srgbClr val="541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lt1"/>
                </a:solidFill>
              </a:rPr>
              <a:t>Constraints</a:t>
            </a:r>
            <a:endParaRPr sz="1700">
              <a:solidFill>
                <a:schemeClr val="lt1"/>
              </a:solidFill>
            </a:endParaRPr>
          </a:p>
        </p:txBody>
      </p:sp>
      <p:sp>
        <p:nvSpPr>
          <p:cNvPr id="99" name="Google Shape;99;p17"/>
          <p:cNvSpPr txBox="1"/>
          <p:nvPr/>
        </p:nvSpPr>
        <p:spPr>
          <a:xfrm>
            <a:off x="394455" y="871946"/>
            <a:ext cx="8520300" cy="7425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000">
                <a:solidFill>
                  <a:srgbClr val="355E3B"/>
                </a:solidFill>
              </a:rPr>
              <a:t>Revisit the audience profile you worked on from Module 4.2. In your team, build the profile for your audience chatbot. </a:t>
            </a:r>
            <a:endParaRPr sz="2000">
              <a:solidFill>
                <a:srgbClr val="355E3B"/>
              </a:solidFill>
            </a:endParaRPr>
          </a:p>
        </p:txBody>
      </p:sp>
      <p:sp>
        <p:nvSpPr>
          <p:cNvPr id="100" name="Google Shape;100;p17"/>
          <p:cNvSpPr txBox="1"/>
          <p:nvPr/>
        </p:nvSpPr>
        <p:spPr>
          <a:xfrm>
            <a:off x="2014245" y="1588011"/>
            <a:ext cx="65814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dk1"/>
                </a:solidFill>
              </a:rPr>
              <a:t>What role will your chatbot play?</a:t>
            </a:r>
            <a:r>
              <a:rPr lang="en" sz="1700">
                <a:solidFill>
                  <a:schemeClr val="dk1"/>
                </a:solidFill>
              </a:rPr>
              <a:t> It could be another occupation (not already included in Module 3) or a local community figure.</a:t>
            </a:r>
            <a:endParaRPr sz="1700">
              <a:solidFill>
                <a:schemeClr val="dk1"/>
              </a:solidFill>
            </a:endParaRPr>
          </a:p>
        </p:txBody>
      </p:sp>
      <p:sp>
        <p:nvSpPr>
          <p:cNvPr id="101" name="Google Shape;101;p17"/>
          <p:cNvSpPr txBox="1"/>
          <p:nvPr/>
        </p:nvSpPr>
        <p:spPr>
          <a:xfrm>
            <a:off x="2014245" y="2230201"/>
            <a:ext cx="6768600" cy="9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dk1"/>
                </a:solidFill>
              </a:rPr>
              <a:t>What is the task that your chatbot should perform? </a:t>
            </a:r>
            <a:r>
              <a:rPr lang="en" sz="1700">
                <a:solidFill>
                  <a:schemeClr val="dk1"/>
                </a:solidFill>
              </a:rPr>
              <a:t>Examples: “critique my science communication plan”; “act as a conversational partner and ask me follow-up questions about my message”.</a:t>
            </a:r>
            <a:endParaRPr sz="1700">
              <a:solidFill>
                <a:schemeClr val="dk1"/>
              </a:solidFill>
            </a:endParaRPr>
          </a:p>
        </p:txBody>
      </p:sp>
      <p:sp>
        <p:nvSpPr>
          <p:cNvPr id="102" name="Google Shape;102;p17"/>
          <p:cNvSpPr txBox="1"/>
          <p:nvPr/>
        </p:nvSpPr>
        <p:spPr>
          <a:xfrm>
            <a:off x="1990971" y="3095405"/>
            <a:ext cx="6768600" cy="9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dk1"/>
                </a:solidFill>
              </a:rPr>
              <a:t>Who is your chatbot?</a:t>
            </a:r>
            <a:r>
              <a:rPr lang="en" sz="1700">
                <a:solidFill>
                  <a:schemeClr val="dk1"/>
                </a:solidFill>
              </a:rPr>
              <a:t> You can build this part based on your answers in lesson 4.2. Specify age, race/ethnicity, living experiences (urban, rural, coastal, etc).</a:t>
            </a:r>
            <a:endParaRPr sz="1700"/>
          </a:p>
        </p:txBody>
      </p:sp>
      <p:sp>
        <p:nvSpPr>
          <p:cNvPr id="103" name="Google Shape;103;p17"/>
          <p:cNvSpPr txBox="1"/>
          <p:nvPr/>
        </p:nvSpPr>
        <p:spPr>
          <a:xfrm>
            <a:off x="1990971" y="3882511"/>
            <a:ext cx="67686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dk1"/>
                </a:solidFill>
              </a:rPr>
              <a:t>Are there any constraints</a:t>
            </a:r>
            <a:r>
              <a:rPr lang="en" sz="1700">
                <a:solidFill>
                  <a:schemeClr val="dk1"/>
                </a:solidFill>
              </a:rPr>
              <a:t> for your chatbot? E.g., simplify the answer, answer in fewer than 100 words, etc.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7"/>
        <p:cNvGrpSpPr/>
        <p:nvPr/>
      </p:nvGrpSpPr>
      <p:grpSpPr>
        <a:xfrm>
          <a:off x="0" y="0"/>
          <a:ext cx="0" cy="0"/>
          <a:chOff x="0" y="0"/>
          <a:chExt cx="0" cy="0"/>
        </a:xfrm>
      </p:grpSpPr>
      <p:sp>
        <p:nvSpPr>
          <p:cNvPr id="108" name="Google Shape;108;p18"/>
          <p:cNvSpPr txBox="1">
            <a:spLocks noGrp="1"/>
          </p:cNvSpPr>
          <p:nvPr>
            <p:ph type="body" idx="1"/>
          </p:nvPr>
        </p:nvSpPr>
        <p:spPr>
          <a:xfrm>
            <a:off x="323345" y="673123"/>
            <a:ext cx="8569200" cy="512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700" dirty="0">
                <a:solidFill>
                  <a:srgbClr val="355E3B"/>
                </a:solidFill>
              </a:rPr>
              <a:t>In your project team, go to Module 4.3 </a:t>
            </a:r>
            <a:r>
              <a:rPr lang="en" sz="1700" dirty="0">
                <a:solidFill>
                  <a:srgbClr val="355E3A"/>
                </a:solidFill>
              </a:rPr>
              <a:t>science journal page 69. </a:t>
            </a:r>
            <a:r>
              <a:rPr lang="en" sz="1700" dirty="0">
                <a:solidFill>
                  <a:srgbClr val="355E3B"/>
                </a:solidFill>
              </a:rPr>
              <a:t>Test your message by filling in the bolded sections. You can use this template: </a:t>
            </a:r>
            <a:endParaRPr sz="1700" dirty="0">
              <a:solidFill>
                <a:srgbClr val="355E3B"/>
              </a:solidFill>
            </a:endParaRPr>
          </a:p>
        </p:txBody>
      </p:sp>
      <p:sp>
        <p:nvSpPr>
          <p:cNvPr id="109" name="Google Shape;109;p18"/>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5</a:t>
            </a:r>
            <a:endParaRPr sz="1200">
              <a:solidFill>
                <a:schemeClr val="dk1"/>
              </a:solidFill>
              <a:latin typeface="Arial"/>
              <a:ea typeface="Arial"/>
              <a:cs typeface="Arial"/>
              <a:sym typeface="Arial"/>
            </a:endParaRPr>
          </a:p>
        </p:txBody>
      </p:sp>
      <p:sp>
        <p:nvSpPr>
          <p:cNvPr id="110" name="Google Shape;110;p18"/>
          <p:cNvSpPr txBox="1"/>
          <p:nvPr/>
        </p:nvSpPr>
        <p:spPr>
          <a:xfrm>
            <a:off x="241879" y="-52016"/>
            <a:ext cx="8520600" cy="6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Test your Message</a:t>
            </a:r>
            <a:endParaRPr sz="4500" b="1">
              <a:solidFill>
                <a:srgbClr val="541900"/>
              </a:solidFill>
            </a:endParaRPr>
          </a:p>
        </p:txBody>
      </p:sp>
      <p:sp>
        <p:nvSpPr>
          <p:cNvPr id="111" name="Google Shape;111;p18"/>
          <p:cNvSpPr/>
          <p:nvPr/>
        </p:nvSpPr>
        <p:spPr>
          <a:xfrm>
            <a:off x="311700" y="1443080"/>
            <a:ext cx="8636630" cy="2870638"/>
          </a:xfrm>
          <a:prstGeom prst="rect">
            <a:avLst/>
          </a:prstGeom>
          <a:solidFill>
            <a:schemeClr val="lt2"/>
          </a:solidFill>
          <a:ln>
            <a:noFill/>
          </a:ln>
        </p:spPr>
        <p:txBody>
          <a:bodyPr spcFirstLastPara="1" wrap="square" lIns="91425" tIns="91425" rIns="91425" bIns="91425" anchor="ctr" anchorCtr="0">
            <a:noAutofit/>
          </a:bodyPr>
          <a:lstStyle/>
          <a:p>
            <a:pPr marL="0" lvl="0" indent="0" algn="l" rtl="0">
              <a:lnSpc>
                <a:spcPct val="115000"/>
              </a:lnSpc>
              <a:spcBef>
                <a:spcPts val="1000"/>
              </a:spcBef>
              <a:spcAft>
                <a:spcPts val="0"/>
              </a:spcAft>
              <a:buNone/>
            </a:pPr>
            <a:r>
              <a:rPr lang="en" sz="1700" dirty="0">
                <a:solidFill>
                  <a:schemeClr val="dk1"/>
                </a:solidFill>
              </a:rPr>
              <a:t>You are role-playing as {</a:t>
            </a:r>
            <a:r>
              <a:rPr lang="en" sz="1700" b="1" dirty="0">
                <a:solidFill>
                  <a:schemeClr val="dk1"/>
                </a:solidFill>
              </a:rPr>
              <a:t>character</a:t>
            </a:r>
            <a:r>
              <a:rPr lang="en" sz="1700" dirty="0">
                <a:solidFill>
                  <a:schemeClr val="dk1"/>
                </a:solidFill>
              </a:rPr>
              <a:t>}. Here are details about you: you will act as this role: {</a:t>
            </a:r>
            <a:r>
              <a:rPr lang="en" sz="1700" b="1" dirty="0">
                <a:solidFill>
                  <a:schemeClr val="dk1"/>
                </a:solidFill>
              </a:rPr>
              <a:t>role</a:t>
            </a:r>
            <a:r>
              <a:rPr lang="en" sz="1700" dirty="0">
                <a:solidFill>
                  <a:schemeClr val="dk1"/>
                </a:solidFill>
              </a:rPr>
              <a:t>}. In this task, I want you to {</a:t>
            </a:r>
            <a:r>
              <a:rPr lang="en" sz="1700" b="1" dirty="0">
                <a:solidFill>
                  <a:schemeClr val="dk1"/>
                </a:solidFill>
              </a:rPr>
              <a:t>provide task description</a:t>
            </a:r>
            <a:r>
              <a:rPr lang="en" sz="1700" dirty="0">
                <a:solidFill>
                  <a:schemeClr val="dk1"/>
                </a:solidFill>
              </a:rPr>
              <a:t>}. You will role-play as an individual with this background information: {</a:t>
            </a:r>
            <a:r>
              <a:rPr lang="en" sz="1700" b="1" dirty="0">
                <a:solidFill>
                  <a:schemeClr val="dk1"/>
                </a:solidFill>
              </a:rPr>
              <a:t>describe background, like age, race/ethnicity, living experiences, occupation</a:t>
            </a:r>
            <a:r>
              <a:rPr lang="en" sz="1700" dirty="0">
                <a:solidFill>
                  <a:schemeClr val="dk1"/>
                </a:solidFill>
              </a:rPr>
              <a:t>}. </a:t>
            </a:r>
            <a:endParaRPr sz="1700" dirty="0">
              <a:solidFill>
                <a:schemeClr val="dk1"/>
              </a:solidFill>
            </a:endParaRPr>
          </a:p>
          <a:p>
            <a:pPr marL="0" lvl="0" indent="0" algn="l" rtl="0">
              <a:lnSpc>
                <a:spcPct val="115000"/>
              </a:lnSpc>
              <a:spcBef>
                <a:spcPts val="1000"/>
              </a:spcBef>
              <a:spcAft>
                <a:spcPts val="0"/>
              </a:spcAft>
              <a:buNone/>
            </a:pPr>
            <a:r>
              <a:rPr lang="en" sz="1700" dirty="0">
                <a:solidFill>
                  <a:schemeClr val="dk1"/>
                </a:solidFill>
              </a:rPr>
              <a:t>Your response should have the following constraints: {</a:t>
            </a:r>
            <a:r>
              <a:rPr lang="en" sz="1700" b="1" dirty="0">
                <a:solidFill>
                  <a:schemeClr val="dk1"/>
                </a:solidFill>
              </a:rPr>
              <a:t>constraints</a:t>
            </a:r>
            <a:r>
              <a:rPr lang="en" sz="1700" dirty="0">
                <a:solidFill>
                  <a:schemeClr val="dk1"/>
                </a:solidFill>
              </a:rPr>
              <a:t>}. I will share details about a science communication product with you, and you will critique my plan from the perspective of this character. </a:t>
            </a:r>
            <a:endParaRPr sz="1700" dirty="0">
              <a:solidFill>
                <a:schemeClr val="dk1"/>
              </a:solidFill>
            </a:endParaRPr>
          </a:p>
          <a:p>
            <a:pPr marL="0" lvl="0" indent="0" algn="l" rtl="0">
              <a:lnSpc>
                <a:spcPct val="115000"/>
              </a:lnSpc>
              <a:spcBef>
                <a:spcPts val="1000"/>
              </a:spcBef>
              <a:spcAft>
                <a:spcPts val="0"/>
              </a:spcAft>
              <a:buNone/>
            </a:pPr>
            <a:r>
              <a:rPr lang="en" sz="1700" dirty="0">
                <a:solidFill>
                  <a:schemeClr val="dk1"/>
                </a:solidFill>
              </a:rPr>
              <a:t>Here is my product type: {</a:t>
            </a:r>
            <a:r>
              <a:rPr lang="en" sz="1700" b="1" dirty="0">
                <a:solidFill>
                  <a:schemeClr val="dk1"/>
                </a:solidFill>
              </a:rPr>
              <a:t>product type, like a social media post, board game, or infographic</a:t>
            </a:r>
            <a:r>
              <a:rPr lang="en" sz="1700" dirty="0">
                <a:solidFill>
                  <a:schemeClr val="dk1"/>
                </a:solidFill>
              </a:rPr>
              <a:t>}. Here is my science communication plan: {</a:t>
            </a:r>
            <a:r>
              <a:rPr lang="en" sz="1700" b="1" dirty="0">
                <a:solidFill>
                  <a:schemeClr val="dk1"/>
                </a:solidFill>
              </a:rPr>
              <a:t>plan</a:t>
            </a:r>
            <a:r>
              <a:rPr lang="en" sz="1700" dirty="0">
                <a:solidFill>
                  <a:schemeClr val="dk1"/>
                </a:solidFill>
              </a:rPr>
              <a:t>}. What do you think about this plan? Ask me questions about what is unclear or can be improved about my plan.</a:t>
            </a:r>
            <a:endParaRPr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5"/>
        <p:cNvGrpSpPr/>
        <p:nvPr/>
      </p:nvGrpSpPr>
      <p:grpSpPr>
        <a:xfrm>
          <a:off x="0" y="0"/>
          <a:ext cx="0" cy="0"/>
          <a:chOff x="0" y="0"/>
          <a:chExt cx="0" cy="0"/>
        </a:xfrm>
      </p:grpSpPr>
      <p:sp>
        <p:nvSpPr>
          <p:cNvPr id="116" name="Google Shape;116;p19"/>
          <p:cNvSpPr txBox="1">
            <a:spLocks noGrp="1"/>
          </p:cNvSpPr>
          <p:nvPr>
            <p:ph type="body" idx="1"/>
          </p:nvPr>
        </p:nvSpPr>
        <p:spPr>
          <a:xfrm>
            <a:off x="12882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6</a:t>
            </a:r>
            <a:endParaRPr sz="1200">
              <a:solidFill>
                <a:schemeClr val="dk1"/>
              </a:solidFill>
              <a:latin typeface="Arial"/>
              <a:ea typeface="Arial"/>
              <a:cs typeface="Arial"/>
              <a:sym typeface="Arial"/>
            </a:endParaRPr>
          </a:p>
        </p:txBody>
      </p:sp>
      <p:sp>
        <p:nvSpPr>
          <p:cNvPr id="117" name="Google Shape;117;p19"/>
          <p:cNvSpPr txBox="1"/>
          <p:nvPr/>
        </p:nvSpPr>
        <p:spPr>
          <a:xfrm>
            <a:off x="311700" y="110900"/>
            <a:ext cx="8520600" cy="6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rgbClr val="541900"/>
                </a:solidFill>
              </a:rPr>
              <a:t>Evaluate your Chatbot; Iterate on Prompts</a:t>
            </a:r>
            <a:endParaRPr sz="3000" b="1">
              <a:solidFill>
                <a:srgbClr val="541900"/>
              </a:solidFill>
            </a:endParaRPr>
          </a:p>
        </p:txBody>
      </p:sp>
      <p:pic>
        <p:nvPicPr>
          <p:cNvPr id="118" name="Google Shape;118;p19" title="Screenshot 2025-11-07 at 10.20.37 PM.png"/>
          <p:cNvPicPr preferRelativeResize="0"/>
          <p:nvPr/>
        </p:nvPicPr>
        <p:blipFill>
          <a:blip r:embed="rId3">
            <a:alphaModFix/>
          </a:blip>
          <a:stretch>
            <a:fillRect/>
          </a:stretch>
        </p:blipFill>
        <p:spPr>
          <a:xfrm>
            <a:off x="4047224" y="876863"/>
            <a:ext cx="5036898" cy="3670776"/>
          </a:xfrm>
          <a:prstGeom prst="rect">
            <a:avLst/>
          </a:prstGeom>
          <a:noFill/>
          <a:ln>
            <a:noFill/>
          </a:ln>
        </p:spPr>
      </p:pic>
      <p:sp>
        <p:nvSpPr>
          <p:cNvPr id="119" name="Google Shape;119;p19"/>
          <p:cNvSpPr txBox="1">
            <a:spLocks noGrp="1"/>
          </p:cNvSpPr>
          <p:nvPr>
            <p:ph type="body" idx="4294967295"/>
          </p:nvPr>
        </p:nvSpPr>
        <p:spPr>
          <a:xfrm>
            <a:off x="-60795" y="1130735"/>
            <a:ext cx="4179000" cy="3034200"/>
          </a:xfrm>
          <a:prstGeom prst="rect">
            <a:avLst/>
          </a:prstGeom>
        </p:spPr>
        <p:txBody>
          <a:bodyPr spcFirstLastPara="1" wrap="square" lIns="91425" tIns="91425" rIns="91425" bIns="91425" anchor="t" anchorCtr="0">
            <a:noAutofit/>
          </a:bodyPr>
          <a:lstStyle/>
          <a:p>
            <a:pPr marL="457200" lvl="0" indent="-327660" algn="l" rtl="0">
              <a:lnSpc>
                <a:spcPct val="90000"/>
              </a:lnSpc>
              <a:spcBef>
                <a:spcPts val="1000"/>
              </a:spcBef>
              <a:spcAft>
                <a:spcPts val="0"/>
              </a:spcAft>
              <a:buClr>
                <a:srgbClr val="541900"/>
              </a:buClr>
              <a:buSzPts val="1560"/>
              <a:buChar char="●"/>
            </a:pPr>
            <a:r>
              <a:rPr lang="en" sz="1700">
                <a:solidFill>
                  <a:schemeClr val="dk1"/>
                </a:solidFill>
              </a:rPr>
              <a:t>Is the chatbot’s response good? Reprompt so it can be more specific. </a:t>
            </a:r>
            <a:endParaRPr sz="1700">
              <a:solidFill>
                <a:schemeClr val="dk1"/>
              </a:solidFill>
            </a:endParaRPr>
          </a:p>
          <a:p>
            <a:pPr marL="457200" lvl="0" indent="-327660" algn="l" rtl="0">
              <a:lnSpc>
                <a:spcPct val="90000"/>
              </a:lnSpc>
              <a:spcBef>
                <a:spcPts val="1000"/>
              </a:spcBef>
              <a:spcAft>
                <a:spcPts val="0"/>
              </a:spcAft>
              <a:buClr>
                <a:srgbClr val="541900"/>
              </a:buClr>
              <a:buSzPts val="1560"/>
              <a:buChar char="●"/>
            </a:pPr>
            <a:r>
              <a:rPr lang="en" sz="1700">
                <a:solidFill>
                  <a:schemeClr val="dk1"/>
                </a:solidFill>
              </a:rPr>
              <a:t>After your initial message, you can ask follow-up questions to continue developing your science communication plan.</a:t>
            </a:r>
            <a:endParaRPr sz="1700">
              <a:solidFill>
                <a:schemeClr val="dk1"/>
              </a:solidFill>
            </a:endParaRPr>
          </a:p>
          <a:p>
            <a:pPr marL="457200" lvl="0" indent="-336550" algn="l" rtl="0">
              <a:lnSpc>
                <a:spcPct val="90000"/>
              </a:lnSpc>
              <a:spcBef>
                <a:spcPts val="1000"/>
              </a:spcBef>
              <a:spcAft>
                <a:spcPts val="0"/>
              </a:spcAft>
              <a:buClr>
                <a:schemeClr val="dk1"/>
              </a:buClr>
              <a:buSzPts val="1700"/>
              <a:buChar char="●"/>
            </a:pPr>
            <a:r>
              <a:rPr lang="en" sz="1700">
                <a:solidFill>
                  <a:schemeClr val="dk1"/>
                </a:solidFill>
              </a:rPr>
              <a:t>For example ask, “can you say more” or “how should we revise/simplify/improve our plan”?</a:t>
            </a:r>
            <a:endParaRPr sz="1700">
              <a:solidFill>
                <a:schemeClr val="dk1"/>
              </a:solidFill>
            </a:endParaRPr>
          </a:p>
          <a:p>
            <a:pPr marL="457200" lvl="0" indent="-336550" algn="l" rtl="0">
              <a:lnSpc>
                <a:spcPct val="90000"/>
              </a:lnSpc>
              <a:spcBef>
                <a:spcPts val="1000"/>
              </a:spcBef>
              <a:spcAft>
                <a:spcPts val="0"/>
              </a:spcAft>
              <a:buClr>
                <a:schemeClr val="dk1"/>
              </a:buClr>
              <a:buSzPts val="1700"/>
              <a:buChar char="●"/>
            </a:pPr>
            <a:r>
              <a:rPr lang="en" sz="1700">
                <a:solidFill>
                  <a:schemeClr val="dk1"/>
                </a:solidFill>
              </a:rPr>
              <a:t>Prepare to take screenshots of your conversation. </a:t>
            </a:r>
            <a:endParaRPr sz="1700">
              <a:solidFill>
                <a:schemeClr val="dk1"/>
              </a:solidFill>
            </a:endParaRPr>
          </a:p>
        </p:txBody>
      </p:sp>
      <p:sp>
        <p:nvSpPr>
          <p:cNvPr id="120" name="Google Shape;120;p19"/>
          <p:cNvSpPr txBox="1"/>
          <p:nvPr/>
        </p:nvSpPr>
        <p:spPr>
          <a:xfrm>
            <a:off x="4282400" y="4578025"/>
            <a:ext cx="4757700" cy="37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595959"/>
                </a:solidFill>
              </a:rPr>
              <a:t>An example conversation with a chatbot roleplaying as a construction worker who spends a lot of time outdoors.</a:t>
            </a:r>
            <a:endParaRPr sz="800" b="1">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4"/>
        <p:cNvGrpSpPr/>
        <p:nvPr/>
      </p:nvGrpSpPr>
      <p:grpSpPr>
        <a:xfrm>
          <a:off x="0" y="0"/>
          <a:ext cx="0" cy="0"/>
          <a:chOff x="0" y="0"/>
          <a:chExt cx="0" cy="0"/>
        </a:xfrm>
      </p:grpSpPr>
      <p:sp>
        <p:nvSpPr>
          <p:cNvPr id="125" name="Google Shape;125;p20"/>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4.3 Build a Chatbot to Test our Message</a:t>
            </a:r>
            <a:br>
              <a:rPr lang="en" sz="1200">
                <a:solidFill>
                  <a:schemeClr val="dk1"/>
                </a:solidFill>
              </a:rPr>
            </a:br>
            <a:r>
              <a:rPr lang="en" sz="1200">
                <a:solidFill>
                  <a:schemeClr val="dk1"/>
                </a:solidFill>
              </a:rPr>
              <a:t>Slide 7</a:t>
            </a:r>
            <a:endParaRPr sz="1200">
              <a:solidFill>
                <a:schemeClr val="dk1"/>
              </a:solidFill>
            </a:endParaRPr>
          </a:p>
        </p:txBody>
      </p:sp>
      <p:sp>
        <p:nvSpPr>
          <p:cNvPr id="126" name="Google Shape;126;p20"/>
          <p:cNvSpPr txBox="1"/>
          <p:nvPr/>
        </p:nvSpPr>
        <p:spPr>
          <a:xfrm>
            <a:off x="311700" y="1059725"/>
            <a:ext cx="8648400" cy="1251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2100">
                <a:solidFill>
                  <a:srgbClr val="355E3B"/>
                </a:solidFill>
              </a:rPr>
              <a:t>Take a moment to screenshot your chatbot conversation. Save this screenshot to your Google Drive. You may need to reference to conversation while revising your product. </a:t>
            </a:r>
            <a:endParaRPr sz="2100">
              <a:solidFill>
                <a:srgbClr val="355E3B"/>
              </a:solidFill>
            </a:endParaRPr>
          </a:p>
        </p:txBody>
      </p:sp>
      <p:sp>
        <p:nvSpPr>
          <p:cNvPr id="127" name="Google Shape;127;p20"/>
          <p:cNvSpPr txBox="1">
            <a:spLocks noGrp="1"/>
          </p:cNvSpPr>
          <p:nvPr>
            <p:ph type="title"/>
          </p:nvPr>
        </p:nvSpPr>
        <p:spPr>
          <a:xfrm>
            <a:off x="311700" y="445025"/>
            <a:ext cx="8648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400" b="1">
                <a:solidFill>
                  <a:srgbClr val="541900"/>
                </a:solidFill>
              </a:rPr>
              <a:t>Take and Save a Snapshot of Your Model</a:t>
            </a:r>
            <a:endParaRPr sz="3400" b="1">
              <a:solidFill>
                <a:srgbClr val="541900"/>
              </a:solidFill>
            </a:endParaRPr>
          </a:p>
        </p:txBody>
      </p:sp>
      <p:sp>
        <p:nvSpPr>
          <p:cNvPr id="128" name="Google Shape;128;p20"/>
          <p:cNvSpPr txBox="1"/>
          <p:nvPr/>
        </p:nvSpPr>
        <p:spPr>
          <a:xfrm>
            <a:off x="311700" y="2212150"/>
            <a:ext cx="8648400" cy="223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t>Devices will differ in ways to take a snapshot.</a:t>
            </a:r>
            <a:endParaRPr sz="1900"/>
          </a:p>
          <a:p>
            <a:pPr marL="457200" lvl="0" indent="-349250" algn="l" rtl="0">
              <a:spcBef>
                <a:spcPts val="0"/>
              </a:spcBef>
              <a:spcAft>
                <a:spcPts val="0"/>
              </a:spcAft>
              <a:buSzPts val="1900"/>
              <a:buChar char="●"/>
            </a:pPr>
            <a:r>
              <a:rPr lang="en" sz="1900"/>
              <a:t>If on a Windows computer </a:t>
            </a:r>
            <a:endParaRPr sz="1900"/>
          </a:p>
          <a:p>
            <a:pPr marL="914400" lvl="1" indent="-349250" algn="l" rtl="0">
              <a:spcBef>
                <a:spcPts val="0"/>
              </a:spcBef>
              <a:spcAft>
                <a:spcPts val="0"/>
              </a:spcAft>
              <a:buSzPts val="1900"/>
              <a:buFont typeface="Calibri"/>
              <a:buChar char="○"/>
            </a:pPr>
            <a:r>
              <a:rPr lang="en" sz="1900"/>
              <a:t>Press </a:t>
            </a:r>
            <a:r>
              <a:rPr lang="en" sz="1900" b="1"/>
              <a:t>Window + Shift + S</a:t>
            </a:r>
            <a:r>
              <a:rPr lang="en" sz="1900"/>
              <a:t> at the same time</a:t>
            </a:r>
            <a:endParaRPr sz="1900"/>
          </a:p>
          <a:p>
            <a:pPr marL="457200" lvl="0" indent="-349250" algn="l" rtl="0">
              <a:spcBef>
                <a:spcPts val="0"/>
              </a:spcBef>
              <a:spcAft>
                <a:spcPts val="0"/>
              </a:spcAft>
              <a:buSzPts val="1900"/>
              <a:buChar char="●"/>
            </a:pPr>
            <a:r>
              <a:rPr lang="en" sz="1900"/>
              <a:t>If on a Mac computer</a:t>
            </a:r>
            <a:endParaRPr sz="1900"/>
          </a:p>
          <a:p>
            <a:pPr marL="914400" lvl="1" indent="-349250" algn="l" rtl="0">
              <a:spcBef>
                <a:spcPts val="0"/>
              </a:spcBef>
              <a:spcAft>
                <a:spcPts val="0"/>
              </a:spcAft>
              <a:buSzPts val="1900"/>
              <a:buFont typeface="Calibri"/>
              <a:buChar char="○"/>
            </a:pPr>
            <a:r>
              <a:rPr lang="en" sz="1900"/>
              <a:t>Press </a:t>
            </a:r>
            <a:r>
              <a:rPr lang="en" sz="1900" b="1"/>
              <a:t>Command (⌘) + Shift + 4</a:t>
            </a:r>
            <a:r>
              <a:rPr lang="en" sz="1900"/>
              <a:t> at the same time</a:t>
            </a:r>
            <a:endParaRPr sz="1900"/>
          </a:p>
          <a:p>
            <a:pPr marL="457200" lvl="0" indent="-349250" algn="l" rtl="0">
              <a:spcBef>
                <a:spcPts val="0"/>
              </a:spcBef>
              <a:spcAft>
                <a:spcPts val="0"/>
              </a:spcAft>
              <a:buSzPts val="1900"/>
              <a:buChar char="●"/>
            </a:pPr>
            <a:r>
              <a:rPr lang="en" sz="1900"/>
              <a:t>If on a Chromebook</a:t>
            </a:r>
            <a:endParaRPr sz="1900"/>
          </a:p>
          <a:p>
            <a:pPr marL="914400" lvl="1" indent="-349250" algn="l" rtl="0">
              <a:spcBef>
                <a:spcPts val="0"/>
              </a:spcBef>
              <a:spcAft>
                <a:spcPts val="0"/>
              </a:spcAft>
              <a:buSzPts val="1900"/>
              <a:buFont typeface="Calibri"/>
              <a:buChar char="○"/>
            </a:pPr>
            <a:r>
              <a:rPr lang="en" sz="1900"/>
              <a:t>Press </a:t>
            </a:r>
            <a:r>
              <a:rPr lang="en" sz="1900" b="1"/>
              <a:t>Ctrl + Shift + Show Windows</a:t>
            </a:r>
            <a:r>
              <a:rPr lang="en" sz="1900"/>
              <a:t> at the same time</a:t>
            </a:r>
            <a:endParaRPr sz="22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2"/>
        <p:cNvGrpSpPr/>
        <p:nvPr/>
      </p:nvGrpSpPr>
      <p:grpSpPr>
        <a:xfrm>
          <a:off x="0" y="0"/>
          <a:ext cx="0" cy="0"/>
          <a:chOff x="0" y="0"/>
          <a:chExt cx="0" cy="0"/>
        </a:xfrm>
      </p:grpSpPr>
      <p:sp>
        <p:nvSpPr>
          <p:cNvPr id="133" name="Google Shape;133;p21"/>
          <p:cNvSpPr txBox="1">
            <a:spLocks noGrp="1"/>
          </p:cNvSpPr>
          <p:nvPr>
            <p:ph type="body" idx="1"/>
          </p:nvPr>
        </p:nvSpPr>
        <p:spPr>
          <a:xfrm>
            <a:off x="12882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8</a:t>
            </a:r>
            <a:endParaRPr sz="1200">
              <a:solidFill>
                <a:schemeClr val="dk1"/>
              </a:solidFill>
              <a:latin typeface="Arial"/>
              <a:ea typeface="Arial"/>
              <a:cs typeface="Arial"/>
              <a:sym typeface="Arial"/>
            </a:endParaRPr>
          </a:p>
        </p:txBody>
      </p:sp>
      <p:sp>
        <p:nvSpPr>
          <p:cNvPr id="134" name="Google Shape;134;p21"/>
          <p:cNvSpPr txBox="1"/>
          <p:nvPr/>
        </p:nvSpPr>
        <p:spPr>
          <a:xfrm>
            <a:off x="311700" y="110900"/>
            <a:ext cx="8520600" cy="6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b="1">
                <a:solidFill>
                  <a:srgbClr val="541900"/>
                </a:solidFill>
              </a:rPr>
              <a:t>Ask Additional Questions</a:t>
            </a:r>
            <a:endParaRPr sz="2600" b="1">
              <a:solidFill>
                <a:srgbClr val="541900"/>
              </a:solidFill>
            </a:endParaRPr>
          </a:p>
        </p:txBody>
      </p:sp>
      <p:sp>
        <p:nvSpPr>
          <p:cNvPr id="135" name="Google Shape;135;p21"/>
          <p:cNvSpPr txBox="1">
            <a:spLocks noGrp="1"/>
          </p:cNvSpPr>
          <p:nvPr>
            <p:ph type="body" idx="4294967295"/>
          </p:nvPr>
        </p:nvSpPr>
        <p:spPr>
          <a:xfrm>
            <a:off x="95825" y="766701"/>
            <a:ext cx="4179000" cy="12963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r>
              <a:rPr lang="en" sz="2000">
                <a:solidFill>
                  <a:srgbClr val="355E3B"/>
                </a:solidFill>
              </a:rPr>
              <a:t>Using your </a:t>
            </a:r>
            <a:r>
              <a:rPr lang="en" sz="2000" b="1">
                <a:solidFill>
                  <a:srgbClr val="355E3B"/>
                </a:solidFill>
              </a:rPr>
              <a:t>student checklist</a:t>
            </a:r>
            <a:r>
              <a:rPr lang="en" sz="2000">
                <a:solidFill>
                  <a:srgbClr val="355E3B"/>
                </a:solidFill>
              </a:rPr>
              <a:t>, you may ask the chatbot additional questions related to specific parts of your product.</a:t>
            </a:r>
            <a:endParaRPr sz="1400">
              <a:solidFill>
                <a:srgbClr val="355E3B"/>
              </a:solidFill>
            </a:endParaRPr>
          </a:p>
          <a:p>
            <a:pPr marL="0" lvl="0" indent="0" algn="l" rtl="0">
              <a:lnSpc>
                <a:spcPct val="90000"/>
              </a:lnSpc>
              <a:spcBef>
                <a:spcPts val="1000"/>
              </a:spcBef>
              <a:spcAft>
                <a:spcPts val="0"/>
              </a:spcAft>
              <a:buNone/>
            </a:pPr>
            <a:endParaRPr sz="1700">
              <a:solidFill>
                <a:schemeClr val="dk1"/>
              </a:solidFill>
            </a:endParaRPr>
          </a:p>
        </p:txBody>
      </p:sp>
      <p:pic>
        <p:nvPicPr>
          <p:cNvPr id="136" name="Google Shape;136;p21" title="Screenshot 2026-07-28 at 9.37.13 AM.png"/>
          <p:cNvPicPr preferRelativeResize="0"/>
          <p:nvPr/>
        </p:nvPicPr>
        <p:blipFill>
          <a:blip r:embed="rId3">
            <a:alphaModFix/>
          </a:blip>
          <a:stretch>
            <a:fillRect/>
          </a:stretch>
        </p:blipFill>
        <p:spPr>
          <a:xfrm>
            <a:off x="5068900" y="0"/>
            <a:ext cx="3952995" cy="5143500"/>
          </a:xfrm>
          <a:prstGeom prst="rect">
            <a:avLst/>
          </a:prstGeom>
          <a:noFill/>
          <a:ln>
            <a:noFill/>
          </a:ln>
        </p:spPr>
      </p:pic>
      <p:pic>
        <p:nvPicPr>
          <p:cNvPr id="137" name="Google Shape;137;p21" title="Screenshot 2026-07-27 at 11.08.07 AM.png"/>
          <p:cNvPicPr preferRelativeResize="0"/>
          <p:nvPr/>
        </p:nvPicPr>
        <p:blipFill>
          <a:blip r:embed="rId4">
            <a:alphaModFix/>
          </a:blip>
          <a:stretch>
            <a:fillRect/>
          </a:stretch>
        </p:blipFill>
        <p:spPr>
          <a:xfrm>
            <a:off x="4166550" y="1300622"/>
            <a:ext cx="831201" cy="994651"/>
          </a:xfrm>
          <a:prstGeom prst="rect">
            <a:avLst/>
          </a:prstGeom>
          <a:noFill/>
          <a:ln>
            <a:noFill/>
          </a:ln>
        </p:spPr>
      </p:pic>
      <p:sp>
        <p:nvSpPr>
          <p:cNvPr id="138" name="Google Shape;138;p21"/>
          <p:cNvSpPr txBox="1"/>
          <p:nvPr/>
        </p:nvSpPr>
        <p:spPr>
          <a:xfrm>
            <a:off x="95825" y="2140075"/>
            <a:ext cx="4716900" cy="235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None/>
            </a:pPr>
            <a:r>
              <a:rPr lang="en" sz="1700" b="1" i="1">
                <a:solidFill>
                  <a:schemeClr val="dk1"/>
                </a:solidFill>
              </a:rPr>
              <a:t>Example:</a:t>
            </a:r>
            <a:r>
              <a:rPr lang="en" sz="1700">
                <a:solidFill>
                  <a:schemeClr val="dk1"/>
                </a:solidFill>
              </a:rPr>
              <a:t> Recall the Lotería Game</a:t>
            </a:r>
            <a:endParaRPr sz="1700">
              <a:solidFill>
                <a:schemeClr val="dk1"/>
              </a:solidFill>
            </a:endParaRPr>
          </a:p>
          <a:p>
            <a:pPr marL="0" lvl="0" indent="0" algn="l" rtl="0">
              <a:spcBef>
                <a:spcPts val="0"/>
              </a:spcBef>
              <a:spcAft>
                <a:spcPts val="0"/>
              </a:spcAft>
              <a:buNone/>
            </a:pPr>
            <a:r>
              <a:rPr lang="en" sz="1700">
                <a:solidFill>
                  <a:schemeClr val="dk1"/>
                </a:solidFill>
              </a:rPr>
              <a:t>Target Audience: </a:t>
            </a:r>
            <a:r>
              <a:rPr lang="en" sz="1700">
                <a:solidFill>
                  <a:srgbClr val="355E3B"/>
                </a:solidFill>
              </a:rPr>
              <a:t>Middle School Students</a:t>
            </a:r>
            <a:endParaRPr sz="1700" b="1">
              <a:solidFill>
                <a:schemeClr val="dk1"/>
              </a:solidFill>
            </a:endParaRPr>
          </a:p>
          <a:p>
            <a:pPr marL="0" lvl="0" indent="0" algn="l" rtl="0">
              <a:lnSpc>
                <a:spcPct val="90000"/>
              </a:lnSpc>
              <a:spcBef>
                <a:spcPts val="1000"/>
              </a:spcBef>
              <a:spcAft>
                <a:spcPts val="0"/>
              </a:spcAft>
              <a:buNone/>
            </a:pPr>
            <a:r>
              <a:rPr lang="en" sz="1700">
                <a:solidFill>
                  <a:schemeClr val="dk1"/>
                </a:solidFill>
              </a:rPr>
              <a:t>Questions to ask:</a:t>
            </a:r>
            <a:endParaRPr sz="1700">
              <a:solidFill>
                <a:schemeClr val="dk1"/>
              </a:solidFill>
            </a:endParaRPr>
          </a:p>
          <a:p>
            <a:pPr marL="0" lvl="0" indent="0" algn="l" rtl="0">
              <a:spcBef>
                <a:spcPts val="0"/>
              </a:spcBef>
              <a:spcAft>
                <a:spcPts val="0"/>
              </a:spcAft>
              <a:buNone/>
            </a:pPr>
            <a:r>
              <a:rPr lang="en" sz="1700" b="1">
                <a:solidFill>
                  <a:schemeClr val="dk1"/>
                </a:solidFill>
              </a:rPr>
              <a:t>Structure</a:t>
            </a:r>
            <a:r>
              <a:rPr lang="en" sz="1700">
                <a:solidFill>
                  <a:schemeClr val="dk1"/>
                </a:solidFill>
              </a:rPr>
              <a:t>: </a:t>
            </a:r>
            <a:r>
              <a:rPr lang="en" sz="1700">
                <a:solidFill>
                  <a:srgbClr val="355E3B"/>
                </a:solidFill>
              </a:rPr>
              <a:t>Does it have a logical structure to play the game?</a:t>
            </a:r>
            <a:endParaRPr sz="1700">
              <a:solidFill>
                <a:srgbClr val="355E3B"/>
              </a:solidFill>
            </a:endParaRPr>
          </a:p>
          <a:p>
            <a:pPr marL="0" lvl="0" indent="0" algn="l" rtl="0">
              <a:spcBef>
                <a:spcPts val="0"/>
              </a:spcBef>
              <a:spcAft>
                <a:spcPts val="0"/>
              </a:spcAft>
              <a:buNone/>
            </a:pPr>
            <a:r>
              <a:rPr lang="en" sz="1700" b="1">
                <a:solidFill>
                  <a:schemeClr val="dk1"/>
                </a:solidFill>
              </a:rPr>
              <a:t>Style and Visuals</a:t>
            </a:r>
            <a:r>
              <a:rPr lang="en" sz="1700">
                <a:solidFill>
                  <a:schemeClr val="dk1"/>
                </a:solidFill>
              </a:rPr>
              <a:t>: </a:t>
            </a:r>
            <a:r>
              <a:rPr lang="en" sz="1700">
                <a:solidFill>
                  <a:srgbClr val="355E3B"/>
                </a:solidFill>
              </a:rPr>
              <a:t>Are there imagery, metaphors, or storytelling elements that can enhance the scientific content?</a:t>
            </a:r>
            <a:endParaRPr sz="1700">
              <a:solidFill>
                <a:srgbClr val="355E3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2"/>
        <p:cNvGrpSpPr/>
        <p:nvPr/>
      </p:nvGrpSpPr>
      <p:grpSpPr>
        <a:xfrm>
          <a:off x="0" y="0"/>
          <a:ext cx="0" cy="0"/>
          <a:chOff x="0" y="0"/>
          <a:chExt cx="0" cy="0"/>
        </a:xfrm>
      </p:grpSpPr>
      <p:sp>
        <p:nvSpPr>
          <p:cNvPr id="143" name="Google Shape;143;p22"/>
          <p:cNvSpPr txBox="1">
            <a:spLocks noGrp="1"/>
          </p:cNvSpPr>
          <p:nvPr>
            <p:ph type="body" idx="1"/>
          </p:nvPr>
        </p:nvSpPr>
        <p:spPr>
          <a:xfrm>
            <a:off x="323350" y="673125"/>
            <a:ext cx="8661600" cy="512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700">
                <a:solidFill>
                  <a:srgbClr val="355E3B"/>
                </a:solidFill>
              </a:rPr>
              <a:t>In your project team, test your message with the chatbot (</a:t>
            </a:r>
            <a:r>
              <a:rPr lang="en" sz="1700" u="sng">
                <a:solidFill>
                  <a:schemeClr val="hlink"/>
                </a:solidFill>
                <a:hlinkClick r:id="rId3"/>
              </a:rPr>
              <a:t>https://aiscicomm.vercel.app/</a:t>
            </a:r>
            <a:r>
              <a:rPr lang="en" sz="1700">
                <a:solidFill>
                  <a:srgbClr val="355E3B"/>
                </a:solidFill>
              </a:rPr>
              <a:t>). You can use the template from your science journal. Take </a:t>
            </a:r>
            <a:r>
              <a:rPr lang="en" sz="1700" b="1">
                <a:solidFill>
                  <a:srgbClr val="355E3B"/>
                </a:solidFill>
              </a:rPr>
              <a:t>screenshots</a:t>
            </a:r>
            <a:r>
              <a:rPr lang="en" sz="1700">
                <a:solidFill>
                  <a:srgbClr val="355E3B"/>
                </a:solidFill>
              </a:rPr>
              <a:t> of the conversation. </a:t>
            </a:r>
            <a:endParaRPr sz="1700">
              <a:solidFill>
                <a:srgbClr val="355E3B"/>
              </a:solidFill>
            </a:endParaRPr>
          </a:p>
        </p:txBody>
      </p:sp>
      <p:sp>
        <p:nvSpPr>
          <p:cNvPr id="144" name="Google Shape;144;p22"/>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9</a:t>
            </a:r>
            <a:endParaRPr sz="1200">
              <a:solidFill>
                <a:schemeClr val="dk1"/>
              </a:solidFill>
              <a:latin typeface="Arial"/>
              <a:ea typeface="Arial"/>
              <a:cs typeface="Arial"/>
              <a:sym typeface="Arial"/>
            </a:endParaRPr>
          </a:p>
        </p:txBody>
      </p:sp>
      <p:sp>
        <p:nvSpPr>
          <p:cNvPr id="145" name="Google Shape;145;p22"/>
          <p:cNvSpPr txBox="1"/>
          <p:nvPr/>
        </p:nvSpPr>
        <p:spPr>
          <a:xfrm>
            <a:off x="241879" y="-52016"/>
            <a:ext cx="8520600" cy="6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Test your Message</a:t>
            </a:r>
            <a:endParaRPr sz="4500" b="1">
              <a:solidFill>
                <a:srgbClr val="541900"/>
              </a:solidFill>
            </a:endParaRPr>
          </a:p>
        </p:txBody>
      </p:sp>
      <p:sp>
        <p:nvSpPr>
          <p:cNvPr id="146" name="Google Shape;146;p22"/>
          <p:cNvSpPr/>
          <p:nvPr/>
        </p:nvSpPr>
        <p:spPr>
          <a:xfrm>
            <a:off x="316175" y="1812125"/>
            <a:ext cx="8520600" cy="2646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lnSpc>
                <a:spcPct val="115000"/>
              </a:lnSpc>
              <a:spcBef>
                <a:spcPts val="1000"/>
              </a:spcBef>
              <a:spcAft>
                <a:spcPts val="0"/>
              </a:spcAft>
              <a:buNone/>
            </a:pPr>
            <a:r>
              <a:rPr lang="en">
                <a:solidFill>
                  <a:schemeClr val="dk1"/>
                </a:solidFill>
              </a:rPr>
              <a:t>You are role-playing as {</a:t>
            </a:r>
            <a:r>
              <a:rPr lang="en" b="1">
                <a:solidFill>
                  <a:schemeClr val="dk1"/>
                </a:solidFill>
              </a:rPr>
              <a:t>character</a:t>
            </a:r>
            <a:r>
              <a:rPr lang="en">
                <a:solidFill>
                  <a:schemeClr val="dk1"/>
                </a:solidFill>
              </a:rPr>
              <a:t>}. Here are details about you: you will act as this role: {</a:t>
            </a:r>
            <a:r>
              <a:rPr lang="en" b="1">
                <a:solidFill>
                  <a:schemeClr val="dk1"/>
                </a:solidFill>
              </a:rPr>
              <a:t>role</a:t>
            </a:r>
            <a:r>
              <a:rPr lang="en">
                <a:solidFill>
                  <a:schemeClr val="dk1"/>
                </a:solidFill>
              </a:rPr>
              <a:t>}. In this task, I want you to {</a:t>
            </a:r>
            <a:r>
              <a:rPr lang="en" b="1">
                <a:solidFill>
                  <a:schemeClr val="dk1"/>
                </a:solidFill>
              </a:rPr>
              <a:t>provide task description</a:t>
            </a:r>
            <a:r>
              <a:rPr lang="en">
                <a:solidFill>
                  <a:schemeClr val="dk1"/>
                </a:solidFill>
              </a:rPr>
              <a:t>}. You will role-play as an individual with this background information: {</a:t>
            </a:r>
            <a:r>
              <a:rPr lang="en" b="1">
                <a:solidFill>
                  <a:schemeClr val="dk1"/>
                </a:solidFill>
              </a:rPr>
              <a:t>describe background, like age, race/ethnicity, living experiences, occupation</a:t>
            </a:r>
            <a:r>
              <a:rPr lang="en">
                <a:solidFill>
                  <a:schemeClr val="dk1"/>
                </a:solidFill>
              </a:rPr>
              <a:t>}. </a:t>
            </a:r>
            <a:endParaRPr>
              <a:solidFill>
                <a:schemeClr val="dk1"/>
              </a:solidFill>
            </a:endParaRPr>
          </a:p>
          <a:p>
            <a:pPr marL="0" lvl="0" indent="0" algn="l" rtl="0">
              <a:lnSpc>
                <a:spcPct val="115000"/>
              </a:lnSpc>
              <a:spcBef>
                <a:spcPts val="1000"/>
              </a:spcBef>
              <a:spcAft>
                <a:spcPts val="0"/>
              </a:spcAft>
              <a:buNone/>
            </a:pPr>
            <a:r>
              <a:rPr lang="en">
                <a:solidFill>
                  <a:schemeClr val="dk1"/>
                </a:solidFill>
              </a:rPr>
              <a:t>Your response should have the following constraints: {</a:t>
            </a:r>
            <a:r>
              <a:rPr lang="en" b="1">
                <a:solidFill>
                  <a:schemeClr val="dk1"/>
                </a:solidFill>
              </a:rPr>
              <a:t>constraints</a:t>
            </a:r>
            <a:r>
              <a:rPr lang="en">
                <a:solidFill>
                  <a:schemeClr val="dk1"/>
                </a:solidFill>
              </a:rPr>
              <a:t>}. I will share details about a science communication product with you, and you will critique my plan from the perspective of this character. </a:t>
            </a:r>
            <a:endParaRPr>
              <a:solidFill>
                <a:schemeClr val="dk1"/>
              </a:solidFill>
            </a:endParaRPr>
          </a:p>
          <a:p>
            <a:pPr marL="0" lvl="0" indent="0" algn="l" rtl="0">
              <a:lnSpc>
                <a:spcPct val="115000"/>
              </a:lnSpc>
              <a:spcBef>
                <a:spcPts val="1000"/>
              </a:spcBef>
              <a:spcAft>
                <a:spcPts val="0"/>
              </a:spcAft>
              <a:buNone/>
            </a:pPr>
            <a:r>
              <a:rPr lang="en">
                <a:solidFill>
                  <a:schemeClr val="dk1"/>
                </a:solidFill>
              </a:rPr>
              <a:t>Here is my product type: {</a:t>
            </a:r>
            <a:r>
              <a:rPr lang="en" b="1">
                <a:solidFill>
                  <a:schemeClr val="dk1"/>
                </a:solidFill>
              </a:rPr>
              <a:t>product type, like a social media post, board game, or infographic</a:t>
            </a:r>
            <a:r>
              <a:rPr lang="en">
                <a:solidFill>
                  <a:schemeClr val="dk1"/>
                </a:solidFill>
              </a:rPr>
              <a:t>}. Here is my science communication plan: {</a:t>
            </a:r>
            <a:r>
              <a:rPr lang="en" b="1">
                <a:solidFill>
                  <a:schemeClr val="dk1"/>
                </a:solidFill>
              </a:rPr>
              <a:t>plan</a:t>
            </a:r>
            <a:r>
              <a:rPr lang="en">
                <a:solidFill>
                  <a:schemeClr val="dk1"/>
                </a:solidFill>
              </a:rPr>
              <a:t>}. What do you think about this plan? Ask me questions about what is unclear or can be improved about my plan.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50"/>
        <p:cNvGrpSpPr/>
        <p:nvPr/>
      </p:nvGrpSpPr>
      <p:grpSpPr>
        <a:xfrm>
          <a:off x="0" y="0"/>
          <a:ext cx="0" cy="0"/>
          <a:chOff x="0" y="0"/>
          <a:chExt cx="0" cy="0"/>
        </a:xfrm>
      </p:grpSpPr>
      <p:sp>
        <p:nvSpPr>
          <p:cNvPr id="151" name="Google Shape;151;p23"/>
          <p:cNvSpPr txBox="1">
            <a:spLocks noGrp="1"/>
          </p:cNvSpPr>
          <p:nvPr>
            <p:ph type="body" idx="1"/>
          </p:nvPr>
        </p:nvSpPr>
        <p:spPr>
          <a:xfrm>
            <a:off x="311700" y="932165"/>
            <a:ext cx="4543500" cy="924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dirty="0">
                <a:solidFill>
                  <a:srgbClr val="355E3B"/>
                </a:solidFill>
              </a:rPr>
              <a:t>Reflect on what you learned for module 4.3. Complete your </a:t>
            </a:r>
            <a:r>
              <a:rPr lang="en" sz="2000" dirty="0">
                <a:solidFill>
                  <a:schemeClr val="hlink"/>
                </a:solidFill>
              </a:rPr>
              <a:t>science journal for page 71.</a:t>
            </a:r>
            <a:endParaRPr sz="2000" dirty="0">
              <a:solidFill>
                <a:srgbClr val="355E3B"/>
              </a:solidFill>
            </a:endParaRPr>
          </a:p>
        </p:txBody>
      </p:sp>
      <p:sp>
        <p:nvSpPr>
          <p:cNvPr id="152" name="Google Shape;152;p23"/>
          <p:cNvSpPr txBox="1">
            <a:spLocks noGrp="1"/>
          </p:cNvSpPr>
          <p:nvPr>
            <p:ph type="title"/>
          </p:nvPr>
        </p:nvSpPr>
        <p:spPr>
          <a:xfrm>
            <a:off x="311700" y="22150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Reflect</a:t>
            </a:r>
            <a:endParaRPr sz="4200" b="1">
              <a:solidFill>
                <a:srgbClr val="541900"/>
              </a:solidFill>
            </a:endParaRPr>
          </a:p>
        </p:txBody>
      </p:sp>
      <p:sp>
        <p:nvSpPr>
          <p:cNvPr id="153" name="Google Shape;153;p23"/>
          <p:cNvSpPr txBox="1">
            <a:spLocks noGrp="1"/>
          </p:cNvSpPr>
          <p:nvPr>
            <p:ph type="body" idx="2"/>
          </p:nvPr>
        </p:nvSpPr>
        <p:spPr>
          <a:xfrm>
            <a:off x="311700" y="2120975"/>
            <a:ext cx="4584300" cy="2906400"/>
          </a:xfrm>
          <a:prstGeom prst="rect">
            <a:avLst/>
          </a:prstGeom>
        </p:spPr>
        <p:txBody>
          <a:bodyPr spcFirstLastPara="1" wrap="square" lIns="91425" tIns="91425" rIns="91425" bIns="91425" anchor="t" anchorCtr="0">
            <a:noAutofit/>
          </a:bodyPr>
          <a:lstStyle/>
          <a:p>
            <a:pPr marL="457200" lvl="0" indent="-304800" algn="l" rtl="0">
              <a:lnSpc>
                <a:spcPct val="100000"/>
              </a:lnSpc>
              <a:spcBef>
                <a:spcPts val="0"/>
              </a:spcBef>
              <a:spcAft>
                <a:spcPts val="0"/>
              </a:spcAft>
              <a:buClr>
                <a:schemeClr val="dk1"/>
              </a:buClr>
              <a:buSzPts val="1200"/>
              <a:buFont typeface="Arial"/>
              <a:buChar char="●"/>
            </a:pPr>
            <a:r>
              <a:rPr lang="en" sz="1200" dirty="0">
                <a:solidFill>
                  <a:schemeClr val="dk1"/>
                </a:solidFill>
              </a:rPr>
              <a:t>How did the chatbot respond to your message? </a:t>
            </a:r>
            <a:r>
              <a:rPr lang="en" sz="1200">
                <a:solidFill>
                  <a:schemeClr val="dk1"/>
                </a:solidFill>
              </a:rPr>
              <a:t>Was there anything surprising or interesting about the feedback you received?</a:t>
            </a:r>
            <a:br>
              <a:rPr lang="en" sz="1200">
                <a:solidFill>
                  <a:schemeClr val="dk1"/>
                </a:solidFill>
              </a:rPr>
            </a:br>
            <a:endParaRPr sz="1200" dirty="0">
              <a:solidFill>
                <a:schemeClr val="dk1"/>
              </a:solidFill>
            </a:endParaRPr>
          </a:p>
          <a:p>
            <a:pPr marL="457200" lvl="0" indent="-304800" algn="l" rtl="0">
              <a:lnSpc>
                <a:spcPct val="100000"/>
              </a:lnSpc>
              <a:spcBef>
                <a:spcPts val="0"/>
              </a:spcBef>
              <a:spcAft>
                <a:spcPts val="0"/>
              </a:spcAft>
              <a:buClr>
                <a:schemeClr val="dk1"/>
              </a:buClr>
              <a:buSzPts val="1200"/>
              <a:buFont typeface="Arial"/>
              <a:buChar char="●"/>
            </a:pPr>
            <a:r>
              <a:rPr lang="en" sz="1200" dirty="0">
                <a:solidFill>
                  <a:schemeClr val="dk1"/>
                </a:solidFill>
              </a:rPr>
              <a:t>What did you learn about your audience from this conversation? </a:t>
            </a:r>
            <a:br>
              <a:rPr lang="en" sz="1200" dirty="0">
                <a:solidFill>
                  <a:schemeClr val="dk1"/>
                </a:solidFill>
              </a:rPr>
            </a:br>
            <a:endParaRPr sz="1200" dirty="0">
              <a:solidFill>
                <a:schemeClr val="dk1"/>
              </a:solidFill>
            </a:endParaRPr>
          </a:p>
          <a:p>
            <a:pPr marL="457200" lvl="0" indent="-304800" algn="l" rtl="0">
              <a:lnSpc>
                <a:spcPct val="100000"/>
              </a:lnSpc>
              <a:spcBef>
                <a:spcPts val="0"/>
              </a:spcBef>
              <a:spcAft>
                <a:spcPts val="0"/>
              </a:spcAft>
              <a:buClr>
                <a:schemeClr val="dk1"/>
              </a:buClr>
              <a:buSzPts val="1200"/>
              <a:buFont typeface="Arial"/>
              <a:buChar char="●"/>
            </a:pPr>
            <a:r>
              <a:rPr lang="en" sz="1200" dirty="0">
                <a:solidFill>
                  <a:schemeClr val="dk1"/>
                </a:solidFill>
              </a:rPr>
              <a:t>Did this feedback make you think differently about how to communicate your science topic? How?</a:t>
            </a:r>
            <a:endParaRPr sz="1200" dirty="0">
              <a:solidFill>
                <a:schemeClr val="dk1"/>
              </a:solidFill>
            </a:endParaRPr>
          </a:p>
          <a:p>
            <a:pPr marL="0" lvl="0" indent="0" algn="l" rtl="0">
              <a:lnSpc>
                <a:spcPct val="100000"/>
              </a:lnSpc>
              <a:spcBef>
                <a:spcPts val="0"/>
              </a:spcBef>
              <a:spcAft>
                <a:spcPts val="0"/>
              </a:spcAft>
              <a:buNone/>
            </a:pPr>
            <a:endParaRPr sz="1200" dirty="0">
              <a:solidFill>
                <a:schemeClr val="dk1"/>
              </a:solidFill>
            </a:endParaRPr>
          </a:p>
          <a:p>
            <a:pPr marL="457200" lvl="0" indent="-304800" algn="l" rtl="0">
              <a:lnSpc>
                <a:spcPct val="100000"/>
              </a:lnSpc>
              <a:spcBef>
                <a:spcPts val="0"/>
              </a:spcBef>
              <a:spcAft>
                <a:spcPts val="0"/>
              </a:spcAft>
              <a:buClr>
                <a:schemeClr val="dk1"/>
              </a:buClr>
              <a:buSzPts val="1200"/>
              <a:buFont typeface="Arial"/>
              <a:buChar char="●"/>
            </a:pPr>
            <a:r>
              <a:rPr lang="en" sz="1200" dirty="0">
                <a:solidFill>
                  <a:schemeClr val="dk1"/>
                </a:solidFill>
              </a:rPr>
              <a:t>How might this chatbot experience be similar to or different from talking to a real person? How might you validate what the chatbot shared?</a:t>
            </a:r>
            <a:endParaRPr sz="1200" dirty="0">
              <a:solidFill>
                <a:schemeClr val="dk1"/>
              </a:solidFill>
            </a:endParaRPr>
          </a:p>
        </p:txBody>
      </p:sp>
      <p:pic>
        <p:nvPicPr>
          <p:cNvPr id="154" name="Google Shape;154;p23"/>
          <p:cNvPicPr preferRelativeResize="0"/>
          <p:nvPr/>
        </p:nvPicPr>
        <p:blipFill rotWithShape="1">
          <a:blip r:embed="rId3">
            <a:alphaModFix/>
          </a:blip>
          <a:srcRect l="40" t="23662" r="-40" b="4287"/>
          <a:stretch/>
        </p:blipFill>
        <p:spPr>
          <a:xfrm>
            <a:off x="4972050" y="0"/>
            <a:ext cx="4023150" cy="4361101"/>
          </a:xfrm>
          <a:prstGeom prst="rect">
            <a:avLst/>
          </a:prstGeom>
          <a:noFill/>
          <a:ln>
            <a:noFill/>
          </a:ln>
        </p:spPr>
      </p:pic>
      <p:sp>
        <p:nvSpPr>
          <p:cNvPr id="155" name="Google Shape;155;p23"/>
          <p:cNvSpPr txBox="1"/>
          <p:nvPr/>
        </p:nvSpPr>
        <p:spPr>
          <a:xfrm>
            <a:off x="4895850" y="4351075"/>
            <a:ext cx="4023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595959"/>
                </a:solidFill>
              </a:rPr>
              <a:t>Image created with ChatGPT</a:t>
            </a:r>
            <a:br>
              <a:rPr lang="en" sz="1000">
                <a:solidFill>
                  <a:srgbClr val="595959"/>
                </a:solidFill>
              </a:rPr>
            </a:br>
            <a:r>
              <a:rPr lang="en" sz="1000" i="1">
                <a:solidFill>
                  <a:srgbClr val="595959"/>
                </a:solidFill>
              </a:rPr>
              <a:t>Prompt: Create an image about SoCal beaches.</a:t>
            </a:r>
            <a:endParaRPr sz="1700" i="1">
              <a:solidFill>
                <a:srgbClr val="595959"/>
              </a:solidFill>
            </a:endParaRPr>
          </a:p>
        </p:txBody>
      </p:sp>
      <p:sp>
        <p:nvSpPr>
          <p:cNvPr id="156" name="Google Shape;156;p23"/>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4.3 Build a Chatbot to Test our Message</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10</a:t>
            </a:r>
            <a:endParaRPr sz="12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0"/>
        <p:cNvGrpSpPr/>
        <p:nvPr/>
      </p:nvGrpSpPr>
      <p:grpSpPr>
        <a:xfrm>
          <a:off x="0" y="0"/>
          <a:ext cx="0" cy="0"/>
          <a:chOff x="0" y="0"/>
          <a:chExt cx="0" cy="0"/>
        </a:xfrm>
      </p:grpSpPr>
      <p:sp>
        <p:nvSpPr>
          <p:cNvPr id="161" name="Google Shape;16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162" name="Google Shape;162;p24"/>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163" name="Google Shape;163;p24"/>
          <p:cNvSpPr txBox="1"/>
          <p:nvPr/>
        </p:nvSpPr>
        <p:spPr>
          <a:xfrm>
            <a:off x="318402" y="35634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 UNC</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164" name="Google Shape;164;p24"/>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165" name="Google Shape;165;p24"/>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166" name="Google Shape;166;p24"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167" name="Google Shape;167;p24"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168" name="Google Shape;168;p24"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2407</Words>
  <Application>Microsoft Macintosh PowerPoint</Application>
  <PresentationFormat>On-screen Show (16:9)</PresentationFormat>
  <Paragraphs>150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Simple Light</vt:lpstr>
      <vt:lpstr>Build a Chatbot to Test Our Message</vt:lpstr>
      <vt:lpstr>PowerPoint Presentation</vt:lpstr>
      <vt:lpstr>PowerPoint Presentation</vt:lpstr>
      <vt:lpstr>PowerPoint Presentation</vt:lpstr>
      <vt:lpstr>PowerPoint Presentation</vt:lpstr>
      <vt:lpstr>PowerPoint Presentation</vt:lpstr>
      <vt:lpstr>Take and Save a Snapshot of Your Model</vt:lpstr>
      <vt:lpstr>PowerPoint Presentation</vt:lpstr>
      <vt:lpstr>PowerPoint Presentation</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2</cp:revision>
  <dcterms:modified xsi:type="dcterms:W3CDTF">2026-08-20T17:22:41Z</dcterms:modified>
</cp:coreProperties>
</file>