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5E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6902C3E-1813-44F8-9D3A-19E2CB75772F}">
  <a:tblStyle styleId="{A6902C3E-1813-44F8-9D3A-19E2CB75772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2"/>
  </p:normalViewPr>
  <p:slideViewPr>
    <p:cSldViewPr snapToGrid="0">
      <p:cViewPr varScale="1">
        <p:scale>
          <a:sx n="153" d="100"/>
          <a:sy n="153" d="100"/>
        </p:scale>
        <p:origin x="536"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ocs.google.com/document/d/16hfaEyBhdgZo-dh8A-w7FyHB2gd4OTWM/edit" TargetMode="External"/><Relationship Id="rId2" Type="http://schemas.openxmlformats.org/officeDocument/2006/relationships/slide" Target="../slides/slide1.xml"/><Relationship Id="rId1" Type="http://schemas.openxmlformats.org/officeDocument/2006/relationships/notesMaster" Target="../notesMasters/notesMaster1.xml"/><Relationship Id="rId6" Type="http://schemas.openxmlformats.org/officeDocument/2006/relationships/hyperlink" Target="https://docs.google.com/document/d/1UjtehFSKoyR26QfmNRsOfqM83Oy4qGALRKjXk_lQtqY/edit?tab=t.0" TargetMode="External"/><Relationship Id="rId5" Type="http://schemas.openxmlformats.org/officeDocument/2006/relationships/hyperlink" Target="https://aiscicomm.mylusd.org/" TargetMode="External"/><Relationship Id="rId4" Type="http://schemas.openxmlformats.org/officeDocument/2006/relationships/hyperlink" Target="https://docs.google.com/document/d/1UndupAAsxXThMWqwfrnMWLxA3dpkoK1Unx8y0T5mxfk/edit?tab=t.0#heading=h.66wasdi8eqf3"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aiscicomm.mylusd.org/"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docs.google.com/document/d/1OYL8P-VmXLmU2aZGeU95RMUtoRudtTbaGO24rFNaL1A/edit?tab=t.0#heading=h.bk3uqn8k1ud2"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aiscicomm.mylusd.org/"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unc.az1.qualtrics.com/jfe/form/SV_2uxJvUG3BwUchyC"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docs.google.com/document/d/1OYL8P-VmXLmU2aZGeU95RMUtoRudtTbaGO24rFNaL1A/edit?tab=t.0#heading=h.bk3uqn8k1ud2" TargetMode="External"/><Relationship Id="rId2" Type="http://schemas.openxmlformats.org/officeDocument/2006/relationships/slide" Target="../slides/slide15.xml"/><Relationship Id="rId1" Type="http://schemas.openxmlformats.org/officeDocument/2006/relationships/notesMaster" Target="../notesMasters/notesMaster1.xml"/><Relationship Id="rId5" Type="http://schemas.openxmlformats.org/officeDocument/2006/relationships/hyperlink" Target="https://docs.google.com/document/d/1OYL8P-VmXLmU2aZGeU95RMUtoRudtTbaGO24rFNaL1A/edit?tab=t.0" TargetMode="External"/><Relationship Id="rId4" Type="http://schemas.openxmlformats.org/officeDocument/2006/relationships/hyperlink" Target="https://unc.az1.qualtrics.com/jfe/form/SV_2uxJvUG3BwUchyC"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4ebebed70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4ebebed70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Link to </a:t>
            </a:r>
            <a:r>
              <a:rPr lang="en" u="sng">
                <a:solidFill>
                  <a:schemeClr val="hlink"/>
                </a:solidFill>
                <a:hlinkClick r:id="rId3"/>
              </a:rPr>
              <a:t>Module 2.2 Lesson Plan</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BEFORE YOU START TEACHING</a:t>
            </a:r>
            <a:endParaRPr sz="1200" b="1">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Review the </a:t>
            </a:r>
            <a:r>
              <a:rPr lang="en" sz="1200"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Teacher Facilitation Guide</a:t>
            </a:r>
            <a:r>
              <a:rPr lang="en" sz="1200">
                <a:solidFill>
                  <a:schemeClr val="dk1"/>
                </a:solidFill>
                <a:latin typeface="Calibri"/>
                <a:ea typeface="Calibri"/>
                <a:cs typeface="Calibri"/>
                <a:sym typeface="Calibri"/>
              </a:rPr>
              <a:t> for an overview of content and the curriculum as well as helpful facilitation suggestions.</a:t>
            </a:r>
            <a:endParaRPr sz="1200">
              <a:solidFill>
                <a:schemeClr val="dk1"/>
              </a:solidFill>
              <a:latin typeface="Calibri"/>
              <a:ea typeface="Calibri"/>
              <a:cs typeface="Calibri"/>
              <a:sym typeface="Calibri"/>
            </a:endParaRPr>
          </a:p>
          <a:p>
            <a:pPr marL="457200" lvl="0" indent="0" algn="l" rtl="0">
              <a:spcBef>
                <a:spcPts val="0"/>
              </a:spcBef>
              <a:spcAft>
                <a:spcPts val="0"/>
              </a:spcAft>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Get acquainted with </a:t>
            </a:r>
            <a:r>
              <a:rPr lang="en" sz="1200" u="sng">
                <a:solidFill>
                  <a:srgbClr val="1155CC"/>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AI Chatbot Platform</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Review </a:t>
            </a:r>
            <a:r>
              <a:rPr lang="en" sz="1200" u="sng">
                <a:solidFill>
                  <a:srgbClr val="1155CC"/>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Student SageModeler Instructions </a:t>
            </a:r>
            <a:r>
              <a:rPr lang="en" sz="1200">
                <a:solidFill>
                  <a:schemeClr val="dk1"/>
                </a:solidFill>
                <a:latin typeface="Calibri"/>
                <a:ea typeface="Calibri"/>
                <a:cs typeface="Calibri"/>
                <a:sym typeface="Calibri"/>
              </a:rPr>
              <a:t>to model or support students.</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Include a numbered list of general steps to set up the investigation before students arrive. </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This can also include other things that educators should do or think about before starting the lesson, such as checking for safety concerns.</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__________</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Open the slideshow to </a:t>
            </a:r>
            <a:r>
              <a:rPr lang="en" sz="1200" b="1">
                <a:solidFill>
                  <a:schemeClr val="dk1"/>
                </a:solidFill>
                <a:latin typeface="Calibri"/>
                <a:ea typeface="Calibri"/>
                <a:cs typeface="Calibri"/>
                <a:sym typeface="Calibri"/>
              </a:rPr>
              <a:t>Slide 1</a:t>
            </a:r>
            <a:r>
              <a:rPr lang="en" sz="1200">
                <a:solidFill>
                  <a:schemeClr val="dk1"/>
                </a:solidFill>
                <a:latin typeface="Calibri"/>
                <a:ea typeface="Calibri"/>
                <a:cs typeface="Calibri"/>
                <a:sym typeface="Calibri"/>
              </a:rPr>
              <a:t> and welcome students into the class and tell them that today, they will continue working on their teams to refine the models that they constructed and got feedback on in the last session.</a:t>
            </a:r>
            <a:endParaRPr sz="12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4ebebed705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4ebebed705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Before beginning, advance the slideshow to </a:t>
            </a:r>
            <a:r>
              <a:rPr lang="en" sz="1200" b="1">
                <a:solidFill>
                  <a:schemeClr val="dk1"/>
                </a:solidFill>
                <a:latin typeface="Calibri"/>
                <a:ea typeface="Calibri"/>
                <a:cs typeface="Calibri"/>
                <a:sym typeface="Calibri"/>
              </a:rPr>
              <a:t>Slide 2 </a:t>
            </a:r>
            <a:r>
              <a:rPr lang="en" sz="1200">
                <a:solidFill>
                  <a:schemeClr val="dk1"/>
                </a:solidFill>
                <a:latin typeface="Calibri"/>
                <a:ea typeface="Calibri"/>
                <a:cs typeface="Calibri"/>
                <a:sym typeface="Calibri"/>
              </a:rPr>
              <a:t>and ask student teams to reflect on their team’s model so far by answering the following questions.</a:t>
            </a:r>
            <a:endParaRPr sz="1200">
              <a:solidFill>
                <a:schemeClr val="dk1"/>
              </a:solidFill>
              <a:latin typeface="Calibri"/>
              <a:ea typeface="Calibri"/>
              <a:cs typeface="Calibri"/>
              <a:sym typeface="Calibri"/>
            </a:endParaRPr>
          </a:p>
          <a:p>
            <a:pPr marL="4572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Are there areas of your model that you have questions or are unsure about? </a:t>
            </a:r>
            <a:endParaRPr sz="1200">
              <a:solidFill>
                <a:schemeClr val="dk1"/>
              </a:solidFill>
              <a:latin typeface="Calibri"/>
              <a:ea typeface="Calibri"/>
              <a:cs typeface="Calibri"/>
              <a:sym typeface="Calibri"/>
            </a:endParaRPr>
          </a:p>
          <a:p>
            <a:pPr marL="4572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Are there sections of your model that need more information?</a:t>
            </a:r>
            <a:endParaRPr sz="1200">
              <a:solidFill>
                <a:schemeClr val="dk1"/>
              </a:solidFill>
              <a:latin typeface="Calibri"/>
              <a:ea typeface="Calibri"/>
              <a:cs typeface="Calibri"/>
              <a:sym typeface="Calibri"/>
            </a:endParaRPr>
          </a:p>
          <a:p>
            <a:pPr marL="4572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might your team gather this information?</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After student teams have reflected and written down their questions for their model, tell students that when scientists create models, they constantly look at ways to improve their models to make sense of the system. However, this means finding ways of gathering new information.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4f0eadf3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4f0eadf3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3</a:t>
            </a:r>
            <a:r>
              <a:rPr lang="en" sz="1200">
                <a:solidFill>
                  <a:schemeClr val="dk1"/>
                </a:solidFill>
                <a:latin typeface="Calibri"/>
                <a:ea typeface="Calibri"/>
                <a:cs typeface="Calibri"/>
                <a:sym typeface="Calibri"/>
              </a:rPr>
              <a:t> to give students an overview of what they will do in lesson 2.2.</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4ebebed705_0_1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4ebebed705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Afterwards, move on to </a:t>
            </a:r>
            <a:r>
              <a:rPr lang="en" sz="1200" b="1">
                <a:solidFill>
                  <a:schemeClr val="dk1"/>
                </a:solidFill>
                <a:latin typeface="Calibri"/>
                <a:ea typeface="Calibri"/>
                <a:cs typeface="Calibri"/>
                <a:sym typeface="Calibri"/>
              </a:rPr>
              <a:t>Slide 4</a:t>
            </a:r>
            <a:r>
              <a:rPr lang="en" sz="1200">
                <a:solidFill>
                  <a:schemeClr val="dk1"/>
                </a:solidFill>
                <a:latin typeface="Calibri"/>
                <a:ea typeface="Calibri"/>
                <a:cs typeface="Calibri"/>
                <a:sym typeface="Calibri"/>
              </a:rPr>
              <a:t> and bring the whole class together as a group and discuss the following questions:</a:t>
            </a:r>
            <a:endParaRPr sz="1200">
              <a:solidFill>
                <a:schemeClr val="dk1"/>
              </a:solidFill>
              <a:latin typeface="Calibri"/>
              <a:ea typeface="Calibri"/>
              <a:cs typeface="Calibri"/>
              <a:sym typeface="Calibri"/>
            </a:endParaRPr>
          </a:p>
          <a:p>
            <a:pPr marL="4572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have you collected information for your models so far? How did this information contribute to your model?</a:t>
            </a:r>
            <a:endParaRPr sz="1200">
              <a:solidFill>
                <a:schemeClr val="dk1"/>
              </a:solidFill>
              <a:latin typeface="Calibri"/>
              <a:ea typeface="Calibri"/>
              <a:cs typeface="Calibri"/>
              <a:sym typeface="Calibri"/>
            </a:endParaRPr>
          </a:p>
          <a:p>
            <a:pPr marL="457200" lvl="1" indent="-304800" algn="l" rtl="0">
              <a:spcBef>
                <a:spcPts val="10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else may a scientist collect information?</a:t>
            </a:r>
            <a:endParaRPr sz="1200">
              <a:solidFill>
                <a:schemeClr val="dk1"/>
              </a:solidFill>
              <a:latin typeface="Calibri"/>
              <a:ea typeface="Calibri"/>
              <a:cs typeface="Calibri"/>
              <a:sym typeface="Calibri"/>
            </a:endParaRPr>
          </a:p>
          <a:p>
            <a:pPr marL="228600" lvl="0" indent="0" algn="l" rtl="0">
              <a:lnSpc>
                <a:spcPct val="115000"/>
              </a:lnSpc>
              <a:spcBef>
                <a:spcPts val="100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After students share their responses, reaffirm ideas that they have gathered information by searching for themselves and interviewing community members but today, they will investigate another method of information gathering, using AI.</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4ebebed705_0_1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4ebebed705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5 </a:t>
            </a:r>
            <a:r>
              <a:rPr lang="en" sz="1200">
                <a:solidFill>
                  <a:schemeClr val="dk1"/>
                </a:solidFill>
                <a:latin typeface="Calibri"/>
                <a:ea typeface="Calibri"/>
                <a:cs typeface="Calibri"/>
                <a:sym typeface="Calibri"/>
              </a:rPr>
              <a:t>where students will see an image of the AI chatbot platform (</a:t>
            </a:r>
            <a:r>
              <a:rPr lang="en" sz="1200" u="sng">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https://aiscicomm.mylusd.org/</a:t>
            </a:r>
            <a:r>
              <a:rPr lang="en" sz="1200">
                <a:solidFill>
                  <a:schemeClr val="dk1"/>
                </a:solidFill>
                <a:latin typeface="Calibri"/>
                <a:ea typeface="Calibri"/>
                <a:cs typeface="Calibri"/>
                <a:sym typeface="Calibri"/>
              </a:rPr>
              <a:t>) with the 5 AI chatbots that are available to chat with plus a default, ChatGPT. </a:t>
            </a:r>
            <a:endParaRPr sz="1200">
              <a:solidFill>
                <a:schemeClr val="dk1"/>
              </a:solidFill>
              <a:latin typeface="Calibri"/>
              <a:ea typeface="Calibri"/>
              <a:cs typeface="Calibri"/>
              <a:sym typeface="Calibri"/>
            </a:endParaRPr>
          </a:p>
          <a:p>
            <a:pPr marL="4572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Share with students that the chatbot characters they see on the screen were created by feeding them information that was gathered by conducting community interviews, just like they conducted.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4f0eadf34f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4f0eadf34f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6</a:t>
            </a:r>
            <a:r>
              <a:rPr lang="en" sz="1200">
                <a:solidFill>
                  <a:schemeClr val="dk1"/>
                </a:solidFill>
                <a:latin typeface="Calibri"/>
                <a:ea typeface="Calibri"/>
                <a:cs typeface="Calibri"/>
                <a:sym typeface="Calibri"/>
              </a:rPr>
              <a:t> and tell students that they will “interview” these chatbots to help them gather more information to strengthen their models, but just like a real interview, they will need to prepare.</a:t>
            </a:r>
            <a:endParaRPr sz="1200">
              <a:solidFill>
                <a:schemeClr val="dk1"/>
              </a:solidFill>
              <a:latin typeface="Calibri"/>
              <a:ea typeface="Calibri"/>
              <a:cs typeface="Calibri"/>
              <a:sym typeface="Calibri"/>
            </a:endParaRPr>
          </a:p>
          <a:p>
            <a:pPr marL="4572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Start by telling students that you would like for them to just explore the chatbots.</a:t>
            </a:r>
            <a:endParaRPr sz="1200">
              <a:solidFill>
                <a:schemeClr val="dk1"/>
              </a:solidFill>
              <a:latin typeface="Calibri"/>
              <a:ea typeface="Calibri"/>
              <a:cs typeface="Calibri"/>
              <a:sym typeface="Calibri"/>
            </a:endParaRPr>
          </a:p>
          <a:p>
            <a:pPr marL="4572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the time is up, bring the class together to explore the following questions</a:t>
            </a:r>
            <a:endParaRPr sz="1200">
              <a:solidFill>
                <a:schemeClr val="dk1"/>
              </a:solidFill>
              <a:latin typeface="Calibri"/>
              <a:ea typeface="Calibri"/>
              <a:cs typeface="Calibri"/>
              <a:sym typeface="Calibri"/>
            </a:endParaRPr>
          </a:p>
          <a:p>
            <a:pPr marL="4572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did you try asking or doing with the chatbots?</a:t>
            </a:r>
            <a:endParaRPr sz="1200">
              <a:solidFill>
                <a:schemeClr val="dk1"/>
              </a:solidFill>
              <a:latin typeface="Calibri"/>
              <a:ea typeface="Calibri"/>
              <a:cs typeface="Calibri"/>
              <a:sym typeface="Calibri"/>
            </a:endParaRPr>
          </a:p>
          <a:p>
            <a:pPr marL="4572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types of questions did it seem to handle well?</a:t>
            </a:r>
            <a:endParaRPr sz="1200">
              <a:solidFill>
                <a:schemeClr val="dk1"/>
              </a:solidFill>
              <a:latin typeface="Calibri"/>
              <a:ea typeface="Calibri"/>
              <a:cs typeface="Calibri"/>
              <a:sym typeface="Calibri"/>
            </a:endParaRPr>
          </a:p>
          <a:p>
            <a:pPr marL="457200" lvl="1" indent="-304800" algn="l" rtl="0">
              <a:lnSpc>
                <a:spcPct val="115000"/>
              </a:lnSpc>
              <a:spcBef>
                <a:spcPts val="0"/>
              </a:spcBef>
              <a:spcAft>
                <a:spcPts val="1200"/>
              </a:spcAft>
              <a:buClr>
                <a:schemeClr val="dk1"/>
              </a:buClr>
              <a:buSzPts val="1200"/>
              <a:buFont typeface="Calibri"/>
              <a:buChar char="●"/>
            </a:pPr>
            <a:r>
              <a:rPr lang="en" sz="1200">
                <a:solidFill>
                  <a:schemeClr val="dk1"/>
                </a:solidFill>
                <a:latin typeface="Calibri"/>
                <a:ea typeface="Calibri"/>
                <a:cs typeface="Calibri"/>
                <a:sym typeface="Calibri"/>
              </a:rPr>
              <a:t>What surprised you about how the chatbot responded?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4f0eadf34f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4f0eadf34f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Next, move on to </a:t>
            </a:r>
            <a:r>
              <a:rPr lang="en" sz="1200" b="1">
                <a:solidFill>
                  <a:schemeClr val="dk1"/>
                </a:solidFill>
                <a:latin typeface="Calibri"/>
                <a:ea typeface="Calibri"/>
                <a:cs typeface="Calibri"/>
                <a:sym typeface="Calibri"/>
              </a:rPr>
              <a:t>Slide 7</a:t>
            </a:r>
            <a:r>
              <a:rPr lang="en" sz="1200">
                <a:solidFill>
                  <a:schemeClr val="dk1"/>
                </a:solidFill>
                <a:latin typeface="Calibri"/>
                <a:ea typeface="Calibri"/>
                <a:cs typeface="Calibri"/>
                <a:sym typeface="Calibri"/>
              </a:rPr>
              <a:t>. To help the students prepare, ask students to open their Science Journal to </a:t>
            </a:r>
            <a:r>
              <a:rPr lang="en" sz="1200" b="1"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Module 2.2: Refining your Model with GenAI (Student Task: Preparing your Chatbot Interviews)</a:t>
            </a:r>
            <a:r>
              <a:rPr lang="en" sz="1200" b="1">
                <a:solidFill>
                  <a:schemeClr val="dk1"/>
                </a:solidFill>
                <a:latin typeface="Calibri"/>
                <a:ea typeface="Calibri"/>
                <a:cs typeface="Calibri"/>
                <a:sym typeface="Calibri"/>
              </a:rPr>
              <a:t> p.20-21</a:t>
            </a:r>
            <a:r>
              <a:rPr lang="en" sz="1200">
                <a:solidFill>
                  <a:schemeClr val="dk1"/>
                </a:solidFill>
                <a:latin typeface="Calibri"/>
                <a:ea typeface="Calibri"/>
                <a:cs typeface="Calibri"/>
                <a:sym typeface="Calibri"/>
              </a:rPr>
              <a:t>, and tell them that just like before, they will have to prepare their interview questions in advance, but unlike last time, they will have five experts to chat with.</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4f0eadf34f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4f0eadf34f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8</a:t>
            </a:r>
            <a:r>
              <a:rPr lang="en" sz="1200">
                <a:solidFill>
                  <a:schemeClr val="dk1"/>
                </a:solidFill>
                <a:latin typeface="Calibri"/>
                <a:ea typeface="Calibri"/>
                <a:cs typeface="Calibri"/>
                <a:sym typeface="Calibri"/>
              </a:rPr>
              <a:t> and tell students that each member in their team will be responsible for investigating a question with 1-2 chatbots and bringing back the information to adjust their model, if students need support in writing questions, ask the following:</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parts of your model feel uncertain or incomplete?</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Are there any relationships you are unsure about?</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Are there other relationships between components that you want to learn more about?</a:t>
            </a:r>
            <a:endParaRPr sz="1200">
              <a:solidFill>
                <a:schemeClr val="dk1"/>
              </a:solidFill>
              <a:latin typeface="Calibri"/>
              <a:ea typeface="Calibri"/>
              <a:cs typeface="Calibri"/>
              <a:sym typeface="Calibri"/>
            </a:endParaRPr>
          </a:p>
          <a:p>
            <a:pPr marL="45720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Once students have their questions ready, tell students to select which chatbot may know more about their question.</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Remind them that their interview with AI may be a little different than with a person.</a:t>
            </a:r>
            <a:endParaRPr sz="12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4ced37a7bb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4ced37a7bb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9</a:t>
            </a:r>
            <a:r>
              <a:rPr lang="en" sz="1200">
                <a:solidFill>
                  <a:schemeClr val="dk1"/>
                </a:solidFill>
                <a:latin typeface="Calibri"/>
                <a:ea typeface="Calibri"/>
                <a:cs typeface="Calibri"/>
                <a:sym typeface="Calibri"/>
              </a:rPr>
              <a:t> to share with students some tips to keep in mind when interviewing the chatbots.</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Give context to the chatbot and frame your questions clearly.</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Avoid asking too many questions in one prompt.</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Ask follow-up questions</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Recognize that AI has boundaries and that it is not human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b="1">
                <a:solidFill>
                  <a:schemeClr val="dk1"/>
                </a:solidFill>
                <a:latin typeface="Calibri"/>
                <a:ea typeface="Calibri"/>
                <a:cs typeface="Calibri"/>
                <a:sym typeface="Calibri"/>
              </a:rPr>
              <a:t>Make sure that each student has a question that they want to investigate and a computer that they can participate with as they will be working individually to start.</a:t>
            </a:r>
            <a:endParaRPr sz="1200" b="1">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4f0eadf34f_1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4f0eadf34f_1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When students are ready to begin, pull out the instructions on </a:t>
            </a:r>
            <a:r>
              <a:rPr lang="en" sz="1200" b="1">
                <a:solidFill>
                  <a:schemeClr val="dk1"/>
                </a:solidFill>
                <a:latin typeface="Calibri"/>
                <a:ea typeface="Calibri"/>
                <a:cs typeface="Calibri"/>
                <a:sym typeface="Calibri"/>
              </a:rPr>
              <a:t>Slide 10</a:t>
            </a:r>
            <a:r>
              <a:rPr lang="en" sz="1200">
                <a:solidFill>
                  <a:schemeClr val="dk1"/>
                </a:solidFill>
                <a:latin typeface="Calibri"/>
                <a:ea typeface="Calibri"/>
                <a:cs typeface="Calibri"/>
                <a:sym typeface="Calibri"/>
              </a:rPr>
              <a:t> to conduct the chatbot interview.</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Visit the </a:t>
            </a:r>
            <a:r>
              <a:rPr lang="en" sz="1200" u="sng">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AISciComm platform </a:t>
            </a:r>
            <a:r>
              <a:rPr lang="en" sz="1200">
                <a:solidFill>
                  <a:schemeClr val="dk1"/>
                </a:solidFill>
                <a:latin typeface="Calibri"/>
                <a:ea typeface="Calibri"/>
                <a:cs typeface="Calibri"/>
                <a:sym typeface="Calibri"/>
              </a:rPr>
              <a:t>and choose the chatbot that you want to interview for your question.</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Upload the snapshot of your teams model that you took back in module 2.1. If you haven’t done so yet, go back to your SageModeler model and take a snapshot.</a:t>
            </a:r>
            <a:endParaRPr sz="1200" b="1">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When the image loads, give the chatbot context for what you are uploading. You can give the following prompt for students to fill out.</a:t>
            </a:r>
            <a:endParaRPr sz="1200">
              <a:solidFill>
                <a:schemeClr val="dk1"/>
              </a:solidFill>
              <a:latin typeface="Calibri"/>
              <a:ea typeface="Calibri"/>
              <a:cs typeface="Calibri"/>
              <a:sym typeface="Calibri"/>
            </a:endParaRPr>
          </a:p>
          <a:p>
            <a:pPr marL="1371600" lvl="2" indent="-304800" algn="l" rtl="0">
              <a:lnSpc>
                <a:spcPct val="115000"/>
              </a:lnSpc>
              <a:spcBef>
                <a:spcPts val="0"/>
              </a:spcBef>
              <a:spcAft>
                <a:spcPts val="0"/>
              </a:spcAft>
              <a:buClr>
                <a:schemeClr val="dk1"/>
              </a:buClr>
              <a:buSzPts val="1200"/>
              <a:buFont typeface="Calibri"/>
              <a:buChar char="○"/>
            </a:pPr>
            <a:r>
              <a:rPr lang="en" sz="1200" b="1" i="1">
                <a:solidFill>
                  <a:schemeClr val="dk1"/>
                </a:solidFill>
                <a:latin typeface="Calibri"/>
                <a:ea typeface="Calibri"/>
                <a:cs typeface="Calibri"/>
                <a:sym typeface="Calibri"/>
              </a:rPr>
              <a:t>Hello, my team and I are [grade level] students in [class]. We are working on a model that demonstrates how changes to the climate impact ocean systems and affects [your chosen value]. Can you describe the model to me?</a:t>
            </a:r>
            <a:endParaRPr sz="1200" b="1" i="1">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Share the question you are investigating with the chatbot. Make sure to use follow up questions.</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you have identified other bots that may know more about your question, make sure to interview them too. </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Remember to take notes!</a:t>
            </a:r>
            <a:endParaRPr sz="1200">
              <a:solidFill>
                <a:schemeClr val="dk1"/>
              </a:solidFill>
              <a:latin typeface="Calibri"/>
              <a:ea typeface="Calibri"/>
              <a:cs typeface="Calibri"/>
              <a:sym typeface="Calibri"/>
            </a:endParaRPr>
          </a:p>
          <a:p>
            <a:pPr marL="9144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students are ready, give them time to individually chat with the chatbots to help them answer their questions.</a:t>
            </a:r>
            <a:endParaRPr sz="1200">
              <a:solidFill>
                <a:schemeClr val="dk1"/>
              </a:solidFill>
              <a:latin typeface="Calibri"/>
              <a:ea typeface="Calibri"/>
              <a:cs typeface="Calibri"/>
              <a:sym typeface="Calibri"/>
            </a:endParaRPr>
          </a:p>
          <a:p>
            <a:pPr marL="4572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converse with the chatbots, make sure that they are taking notes on the information that they want to share back with the group. R</a:t>
            </a:r>
            <a:r>
              <a:rPr lang="en" sz="1200" b="1">
                <a:solidFill>
                  <a:schemeClr val="dk1"/>
                </a:solidFill>
                <a:latin typeface="Calibri"/>
                <a:ea typeface="Calibri"/>
                <a:cs typeface="Calibri"/>
                <a:sym typeface="Calibri"/>
              </a:rPr>
              <a:t>emind students to make sure they are filling the interview document in their Science Journal (p.20-21).</a:t>
            </a:r>
            <a:endParaRPr b="1"/>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4f0eadf34f_1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4f0eadf34f_1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After students have had time to chat with the chabots, advance to </a:t>
            </a:r>
            <a:r>
              <a:rPr lang="en" sz="1200" b="1">
                <a:solidFill>
                  <a:schemeClr val="dk1"/>
                </a:solidFill>
                <a:latin typeface="Calibri"/>
                <a:ea typeface="Calibri"/>
                <a:cs typeface="Calibri"/>
                <a:sym typeface="Calibri"/>
              </a:rPr>
              <a:t>Slide 11</a:t>
            </a:r>
            <a:r>
              <a:rPr lang="en" sz="1200">
                <a:solidFill>
                  <a:schemeClr val="dk1"/>
                </a:solidFill>
                <a:latin typeface="Calibri"/>
                <a:ea typeface="Calibri"/>
                <a:cs typeface="Calibri"/>
                <a:sym typeface="Calibri"/>
              </a:rPr>
              <a:t> and ask student teams to get back together to share their findings with their team and fill out the last section on their chatbot interview document together, if they haven’t done so already</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4f0eadf34f_1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4f0eadf34f_1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12</a:t>
            </a:r>
            <a:r>
              <a:rPr lang="en" sz="1200">
                <a:solidFill>
                  <a:schemeClr val="dk1"/>
                </a:solidFill>
                <a:latin typeface="Calibri"/>
                <a:ea typeface="Calibri"/>
                <a:cs typeface="Calibri"/>
                <a:sym typeface="Calibri"/>
              </a:rPr>
              <a:t> and give students a moment to revisit their model from the previous session and make modifications to them based on their conversation with the chatbots.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4f0eadf34f_1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4f0eadf34f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13</a:t>
            </a:r>
            <a:r>
              <a:rPr lang="en" sz="1200">
                <a:solidFill>
                  <a:schemeClr val="dk1"/>
                </a:solidFill>
                <a:latin typeface="Calibri"/>
                <a:ea typeface="Calibri"/>
                <a:cs typeface="Calibri"/>
                <a:sym typeface="Calibri"/>
              </a:rPr>
              <a:t>. Once the student teams finish up the revisions to their model, bring the class back together for a class conversation. Ask students the following questions</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were some of the most surprising findings you gained from your chatbot interviews?</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Did the chatbots provide new ideas or connections that you hadn’t thought of before?</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1200"/>
              </a:spcAft>
              <a:buClr>
                <a:schemeClr val="dk1"/>
              </a:buClr>
              <a:buSzPts val="1200"/>
              <a:buFont typeface="Calibri"/>
              <a:buChar char="●"/>
            </a:pPr>
            <a:r>
              <a:rPr lang="en" sz="1200">
                <a:solidFill>
                  <a:schemeClr val="dk1"/>
                </a:solidFill>
                <a:latin typeface="Calibri"/>
                <a:ea typeface="Calibri"/>
                <a:cs typeface="Calibri"/>
                <a:sym typeface="Calibri"/>
              </a:rPr>
              <a:t>What revisions did you incorporate into your model?</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4f0eadf34f_1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4f0eadf34f_1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14</a:t>
            </a:r>
            <a:r>
              <a:rPr lang="en" sz="1200">
                <a:solidFill>
                  <a:schemeClr val="dk1"/>
                </a:solidFill>
                <a:latin typeface="Calibri"/>
                <a:ea typeface="Calibri"/>
                <a:cs typeface="Calibri"/>
                <a:sym typeface="Calibri"/>
              </a:rPr>
              <a:t>. As students share their experiences, ask the following questions:</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Looking at your current model, what specific data is still missing that could help you better understand the system you're modeling?</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Where might we gather or collect this data?</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2000">
                <a:solidFill>
                  <a:schemeClr val="dk1"/>
                </a:solidFill>
              </a:rPr>
              <a:t>Fill out the post-survey: </a:t>
            </a:r>
            <a:r>
              <a:rPr lang="en" sz="1600" u="sng">
                <a:solidFill>
                  <a:srgbClr val="0097A7"/>
                </a:solidFill>
                <a:hlinkClick r:id="rId3">
                  <a:extLst>
                    <a:ext uri="{A12FA001-AC4F-418D-AE19-62706E023703}">
                      <ahyp:hlinkClr xmlns:ahyp="http://schemas.microsoft.com/office/drawing/2018/hyperlinkcolor" val="tx"/>
                    </a:ext>
                  </a:extLst>
                </a:hlinkClick>
              </a:rPr>
              <a:t>https://unc.az1.qualtrics.com/jfe/form/SV_2uxJvUG3BwUchyC</a:t>
            </a:r>
            <a:endParaRPr sz="1600">
              <a:solidFill>
                <a:schemeClr val="dk1"/>
              </a:solidFill>
            </a:endParaRPr>
          </a:p>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4f0eadf34f_1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4f0eadf34f_1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15</a:t>
            </a:r>
            <a:r>
              <a:rPr lang="en" sz="1200">
                <a:solidFill>
                  <a:schemeClr val="dk1"/>
                </a:solidFill>
                <a:latin typeface="Calibri"/>
                <a:ea typeface="Calibri"/>
                <a:cs typeface="Calibri"/>
                <a:sym typeface="Calibri"/>
              </a:rPr>
              <a:t> and have student teams work together to answer the following questions together on </a:t>
            </a:r>
            <a:r>
              <a:rPr lang="en" sz="1200" b="1"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Module 2.2: Refining your Model with GenAI (Student Reflection), p. 22</a:t>
            </a:r>
            <a:r>
              <a:rPr lang="en" sz="1200">
                <a:solidFill>
                  <a:schemeClr val="dk1"/>
                </a:solidFill>
                <a:latin typeface="Calibri"/>
                <a:ea typeface="Calibri"/>
                <a:cs typeface="Calibri"/>
                <a:sym typeface="Calibri"/>
              </a:rPr>
              <a:t> of their Science Journals.</a:t>
            </a:r>
            <a:endParaRPr sz="1200">
              <a:solidFill>
                <a:schemeClr val="dk1"/>
              </a:solidFill>
              <a:latin typeface="Calibri"/>
              <a:ea typeface="Calibri"/>
              <a:cs typeface="Calibri"/>
              <a:sym typeface="Calibri"/>
            </a:endParaRPr>
          </a:p>
          <a:p>
            <a:pPr marL="51435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did the AI chatbots help change your thinking and support the changes in your model?</a:t>
            </a:r>
            <a:endParaRPr sz="1200">
              <a:solidFill>
                <a:schemeClr val="dk1"/>
              </a:solidFill>
              <a:latin typeface="Calibri"/>
              <a:ea typeface="Calibri"/>
              <a:cs typeface="Calibri"/>
              <a:sym typeface="Calibri"/>
            </a:endParaRPr>
          </a:p>
          <a:p>
            <a:pPr marL="51435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Which areas of your model need more information? How might you explore them further?</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wrap up their discussion, and if time allows, have teams share with the entire class.</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Thank the students for their time today. Let students know that during the next session, they are going to take more time to refine their models by exploring how to incorporate real-world data to validate the relationships within their models.</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Provide more time for the  the </a:t>
            </a:r>
            <a:r>
              <a:rPr lang="en" sz="1200" u="sng">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post-test</a:t>
            </a:r>
            <a:r>
              <a:rPr lang="en" sz="1200">
                <a:solidFill>
                  <a:schemeClr val="dk1"/>
                </a:solidFill>
                <a:latin typeface="Calibri"/>
                <a:ea typeface="Calibri"/>
                <a:cs typeface="Calibri"/>
                <a:sym typeface="Calibri"/>
              </a:rPr>
              <a:t> for student completion. </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___________________</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Extend: Evaluate AI’s responses (15 minutes; take-home activity)</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endParaRPr sz="1200" b="1">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Students review their notes, and then reflect on (1) the prompts they sent to the chatbots and (2) the chatbots’ generated responses. Students answer the questions on</a:t>
            </a:r>
            <a:r>
              <a:rPr lang="en" sz="1200" b="1">
                <a:solidFill>
                  <a:schemeClr val="dk1"/>
                </a:solidFill>
                <a:latin typeface="Calibri"/>
                <a:ea typeface="Calibri"/>
                <a:cs typeface="Calibri"/>
                <a:sym typeface="Calibri"/>
              </a:rPr>
              <a:t> </a:t>
            </a:r>
            <a:r>
              <a:rPr lang="en" sz="1200" b="1" u="sng">
                <a:solidFill>
                  <a:srgbClr val="1155CC"/>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Module 2.2: Refining your Model with GenAI (Optional: Reflecting on AI’s Responses to your Questions)</a:t>
            </a:r>
            <a:r>
              <a:rPr lang="en" sz="1200" u="sng">
                <a:solidFill>
                  <a:srgbClr val="1155CC"/>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 </a:t>
            </a:r>
            <a:r>
              <a:rPr lang="en" sz="1200" b="1" u="sng">
                <a:solidFill>
                  <a:srgbClr val="1155CC"/>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p. 23-24</a:t>
            </a:r>
            <a:r>
              <a:rPr lang="en" sz="1200">
                <a:solidFill>
                  <a:schemeClr val="dk1"/>
                </a:solidFill>
                <a:latin typeface="Calibri"/>
                <a:ea typeface="Calibri"/>
                <a:cs typeface="Calibri"/>
                <a:sym typeface="Calibri"/>
              </a:rPr>
              <a:t> of their Science Journals: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Did your team ask questions that followed the CLEAR framework (Concise, Logical, Explicit, Adaptive, Reflective)? How did your questions reflect this? If not, why?</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Did the chatbots provide answers that helped you learn more about your question? What kind of information or examples did they give? How did this connect to your community, social networks, local knowledge, or experiences?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Were the chatbot responses relevant to your question? Did you notice any inaccuracies or missing information? Give specific examples.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Generative AI chatbots learn by adjusting patterns from the data they are trained on, while traditional search engines retrieve existing information. How does understanding this difference change the way you use the chatbots? How did this influence your model updates?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ideas would you give to improve the chatbots’ answers? How could the chatbots better support your learning about climate change and the ocean, while reflecting your community context and assets?</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4ced37a7bb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4ced37a7b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aiscicomm.vercel.app/"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hyperlink" Target="https://aiscicomm.vercel.app/"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aiscicomm.vercel.app"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205450" y="1901550"/>
            <a:ext cx="3970500" cy="670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4500" b="1">
                <a:solidFill>
                  <a:srgbClr val="541900"/>
                </a:solidFill>
              </a:rPr>
              <a:t>Refining Your Model with Generative AI</a:t>
            </a:r>
            <a:endParaRPr sz="4500" b="1">
              <a:solidFill>
                <a:srgbClr val="541900"/>
              </a:solidFill>
            </a:endParaRPr>
          </a:p>
        </p:txBody>
      </p:sp>
      <p:sp>
        <p:nvSpPr>
          <p:cNvPr id="55" name="Google Shape;55;p13"/>
          <p:cNvSpPr txBox="1">
            <a:spLocks noGrp="1"/>
          </p:cNvSpPr>
          <p:nvPr>
            <p:ph type="body" idx="4294967295"/>
          </p:nvPr>
        </p:nvSpPr>
        <p:spPr>
          <a:xfrm>
            <a:off x="2286600" y="2571750"/>
            <a:ext cx="1889400" cy="670200"/>
          </a:xfrm>
          <a:prstGeom prst="rect">
            <a:avLst/>
          </a:prstGeom>
        </p:spPr>
        <p:txBody>
          <a:bodyPr spcFirstLastPara="1" wrap="square" lIns="91425" tIns="91425" rIns="91425" bIns="91425" anchor="t" anchorCtr="0">
            <a:normAutofit/>
          </a:bodyPr>
          <a:lstStyle/>
          <a:p>
            <a:pPr marL="0" lvl="0" indent="0" algn="r" rtl="0">
              <a:spcBef>
                <a:spcPts val="0"/>
              </a:spcBef>
              <a:spcAft>
                <a:spcPts val="1200"/>
              </a:spcAft>
              <a:buNone/>
            </a:pPr>
            <a:r>
              <a:rPr lang="en" sz="1200">
                <a:solidFill>
                  <a:srgbClr val="355E3B"/>
                </a:solidFill>
                <a:latin typeface="Arial"/>
                <a:ea typeface="Arial"/>
                <a:cs typeface="Arial"/>
                <a:sym typeface="Arial"/>
              </a:rPr>
              <a:t>Module </a:t>
            </a:r>
            <a:r>
              <a:rPr lang="en" sz="1200">
                <a:solidFill>
                  <a:srgbClr val="355E3B"/>
                </a:solidFill>
              </a:rPr>
              <a:t>2.2</a:t>
            </a:r>
            <a:endParaRPr sz="1200">
              <a:solidFill>
                <a:srgbClr val="355E3B"/>
              </a:solidFill>
              <a:latin typeface="Arial"/>
              <a:ea typeface="Arial"/>
              <a:cs typeface="Arial"/>
              <a:sym typeface="Arial"/>
            </a:endParaRPr>
          </a:p>
        </p:txBody>
      </p:sp>
      <p:sp>
        <p:nvSpPr>
          <p:cNvPr id="56" name="Google Shape;56;p13"/>
          <p:cNvSpPr txBox="1">
            <a:spLocks noGrp="1"/>
          </p:cNvSpPr>
          <p:nvPr>
            <p:ph type="subTitle"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AISciComm | </a:t>
            </a:r>
            <a:r>
              <a:rPr lang="en" sz="1200">
                <a:solidFill>
                  <a:schemeClr val="dk1"/>
                </a:solidFill>
                <a:latin typeface="Arial"/>
                <a:ea typeface="Arial"/>
                <a:cs typeface="Arial"/>
                <a:sym typeface="Arial"/>
              </a:rPr>
              <a:t>Module </a:t>
            </a:r>
            <a:r>
              <a:rPr lang="en" sz="1200">
                <a:solidFill>
                  <a:schemeClr val="dk1"/>
                </a:solidFill>
              </a:rPr>
              <a:t>2.2 Refining Your Model with Generative AI</a:t>
            </a:r>
            <a:endParaRPr sz="1200">
              <a:solidFill>
                <a:schemeClr val="dk1"/>
              </a:solidFill>
            </a:endParaRPr>
          </a:p>
          <a:p>
            <a:pPr marL="0" lvl="0" indent="0" algn="l" rtl="0">
              <a:spcBef>
                <a:spcPts val="0"/>
              </a:spcBef>
              <a:spcAft>
                <a:spcPts val="0"/>
              </a:spcAft>
              <a:buNone/>
            </a:pPr>
            <a:endParaRPr sz="1200">
              <a:solidFill>
                <a:schemeClr val="dk1"/>
              </a:solidFill>
            </a:endParaRPr>
          </a:p>
        </p:txBody>
      </p:sp>
      <p:pic>
        <p:nvPicPr>
          <p:cNvPr id="57" name="Google Shape;57;p13"/>
          <p:cNvPicPr preferRelativeResize="0"/>
          <p:nvPr/>
        </p:nvPicPr>
        <p:blipFill rotWithShape="1">
          <a:blip r:embed="rId3">
            <a:alphaModFix/>
          </a:blip>
          <a:srcRect r="18147" b="3605"/>
          <a:stretch/>
        </p:blipFill>
        <p:spPr>
          <a:xfrm>
            <a:off x="5990300" y="0"/>
            <a:ext cx="3153694" cy="4654025"/>
          </a:xfrm>
          <a:prstGeom prst="rect">
            <a:avLst/>
          </a:prstGeom>
          <a:noFill/>
          <a:ln>
            <a:noFill/>
          </a:ln>
        </p:spPr>
      </p:pic>
      <p:sp>
        <p:nvSpPr>
          <p:cNvPr id="58" name="Google Shape;58;p13"/>
          <p:cNvSpPr txBox="1"/>
          <p:nvPr/>
        </p:nvSpPr>
        <p:spPr>
          <a:xfrm>
            <a:off x="6269900" y="4654025"/>
            <a:ext cx="1490700" cy="60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chemeClr val="dk2"/>
                </a:solidFill>
              </a:rPr>
              <a:t>Huntington Beach,</a:t>
            </a:r>
            <a:endParaRPr sz="800" b="1">
              <a:solidFill>
                <a:schemeClr val="dk2"/>
              </a:solidFill>
            </a:endParaRPr>
          </a:p>
          <a:p>
            <a:pPr marL="0" lvl="0" indent="0" algn="ctr" rtl="0">
              <a:spcBef>
                <a:spcPts val="0"/>
              </a:spcBef>
              <a:spcAft>
                <a:spcPts val="0"/>
              </a:spcAft>
              <a:buNone/>
            </a:pPr>
            <a:r>
              <a:rPr lang="en" sz="800" b="1">
                <a:solidFill>
                  <a:schemeClr val="dk2"/>
                </a:solidFill>
              </a:rPr>
              <a:t>Los Angeles, CA</a:t>
            </a:r>
            <a:endParaRPr sz="800" b="1">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62"/>
        <p:cNvGrpSpPr/>
        <p:nvPr/>
      </p:nvGrpSpPr>
      <p:grpSpPr>
        <a:xfrm>
          <a:off x="0" y="0"/>
          <a:ext cx="0" cy="0"/>
          <a:chOff x="0" y="0"/>
          <a:chExt cx="0" cy="0"/>
        </a:xfrm>
      </p:grpSpPr>
      <p:sp>
        <p:nvSpPr>
          <p:cNvPr id="63" name="Google Shape;63;p14"/>
          <p:cNvSpPr txBox="1">
            <a:spLocks noGrp="1"/>
          </p:cNvSpPr>
          <p:nvPr>
            <p:ph type="body" idx="1"/>
          </p:nvPr>
        </p:nvSpPr>
        <p:spPr>
          <a:xfrm>
            <a:off x="311700" y="11524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2000" i="1">
                <a:solidFill>
                  <a:srgbClr val="355E3B"/>
                </a:solidFill>
              </a:rPr>
              <a:t>With your team, take a moment to reflect on your model from module 2.1 and answer the following questions.</a:t>
            </a:r>
            <a:endParaRPr sz="2000" i="1">
              <a:solidFill>
                <a:srgbClr val="355E3B"/>
              </a:solidFill>
            </a:endParaRPr>
          </a:p>
        </p:txBody>
      </p:sp>
      <p:sp>
        <p:nvSpPr>
          <p:cNvPr id="64" name="Google Shape;64;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Reflecting On Your Model</a:t>
            </a:r>
            <a:endParaRPr sz="4500" b="1">
              <a:solidFill>
                <a:srgbClr val="541900"/>
              </a:solidFill>
            </a:endParaRPr>
          </a:p>
        </p:txBody>
      </p:sp>
      <p:sp>
        <p:nvSpPr>
          <p:cNvPr id="65" name="Google Shape;65;p14"/>
          <p:cNvSpPr txBox="1">
            <a:spLocks noGrp="1"/>
          </p:cNvSpPr>
          <p:nvPr>
            <p:ph type="body" idx="4294967295"/>
          </p:nvPr>
        </p:nvSpPr>
        <p:spPr>
          <a:xfrm>
            <a:off x="311700" y="2142300"/>
            <a:ext cx="8373300" cy="2489400"/>
          </a:xfrm>
          <a:prstGeom prst="rect">
            <a:avLst/>
          </a:prstGeom>
        </p:spPr>
        <p:txBody>
          <a:bodyPr spcFirstLastPara="1" wrap="square" lIns="91425" tIns="91425" rIns="91425" bIns="91425" anchor="t" anchorCtr="0">
            <a:normAutofit/>
          </a:bodyPr>
          <a:lstStyle/>
          <a:p>
            <a:pPr marL="457200" lvl="0" indent="-355600" algn="l" rtl="0">
              <a:lnSpc>
                <a:spcPct val="100000"/>
              </a:lnSpc>
              <a:spcBef>
                <a:spcPts val="0"/>
              </a:spcBef>
              <a:spcAft>
                <a:spcPts val="0"/>
              </a:spcAft>
              <a:buClr>
                <a:srgbClr val="541900"/>
              </a:buClr>
              <a:buSzPts val="2000"/>
              <a:buChar char="●"/>
            </a:pPr>
            <a:r>
              <a:rPr lang="en" sz="2000">
                <a:solidFill>
                  <a:schemeClr val="dk1"/>
                </a:solidFill>
              </a:rPr>
              <a:t>Are there areas of your model that you have questions or are unsure about? </a:t>
            </a:r>
            <a:endParaRPr sz="2000">
              <a:solidFill>
                <a:schemeClr val="dk1"/>
              </a:solidFill>
            </a:endParaRPr>
          </a:p>
          <a:p>
            <a:pPr marL="0" lvl="0" indent="0" algn="l" rtl="0">
              <a:lnSpc>
                <a:spcPct val="100000"/>
              </a:lnSpc>
              <a:spcBef>
                <a:spcPts val="0"/>
              </a:spcBef>
              <a:spcAft>
                <a:spcPts val="0"/>
              </a:spcAft>
              <a:buNone/>
            </a:pPr>
            <a:endParaRPr sz="2000">
              <a:solidFill>
                <a:schemeClr val="dk1"/>
              </a:solidFill>
            </a:endParaRPr>
          </a:p>
          <a:p>
            <a:pPr marL="457200" lvl="0" indent="-355600" algn="l" rtl="0">
              <a:lnSpc>
                <a:spcPct val="100000"/>
              </a:lnSpc>
              <a:spcBef>
                <a:spcPts val="0"/>
              </a:spcBef>
              <a:spcAft>
                <a:spcPts val="0"/>
              </a:spcAft>
              <a:buClr>
                <a:srgbClr val="541900"/>
              </a:buClr>
              <a:buSzPts val="2000"/>
              <a:buChar char="●"/>
            </a:pPr>
            <a:r>
              <a:rPr lang="en" sz="2000">
                <a:solidFill>
                  <a:schemeClr val="dk1"/>
                </a:solidFill>
              </a:rPr>
              <a:t>Are there sections of your model that need more information?</a:t>
            </a:r>
            <a:endParaRPr sz="2000">
              <a:solidFill>
                <a:schemeClr val="dk1"/>
              </a:solidFill>
            </a:endParaRPr>
          </a:p>
          <a:p>
            <a:pPr marL="457200" lvl="0" indent="0" algn="l" rtl="0">
              <a:lnSpc>
                <a:spcPct val="100000"/>
              </a:lnSpc>
              <a:spcBef>
                <a:spcPts val="0"/>
              </a:spcBef>
              <a:spcAft>
                <a:spcPts val="0"/>
              </a:spcAft>
              <a:buNone/>
            </a:pPr>
            <a:endParaRPr sz="2000">
              <a:solidFill>
                <a:schemeClr val="dk1"/>
              </a:solidFill>
            </a:endParaRPr>
          </a:p>
          <a:p>
            <a:pPr marL="457200" lvl="0" indent="-355600" algn="l" rtl="0">
              <a:lnSpc>
                <a:spcPct val="100000"/>
              </a:lnSpc>
              <a:spcBef>
                <a:spcPts val="0"/>
              </a:spcBef>
              <a:spcAft>
                <a:spcPts val="0"/>
              </a:spcAft>
              <a:buClr>
                <a:srgbClr val="541900"/>
              </a:buClr>
              <a:buSzPts val="2000"/>
              <a:buChar char="●"/>
            </a:pPr>
            <a:r>
              <a:rPr lang="en" sz="2000">
                <a:solidFill>
                  <a:schemeClr val="dk1"/>
                </a:solidFill>
              </a:rPr>
              <a:t>How might your team gather this information?</a:t>
            </a:r>
            <a:endParaRPr sz="2000">
              <a:solidFill>
                <a:schemeClr val="dk1"/>
              </a:solidFill>
            </a:endParaRPr>
          </a:p>
          <a:p>
            <a:pPr marL="0" lvl="0" indent="0" algn="l" rtl="0">
              <a:lnSpc>
                <a:spcPct val="100000"/>
              </a:lnSpc>
              <a:spcBef>
                <a:spcPts val="0"/>
              </a:spcBef>
              <a:spcAft>
                <a:spcPts val="0"/>
              </a:spcAft>
              <a:buNone/>
            </a:pPr>
            <a:endParaRPr sz="2000">
              <a:solidFill>
                <a:schemeClr val="dk1"/>
              </a:solidFill>
            </a:endParaRPr>
          </a:p>
        </p:txBody>
      </p:sp>
      <p:sp>
        <p:nvSpPr>
          <p:cNvPr id="66" name="Google Shape;66;p14"/>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rPr>
              <a:t>Module 2.2 Refining Your Model with Generative AI</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2</a:t>
            </a:r>
            <a:endParaRPr sz="12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70"/>
        <p:cNvGrpSpPr/>
        <p:nvPr/>
      </p:nvGrpSpPr>
      <p:grpSpPr>
        <a:xfrm>
          <a:off x="0" y="0"/>
          <a:ext cx="0" cy="0"/>
          <a:chOff x="0" y="0"/>
          <a:chExt cx="0" cy="0"/>
        </a:xfrm>
      </p:grpSpPr>
      <p:sp>
        <p:nvSpPr>
          <p:cNvPr id="71" name="Google Shape;71;p15"/>
          <p:cNvSpPr txBox="1">
            <a:spLocks noGrp="1"/>
          </p:cNvSpPr>
          <p:nvPr>
            <p:ph type="body" idx="1"/>
          </p:nvPr>
        </p:nvSpPr>
        <p:spPr>
          <a:xfrm>
            <a:off x="311700" y="847675"/>
            <a:ext cx="4521900" cy="5124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2000">
                <a:solidFill>
                  <a:srgbClr val="355E3B"/>
                </a:solidFill>
              </a:rPr>
              <a:t>During module 2.2, you will:</a:t>
            </a:r>
            <a:endParaRPr sz="2000">
              <a:solidFill>
                <a:srgbClr val="355E3B"/>
              </a:solidFill>
            </a:endParaRPr>
          </a:p>
        </p:txBody>
      </p:sp>
      <p:sp>
        <p:nvSpPr>
          <p:cNvPr id="72" name="Google Shape;72;p15"/>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100" b="1">
                <a:solidFill>
                  <a:srgbClr val="541900"/>
                </a:solidFill>
              </a:rPr>
              <a:t>Module Overview</a:t>
            </a:r>
            <a:endParaRPr sz="4100" b="1">
              <a:solidFill>
                <a:srgbClr val="541900"/>
              </a:solidFill>
            </a:endParaRPr>
          </a:p>
        </p:txBody>
      </p:sp>
      <p:sp>
        <p:nvSpPr>
          <p:cNvPr id="73" name="Google Shape;73;p15"/>
          <p:cNvSpPr txBox="1">
            <a:spLocks noGrp="1"/>
          </p:cNvSpPr>
          <p:nvPr>
            <p:ph type="body" idx="4294967295"/>
          </p:nvPr>
        </p:nvSpPr>
        <p:spPr>
          <a:xfrm>
            <a:off x="235500" y="1360075"/>
            <a:ext cx="4521900" cy="2906400"/>
          </a:xfrm>
          <a:prstGeom prst="rect">
            <a:avLst/>
          </a:prstGeom>
        </p:spPr>
        <p:txBody>
          <a:bodyPr spcFirstLastPara="1" wrap="square" lIns="91425" tIns="91425" rIns="91425" bIns="91425" anchor="t" anchorCtr="0">
            <a:normAutofit fontScale="92500" lnSpcReduction="10000"/>
          </a:bodyPr>
          <a:lstStyle/>
          <a:p>
            <a:pPr marL="457200" lvl="0" indent="-340201" algn="l" rtl="0">
              <a:lnSpc>
                <a:spcPct val="115000"/>
              </a:lnSpc>
              <a:spcBef>
                <a:spcPts val="0"/>
              </a:spcBef>
              <a:spcAft>
                <a:spcPts val="0"/>
              </a:spcAft>
              <a:buClr>
                <a:srgbClr val="541900"/>
              </a:buClr>
              <a:buSzPct val="100000"/>
              <a:buChar char="●"/>
            </a:pPr>
            <a:r>
              <a:rPr lang="en" sz="1900" dirty="0">
                <a:solidFill>
                  <a:schemeClr val="dk1"/>
                </a:solidFill>
              </a:rPr>
              <a:t>Investigate what areas of your model you want to learn more about.</a:t>
            </a:r>
            <a:endParaRPr sz="1900" dirty="0">
              <a:solidFill>
                <a:schemeClr val="dk1"/>
              </a:solidFill>
            </a:endParaRPr>
          </a:p>
          <a:p>
            <a:pPr marL="457200" lvl="0" indent="-340201" algn="l" rtl="0">
              <a:lnSpc>
                <a:spcPct val="115000"/>
              </a:lnSpc>
              <a:spcBef>
                <a:spcPts val="0"/>
              </a:spcBef>
              <a:spcAft>
                <a:spcPts val="0"/>
              </a:spcAft>
              <a:buClr>
                <a:srgbClr val="541900"/>
              </a:buClr>
              <a:buSzPct val="100000"/>
              <a:buChar char="●"/>
            </a:pPr>
            <a:r>
              <a:rPr lang="en" sz="1900" dirty="0">
                <a:solidFill>
                  <a:schemeClr val="dk1"/>
                </a:solidFill>
              </a:rPr>
              <a:t>Make a plan to gather information to strengthen your model.</a:t>
            </a:r>
            <a:endParaRPr sz="1900" dirty="0">
              <a:solidFill>
                <a:schemeClr val="dk1"/>
              </a:solidFill>
            </a:endParaRPr>
          </a:p>
          <a:p>
            <a:pPr marL="457200" lvl="0" indent="-340201" algn="l" rtl="0">
              <a:lnSpc>
                <a:spcPct val="115000"/>
              </a:lnSpc>
              <a:spcBef>
                <a:spcPts val="0"/>
              </a:spcBef>
              <a:spcAft>
                <a:spcPts val="0"/>
              </a:spcAft>
              <a:buClr>
                <a:srgbClr val="541900"/>
              </a:buClr>
              <a:buSzPct val="100000"/>
              <a:buChar char="●"/>
            </a:pPr>
            <a:r>
              <a:rPr lang="en" sz="1900" dirty="0">
                <a:solidFill>
                  <a:schemeClr val="dk1"/>
                </a:solidFill>
              </a:rPr>
              <a:t>Communicate with Generative AI (GenAI) to gather information to strengthen your model.</a:t>
            </a:r>
            <a:endParaRPr sz="1900" dirty="0">
              <a:solidFill>
                <a:schemeClr val="dk1"/>
              </a:solidFill>
            </a:endParaRPr>
          </a:p>
          <a:p>
            <a:pPr marL="457200" lvl="0" indent="-340201" algn="l" rtl="0">
              <a:lnSpc>
                <a:spcPct val="115000"/>
              </a:lnSpc>
              <a:spcBef>
                <a:spcPts val="0"/>
              </a:spcBef>
              <a:spcAft>
                <a:spcPts val="0"/>
              </a:spcAft>
              <a:buClr>
                <a:srgbClr val="541900"/>
              </a:buClr>
              <a:buSzPct val="100000"/>
              <a:buChar char="●"/>
            </a:pPr>
            <a:r>
              <a:rPr lang="en" sz="1900" dirty="0">
                <a:solidFill>
                  <a:schemeClr val="dk1"/>
                </a:solidFill>
              </a:rPr>
              <a:t>Refine your model using information gathered by GenAI.</a:t>
            </a:r>
            <a:endParaRPr sz="1900" dirty="0">
              <a:solidFill>
                <a:schemeClr val="dk1"/>
              </a:solidFill>
            </a:endParaRPr>
          </a:p>
        </p:txBody>
      </p:sp>
      <p:pic>
        <p:nvPicPr>
          <p:cNvPr id="74" name="Google Shape;74;p15" title="PXL_20231208_203932984~2.jpg"/>
          <p:cNvPicPr preferRelativeResize="0"/>
          <p:nvPr/>
        </p:nvPicPr>
        <p:blipFill rotWithShape="1">
          <a:blip r:embed="rId3">
            <a:alphaModFix/>
          </a:blip>
          <a:srcRect l="36387" t="3026"/>
          <a:stretch/>
        </p:blipFill>
        <p:spPr>
          <a:xfrm>
            <a:off x="4978400" y="0"/>
            <a:ext cx="4054825" cy="4654026"/>
          </a:xfrm>
          <a:prstGeom prst="rect">
            <a:avLst/>
          </a:prstGeom>
          <a:noFill/>
          <a:ln>
            <a:noFill/>
          </a:ln>
        </p:spPr>
      </p:pic>
      <p:sp>
        <p:nvSpPr>
          <p:cNvPr id="75" name="Google Shape;75;p15"/>
          <p:cNvSpPr txBox="1"/>
          <p:nvPr/>
        </p:nvSpPr>
        <p:spPr>
          <a:xfrm>
            <a:off x="6269900" y="4654025"/>
            <a:ext cx="1490700" cy="60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chemeClr val="dk2"/>
                </a:solidFill>
              </a:rPr>
              <a:t>Crystal Cove State Park</a:t>
            </a:r>
            <a:endParaRPr sz="800" b="1">
              <a:solidFill>
                <a:schemeClr val="dk2"/>
              </a:solidFill>
            </a:endParaRPr>
          </a:p>
          <a:p>
            <a:pPr marL="0" lvl="0" indent="0" algn="ctr" rtl="0">
              <a:spcBef>
                <a:spcPts val="0"/>
              </a:spcBef>
              <a:spcAft>
                <a:spcPts val="0"/>
              </a:spcAft>
              <a:buNone/>
            </a:pPr>
            <a:r>
              <a:rPr lang="en" sz="800" b="1">
                <a:solidFill>
                  <a:schemeClr val="dk2"/>
                </a:solidFill>
              </a:rPr>
              <a:t>Newport Beach, California</a:t>
            </a:r>
            <a:endParaRPr sz="800" b="1">
              <a:solidFill>
                <a:schemeClr val="dk2"/>
              </a:solidFill>
            </a:endParaRPr>
          </a:p>
        </p:txBody>
      </p:sp>
      <p:sp>
        <p:nvSpPr>
          <p:cNvPr id="76" name="Google Shape;76;p15"/>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rgbClr val="000000"/>
                </a:solidFill>
              </a:rPr>
              <a:t>Module </a:t>
            </a:r>
            <a:r>
              <a:rPr lang="en" sz="1200"/>
              <a:t>2.2 Refining Your Model with Generative AI</a:t>
            </a:r>
            <a:br>
              <a:rPr lang="en" sz="1200">
                <a:solidFill>
                  <a:srgbClr val="000000"/>
                </a:solidFill>
              </a:rPr>
            </a:br>
            <a:r>
              <a:rPr lang="en" sz="1200"/>
              <a:t>Slide 3</a:t>
            </a:r>
            <a:endParaRPr sz="12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80"/>
        <p:cNvGrpSpPr/>
        <p:nvPr/>
      </p:nvGrpSpPr>
      <p:grpSpPr>
        <a:xfrm>
          <a:off x="0" y="0"/>
          <a:ext cx="0" cy="0"/>
          <a:chOff x="0" y="0"/>
          <a:chExt cx="0" cy="0"/>
        </a:xfrm>
      </p:grpSpPr>
      <p:sp>
        <p:nvSpPr>
          <p:cNvPr id="81" name="Google Shape;81;p16"/>
          <p:cNvSpPr txBox="1">
            <a:spLocks noGrp="1"/>
          </p:cNvSpPr>
          <p:nvPr>
            <p:ph type="title"/>
          </p:nvPr>
        </p:nvSpPr>
        <p:spPr>
          <a:xfrm>
            <a:off x="311700" y="445025"/>
            <a:ext cx="8520600" cy="84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Class Discussion</a:t>
            </a:r>
            <a:endParaRPr sz="4500" b="1">
              <a:solidFill>
                <a:srgbClr val="541900"/>
              </a:solidFill>
            </a:endParaRPr>
          </a:p>
        </p:txBody>
      </p:sp>
      <p:sp>
        <p:nvSpPr>
          <p:cNvPr id="82" name="Google Shape;82;p16"/>
          <p:cNvSpPr txBox="1">
            <a:spLocks noGrp="1"/>
          </p:cNvSpPr>
          <p:nvPr>
            <p:ph type="body" idx="4294967295"/>
          </p:nvPr>
        </p:nvSpPr>
        <p:spPr>
          <a:xfrm>
            <a:off x="311700" y="1938175"/>
            <a:ext cx="8520300" cy="3338400"/>
          </a:xfrm>
          <a:prstGeom prst="rect">
            <a:avLst/>
          </a:prstGeom>
        </p:spPr>
        <p:txBody>
          <a:bodyPr spcFirstLastPara="1" wrap="square" lIns="91425" tIns="91425" rIns="91425" bIns="91425" anchor="t" anchorCtr="0">
            <a:normAutofit/>
          </a:bodyPr>
          <a:lstStyle/>
          <a:p>
            <a:pPr marL="457200" lvl="0" indent="-355600" algn="l" rtl="0">
              <a:lnSpc>
                <a:spcPct val="100000"/>
              </a:lnSpc>
              <a:spcBef>
                <a:spcPts val="0"/>
              </a:spcBef>
              <a:spcAft>
                <a:spcPts val="0"/>
              </a:spcAft>
              <a:buClr>
                <a:srgbClr val="541900"/>
              </a:buClr>
              <a:buSzPts val="2000"/>
              <a:buChar char="●"/>
            </a:pPr>
            <a:r>
              <a:rPr lang="en" sz="2000">
                <a:solidFill>
                  <a:schemeClr val="dk1"/>
                </a:solidFill>
              </a:rPr>
              <a:t>How have you collected information for your models so far? How did this information contribute to your model?</a:t>
            </a:r>
            <a:endParaRPr sz="2000">
              <a:solidFill>
                <a:schemeClr val="dk1"/>
              </a:solidFill>
            </a:endParaRPr>
          </a:p>
          <a:p>
            <a:pPr marL="457200" lvl="0" indent="-355600" algn="l" rtl="0">
              <a:lnSpc>
                <a:spcPct val="100000"/>
              </a:lnSpc>
              <a:spcBef>
                <a:spcPts val="1000"/>
              </a:spcBef>
              <a:spcAft>
                <a:spcPts val="0"/>
              </a:spcAft>
              <a:buClr>
                <a:srgbClr val="541900"/>
              </a:buClr>
              <a:buSzPts val="2000"/>
              <a:buChar char="●"/>
            </a:pPr>
            <a:r>
              <a:rPr lang="en" sz="2000">
                <a:solidFill>
                  <a:schemeClr val="dk1"/>
                </a:solidFill>
              </a:rPr>
              <a:t>How else may a scientist collect information?</a:t>
            </a:r>
            <a:endParaRPr sz="2000">
              <a:solidFill>
                <a:schemeClr val="dk1"/>
              </a:solidFill>
            </a:endParaRPr>
          </a:p>
          <a:p>
            <a:pPr marL="0" lvl="0" indent="0" algn="l" rtl="0">
              <a:lnSpc>
                <a:spcPct val="100000"/>
              </a:lnSpc>
              <a:spcBef>
                <a:spcPts val="1000"/>
              </a:spcBef>
              <a:spcAft>
                <a:spcPts val="0"/>
              </a:spcAft>
              <a:buNone/>
            </a:pPr>
            <a:endParaRPr sz="2000">
              <a:solidFill>
                <a:schemeClr val="dk1"/>
              </a:solidFill>
            </a:endParaRPr>
          </a:p>
          <a:p>
            <a:pPr marL="0" lvl="0" indent="0" algn="l" rtl="0">
              <a:lnSpc>
                <a:spcPct val="100000"/>
              </a:lnSpc>
              <a:spcBef>
                <a:spcPts val="1000"/>
              </a:spcBef>
              <a:spcAft>
                <a:spcPts val="0"/>
              </a:spcAft>
              <a:buNone/>
            </a:pPr>
            <a:endParaRPr sz="2000">
              <a:solidFill>
                <a:schemeClr val="dk1"/>
              </a:solidFill>
            </a:endParaRPr>
          </a:p>
        </p:txBody>
      </p:sp>
      <p:sp>
        <p:nvSpPr>
          <p:cNvPr id="83" name="Google Shape;83;p16"/>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rPr>
              <a:t>Module 2.2 Refining Your Model with Generative AI</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4</a:t>
            </a:r>
            <a:endParaRPr sz="1200">
              <a:solidFill>
                <a:schemeClr val="dk1"/>
              </a:solidFill>
              <a:latin typeface="Arial"/>
              <a:ea typeface="Arial"/>
              <a:cs typeface="Arial"/>
              <a:sym typeface="Arial"/>
            </a:endParaRPr>
          </a:p>
        </p:txBody>
      </p:sp>
      <p:sp>
        <p:nvSpPr>
          <p:cNvPr id="84" name="Google Shape;84;p16"/>
          <p:cNvSpPr txBox="1">
            <a:spLocks noGrp="1"/>
          </p:cNvSpPr>
          <p:nvPr>
            <p:ph type="body" idx="4294967295"/>
          </p:nvPr>
        </p:nvSpPr>
        <p:spPr>
          <a:xfrm>
            <a:off x="311900" y="1293125"/>
            <a:ext cx="8520300" cy="742500"/>
          </a:xfrm>
          <a:prstGeom prst="rect">
            <a:avLst/>
          </a:prstGeom>
        </p:spPr>
        <p:txBody>
          <a:bodyPr spcFirstLastPara="1" wrap="square" lIns="91425" tIns="91425" rIns="91425" bIns="91425" anchor="t" anchorCtr="0">
            <a:normAutofit lnSpcReduction="10000"/>
          </a:bodyPr>
          <a:lstStyle/>
          <a:p>
            <a:pPr marL="0" lvl="0" indent="0" algn="l" rtl="0">
              <a:lnSpc>
                <a:spcPct val="100000"/>
              </a:lnSpc>
              <a:spcBef>
                <a:spcPts val="0"/>
              </a:spcBef>
              <a:spcAft>
                <a:spcPts val="0"/>
              </a:spcAft>
              <a:buNone/>
            </a:pPr>
            <a:r>
              <a:rPr lang="en" sz="2000">
                <a:solidFill>
                  <a:srgbClr val="355E3B"/>
                </a:solidFill>
              </a:rPr>
              <a:t>As a class, take a moment to reflect and discuss on your experience gathering data so far.</a:t>
            </a:r>
            <a:endParaRPr sz="2000">
              <a:solidFill>
                <a:srgbClr val="355E3B"/>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a:off x="4572000" y="445025"/>
            <a:ext cx="4543500" cy="116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300" b="1">
                <a:solidFill>
                  <a:srgbClr val="541900"/>
                </a:solidFill>
              </a:rPr>
              <a:t>Our AI Chatbot Platform: AISciComm</a:t>
            </a:r>
            <a:endParaRPr sz="3300" b="1">
              <a:solidFill>
                <a:srgbClr val="541900"/>
              </a:solidFill>
            </a:endParaRPr>
          </a:p>
          <a:p>
            <a:pPr marL="0" lvl="0" indent="0" algn="ctr" rtl="0">
              <a:spcBef>
                <a:spcPts val="0"/>
              </a:spcBef>
              <a:spcAft>
                <a:spcPts val="0"/>
              </a:spcAft>
              <a:buNone/>
            </a:pPr>
            <a:endParaRPr sz="4200" b="1">
              <a:solidFill>
                <a:srgbClr val="541900"/>
              </a:solidFill>
            </a:endParaRPr>
          </a:p>
        </p:txBody>
      </p:sp>
      <p:sp>
        <p:nvSpPr>
          <p:cNvPr id="90" name="Google Shape;90;p17"/>
          <p:cNvSpPr txBox="1">
            <a:spLocks noGrp="1"/>
          </p:cNvSpPr>
          <p:nvPr>
            <p:ph type="body" idx="2"/>
          </p:nvPr>
        </p:nvSpPr>
        <p:spPr>
          <a:xfrm>
            <a:off x="4572000" y="1608425"/>
            <a:ext cx="4543500" cy="22596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 sz="1800">
                <a:solidFill>
                  <a:srgbClr val="355E3B"/>
                </a:solidFill>
              </a:rPr>
              <a:t>Just like you interviewed community members, when creating the chatbots, so did we. Each individual chatbot character was created by feeding them information from interviews with several people, who identify with the characters. </a:t>
            </a:r>
            <a:endParaRPr sz="2000">
              <a:solidFill>
                <a:srgbClr val="355E3B"/>
              </a:solidFill>
            </a:endParaRPr>
          </a:p>
          <a:p>
            <a:pPr marL="0" lvl="0" indent="0" algn="l" rtl="0">
              <a:lnSpc>
                <a:spcPct val="100000"/>
              </a:lnSpc>
              <a:spcBef>
                <a:spcPts val="1200"/>
              </a:spcBef>
              <a:spcAft>
                <a:spcPts val="0"/>
              </a:spcAft>
              <a:buNone/>
            </a:pPr>
            <a:endParaRPr sz="2000">
              <a:solidFill>
                <a:schemeClr val="dk1"/>
              </a:solidFill>
            </a:endParaRPr>
          </a:p>
          <a:p>
            <a:pPr marL="0" lvl="0" indent="0" algn="l" rtl="0">
              <a:lnSpc>
                <a:spcPct val="100000"/>
              </a:lnSpc>
              <a:spcBef>
                <a:spcPts val="0"/>
              </a:spcBef>
              <a:spcAft>
                <a:spcPts val="0"/>
              </a:spcAft>
              <a:buNone/>
            </a:pPr>
            <a:r>
              <a:rPr lang="en" sz="1892">
                <a:solidFill>
                  <a:schemeClr val="dk1"/>
                </a:solidFill>
              </a:rPr>
              <a:t>Chatbot link: </a:t>
            </a:r>
            <a:r>
              <a:rPr lang="en" sz="1892" u="sng">
                <a:solidFill>
                  <a:schemeClr val="hlink"/>
                </a:solidFill>
                <a:hlinkClick r:id="rId3"/>
              </a:rPr>
              <a:t>https://aiscicomm.vercel.app/</a:t>
            </a:r>
            <a:endParaRPr sz="1892">
              <a:solidFill>
                <a:schemeClr val="dk1"/>
              </a:solidFill>
            </a:endParaRPr>
          </a:p>
        </p:txBody>
      </p:sp>
      <p:sp>
        <p:nvSpPr>
          <p:cNvPr id="91" name="Google Shape;91;p17"/>
          <p:cNvSpPr/>
          <p:nvPr/>
        </p:nvSpPr>
        <p:spPr>
          <a:xfrm>
            <a:off x="0" y="0"/>
            <a:ext cx="4224900" cy="5143500"/>
          </a:xfrm>
          <a:prstGeom prst="rect">
            <a:avLst/>
          </a:prstGeom>
          <a:solidFill>
            <a:srgbClr val="9FA61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Photo Space</a:t>
            </a:r>
            <a:endParaRPr sz="1200"/>
          </a:p>
        </p:txBody>
      </p:sp>
      <p:sp>
        <p:nvSpPr>
          <p:cNvPr id="92" name="Google Shape;92;p17"/>
          <p:cNvSpPr txBox="1">
            <a:spLocks noGrp="1"/>
          </p:cNvSpPr>
          <p:nvPr>
            <p:ph type="body" idx="1"/>
          </p:nvPr>
        </p:nvSpPr>
        <p:spPr>
          <a:xfrm>
            <a:off x="4759800" y="4571275"/>
            <a:ext cx="4343400" cy="324300"/>
          </a:xfrm>
          <a:prstGeom prst="rect">
            <a:avLst/>
          </a:prstGeom>
        </p:spPr>
        <p:txBody>
          <a:bodyPr spcFirstLastPara="1" wrap="square" lIns="91425" tIns="91425" rIns="91425" bIns="91425" anchor="t" anchorCtr="0">
            <a:noAutofit/>
          </a:bodyPr>
          <a:lstStyle/>
          <a:p>
            <a:pPr marL="0" lvl="0" indent="0" algn="r" rtl="0">
              <a:spcBef>
                <a:spcPts val="0"/>
              </a:spcBef>
              <a:spcAft>
                <a:spcPts val="1200"/>
              </a:spcAft>
              <a:buClr>
                <a:schemeClr val="dk1"/>
              </a:buClr>
              <a:buSzPts val="1100"/>
              <a:buFont typeface="Arial"/>
              <a:buNone/>
            </a:pPr>
            <a:r>
              <a:rPr lang="en" sz="1200">
                <a:solidFill>
                  <a:schemeClr val="dk1"/>
                </a:solidFill>
              </a:rPr>
              <a:t>Module 2.2 Refining Your Model with Generative AI</a:t>
            </a:r>
            <a:br>
              <a:rPr lang="en" sz="1200">
                <a:solidFill>
                  <a:schemeClr val="dk1"/>
                </a:solidFill>
              </a:rPr>
            </a:br>
            <a:r>
              <a:rPr lang="en" sz="1200">
                <a:solidFill>
                  <a:schemeClr val="dk1"/>
                </a:solidFill>
              </a:rPr>
              <a:t>Slide 5</a:t>
            </a:r>
            <a:endParaRPr sz="1200">
              <a:solidFill>
                <a:schemeClr val="dk1"/>
              </a:solidFill>
              <a:latin typeface="Arial"/>
              <a:ea typeface="Arial"/>
              <a:cs typeface="Arial"/>
              <a:sym typeface="Arial"/>
            </a:endParaRPr>
          </a:p>
        </p:txBody>
      </p:sp>
      <p:pic>
        <p:nvPicPr>
          <p:cNvPr id="93" name="Google Shape;93;p17" title="Screenshot 2025-04-16 at 9.45.16 AM.png"/>
          <p:cNvPicPr preferRelativeResize="0"/>
          <p:nvPr/>
        </p:nvPicPr>
        <p:blipFill>
          <a:blip r:embed="rId4">
            <a:alphaModFix/>
          </a:blip>
          <a:stretch>
            <a:fillRect/>
          </a:stretch>
        </p:blipFill>
        <p:spPr>
          <a:xfrm>
            <a:off x="-6" y="1257725"/>
            <a:ext cx="4224899" cy="262805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97"/>
        <p:cNvGrpSpPr/>
        <p:nvPr/>
      </p:nvGrpSpPr>
      <p:grpSpPr>
        <a:xfrm>
          <a:off x="0" y="0"/>
          <a:ext cx="0" cy="0"/>
          <a:chOff x="0" y="0"/>
          <a:chExt cx="0" cy="0"/>
        </a:xfrm>
      </p:grpSpPr>
      <p:sp>
        <p:nvSpPr>
          <p:cNvPr id="98" name="Google Shape;98;p18"/>
          <p:cNvSpPr txBox="1">
            <a:spLocks noGrp="1"/>
          </p:cNvSpPr>
          <p:nvPr>
            <p:ph type="title"/>
          </p:nvPr>
        </p:nvSpPr>
        <p:spPr>
          <a:xfrm>
            <a:off x="4572000" y="445025"/>
            <a:ext cx="4543500" cy="66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300" b="1">
                <a:solidFill>
                  <a:srgbClr val="541900"/>
                </a:solidFill>
              </a:rPr>
              <a:t>Explore the Chatbots</a:t>
            </a:r>
            <a:endParaRPr sz="3300" b="1">
              <a:solidFill>
                <a:srgbClr val="541900"/>
              </a:solidFill>
            </a:endParaRPr>
          </a:p>
          <a:p>
            <a:pPr marL="0" lvl="0" indent="0" algn="ctr" rtl="0">
              <a:spcBef>
                <a:spcPts val="0"/>
              </a:spcBef>
              <a:spcAft>
                <a:spcPts val="0"/>
              </a:spcAft>
              <a:buNone/>
            </a:pPr>
            <a:endParaRPr sz="4200" b="1">
              <a:solidFill>
                <a:srgbClr val="541900"/>
              </a:solidFill>
            </a:endParaRPr>
          </a:p>
        </p:txBody>
      </p:sp>
      <p:sp>
        <p:nvSpPr>
          <p:cNvPr id="99" name="Google Shape;99;p18"/>
          <p:cNvSpPr txBox="1">
            <a:spLocks noGrp="1"/>
          </p:cNvSpPr>
          <p:nvPr>
            <p:ph type="body" idx="2"/>
          </p:nvPr>
        </p:nvSpPr>
        <p:spPr>
          <a:xfrm>
            <a:off x="4572000" y="1111025"/>
            <a:ext cx="4543500" cy="6660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1200"/>
              </a:spcAft>
              <a:buNone/>
            </a:pPr>
            <a:r>
              <a:rPr lang="en" sz="1600">
                <a:solidFill>
                  <a:srgbClr val="355E3B"/>
                </a:solidFill>
              </a:rPr>
              <a:t>With your team, take three minutes to explore the chatbots and the platforms.</a:t>
            </a:r>
            <a:endParaRPr sz="1800">
              <a:solidFill>
                <a:schemeClr val="dk1"/>
              </a:solidFill>
            </a:endParaRPr>
          </a:p>
        </p:txBody>
      </p:sp>
      <p:sp>
        <p:nvSpPr>
          <p:cNvPr id="100" name="Google Shape;100;p18"/>
          <p:cNvSpPr/>
          <p:nvPr/>
        </p:nvSpPr>
        <p:spPr>
          <a:xfrm>
            <a:off x="0" y="0"/>
            <a:ext cx="4224900" cy="5143500"/>
          </a:xfrm>
          <a:prstGeom prst="rect">
            <a:avLst/>
          </a:prstGeom>
          <a:solidFill>
            <a:srgbClr val="9FA61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Photo Space</a:t>
            </a:r>
            <a:endParaRPr sz="1200"/>
          </a:p>
        </p:txBody>
      </p:sp>
      <p:sp>
        <p:nvSpPr>
          <p:cNvPr id="101" name="Google Shape;101;p18"/>
          <p:cNvSpPr txBox="1">
            <a:spLocks noGrp="1"/>
          </p:cNvSpPr>
          <p:nvPr>
            <p:ph type="body" idx="1"/>
          </p:nvPr>
        </p:nvSpPr>
        <p:spPr>
          <a:xfrm>
            <a:off x="4759800" y="4571275"/>
            <a:ext cx="4343400" cy="324300"/>
          </a:xfrm>
          <a:prstGeom prst="rect">
            <a:avLst/>
          </a:prstGeom>
        </p:spPr>
        <p:txBody>
          <a:bodyPr spcFirstLastPara="1" wrap="square" lIns="91425" tIns="91425" rIns="91425" bIns="91425" anchor="t" anchorCtr="0">
            <a:noAutofit/>
          </a:bodyPr>
          <a:lstStyle/>
          <a:p>
            <a:pPr marL="0" lvl="0" indent="0" algn="r" rtl="0">
              <a:spcBef>
                <a:spcPts val="0"/>
              </a:spcBef>
              <a:spcAft>
                <a:spcPts val="1200"/>
              </a:spcAft>
              <a:buClr>
                <a:schemeClr val="dk1"/>
              </a:buClr>
              <a:buSzPts val="1100"/>
              <a:buFont typeface="Arial"/>
              <a:buNone/>
            </a:pPr>
            <a:r>
              <a:rPr lang="en" sz="1200">
                <a:solidFill>
                  <a:schemeClr val="dk1"/>
                </a:solidFill>
              </a:rPr>
              <a:t>Module 2.2 Refining Your Model with Generative AI</a:t>
            </a:r>
            <a:br>
              <a:rPr lang="en" sz="1200">
                <a:solidFill>
                  <a:schemeClr val="dk1"/>
                </a:solidFill>
              </a:rPr>
            </a:br>
            <a:r>
              <a:rPr lang="en" sz="1200">
                <a:solidFill>
                  <a:schemeClr val="dk1"/>
                </a:solidFill>
              </a:rPr>
              <a:t>Slide 6</a:t>
            </a:r>
            <a:endParaRPr sz="1200">
              <a:solidFill>
                <a:schemeClr val="dk1"/>
              </a:solidFill>
              <a:latin typeface="Arial"/>
              <a:ea typeface="Arial"/>
              <a:cs typeface="Arial"/>
              <a:sym typeface="Arial"/>
            </a:endParaRPr>
          </a:p>
        </p:txBody>
      </p:sp>
      <p:pic>
        <p:nvPicPr>
          <p:cNvPr id="102" name="Google Shape;102;p18" title="Screenshot 2025-04-16 at 9.45.16 AM.png"/>
          <p:cNvPicPr preferRelativeResize="0"/>
          <p:nvPr/>
        </p:nvPicPr>
        <p:blipFill>
          <a:blip r:embed="rId3">
            <a:alphaModFix/>
          </a:blip>
          <a:stretch>
            <a:fillRect/>
          </a:stretch>
        </p:blipFill>
        <p:spPr>
          <a:xfrm>
            <a:off x="-6" y="1257725"/>
            <a:ext cx="4224899" cy="2628052"/>
          </a:xfrm>
          <a:prstGeom prst="rect">
            <a:avLst/>
          </a:prstGeom>
          <a:noFill/>
          <a:ln>
            <a:noFill/>
          </a:ln>
        </p:spPr>
      </p:pic>
      <p:sp>
        <p:nvSpPr>
          <p:cNvPr id="103" name="Google Shape;103;p18"/>
          <p:cNvSpPr txBox="1"/>
          <p:nvPr/>
        </p:nvSpPr>
        <p:spPr>
          <a:xfrm>
            <a:off x="4644800" y="3770875"/>
            <a:ext cx="45435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a:solidFill>
                  <a:schemeClr val="dk1"/>
                </a:solidFill>
              </a:rPr>
              <a:t>Chatbot link: </a:t>
            </a:r>
            <a:r>
              <a:rPr lang="en" sz="1700" u="sng">
                <a:solidFill>
                  <a:schemeClr val="accent5"/>
                </a:solidFill>
                <a:hlinkClick r:id="rId4">
                  <a:extLst>
                    <a:ext uri="{A12FA001-AC4F-418D-AE19-62706E023703}">
                      <ahyp:hlinkClr xmlns:ahyp="http://schemas.microsoft.com/office/drawing/2018/hyperlinkcolor" val="tx"/>
                    </a:ext>
                  </a:extLst>
                </a:hlinkClick>
              </a:rPr>
              <a:t>https://aiscicomm.vercel.app/</a:t>
            </a:r>
            <a:endParaRPr sz="1700">
              <a:solidFill>
                <a:schemeClr val="dk1"/>
              </a:solidFill>
            </a:endParaRPr>
          </a:p>
        </p:txBody>
      </p:sp>
      <p:sp>
        <p:nvSpPr>
          <p:cNvPr id="104" name="Google Shape;104;p18"/>
          <p:cNvSpPr txBox="1">
            <a:spLocks noGrp="1"/>
          </p:cNvSpPr>
          <p:nvPr>
            <p:ph type="body" idx="2"/>
          </p:nvPr>
        </p:nvSpPr>
        <p:spPr>
          <a:xfrm>
            <a:off x="4572000" y="1777025"/>
            <a:ext cx="4543500" cy="209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853"/>
              <a:buNone/>
            </a:pPr>
            <a:r>
              <a:rPr lang="en">
                <a:solidFill>
                  <a:schemeClr val="dk1"/>
                </a:solidFill>
              </a:rPr>
              <a:t>After you explore discuss the following with the class:</a:t>
            </a:r>
            <a:endParaRPr>
              <a:solidFill>
                <a:schemeClr val="dk1"/>
              </a:solidFill>
            </a:endParaRPr>
          </a:p>
          <a:p>
            <a:pPr marL="457200" lvl="0" indent="-317500" algn="l" rtl="0">
              <a:spcBef>
                <a:spcPts val="1200"/>
              </a:spcBef>
              <a:spcAft>
                <a:spcPts val="0"/>
              </a:spcAft>
              <a:buClr>
                <a:srgbClr val="541900"/>
              </a:buClr>
              <a:buSzPts val="1400"/>
              <a:buChar char="●"/>
            </a:pPr>
            <a:r>
              <a:rPr lang="en">
                <a:solidFill>
                  <a:schemeClr val="dk1"/>
                </a:solidFill>
              </a:rPr>
              <a:t>What did you try asking or doing with the chatbots?</a:t>
            </a:r>
            <a:endParaRPr>
              <a:solidFill>
                <a:schemeClr val="dk1"/>
              </a:solidFill>
            </a:endParaRPr>
          </a:p>
          <a:p>
            <a:pPr marL="457200" lvl="0" indent="-317500" algn="l" rtl="0">
              <a:spcBef>
                <a:spcPts val="0"/>
              </a:spcBef>
              <a:spcAft>
                <a:spcPts val="0"/>
              </a:spcAft>
              <a:buClr>
                <a:srgbClr val="541900"/>
              </a:buClr>
              <a:buSzPts val="1400"/>
              <a:buChar char="●"/>
            </a:pPr>
            <a:r>
              <a:rPr lang="en">
                <a:solidFill>
                  <a:schemeClr val="dk1"/>
                </a:solidFill>
              </a:rPr>
              <a:t>What types of questions did it seem to handle well?</a:t>
            </a:r>
            <a:endParaRPr>
              <a:solidFill>
                <a:schemeClr val="dk1"/>
              </a:solidFill>
            </a:endParaRPr>
          </a:p>
          <a:p>
            <a:pPr marL="457200" lvl="0" indent="-317500" algn="l" rtl="0">
              <a:spcBef>
                <a:spcPts val="0"/>
              </a:spcBef>
              <a:spcAft>
                <a:spcPts val="0"/>
              </a:spcAft>
              <a:buClr>
                <a:srgbClr val="541900"/>
              </a:buClr>
              <a:buSzPts val="1400"/>
              <a:buChar char="●"/>
            </a:pPr>
            <a:r>
              <a:rPr lang="en">
                <a:solidFill>
                  <a:schemeClr val="dk1"/>
                </a:solidFill>
              </a:rPr>
              <a:t>What surprised you about how the chatbot responded?</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08"/>
        <p:cNvGrpSpPr/>
        <p:nvPr/>
      </p:nvGrpSpPr>
      <p:grpSpPr>
        <a:xfrm>
          <a:off x="0" y="0"/>
          <a:ext cx="0" cy="0"/>
          <a:chOff x="0" y="0"/>
          <a:chExt cx="0" cy="0"/>
        </a:xfrm>
      </p:grpSpPr>
      <p:graphicFrame>
        <p:nvGraphicFramePr>
          <p:cNvPr id="109" name="Google Shape;109;p19"/>
          <p:cNvGraphicFramePr/>
          <p:nvPr/>
        </p:nvGraphicFramePr>
        <p:xfrm>
          <a:off x="719313" y="2264550"/>
          <a:ext cx="7718700" cy="2325255"/>
        </p:xfrm>
        <a:graphic>
          <a:graphicData uri="http://schemas.openxmlformats.org/drawingml/2006/table">
            <a:tbl>
              <a:tblPr>
                <a:noFill/>
                <a:tableStyleId>{A6902C3E-1813-44F8-9D3A-19E2CB75772F}</a:tableStyleId>
              </a:tblPr>
              <a:tblGrid>
                <a:gridCol w="2572900">
                  <a:extLst>
                    <a:ext uri="{9D8B030D-6E8A-4147-A177-3AD203B41FA5}">
                      <a16:colId xmlns:a16="http://schemas.microsoft.com/office/drawing/2014/main" val="20000"/>
                    </a:ext>
                  </a:extLst>
                </a:gridCol>
                <a:gridCol w="2572900">
                  <a:extLst>
                    <a:ext uri="{9D8B030D-6E8A-4147-A177-3AD203B41FA5}">
                      <a16:colId xmlns:a16="http://schemas.microsoft.com/office/drawing/2014/main" val="20001"/>
                    </a:ext>
                  </a:extLst>
                </a:gridCol>
                <a:gridCol w="2572900">
                  <a:extLst>
                    <a:ext uri="{9D8B030D-6E8A-4147-A177-3AD203B41FA5}">
                      <a16:colId xmlns:a16="http://schemas.microsoft.com/office/drawing/2014/main" val="20002"/>
                    </a:ext>
                  </a:extLst>
                </a:gridCol>
              </a:tblGrid>
              <a:tr h="804400">
                <a:tc>
                  <a:txBody>
                    <a:bodyPr/>
                    <a:lstStyle/>
                    <a:p>
                      <a:pPr marL="0" lvl="0" indent="0" algn="ctr" rtl="0">
                        <a:spcBef>
                          <a:spcPts val="0"/>
                        </a:spcBef>
                        <a:spcAft>
                          <a:spcPts val="0"/>
                        </a:spcAft>
                        <a:buNone/>
                      </a:pPr>
                      <a:r>
                        <a:rPr lang="en" b="1">
                          <a:solidFill>
                            <a:schemeClr val="lt1"/>
                          </a:solidFill>
                        </a:rPr>
                        <a:t>What questions do you have about your model?</a:t>
                      </a:r>
                      <a:endParaRPr b="1">
                        <a:solidFill>
                          <a:schemeClr val="lt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rgbClr val="000000"/>
                      </a:solidFill>
                      <a:prstDash val="solid"/>
                      <a:round/>
                      <a:headEnd type="none" w="sm" len="sm"/>
                      <a:tailEnd type="none" w="sm" len="sm"/>
                    </a:lnB>
                    <a:solidFill>
                      <a:srgbClr val="355E3B"/>
                    </a:solidFill>
                  </a:tcPr>
                </a:tc>
                <a:tc>
                  <a:txBody>
                    <a:bodyPr/>
                    <a:lstStyle/>
                    <a:p>
                      <a:pPr marL="0" lvl="0" indent="0" algn="ctr" rtl="0">
                        <a:spcBef>
                          <a:spcPts val="0"/>
                        </a:spcBef>
                        <a:spcAft>
                          <a:spcPts val="0"/>
                        </a:spcAft>
                        <a:buNone/>
                      </a:pPr>
                      <a:r>
                        <a:rPr lang="en" b="1">
                          <a:solidFill>
                            <a:schemeClr val="lt1"/>
                          </a:solidFill>
                        </a:rPr>
                        <a:t>Who can help you gather more information to answer your question?</a:t>
                      </a:r>
                      <a:endParaRPr b="1">
                        <a:solidFill>
                          <a:schemeClr val="lt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rgbClr val="000000"/>
                      </a:solidFill>
                      <a:prstDash val="solid"/>
                      <a:round/>
                      <a:headEnd type="none" w="sm" len="sm"/>
                      <a:tailEnd type="none" w="sm" len="sm"/>
                    </a:lnB>
                    <a:solidFill>
                      <a:srgbClr val="355E3B"/>
                    </a:solidFill>
                  </a:tcPr>
                </a:tc>
                <a:tc>
                  <a:txBody>
                    <a:bodyPr/>
                    <a:lstStyle/>
                    <a:p>
                      <a:pPr marL="0" lvl="0" indent="0" algn="ctr" rtl="0">
                        <a:spcBef>
                          <a:spcPts val="0"/>
                        </a:spcBef>
                        <a:spcAft>
                          <a:spcPts val="0"/>
                        </a:spcAft>
                        <a:buNone/>
                      </a:pPr>
                      <a:r>
                        <a:rPr lang="en" b="1">
                          <a:solidFill>
                            <a:schemeClr val="lt1"/>
                          </a:solidFill>
                        </a:rPr>
                        <a:t>After talking to the chatbots, what do you want to add to your model?</a:t>
                      </a:r>
                      <a:endParaRPr b="1">
                        <a:solidFill>
                          <a:schemeClr val="lt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rgbClr val="000000"/>
                      </a:solidFill>
                      <a:prstDash val="solid"/>
                      <a:round/>
                      <a:headEnd type="none" w="sm" len="sm"/>
                      <a:tailEnd type="none" w="sm" len="sm"/>
                    </a:lnB>
                    <a:solidFill>
                      <a:srgbClr val="355E3B"/>
                    </a:solidFill>
                  </a:tcPr>
                </a:tc>
                <a:extLst>
                  <a:ext uri="{0D108BD9-81ED-4DB2-BD59-A6C34878D82A}">
                    <a16:rowId xmlns:a16="http://schemas.microsoft.com/office/drawing/2014/main" val="10000"/>
                  </a:ext>
                </a:extLst>
              </a:tr>
              <a:tr h="1502325">
                <a:tc>
                  <a:txBody>
                    <a:bodyPr/>
                    <a:lstStyle/>
                    <a:p>
                      <a:pPr marL="0" lvl="0" indent="0" algn="l" rtl="0">
                        <a:spcBef>
                          <a:spcPts val="0"/>
                        </a:spcBef>
                        <a:spcAft>
                          <a:spcPts val="0"/>
                        </a:spcAft>
                        <a:buNone/>
                      </a:pPr>
                      <a:r>
                        <a:rPr lang="en" sz="1600">
                          <a:latin typeface="Calibri"/>
                          <a:ea typeface="Calibri"/>
                          <a:cs typeface="Calibri"/>
                          <a:sym typeface="Calibri"/>
                        </a:rPr>
                        <a:t>What can I measure to understand how ocean acidification affects fish populations?</a:t>
                      </a:r>
                      <a:endParaRPr sz="1600">
                        <a:latin typeface="Calibri"/>
                        <a:ea typeface="Calibri"/>
                        <a:cs typeface="Calibri"/>
                        <a:sym typeface="Calibri"/>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28600" lvl="0" indent="-57150" algn="l" rtl="0">
                        <a:spcBef>
                          <a:spcPts val="0"/>
                        </a:spcBef>
                        <a:spcAft>
                          <a:spcPts val="0"/>
                        </a:spcAft>
                        <a:buSzPts val="1800"/>
                        <a:buFont typeface="Calibri"/>
                        <a:buChar char="○"/>
                      </a:pPr>
                      <a:r>
                        <a:rPr lang="en" sz="1600">
                          <a:latin typeface="Calibri"/>
                          <a:ea typeface="Calibri"/>
                          <a:cs typeface="Calibri"/>
                          <a:sym typeface="Calibri"/>
                        </a:rPr>
                        <a:t>Civil Engineer </a:t>
                      </a:r>
                      <a:endParaRPr sz="1600">
                        <a:latin typeface="Calibri"/>
                        <a:ea typeface="Calibri"/>
                        <a:cs typeface="Calibri"/>
                        <a:sym typeface="Calibri"/>
                      </a:endParaRPr>
                    </a:p>
                    <a:p>
                      <a:pPr marL="228600" lvl="0" indent="-57150" algn="l" rtl="0">
                        <a:spcBef>
                          <a:spcPts val="0"/>
                        </a:spcBef>
                        <a:spcAft>
                          <a:spcPts val="0"/>
                        </a:spcAft>
                        <a:buSzPts val="1800"/>
                        <a:buFont typeface="Calibri"/>
                        <a:buChar char="○"/>
                      </a:pPr>
                      <a:r>
                        <a:rPr lang="en" sz="1600">
                          <a:latin typeface="Calibri"/>
                          <a:ea typeface="Calibri"/>
                          <a:cs typeface="Calibri"/>
                          <a:sym typeface="Calibri"/>
                        </a:rPr>
                        <a:t>Influencer</a:t>
                      </a:r>
                      <a:endParaRPr sz="1600">
                        <a:latin typeface="Calibri"/>
                        <a:ea typeface="Calibri"/>
                        <a:cs typeface="Calibri"/>
                        <a:sym typeface="Calibri"/>
                      </a:endParaRPr>
                    </a:p>
                    <a:p>
                      <a:pPr marL="228600" lvl="0" indent="-57150" algn="l" rtl="0">
                        <a:spcBef>
                          <a:spcPts val="0"/>
                        </a:spcBef>
                        <a:spcAft>
                          <a:spcPts val="0"/>
                        </a:spcAft>
                        <a:buSzPts val="1800"/>
                        <a:buFont typeface="Calibri"/>
                        <a:buChar char="○"/>
                      </a:pPr>
                      <a:r>
                        <a:rPr lang="en" sz="1600">
                          <a:latin typeface="Calibri"/>
                          <a:ea typeface="Calibri"/>
                          <a:cs typeface="Calibri"/>
                          <a:sym typeface="Calibri"/>
                        </a:rPr>
                        <a:t>Student</a:t>
                      </a:r>
                      <a:endParaRPr sz="1600">
                        <a:latin typeface="Calibri"/>
                        <a:ea typeface="Calibri"/>
                        <a:cs typeface="Calibri"/>
                        <a:sym typeface="Calibri"/>
                      </a:endParaRPr>
                    </a:p>
                    <a:p>
                      <a:pPr marL="228600" lvl="0" indent="-57150" algn="l" rtl="0">
                        <a:spcBef>
                          <a:spcPts val="0"/>
                        </a:spcBef>
                        <a:spcAft>
                          <a:spcPts val="0"/>
                        </a:spcAft>
                        <a:buSzPts val="1800"/>
                        <a:buFont typeface="Calibri"/>
                        <a:buChar char="●"/>
                      </a:pPr>
                      <a:r>
                        <a:rPr lang="en" sz="1600" b="1">
                          <a:latin typeface="Calibri"/>
                          <a:ea typeface="Calibri"/>
                          <a:cs typeface="Calibri"/>
                          <a:sym typeface="Calibri"/>
                        </a:rPr>
                        <a:t>Kelp Researcher</a:t>
                      </a:r>
                      <a:endParaRPr sz="1600" b="1">
                        <a:latin typeface="Calibri"/>
                        <a:ea typeface="Calibri"/>
                        <a:cs typeface="Calibri"/>
                        <a:sym typeface="Calibri"/>
                      </a:endParaRPr>
                    </a:p>
                    <a:p>
                      <a:pPr marL="228600" lvl="0" indent="-57150" algn="l" rtl="0">
                        <a:spcBef>
                          <a:spcPts val="0"/>
                        </a:spcBef>
                        <a:spcAft>
                          <a:spcPts val="0"/>
                        </a:spcAft>
                        <a:buSzPts val="1800"/>
                        <a:buFont typeface="Calibri"/>
                        <a:buChar char="●"/>
                      </a:pPr>
                      <a:r>
                        <a:rPr lang="en" sz="1600" b="1">
                          <a:latin typeface="Calibri"/>
                          <a:ea typeface="Calibri"/>
                          <a:cs typeface="Calibri"/>
                          <a:sym typeface="Calibri"/>
                        </a:rPr>
                        <a:t>Fisherman</a:t>
                      </a:r>
                      <a:endParaRPr sz="1600" b="1">
                        <a:latin typeface="Calibri"/>
                        <a:ea typeface="Calibri"/>
                        <a:cs typeface="Calibri"/>
                        <a:sym typeface="Calibri"/>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600">
                        <a:solidFill>
                          <a:schemeClr val="dk1"/>
                        </a:solidFill>
                        <a:latin typeface="Calibri"/>
                        <a:ea typeface="Calibri"/>
                        <a:cs typeface="Calibri"/>
                        <a:sym typeface="Calibri"/>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10" name="Google Shape;110;p19"/>
          <p:cNvSpPr txBox="1">
            <a:spLocks noGrp="1"/>
          </p:cNvSpPr>
          <p:nvPr>
            <p:ph type="title"/>
          </p:nvPr>
        </p:nvSpPr>
        <p:spPr>
          <a:xfrm>
            <a:off x="452925" y="87425"/>
            <a:ext cx="845000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b="1" dirty="0">
                <a:solidFill>
                  <a:srgbClr val="541900"/>
                </a:solidFill>
              </a:rPr>
              <a:t>Preparing Your Chatbot Interview</a:t>
            </a:r>
            <a:endParaRPr sz="3800" b="1" dirty="0">
              <a:solidFill>
                <a:srgbClr val="541900"/>
              </a:solidFill>
            </a:endParaRPr>
          </a:p>
        </p:txBody>
      </p:sp>
      <p:sp>
        <p:nvSpPr>
          <p:cNvPr id="111" name="Google Shape;111;p19"/>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2.2 Refining Your Model with Generative AI</a:t>
            </a:r>
            <a:br>
              <a:rPr lang="en" sz="1200">
                <a:solidFill>
                  <a:srgbClr val="000000"/>
                </a:solidFill>
              </a:rPr>
            </a:br>
            <a:r>
              <a:rPr lang="en" sz="1200"/>
              <a:t>Slide 7</a:t>
            </a:r>
            <a:endParaRPr sz="1200">
              <a:solidFill>
                <a:srgbClr val="000000"/>
              </a:solidFill>
            </a:endParaRPr>
          </a:p>
        </p:txBody>
      </p:sp>
      <p:sp>
        <p:nvSpPr>
          <p:cNvPr id="112" name="Google Shape;112;p19"/>
          <p:cNvSpPr txBox="1"/>
          <p:nvPr/>
        </p:nvSpPr>
        <p:spPr>
          <a:xfrm>
            <a:off x="452925" y="829950"/>
            <a:ext cx="8251500" cy="162503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dirty="0">
                <a:solidFill>
                  <a:srgbClr val="355E3B"/>
                </a:solidFill>
              </a:rPr>
              <a:t>With your team, think back to your model. What questions do you still have about your model? What would you like to learn more about? </a:t>
            </a:r>
            <a:endParaRPr sz="1600" dirty="0">
              <a:solidFill>
                <a:srgbClr val="355E3B"/>
              </a:solidFill>
            </a:endParaRPr>
          </a:p>
          <a:p>
            <a:pPr marL="0" lvl="0" indent="0" algn="l" rtl="0">
              <a:lnSpc>
                <a:spcPct val="115000"/>
              </a:lnSpc>
              <a:spcBef>
                <a:spcPts val="1200"/>
              </a:spcBef>
              <a:spcAft>
                <a:spcPts val="1200"/>
              </a:spcAft>
              <a:buNone/>
            </a:pPr>
            <a:r>
              <a:rPr lang="en" sz="1600" dirty="0">
                <a:solidFill>
                  <a:srgbClr val="355E3B"/>
                </a:solidFill>
              </a:rPr>
              <a:t>Have each team member create a question to investigate and add the questions in your </a:t>
            </a:r>
            <a:r>
              <a:rPr lang="en" sz="1600" dirty="0">
                <a:solidFill>
                  <a:srgbClr val="355E3A"/>
                </a:solidFill>
              </a:rPr>
              <a:t>Science Journal, </a:t>
            </a:r>
            <a:r>
              <a:rPr lang="en" sz="1600" dirty="0">
                <a:solidFill>
                  <a:srgbClr val="355E3B"/>
                </a:solidFill>
              </a:rPr>
              <a:t>p. 20-21.</a:t>
            </a:r>
            <a:endParaRPr sz="1600" dirty="0">
              <a:solidFill>
                <a:srgbClr val="355E3B"/>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16"/>
        <p:cNvGrpSpPr/>
        <p:nvPr/>
      </p:nvGrpSpPr>
      <p:grpSpPr>
        <a:xfrm>
          <a:off x="0" y="0"/>
          <a:ext cx="0" cy="0"/>
          <a:chOff x="0" y="0"/>
          <a:chExt cx="0" cy="0"/>
        </a:xfrm>
      </p:grpSpPr>
      <p:graphicFrame>
        <p:nvGraphicFramePr>
          <p:cNvPr id="117" name="Google Shape;117;p20"/>
          <p:cNvGraphicFramePr/>
          <p:nvPr/>
        </p:nvGraphicFramePr>
        <p:xfrm>
          <a:off x="719313" y="2264550"/>
          <a:ext cx="7718700" cy="2325255"/>
        </p:xfrm>
        <a:graphic>
          <a:graphicData uri="http://schemas.openxmlformats.org/drawingml/2006/table">
            <a:tbl>
              <a:tblPr>
                <a:noFill/>
                <a:tableStyleId>{A6902C3E-1813-44F8-9D3A-19E2CB75772F}</a:tableStyleId>
              </a:tblPr>
              <a:tblGrid>
                <a:gridCol w="2572900">
                  <a:extLst>
                    <a:ext uri="{9D8B030D-6E8A-4147-A177-3AD203B41FA5}">
                      <a16:colId xmlns:a16="http://schemas.microsoft.com/office/drawing/2014/main" val="20000"/>
                    </a:ext>
                  </a:extLst>
                </a:gridCol>
                <a:gridCol w="2572900">
                  <a:extLst>
                    <a:ext uri="{9D8B030D-6E8A-4147-A177-3AD203B41FA5}">
                      <a16:colId xmlns:a16="http://schemas.microsoft.com/office/drawing/2014/main" val="20001"/>
                    </a:ext>
                  </a:extLst>
                </a:gridCol>
                <a:gridCol w="2572900">
                  <a:extLst>
                    <a:ext uri="{9D8B030D-6E8A-4147-A177-3AD203B41FA5}">
                      <a16:colId xmlns:a16="http://schemas.microsoft.com/office/drawing/2014/main" val="20002"/>
                    </a:ext>
                  </a:extLst>
                </a:gridCol>
              </a:tblGrid>
              <a:tr h="804400">
                <a:tc>
                  <a:txBody>
                    <a:bodyPr/>
                    <a:lstStyle/>
                    <a:p>
                      <a:pPr marL="0" lvl="0" indent="0" algn="ctr" rtl="0">
                        <a:spcBef>
                          <a:spcPts val="0"/>
                        </a:spcBef>
                        <a:spcAft>
                          <a:spcPts val="0"/>
                        </a:spcAft>
                        <a:buNone/>
                      </a:pPr>
                      <a:r>
                        <a:rPr lang="en" b="1">
                          <a:solidFill>
                            <a:schemeClr val="lt1"/>
                          </a:solidFill>
                        </a:rPr>
                        <a:t>What questions do you have about your model?</a:t>
                      </a:r>
                      <a:endParaRPr b="1">
                        <a:solidFill>
                          <a:schemeClr val="lt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rgbClr val="000000"/>
                      </a:solidFill>
                      <a:prstDash val="solid"/>
                      <a:round/>
                      <a:headEnd type="none" w="sm" len="sm"/>
                      <a:tailEnd type="none" w="sm" len="sm"/>
                    </a:lnB>
                    <a:solidFill>
                      <a:srgbClr val="355E3B"/>
                    </a:solidFill>
                  </a:tcPr>
                </a:tc>
                <a:tc>
                  <a:txBody>
                    <a:bodyPr/>
                    <a:lstStyle/>
                    <a:p>
                      <a:pPr marL="0" lvl="0" indent="0" algn="ctr" rtl="0">
                        <a:spcBef>
                          <a:spcPts val="0"/>
                        </a:spcBef>
                        <a:spcAft>
                          <a:spcPts val="0"/>
                        </a:spcAft>
                        <a:buNone/>
                      </a:pPr>
                      <a:r>
                        <a:rPr lang="en" b="1">
                          <a:solidFill>
                            <a:schemeClr val="lt1"/>
                          </a:solidFill>
                        </a:rPr>
                        <a:t>Who can help you gather more information to answer your question?</a:t>
                      </a:r>
                      <a:endParaRPr b="1">
                        <a:solidFill>
                          <a:schemeClr val="lt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rgbClr val="000000"/>
                      </a:solidFill>
                      <a:prstDash val="solid"/>
                      <a:round/>
                      <a:headEnd type="none" w="sm" len="sm"/>
                      <a:tailEnd type="none" w="sm" len="sm"/>
                    </a:lnB>
                    <a:solidFill>
                      <a:srgbClr val="355E3B"/>
                    </a:solidFill>
                  </a:tcPr>
                </a:tc>
                <a:tc>
                  <a:txBody>
                    <a:bodyPr/>
                    <a:lstStyle/>
                    <a:p>
                      <a:pPr marL="0" lvl="0" indent="0" algn="ctr" rtl="0">
                        <a:spcBef>
                          <a:spcPts val="0"/>
                        </a:spcBef>
                        <a:spcAft>
                          <a:spcPts val="0"/>
                        </a:spcAft>
                        <a:buNone/>
                      </a:pPr>
                      <a:r>
                        <a:rPr lang="en" b="1">
                          <a:solidFill>
                            <a:schemeClr val="lt1"/>
                          </a:solidFill>
                        </a:rPr>
                        <a:t>After talking to the chatbots, what do you want to add to your model?</a:t>
                      </a:r>
                      <a:endParaRPr b="1">
                        <a:solidFill>
                          <a:schemeClr val="lt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rgbClr val="000000"/>
                      </a:solidFill>
                      <a:prstDash val="solid"/>
                      <a:round/>
                      <a:headEnd type="none" w="sm" len="sm"/>
                      <a:tailEnd type="none" w="sm" len="sm"/>
                    </a:lnB>
                    <a:solidFill>
                      <a:srgbClr val="355E3B"/>
                    </a:solidFill>
                  </a:tcPr>
                </a:tc>
                <a:extLst>
                  <a:ext uri="{0D108BD9-81ED-4DB2-BD59-A6C34878D82A}">
                    <a16:rowId xmlns:a16="http://schemas.microsoft.com/office/drawing/2014/main" val="10000"/>
                  </a:ext>
                </a:extLst>
              </a:tr>
              <a:tr h="1502325">
                <a:tc>
                  <a:txBody>
                    <a:bodyPr/>
                    <a:lstStyle/>
                    <a:p>
                      <a:pPr marL="0" lvl="0" indent="0" algn="l" rtl="0">
                        <a:spcBef>
                          <a:spcPts val="0"/>
                        </a:spcBef>
                        <a:spcAft>
                          <a:spcPts val="0"/>
                        </a:spcAft>
                        <a:buNone/>
                      </a:pPr>
                      <a:r>
                        <a:rPr lang="en" sz="1600">
                          <a:latin typeface="Calibri"/>
                          <a:ea typeface="Calibri"/>
                          <a:cs typeface="Calibri"/>
                          <a:sym typeface="Calibri"/>
                        </a:rPr>
                        <a:t>What can I measure to understand how ocean acidification affects fish populations?</a:t>
                      </a:r>
                      <a:endParaRPr sz="1600">
                        <a:latin typeface="Calibri"/>
                        <a:ea typeface="Calibri"/>
                        <a:cs typeface="Calibri"/>
                        <a:sym typeface="Calibri"/>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28600" lvl="0" indent="-57150" algn="l" rtl="0">
                        <a:spcBef>
                          <a:spcPts val="0"/>
                        </a:spcBef>
                        <a:spcAft>
                          <a:spcPts val="0"/>
                        </a:spcAft>
                        <a:buSzPts val="1800"/>
                        <a:buFont typeface="Calibri"/>
                        <a:buChar char="○"/>
                      </a:pPr>
                      <a:r>
                        <a:rPr lang="en" sz="1600">
                          <a:latin typeface="Calibri"/>
                          <a:ea typeface="Calibri"/>
                          <a:cs typeface="Calibri"/>
                          <a:sym typeface="Calibri"/>
                        </a:rPr>
                        <a:t>Civil Engineer </a:t>
                      </a:r>
                      <a:endParaRPr sz="1600">
                        <a:latin typeface="Calibri"/>
                        <a:ea typeface="Calibri"/>
                        <a:cs typeface="Calibri"/>
                        <a:sym typeface="Calibri"/>
                      </a:endParaRPr>
                    </a:p>
                    <a:p>
                      <a:pPr marL="228600" lvl="0" indent="-57150" algn="l" rtl="0">
                        <a:spcBef>
                          <a:spcPts val="0"/>
                        </a:spcBef>
                        <a:spcAft>
                          <a:spcPts val="0"/>
                        </a:spcAft>
                        <a:buSzPts val="1800"/>
                        <a:buFont typeface="Calibri"/>
                        <a:buChar char="○"/>
                      </a:pPr>
                      <a:r>
                        <a:rPr lang="en" sz="1600">
                          <a:latin typeface="Calibri"/>
                          <a:ea typeface="Calibri"/>
                          <a:cs typeface="Calibri"/>
                          <a:sym typeface="Calibri"/>
                        </a:rPr>
                        <a:t>Influencer</a:t>
                      </a:r>
                      <a:endParaRPr sz="1600">
                        <a:latin typeface="Calibri"/>
                        <a:ea typeface="Calibri"/>
                        <a:cs typeface="Calibri"/>
                        <a:sym typeface="Calibri"/>
                      </a:endParaRPr>
                    </a:p>
                    <a:p>
                      <a:pPr marL="228600" lvl="0" indent="-57150" algn="l" rtl="0">
                        <a:spcBef>
                          <a:spcPts val="0"/>
                        </a:spcBef>
                        <a:spcAft>
                          <a:spcPts val="0"/>
                        </a:spcAft>
                        <a:buSzPts val="1800"/>
                        <a:buFont typeface="Calibri"/>
                        <a:buChar char="○"/>
                      </a:pPr>
                      <a:r>
                        <a:rPr lang="en" sz="1600">
                          <a:latin typeface="Calibri"/>
                          <a:ea typeface="Calibri"/>
                          <a:cs typeface="Calibri"/>
                          <a:sym typeface="Calibri"/>
                        </a:rPr>
                        <a:t>Student</a:t>
                      </a:r>
                      <a:endParaRPr sz="1600">
                        <a:latin typeface="Calibri"/>
                        <a:ea typeface="Calibri"/>
                        <a:cs typeface="Calibri"/>
                        <a:sym typeface="Calibri"/>
                      </a:endParaRPr>
                    </a:p>
                    <a:p>
                      <a:pPr marL="228600" lvl="0" indent="-57150" algn="l" rtl="0">
                        <a:spcBef>
                          <a:spcPts val="0"/>
                        </a:spcBef>
                        <a:spcAft>
                          <a:spcPts val="0"/>
                        </a:spcAft>
                        <a:buSzPts val="1800"/>
                        <a:buFont typeface="Calibri"/>
                        <a:buChar char="●"/>
                      </a:pPr>
                      <a:r>
                        <a:rPr lang="en" sz="1600" b="1">
                          <a:latin typeface="Calibri"/>
                          <a:ea typeface="Calibri"/>
                          <a:cs typeface="Calibri"/>
                          <a:sym typeface="Calibri"/>
                        </a:rPr>
                        <a:t>Kelp Researcher</a:t>
                      </a:r>
                      <a:endParaRPr sz="1600" b="1">
                        <a:latin typeface="Calibri"/>
                        <a:ea typeface="Calibri"/>
                        <a:cs typeface="Calibri"/>
                        <a:sym typeface="Calibri"/>
                      </a:endParaRPr>
                    </a:p>
                    <a:p>
                      <a:pPr marL="228600" lvl="0" indent="-57150" algn="l" rtl="0">
                        <a:spcBef>
                          <a:spcPts val="0"/>
                        </a:spcBef>
                        <a:spcAft>
                          <a:spcPts val="0"/>
                        </a:spcAft>
                        <a:buSzPts val="1800"/>
                        <a:buFont typeface="Calibri"/>
                        <a:buChar char="●"/>
                      </a:pPr>
                      <a:r>
                        <a:rPr lang="en" sz="1600" b="1">
                          <a:latin typeface="Calibri"/>
                          <a:ea typeface="Calibri"/>
                          <a:cs typeface="Calibri"/>
                          <a:sym typeface="Calibri"/>
                        </a:rPr>
                        <a:t>Fisherman</a:t>
                      </a:r>
                      <a:endParaRPr sz="1600" b="1">
                        <a:latin typeface="Calibri"/>
                        <a:ea typeface="Calibri"/>
                        <a:cs typeface="Calibri"/>
                        <a:sym typeface="Calibri"/>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600">
                        <a:solidFill>
                          <a:schemeClr val="dk1"/>
                        </a:solidFill>
                        <a:latin typeface="Calibri"/>
                        <a:ea typeface="Calibri"/>
                        <a:cs typeface="Calibri"/>
                        <a:sym typeface="Calibri"/>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18" name="Google Shape;118;p20"/>
          <p:cNvSpPr txBox="1">
            <a:spLocks noGrp="1"/>
          </p:cNvSpPr>
          <p:nvPr>
            <p:ph type="title"/>
          </p:nvPr>
        </p:nvSpPr>
        <p:spPr>
          <a:xfrm>
            <a:off x="452925" y="87425"/>
            <a:ext cx="8251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b="1">
                <a:solidFill>
                  <a:srgbClr val="541900"/>
                </a:solidFill>
              </a:rPr>
              <a:t>Conduct your Chatbot Interview</a:t>
            </a:r>
            <a:endParaRPr sz="3800" b="1">
              <a:solidFill>
                <a:srgbClr val="541900"/>
              </a:solidFill>
            </a:endParaRPr>
          </a:p>
        </p:txBody>
      </p:sp>
      <p:sp>
        <p:nvSpPr>
          <p:cNvPr id="119" name="Google Shape;119;p20"/>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2.2 Refining Your Model with Generative AI</a:t>
            </a:r>
            <a:br>
              <a:rPr lang="en" sz="1200">
                <a:solidFill>
                  <a:srgbClr val="000000"/>
                </a:solidFill>
              </a:rPr>
            </a:br>
            <a:r>
              <a:rPr lang="en" sz="1200"/>
              <a:t>Slide 8</a:t>
            </a:r>
            <a:endParaRPr sz="1200">
              <a:solidFill>
                <a:srgbClr val="000000"/>
              </a:solidFill>
            </a:endParaRPr>
          </a:p>
        </p:txBody>
      </p:sp>
      <p:sp>
        <p:nvSpPr>
          <p:cNvPr id="120" name="Google Shape;120;p20"/>
          <p:cNvSpPr txBox="1"/>
          <p:nvPr/>
        </p:nvSpPr>
        <p:spPr>
          <a:xfrm>
            <a:off x="452925" y="829950"/>
            <a:ext cx="8251500" cy="1434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a:solidFill>
                  <a:srgbClr val="355E3B"/>
                </a:solidFill>
              </a:rPr>
              <a:t>Now that each member of your team has a question to investigate, choose at least one or two chatbots to interview to gather more information. </a:t>
            </a:r>
            <a:endParaRPr sz="1600">
              <a:solidFill>
                <a:srgbClr val="355E3B"/>
              </a:solidFill>
            </a:endParaRPr>
          </a:p>
          <a:p>
            <a:pPr marL="0" lvl="0" indent="0" algn="l" rtl="0">
              <a:lnSpc>
                <a:spcPct val="115000"/>
              </a:lnSpc>
              <a:spcBef>
                <a:spcPts val="1200"/>
              </a:spcBef>
              <a:spcAft>
                <a:spcPts val="1200"/>
              </a:spcAft>
              <a:buNone/>
            </a:pPr>
            <a:r>
              <a:rPr lang="en" sz="1600">
                <a:solidFill>
                  <a:srgbClr val="355E3B"/>
                </a:solidFill>
              </a:rPr>
              <a:t>When you’re ready, have each team member visit the AISciComm platform to interview their chosen chatbot </a:t>
            </a:r>
            <a:endParaRPr sz="1600">
              <a:solidFill>
                <a:srgbClr val="355E3B"/>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24"/>
        <p:cNvGrpSpPr/>
        <p:nvPr/>
      </p:nvGrpSpPr>
      <p:grpSpPr>
        <a:xfrm>
          <a:off x="0" y="0"/>
          <a:ext cx="0" cy="0"/>
          <a:chOff x="0" y="0"/>
          <a:chExt cx="0" cy="0"/>
        </a:xfrm>
      </p:grpSpPr>
      <p:sp>
        <p:nvSpPr>
          <p:cNvPr id="125" name="Google Shape;125;p21"/>
          <p:cNvSpPr txBox="1">
            <a:spLocks noGrp="1"/>
          </p:cNvSpPr>
          <p:nvPr>
            <p:ph type="title"/>
          </p:nvPr>
        </p:nvSpPr>
        <p:spPr>
          <a:xfrm>
            <a:off x="311700" y="445025"/>
            <a:ext cx="8520600" cy="84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b="1">
                <a:solidFill>
                  <a:srgbClr val="541900"/>
                </a:solidFill>
              </a:rPr>
              <a:t>Tips for Interviewing the Chatbots</a:t>
            </a:r>
            <a:endParaRPr sz="4000" b="1">
              <a:solidFill>
                <a:srgbClr val="541900"/>
              </a:solidFill>
            </a:endParaRPr>
          </a:p>
        </p:txBody>
      </p:sp>
      <p:sp>
        <p:nvSpPr>
          <p:cNvPr id="126" name="Google Shape;126;p21"/>
          <p:cNvSpPr txBox="1">
            <a:spLocks noGrp="1"/>
          </p:cNvSpPr>
          <p:nvPr>
            <p:ph type="body" idx="4294967295"/>
          </p:nvPr>
        </p:nvSpPr>
        <p:spPr>
          <a:xfrm>
            <a:off x="311700" y="1289825"/>
            <a:ext cx="8373300" cy="2518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chemeClr val="dk1"/>
                </a:solidFill>
              </a:rPr>
              <a:t>Chatbot interviews are a little different than community member interviews. Here are some tips to keep in mind when interviewing the chatbots.</a:t>
            </a:r>
            <a:endParaRPr>
              <a:solidFill>
                <a:schemeClr val="dk1"/>
              </a:solidFill>
            </a:endParaRPr>
          </a:p>
          <a:p>
            <a:pPr marL="457200" lvl="0" indent="-342900" algn="l" rtl="0">
              <a:lnSpc>
                <a:spcPct val="115000"/>
              </a:lnSpc>
              <a:spcBef>
                <a:spcPts val="1200"/>
              </a:spcBef>
              <a:spcAft>
                <a:spcPts val="0"/>
              </a:spcAft>
              <a:buClr>
                <a:srgbClr val="541900"/>
              </a:buClr>
              <a:buSzPts val="1800"/>
              <a:buChar char="●"/>
            </a:pPr>
            <a:r>
              <a:rPr lang="en">
                <a:solidFill>
                  <a:schemeClr val="dk1"/>
                </a:solidFill>
              </a:rPr>
              <a:t>Give context to the chatbot and frame your questions clearly.</a:t>
            </a:r>
            <a:endParaRPr>
              <a:solidFill>
                <a:schemeClr val="dk1"/>
              </a:solidFill>
            </a:endParaRPr>
          </a:p>
          <a:p>
            <a:pPr marL="457200" lvl="0" indent="-342900" algn="l" rtl="0">
              <a:lnSpc>
                <a:spcPct val="115000"/>
              </a:lnSpc>
              <a:spcBef>
                <a:spcPts val="0"/>
              </a:spcBef>
              <a:spcAft>
                <a:spcPts val="0"/>
              </a:spcAft>
              <a:buClr>
                <a:srgbClr val="541900"/>
              </a:buClr>
              <a:buSzPts val="1800"/>
              <a:buChar char="●"/>
            </a:pPr>
            <a:r>
              <a:rPr lang="en">
                <a:solidFill>
                  <a:schemeClr val="dk1"/>
                </a:solidFill>
              </a:rPr>
              <a:t>Avoid asking too many questions in one prompt.</a:t>
            </a:r>
            <a:endParaRPr>
              <a:solidFill>
                <a:schemeClr val="dk1"/>
              </a:solidFill>
            </a:endParaRPr>
          </a:p>
          <a:p>
            <a:pPr marL="457200" lvl="0" indent="-342900" algn="l" rtl="0">
              <a:lnSpc>
                <a:spcPct val="115000"/>
              </a:lnSpc>
              <a:spcBef>
                <a:spcPts val="0"/>
              </a:spcBef>
              <a:spcAft>
                <a:spcPts val="0"/>
              </a:spcAft>
              <a:buClr>
                <a:srgbClr val="541900"/>
              </a:buClr>
              <a:buSzPts val="1800"/>
              <a:buChar char="●"/>
            </a:pPr>
            <a:r>
              <a:rPr lang="en">
                <a:solidFill>
                  <a:schemeClr val="dk1"/>
                </a:solidFill>
              </a:rPr>
              <a:t>Ask follow-up questions</a:t>
            </a:r>
            <a:endParaRPr>
              <a:solidFill>
                <a:schemeClr val="dk1"/>
              </a:solidFill>
            </a:endParaRPr>
          </a:p>
          <a:p>
            <a:pPr marL="457200" lvl="0" indent="-342900" algn="l" rtl="0">
              <a:lnSpc>
                <a:spcPct val="115000"/>
              </a:lnSpc>
              <a:spcBef>
                <a:spcPts val="0"/>
              </a:spcBef>
              <a:spcAft>
                <a:spcPts val="0"/>
              </a:spcAft>
              <a:buClr>
                <a:srgbClr val="541900"/>
              </a:buClr>
              <a:buSzPts val="1800"/>
              <a:buChar char="●"/>
            </a:pPr>
            <a:r>
              <a:rPr lang="en">
                <a:solidFill>
                  <a:schemeClr val="dk1"/>
                </a:solidFill>
              </a:rPr>
              <a:t>Recognize that AI has boundaries and that it is not human</a:t>
            </a:r>
            <a:endParaRPr>
              <a:solidFill>
                <a:schemeClr val="dk1"/>
              </a:solidFill>
            </a:endParaRPr>
          </a:p>
        </p:txBody>
      </p:sp>
      <p:sp>
        <p:nvSpPr>
          <p:cNvPr id="127" name="Google Shape;127;p21"/>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Module 2.2 Refining Your Model with Generative AI</a:t>
            </a:r>
            <a:endParaRPr sz="1200">
              <a:solidFill>
                <a:schemeClr val="dk1"/>
              </a:solidFill>
            </a:endParaRPr>
          </a:p>
          <a:p>
            <a:pPr marL="0" lvl="0" indent="0" algn="l" rtl="0">
              <a:spcBef>
                <a:spcPts val="0"/>
              </a:spcBef>
              <a:spcAft>
                <a:spcPts val="0"/>
              </a:spcAft>
              <a:buNone/>
            </a:pPr>
            <a:r>
              <a:rPr lang="en" sz="1200">
                <a:solidFill>
                  <a:schemeClr val="dk1"/>
                </a:solidFill>
              </a:rPr>
              <a:t>Slide 9</a:t>
            </a:r>
            <a:endParaRPr sz="1200">
              <a:solidFill>
                <a:schemeClr val="dk1"/>
              </a:solidFill>
            </a:endParaRPr>
          </a:p>
          <a:p>
            <a:pPr marL="0" lvl="0" indent="0" algn="l" rtl="0">
              <a:spcBef>
                <a:spcPts val="0"/>
              </a:spcBef>
              <a:spcAft>
                <a:spcPts val="0"/>
              </a:spcAft>
              <a:buNone/>
            </a:pPr>
            <a:endParaRPr sz="12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31"/>
        <p:cNvGrpSpPr/>
        <p:nvPr/>
      </p:nvGrpSpPr>
      <p:grpSpPr>
        <a:xfrm>
          <a:off x="0" y="0"/>
          <a:ext cx="0" cy="0"/>
          <a:chOff x="0" y="0"/>
          <a:chExt cx="0" cy="0"/>
        </a:xfrm>
      </p:grpSpPr>
      <p:sp>
        <p:nvSpPr>
          <p:cNvPr id="132" name="Google Shape;132;p22"/>
          <p:cNvSpPr txBox="1">
            <a:spLocks noGrp="1"/>
          </p:cNvSpPr>
          <p:nvPr>
            <p:ph type="title"/>
          </p:nvPr>
        </p:nvSpPr>
        <p:spPr>
          <a:xfrm>
            <a:off x="311700" y="103175"/>
            <a:ext cx="8520600" cy="84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b="1">
                <a:solidFill>
                  <a:srgbClr val="541900"/>
                </a:solidFill>
              </a:rPr>
              <a:t>Interviewing the Chatbots</a:t>
            </a:r>
            <a:endParaRPr sz="4000" b="1">
              <a:solidFill>
                <a:srgbClr val="541900"/>
              </a:solidFill>
            </a:endParaRPr>
          </a:p>
        </p:txBody>
      </p:sp>
      <p:sp>
        <p:nvSpPr>
          <p:cNvPr id="133" name="Google Shape;133;p22"/>
          <p:cNvSpPr txBox="1">
            <a:spLocks noGrp="1"/>
          </p:cNvSpPr>
          <p:nvPr>
            <p:ph type="body" idx="4294967295"/>
          </p:nvPr>
        </p:nvSpPr>
        <p:spPr>
          <a:xfrm>
            <a:off x="311700" y="878050"/>
            <a:ext cx="8373300" cy="328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solidFill>
                  <a:schemeClr val="dk1"/>
                </a:solidFill>
              </a:rPr>
              <a:t>Follow these steps to help you navigate the AISciComm platform and interview your chosen chatbots</a:t>
            </a:r>
            <a:endParaRPr sz="1400">
              <a:solidFill>
                <a:schemeClr val="dk1"/>
              </a:solidFill>
            </a:endParaRPr>
          </a:p>
          <a:p>
            <a:pPr marL="457200" lvl="0" indent="-317500" algn="l" rtl="0">
              <a:lnSpc>
                <a:spcPct val="115000"/>
              </a:lnSpc>
              <a:spcBef>
                <a:spcPts val="1200"/>
              </a:spcBef>
              <a:spcAft>
                <a:spcPts val="0"/>
              </a:spcAft>
              <a:buClr>
                <a:srgbClr val="541900"/>
              </a:buClr>
              <a:buSzPts val="1400"/>
              <a:buAutoNum type="arabicPeriod"/>
            </a:pPr>
            <a:r>
              <a:rPr lang="en" sz="1400">
                <a:solidFill>
                  <a:schemeClr val="dk1"/>
                </a:solidFill>
              </a:rPr>
              <a:t>Visit the AISciComm platform (</a:t>
            </a:r>
            <a:r>
              <a:rPr lang="en" sz="1400" u="sng">
                <a:solidFill>
                  <a:schemeClr val="hlink"/>
                </a:solidFill>
                <a:hlinkClick r:id="rId3"/>
              </a:rPr>
              <a:t>https://aiscicomm.vercel.app</a:t>
            </a:r>
            <a:r>
              <a:rPr lang="en" sz="1400">
                <a:solidFill>
                  <a:schemeClr val="dk1"/>
                </a:solidFill>
              </a:rPr>
              <a:t>) and choose the chatbot that you want to interview for your question.</a:t>
            </a:r>
            <a:endParaRPr sz="1400">
              <a:solidFill>
                <a:schemeClr val="dk1"/>
              </a:solidFill>
            </a:endParaRPr>
          </a:p>
          <a:p>
            <a:pPr marL="457200" lvl="0" indent="0" algn="l" rtl="0">
              <a:lnSpc>
                <a:spcPct val="115000"/>
              </a:lnSpc>
              <a:spcBef>
                <a:spcPts val="0"/>
              </a:spcBef>
              <a:spcAft>
                <a:spcPts val="0"/>
              </a:spcAft>
              <a:buNone/>
            </a:pPr>
            <a:endParaRPr sz="1400">
              <a:solidFill>
                <a:schemeClr val="dk1"/>
              </a:solidFill>
            </a:endParaRPr>
          </a:p>
          <a:p>
            <a:pPr marL="457200" lvl="0" indent="-317500" algn="l" rtl="0">
              <a:lnSpc>
                <a:spcPct val="115000"/>
              </a:lnSpc>
              <a:spcBef>
                <a:spcPts val="0"/>
              </a:spcBef>
              <a:spcAft>
                <a:spcPts val="0"/>
              </a:spcAft>
              <a:buClr>
                <a:srgbClr val="541900"/>
              </a:buClr>
              <a:buSzPts val="1400"/>
              <a:buAutoNum type="arabicPeriod"/>
            </a:pPr>
            <a:r>
              <a:rPr lang="en" sz="1400">
                <a:solidFill>
                  <a:schemeClr val="dk1"/>
                </a:solidFill>
              </a:rPr>
              <a:t>Upload the snapshot of your teams model that you took back in module 2.1. If you haven’t done so yet, go back to your SageModeler model and take a snapshot.</a:t>
            </a:r>
            <a:endParaRPr sz="1400">
              <a:solidFill>
                <a:schemeClr val="dk1"/>
              </a:solidFill>
            </a:endParaRPr>
          </a:p>
          <a:p>
            <a:pPr marL="457200" lvl="0" indent="0" algn="l" rtl="0">
              <a:lnSpc>
                <a:spcPct val="115000"/>
              </a:lnSpc>
              <a:spcBef>
                <a:spcPts val="0"/>
              </a:spcBef>
              <a:spcAft>
                <a:spcPts val="0"/>
              </a:spcAft>
              <a:buNone/>
            </a:pPr>
            <a:endParaRPr sz="1400">
              <a:solidFill>
                <a:schemeClr val="dk1"/>
              </a:solidFill>
            </a:endParaRPr>
          </a:p>
          <a:p>
            <a:pPr marL="457200" lvl="0" indent="-317500" algn="l" rtl="0">
              <a:lnSpc>
                <a:spcPct val="115000"/>
              </a:lnSpc>
              <a:spcBef>
                <a:spcPts val="0"/>
              </a:spcBef>
              <a:spcAft>
                <a:spcPts val="0"/>
              </a:spcAft>
              <a:buClr>
                <a:srgbClr val="541900"/>
              </a:buClr>
              <a:buSzPts val="1400"/>
              <a:buFont typeface="Calibri"/>
              <a:buAutoNum type="arabicPeriod"/>
            </a:pPr>
            <a:r>
              <a:rPr lang="en" sz="1400">
                <a:solidFill>
                  <a:schemeClr val="dk1"/>
                </a:solidFill>
              </a:rPr>
              <a:t>When your image loads on the platform, give the chatbot context for what you are uploading.</a:t>
            </a:r>
            <a:endParaRPr sz="1400">
              <a:solidFill>
                <a:schemeClr val="dk1"/>
              </a:solidFill>
            </a:endParaRPr>
          </a:p>
          <a:p>
            <a:pPr marL="457200" lvl="0" indent="0" algn="l" rtl="0">
              <a:lnSpc>
                <a:spcPct val="115000"/>
              </a:lnSpc>
              <a:spcBef>
                <a:spcPts val="0"/>
              </a:spcBef>
              <a:spcAft>
                <a:spcPts val="0"/>
              </a:spcAft>
              <a:buNone/>
            </a:pPr>
            <a:r>
              <a:rPr lang="en" sz="1400" i="1">
                <a:solidFill>
                  <a:schemeClr val="dk1"/>
                </a:solidFill>
              </a:rPr>
              <a:t>Example: Hello, my team and I are [grade level] students in [class]. We are working on a model that demonstrates how changes to the climate impact ocean systems and affects [your chosen value]. Can you describe the model to me?</a:t>
            </a:r>
            <a:endParaRPr sz="1400" i="1">
              <a:solidFill>
                <a:schemeClr val="dk1"/>
              </a:solidFill>
            </a:endParaRPr>
          </a:p>
          <a:p>
            <a:pPr marL="0" lvl="0" indent="0" algn="l" rtl="0">
              <a:lnSpc>
                <a:spcPct val="115000"/>
              </a:lnSpc>
              <a:spcBef>
                <a:spcPts val="0"/>
              </a:spcBef>
              <a:spcAft>
                <a:spcPts val="0"/>
              </a:spcAft>
              <a:buNone/>
            </a:pPr>
            <a:endParaRPr sz="1400" i="1">
              <a:solidFill>
                <a:schemeClr val="dk1"/>
              </a:solidFill>
            </a:endParaRPr>
          </a:p>
          <a:p>
            <a:pPr marL="457200" lvl="0" indent="-317500" algn="l" rtl="0">
              <a:lnSpc>
                <a:spcPct val="115000"/>
              </a:lnSpc>
              <a:spcBef>
                <a:spcPts val="0"/>
              </a:spcBef>
              <a:spcAft>
                <a:spcPts val="0"/>
              </a:spcAft>
              <a:buClr>
                <a:srgbClr val="541900"/>
              </a:buClr>
              <a:buSzPts val="1400"/>
              <a:buAutoNum type="arabicPeriod"/>
            </a:pPr>
            <a:r>
              <a:rPr lang="en" sz="1400">
                <a:solidFill>
                  <a:schemeClr val="dk1"/>
                </a:solidFill>
              </a:rPr>
              <a:t>Share the question you are investigating. Make sure to use follow up questions.</a:t>
            </a:r>
            <a:endParaRPr sz="1400">
              <a:solidFill>
                <a:schemeClr val="dk1"/>
              </a:solidFill>
            </a:endParaRPr>
          </a:p>
          <a:p>
            <a:pPr marL="457200" lvl="0" indent="0" algn="l" rtl="0">
              <a:lnSpc>
                <a:spcPct val="115000"/>
              </a:lnSpc>
              <a:spcBef>
                <a:spcPts val="0"/>
              </a:spcBef>
              <a:spcAft>
                <a:spcPts val="0"/>
              </a:spcAft>
              <a:buNone/>
            </a:pPr>
            <a:endParaRPr sz="1400">
              <a:solidFill>
                <a:schemeClr val="dk1"/>
              </a:solidFill>
            </a:endParaRPr>
          </a:p>
          <a:p>
            <a:pPr marL="457200" lvl="0" indent="-317500" algn="l" rtl="0">
              <a:lnSpc>
                <a:spcPct val="115000"/>
              </a:lnSpc>
              <a:spcBef>
                <a:spcPts val="0"/>
              </a:spcBef>
              <a:spcAft>
                <a:spcPts val="0"/>
              </a:spcAft>
              <a:buClr>
                <a:srgbClr val="541900"/>
              </a:buClr>
              <a:buSzPts val="1400"/>
              <a:buAutoNum type="arabicPeriod"/>
            </a:pPr>
            <a:r>
              <a:rPr lang="en" sz="1400">
                <a:solidFill>
                  <a:schemeClr val="dk1"/>
                </a:solidFill>
              </a:rPr>
              <a:t>If you identify other chatbots who may know more about your question, make sure to interview them too. Remember to take notes in your science journal (p.20-21)!</a:t>
            </a:r>
            <a:endParaRPr sz="1400">
              <a:solidFill>
                <a:schemeClr val="dk1"/>
              </a:solidFill>
            </a:endParaRPr>
          </a:p>
          <a:p>
            <a:pPr marL="0" lvl="0" indent="0" algn="l" rtl="0">
              <a:lnSpc>
                <a:spcPct val="115000"/>
              </a:lnSpc>
              <a:spcBef>
                <a:spcPts val="0"/>
              </a:spcBef>
              <a:spcAft>
                <a:spcPts val="0"/>
              </a:spcAft>
              <a:buNone/>
            </a:pPr>
            <a:endParaRPr sz="1400" i="1">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37"/>
        <p:cNvGrpSpPr/>
        <p:nvPr/>
      </p:nvGrpSpPr>
      <p:grpSpPr>
        <a:xfrm>
          <a:off x="0" y="0"/>
          <a:ext cx="0" cy="0"/>
          <a:chOff x="0" y="0"/>
          <a:chExt cx="0" cy="0"/>
        </a:xfrm>
      </p:grpSpPr>
      <p:sp>
        <p:nvSpPr>
          <p:cNvPr id="138" name="Google Shape;138;p23"/>
          <p:cNvSpPr txBox="1">
            <a:spLocks noGrp="1"/>
          </p:cNvSpPr>
          <p:nvPr>
            <p:ph type="title"/>
          </p:nvPr>
        </p:nvSpPr>
        <p:spPr>
          <a:xfrm>
            <a:off x="311700" y="445025"/>
            <a:ext cx="8520600" cy="84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b="1">
                <a:solidFill>
                  <a:srgbClr val="541900"/>
                </a:solidFill>
              </a:rPr>
              <a:t>Sharing Your Findings</a:t>
            </a:r>
            <a:endParaRPr sz="4000" b="1">
              <a:solidFill>
                <a:srgbClr val="541900"/>
              </a:solidFill>
            </a:endParaRPr>
          </a:p>
        </p:txBody>
      </p:sp>
      <p:sp>
        <p:nvSpPr>
          <p:cNvPr id="139" name="Google Shape;139;p23"/>
          <p:cNvSpPr txBox="1">
            <a:spLocks noGrp="1"/>
          </p:cNvSpPr>
          <p:nvPr>
            <p:ph type="body" idx="4294967295"/>
          </p:nvPr>
        </p:nvSpPr>
        <p:spPr>
          <a:xfrm>
            <a:off x="311700" y="1289825"/>
            <a:ext cx="8373300" cy="9747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1200"/>
              </a:spcAft>
              <a:buNone/>
            </a:pPr>
            <a:r>
              <a:rPr lang="en">
                <a:solidFill>
                  <a:srgbClr val="355E3B"/>
                </a:solidFill>
              </a:rPr>
              <a:t>Now that you have had a chance to interview the chatbots, join back with your team and share your findings. Make sure to fill out the interview table in your Science Journal.</a:t>
            </a:r>
            <a:endParaRPr>
              <a:solidFill>
                <a:srgbClr val="355E3B"/>
              </a:solidFill>
            </a:endParaRPr>
          </a:p>
        </p:txBody>
      </p:sp>
      <p:sp>
        <p:nvSpPr>
          <p:cNvPr id="140" name="Google Shape;140;p23"/>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Module 2.2 Refining Your Model with Generative AI</a:t>
            </a:r>
            <a:endParaRPr sz="1200">
              <a:solidFill>
                <a:schemeClr val="dk1"/>
              </a:solidFill>
            </a:endParaRPr>
          </a:p>
          <a:p>
            <a:pPr marL="0" lvl="0" indent="0" algn="l" rtl="0">
              <a:spcBef>
                <a:spcPts val="0"/>
              </a:spcBef>
              <a:spcAft>
                <a:spcPts val="0"/>
              </a:spcAft>
              <a:buNone/>
            </a:pPr>
            <a:r>
              <a:rPr lang="en" sz="1200">
                <a:solidFill>
                  <a:schemeClr val="dk1"/>
                </a:solidFill>
              </a:rPr>
              <a:t>Slide 11</a:t>
            </a:r>
            <a:endParaRPr sz="1200">
              <a:solidFill>
                <a:schemeClr val="dk1"/>
              </a:solidFill>
            </a:endParaRPr>
          </a:p>
          <a:p>
            <a:pPr marL="0" lvl="0" indent="0" algn="l" rtl="0">
              <a:spcBef>
                <a:spcPts val="0"/>
              </a:spcBef>
              <a:spcAft>
                <a:spcPts val="0"/>
              </a:spcAft>
              <a:buNone/>
            </a:pPr>
            <a:endParaRPr sz="1200">
              <a:solidFill>
                <a:schemeClr val="dk1"/>
              </a:solidFill>
            </a:endParaRPr>
          </a:p>
        </p:txBody>
      </p:sp>
      <p:graphicFrame>
        <p:nvGraphicFramePr>
          <p:cNvPr id="141" name="Google Shape;141;p23"/>
          <p:cNvGraphicFramePr/>
          <p:nvPr/>
        </p:nvGraphicFramePr>
        <p:xfrm>
          <a:off x="719313" y="2264550"/>
          <a:ext cx="7718700" cy="2325255"/>
        </p:xfrm>
        <a:graphic>
          <a:graphicData uri="http://schemas.openxmlformats.org/drawingml/2006/table">
            <a:tbl>
              <a:tblPr>
                <a:noFill/>
                <a:tableStyleId>{A6902C3E-1813-44F8-9D3A-19E2CB75772F}</a:tableStyleId>
              </a:tblPr>
              <a:tblGrid>
                <a:gridCol w="2572900">
                  <a:extLst>
                    <a:ext uri="{9D8B030D-6E8A-4147-A177-3AD203B41FA5}">
                      <a16:colId xmlns:a16="http://schemas.microsoft.com/office/drawing/2014/main" val="20000"/>
                    </a:ext>
                  </a:extLst>
                </a:gridCol>
                <a:gridCol w="2572900">
                  <a:extLst>
                    <a:ext uri="{9D8B030D-6E8A-4147-A177-3AD203B41FA5}">
                      <a16:colId xmlns:a16="http://schemas.microsoft.com/office/drawing/2014/main" val="20001"/>
                    </a:ext>
                  </a:extLst>
                </a:gridCol>
                <a:gridCol w="2572900">
                  <a:extLst>
                    <a:ext uri="{9D8B030D-6E8A-4147-A177-3AD203B41FA5}">
                      <a16:colId xmlns:a16="http://schemas.microsoft.com/office/drawing/2014/main" val="20002"/>
                    </a:ext>
                  </a:extLst>
                </a:gridCol>
              </a:tblGrid>
              <a:tr h="804400">
                <a:tc>
                  <a:txBody>
                    <a:bodyPr/>
                    <a:lstStyle/>
                    <a:p>
                      <a:pPr marL="0" lvl="0" indent="0" algn="ctr" rtl="0">
                        <a:spcBef>
                          <a:spcPts val="0"/>
                        </a:spcBef>
                        <a:spcAft>
                          <a:spcPts val="0"/>
                        </a:spcAft>
                        <a:buNone/>
                      </a:pPr>
                      <a:r>
                        <a:rPr lang="en" b="1">
                          <a:solidFill>
                            <a:schemeClr val="lt1"/>
                          </a:solidFill>
                        </a:rPr>
                        <a:t>What questions do you have about your model?</a:t>
                      </a:r>
                      <a:endParaRPr b="1">
                        <a:solidFill>
                          <a:schemeClr val="lt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rgbClr val="000000"/>
                      </a:solidFill>
                      <a:prstDash val="solid"/>
                      <a:round/>
                      <a:headEnd type="none" w="sm" len="sm"/>
                      <a:tailEnd type="none" w="sm" len="sm"/>
                    </a:lnB>
                    <a:solidFill>
                      <a:srgbClr val="355E3B"/>
                    </a:solidFill>
                  </a:tcPr>
                </a:tc>
                <a:tc>
                  <a:txBody>
                    <a:bodyPr/>
                    <a:lstStyle/>
                    <a:p>
                      <a:pPr marL="0" lvl="0" indent="0" algn="ctr" rtl="0">
                        <a:spcBef>
                          <a:spcPts val="0"/>
                        </a:spcBef>
                        <a:spcAft>
                          <a:spcPts val="0"/>
                        </a:spcAft>
                        <a:buNone/>
                      </a:pPr>
                      <a:r>
                        <a:rPr lang="en" b="1">
                          <a:solidFill>
                            <a:schemeClr val="lt1"/>
                          </a:solidFill>
                        </a:rPr>
                        <a:t>Who can help you gather more information to answer your question?</a:t>
                      </a:r>
                      <a:endParaRPr b="1">
                        <a:solidFill>
                          <a:schemeClr val="lt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rgbClr val="000000"/>
                      </a:solidFill>
                      <a:prstDash val="solid"/>
                      <a:round/>
                      <a:headEnd type="none" w="sm" len="sm"/>
                      <a:tailEnd type="none" w="sm" len="sm"/>
                    </a:lnB>
                    <a:solidFill>
                      <a:srgbClr val="355E3B"/>
                    </a:solidFill>
                  </a:tcPr>
                </a:tc>
                <a:tc>
                  <a:txBody>
                    <a:bodyPr/>
                    <a:lstStyle/>
                    <a:p>
                      <a:pPr marL="0" lvl="0" indent="0" algn="ctr" rtl="0">
                        <a:spcBef>
                          <a:spcPts val="0"/>
                        </a:spcBef>
                        <a:spcAft>
                          <a:spcPts val="0"/>
                        </a:spcAft>
                        <a:buNone/>
                      </a:pPr>
                      <a:r>
                        <a:rPr lang="en" b="1">
                          <a:solidFill>
                            <a:schemeClr val="lt1"/>
                          </a:solidFill>
                        </a:rPr>
                        <a:t>After talking to the chatbots, what do you want to add to your model?</a:t>
                      </a:r>
                      <a:endParaRPr b="1">
                        <a:solidFill>
                          <a:schemeClr val="lt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rgbClr val="000000"/>
                      </a:solidFill>
                      <a:prstDash val="solid"/>
                      <a:round/>
                      <a:headEnd type="none" w="sm" len="sm"/>
                      <a:tailEnd type="none" w="sm" len="sm"/>
                    </a:lnB>
                    <a:solidFill>
                      <a:srgbClr val="355E3B"/>
                    </a:solidFill>
                  </a:tcPr>
                </a:tc>
                <a:extLst>
                  <a:ext uri="{0D108BD9-81ED-4DB2-BD59-A6C34878D82A}">
                    <a16:rowId xmlns:a16="http://schemas.microsoft.com/office/drawing/2014/main" val="10000"/>
                  </a:ext>
                </a:extLst>
              </a:tr>
              <a:tr h="1502325">
                <a:tc>
                  <a:txBody>
                    <a:bodyPr/>
                    <a:lstStyle/>
                    <a:p>
                      <a:pPr marL="0" lvl="0" indent="0" algn="l" rtl="0">
                        <a:spcBef>
                          <a:spcPts val="0"/>
                        </a:spcBef>
                        <a:spcAft>
                          <a:spcPts val="0"/>
                        </a:spcAft>
                        <a:buNone/>
                      </a:pPr>
                      <a:r>
                        <a:rPr lang="en" sz="1600">
                          <a:latin typeface="Calibri"/>
                          <a:ea typeface="Calibri"/>
                          <a:cs typeface="Calibri"/>
                          <a:sym typeface="Calibri"/>
                        </a:rPr>
                        <a:t>What can I measure to understand how ocean acidification affects fish populations?</a:t>
                      </a:r>
                      <a:endParaRPr sz="1600">
                        <a:latin typeface="Calibri"/>
                        <a:ea typeface="Calibri"/>
                        <a:cs typeface="Calibri"/>
                        <a:sym typeface="Calibri"/>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28600" lvl="0" indent="-57150" algn="l" rtl="0">
                        <a:spcBef>
                          <a:spcPts val="0"/>
                        </a:spcBef>
                        <a:spcAft>
                          <a:spcPts val="0"/>
                        </a:spcAft>
                        <a:buSzPts val="1800"/>
                        <a:buFont typeface="Calibri"/>
                        <a:buChar char="○"/>
                      </a:pPr>
                      <a:r>
                        <a:rPr lang="en" sz="1600">
                          <a:latin typeface="Calibri"/>
                          <a:ea typeface="Calibri"/>
                          <a:cs typeface="Calibri"/>
                          <a:sym typeface="Calibri"/>
                        </a:rPr>
                        <a:t>Civil Engineer </a:t>
                      </a:r>
                      <a:endParaRPr sz="1600">
                        <a:latin typeface="Calibri"/>
                        <a:ea typeface="Calibri"/>
                        <a:cs typeface="Calibri"/>
                        <a:sym typeface="Calibri"/>
                      </a:endParaRPr>
                    </a:p>
                    <a:p>
                      <a:pPr marL="228600" lvl="0" indent="-57150" algn="l" rtl="0">
                        <a:spcBef>
                          <a:spcPts val="0"/>
                        </a:spcBef>
                        <a:spcAft>
                          <a:spcPts val="0"/>
                        </a:spcAft>
                        <a:buSzPts val="1800"/>
                        <a:buFont typeface="Calibri"/>
                        <a:buChar char="○"/>
                      </a:pPr>
                      <a:r>
                        <a:rPr lang="en" sz="1600">
                          <a:latin typeface="Calibri"/>
                          <a:ea typeface="Calibri"/>
                          <a:cs typeface="Calibri"/>
                          <a:sym typeface="Calibri"/>
                        </a:rPr>
                        <a:t>Influencer</a:t>
                      </a:r>
                      <a:endParaRPr sz="1600">
                        <a:latin typeface="Calibri"/>
                        <a:ea typeface="Calibri"/>
                        <a:cs typeface="Calibri"/>
                        <a:sym typeface="Calibri"/>
                      </a:endParaRPr>
                    </a:p>
                    <a:p>
                      <a:pPr marL="228600" lvl="0" indent="-57150" algn="l" rtl="0">
                        <a:spcBef>
                          <a:spcPts val="0"/>
                        </a:spcBef>
                        <a:spcAft>
                          <a:spcPts val="0"/>
                        </a:spcAft>
                        <a:buSzPts val="1800"/>
                        <a:buFont typeface="Calibri"/>
                        <a:buChar char="○"/>
                      </a:pPr>
                      <a:r>
                        <a:rPr lang="en" sz="1600">
                          <a:latin typeface="Calibri"/>
                          <a:ea typeface="Calibri"/>
                          <a:cs typeface="Calibri"/>
                          <a:sym typeface="Calibri"/>
                        </a:rPr>
                        <a:t>Student</a:t>
                      </a:r>
                      <a:endParaRPr sz="1600">
                        <a:latin typeface="Calibri"/>
                        <a:ea typeface="Calibri"/>
                        <a:cs typeface="Calibri"/>
                        <a:sym typeface="Calibri"/>
                      </a:endParaRPr>
                    </a:p>
                    <a:p>
                      <a:pPr marL="228600" lvl="0" indent="-57150" algn="l" rtl="0">
                        <a:spcBef>
                          <a:spcPts val="0"/>
                        </a:spcBef>
                        <a:spcAft>
                          <a:spcPts val="0"/>
                        </a:spcAft>
                        <a:buSzPts val="1800"/>
                        <a:buFont typeface="Calibri"/>
                        <a:buChar char="●"/>
                      </a:pPr>
                      <a:r>
                        <a:rPr lang="en" sz="1600" b="1">
                          <a:latin typeface="Calibri"/>
                          <a:ea typeface="Calibri"/>
                          <a:cs typeface="Calibri"/>
                          <a:sym typeface="Calibri"/>
                        </a:rPr>
                        <a:t>Kelp Researcher</a:t>
                      </a:r>
                      <a:endParaRPr sz="1600" b="1">
                        <a:latin typeface="Calibri"/>
                        <a:ea typeface="Calibri"/>
                        <a:cs typeface="Calibri"/>
                        <a:sym typeface="Calibri"/>
                      </a:endParaRPr>
                    </a:p>
                    <a:p>
                      <a:pPr marL="228600" lvl="0" indent="-57150" algn="l" rtl="0">
                        <a:spcBef>
                          <a:spcPts val="0"/>
                        </a:spcBef>
                        <a:spcAft>
                          <a:spcPts val="0"/>
                        </a:spcAft>
                        <a:buSzPts val="1800"/>
                        <a:buFont typeface="Calibri"/>
                        <a:buChar char="●"/>
                      </a:pPr>
                      <a:r>
                        <a:rPr lang="en" sz="1600" b="1">
                          <a:latin typeface="Calibri"/>
                          <a:ea typeface="Calibri"/>
                          <a:cs typeface="Calibri"/>
                          <a:sym typeface="Calibri"/>
                        </a:rPr>
                        <a:t>Fisherman</a:t>
                      </a:r>
                      <a:endParaRPr sz="1600" b="1">
                        <a:latin typeface="Calibri"/>
                        <a:ea typeface="Calibri"/>
                        <a:cs typeface="Calibri"/>
                        <a:sym typeface="Calibri"/>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solidFill>
                            <a:schemeClr val="dk1"/>
                          </a:solidFill>
                          <a:latin typeface="Calibri"/>
                          <a:ea typeface="Calibri"/>
                          <a:cs typeface="Calibri"/>
                          <a:sym typeface="Calibri"/>
                        </a:rPr>
                        <a:t>After chatting with the chatbots, I would like to add pH into my team’s model.</a:t>
                      </a:r>
                      <a:endParaRPr sz="1600">
                        <a:solidFill>
                          <a:schemeClr val="dk1"/>
                        </a:solidFill>
                        <a:latin typeface="Calibri"/>
                        <a:ea typeface="Calibri"/>
                        <a:cs typeface="Calibri"/>
                        <a:sym typeface="Calibri"/>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45"/>
        <p:cNvGrpSpPr/>
        <p:nvPr/>
      </p:nvGrpSpPr>
      <p:grpSpPr>
        <a:xfrm>
          <a:off x="0" y="0"/>
          <a:ext cx="0" cy="0"/>
          <a:chOff x="0" y="0"/>
          <a:chExt cx="0" cy="0"/>
        </a:xfrm>
      </p:grpSpPr>
      <p:sp>
        <p:nvSpPr>
          <p:cNvPr id="146" name="Google Shape;146;p24"/>
          <p:cNvSpPr txBox="1">
            <a:spLocks noGrp="1"/>
          </p:cNvSpPr>
          <p:nvPr>
            <p:ph type="title"/>
          </p:nvPr>
        </p:nvSpPr>
        <p:spPr>
          <a:xfrm>
            <a:off x="311700" y="445025"/>
            <a:ext cx="4900788" cy="84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b="1" dirty="0">
                <a:solidFill>
                  <a:srgbClr val="541900"/>
                </a:solidFill>
              </a:rPr>
              <a:t>Revise Your Model</a:t>
            </a:r>
            <a:endParaRPr sz="4000" b="1" dirty="0">
              <a:solidFill>
                <a:srgbClr val="541900"/>
              </a:solidFill>
            </a:endParaRPr>
          </a:p>
        </p:txBody>
      </p:sp>
      <p:sp>
        <p:nvSpPr>
          <p:cNvPr id="147" name="Google Shape;147;p24"/>
          <p:cNvSpPr txBox="1">
            <a:spLocks noGrp="1"/>
          </p:cNvSpPr>
          <p:nvPr>
            <p:ph type="body" idx="4294967295"/>
          </p:nvPr>
        </p:nvSpPr>
        <p:spPr>
          <a:xfrm>
            <a:off x="311700" y="1289825"/>
            <a:ext cx="4701600" cy="6915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1200"/>
              </a:spcAft>
              <a:buSzPts val="605"/>
              <a:buNone/>
            </a:pPr>
            <a:r>
              <a:rPr lang="en">
                <a:solidFill>
                  <a:srgbClr val="355E3B"/>
                </a:solidFill>
              </a:rPr>
              <a:t>Now that your team has gathered more information, it is time to revise your model.</a:t>
            </a:r>
            <a:endParaRPr>
              <a:solidFill>
                <a:srgbClr val="355E3B"/>
              </a:solidFill>
            </a:endParaRPr>
          </a:p>
        </p:txBody>
      </p:sp>
      <p:sp>
        <p:nvSpPr>
          <p:cNvPr id="148" name="Google Shape;148;p24"/>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Module 2.2 Refining Your Model with Generative AI</a:t>
            </a:r>
            <a:endParaRPr sz="1200">
              <a:solidFill>
                <a:schemeClr val="dk1"/>
              </a:solidFill>
            </a:endParaRPr>
          </a:p>
          <a:p>
            <a:pPr marL="0" lvl="0" indent="0" algn="l" rtl="0">
              <a:spcBef>
                <a:spcPts val="0"/>
              </a:spcBef>
              <a:spcAft>
                <a:spcPts val="0"/>
              </a:spcAft>
              <a:buNone/>
            </a:pPr>
            <a:r>
              <a:rPr lang="en" sz="1200">
                <a:solidFill>
                  <a:schemeClr val="dk1"/>
                </a:solidFill>
              </a:rPr>
              <a:t>Slide 12</a:t>
            </a:r>
            <a:endParaRPr sz="1200">
              <a:solidFill>
                <a:schemeClr val="dk1"/>
              </a:solidFill>
            </a:endParaRPr>
          </a:p>
          <a:p>
            <a:pPr marL="0" lvl="0" indent="0" algn="l" rtl="0">
              <a:spcBef>
                <a:spcPts val="0"/>
              </a:spcBef>
              <a:spcAft>
                <a:spcPts val="0"/>
              </a:spcAft>
              <a:buNone/>
            </a:pPr>
            <a:endParaRPr sz="1200">
              <a:solidFill>
                <a:schemeClr val="dk1"/>
              </a:solidFill>
            </a:endParaRPr>
          </a:p>
        </p:txBody>
      </p:sp>
      <p:sp>
        <p:nvSpPr>
          <p:cNvPr id="149" name="Google Shape;149;p24"/>
          <p:cNvSpPr txBox="1">
            <a:spLocks noGrp="1"/>
          </p:cNvSpPr>
          <p:nvPr>
            <p:ph type="body" idx="4294967295"/>
          </p:nvPr>
        </p:nvSpPr>
        <p:spPr>
          <a:xfrm>
            <a:off x="311712" y="1981325"/>
            <a:ext cx="4701600" cy="974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Clr>
                <a:schemeClr val="dk1"/>
              </a:buClr>
              <a:buSzPts val="1100"/>
              <a:buFont typeface="Arial"/>
              <a:buNone/>
            </a:pPr>
            <a:r>
              <a:rPr lang="en">
                <a:solidFill>
                  <a:schemeClr val="dk1"/>
                </a:solidFill>
              </a:rPr>
              <a:t>With your team, revisit your model from module 2.1 and make revisions based on the recommendations provided during the chatbot interviews.</a:t>
            </a:r>
            <a:endParaRPr>
              <a:solidFill>
                <a:schemeClr val="dk1"/>
              </a:solidFill>
            </a:endParaRPr>
          </a:p>
        </p:txBody>
      </p:sp>
      <p:pic>
        <p:nvPicPr>
          <p:cNvPr id="150" name="Google Shape;150;p24"/>
          <p:cNvPicPr preferRelativeResize="0"/>
          <p:nvPr/>
        </p:nvPicPr>
        <p:blipFill>
          <a:blip r:embed="rId3">
            <a:alphaModFix/>
          </a:blip>
          <a:stretch>
            <a:fillRect/>
          </a:stretch>
        </p:blipFill>
        <p:spPr>
          <a:xfrm>
            <a:off x="5212500" y="0"/>
            <a:ext cx="3931500" cy="51435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54"/>
        <p:cNvGrpSpPr/>
        <p:nvPr/>
      </p:nvGrpSpPr>
      <p:grpSpPr>
        <a:xfrm>
          <a:off x="0" y="0"/>
          <a:ext cx="0" cy="0"/>
          <a:chOff x="0" y="0"/>
          <a:chExt cx="0" cy="0"/>
        </a:xfrm>
      </p:grpSpPr>
      <p:sp>
        <p:nvSpPr>
          <p:cNvPr id="155" name="Google Shape;155;p25"/>
          <p:cNvSpPr txBox="1">
            <a:spLocks noGrp="1"/>
          </p:cNvSpPr>
          <p:nvPr>
            <p:ph type="title"/>
          </p:nvPr>
        </p:nvSpPr>
        <p:spPr>
          <a:xfrm>
            <a:off x="311700" y="445025"/>
            <a:ext cx="8520600" cy="84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Class Discussion</a:t>
            </a:r>
            <a:endParaRPr sz="4500" b="1">
              <a:solidFill>
                <a:srgbClr val="541900"/>
              </a:solidFill>
            </a:endParaRPr>
          </a:p>
        </p:txBody>
      </p:sp>
      <p:sp>
        <p:nvSpPr>
          <p:cNvPr id="156" name="Google Shape;156;p25"/>
          <p:cNvSpPr txBox="1">
            <a:spLocks noGrp="1"/>
          </p:cNvSpPr>
          <p:nvPr>
            <p:ph type="body" idx="4294967295"/>
          </p:nvPr>
        </p:nvSpPr>
        <p:spPr>
          <a:xfrm>
            <a:off x="311850" y="2035625"/>
            <a:ext cx="8520300" cy="24360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2000">
                <a:solidFill>
                  <a:schemeClr val="dk1"/>
                </a:solidFill>
              </a:rPr>
              <a:t>As a class, discuss the following questions.</a:t>
            </a:r>
            <a:endParaRPr sz="2000">
              <a:solidFill>
                <a:schemeClr val="dk1"/>
              </a:solidFill>
            </a:endParaRPr>
          </a:p>
          <a:p>
            <a:pPr marL="457200" lvl="0" indent="-355600" algn="l" rtl="0">
              <a:lnSpc>
                <a:spcPct val="115000"/>
              </a:lnSpc>
              <a:spcBef>
                <a:spcPts val="1200"/>
              </a:spcBef>
              <a:spcAft>
                <a:spcPts val="0"/>
              </a:spcAft>
              <a:buClr>
                <a:srgbClr val="541900"/>
              </a:buClr>
              <a:buSzPts val="2000"/>
              <a:buChar char="●"/>
            </a:pPr>
            <a:r>
              <a:rPr lang="en" sz="2000">
                <a:solidFill>
                  <a:schemeClr val="dk1"/>
                </a:solidFill>
              </a:rPr>
              <a:t>What were some of the most surprising findings you gained from your chatbot interviews?</a:t>
            </a:r>
            <a:endParaRPr sz="2000">
              <a:solidFill>
                <a:schemeClr val="dk1"/>
              </a:solidFill>
            </a:endParaRPr>
          </a:p>
          <a:p>
            <a:pPr marL="457200" lvl="0" indent="-355600" algn="l" rtl="0">
              <a:lnSpc>
                <a:spcPct val="115000"/>
              </a:lnSpc>
              <a:spcBef>
                <a:spcPts val="0"/>
              </a:spcBef>
              <a:spcAft>
                <a:spcPts val="0"/>
              </a:spcAft>
              <a:buClr>
                <a:srgbClr val="541900"/>
              </a:buClr>
              <a:buSzPts val="2000"/>
              <a:buChar char="●"/>
            </a:pPr>
            <a:r>
              <a:rPr lang="en" sz="2000">
                <a:solidFill>
                  <a:schemeClr val="dk1"/>
                </a:solidFill>
              </a:rPr>
              <a:t>Did the chatbots provide new ideas or connections that you hadn’t thought of before?</a:t>
            </a:r>
            <a:endParaRPr sz="2000">
              <a:solidFill>
                <a:schemeClr val="dk1"/>
              </a:solidFill>
            </a:endParaRPr>
          </a:p>
          <a:p>
            <a:pPr marL="457200" lvl="0" indent="-355600" algn="l" rtl="0">
              <a:lnSpc>
                <a:spcPct val="115000"/>
              </a:lnSpc>
              <a:spcBef>
                <a:spcPts val="0"/>
              </a:spcBef>
              <a:spcAft>
                <a:spcPts val="0"/>
              </a:spcAft>
              <a:buClr>
                <a:srgbClr val="541900"/>
              </a:buClr>
              <a:buSzPts val="2000"/>
              <a:buChar char="●"/>
            </a:pPr>
            <a:r>
              <a:rPr lang="en" sz="2000">
                <a:solidFill>
                  <a:schemeClr val="dk1"/>
                </a:solidFill>
              </a:rPr>
              <a:t>What revisions did you incorporate into your model?</a:t>
            </a:r>
            <a:endParaRPr sz="2000">
              <a:solidFill>
                <a:schemeClr val="dk1"/>
              </a:solidFill>
            </a:endParaRPr>
          </a:p>
        </p:txBody>
      </p:sp>
      <p:sp>
        <p:nvSpPr>
          <p:cNvPr id="157" name="Google Shape;157;p25"/>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rPr>
              <a:t>Module 2.2 Refining Your Model with Generative AI</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13</a:t>
            </a:r>
            <a:endParaRPr sz="1200">
              <a:solidFill>
                <a:schemeClr val="dk1"/>
              </a:solidFill>
              <a:latin typeface="Arial"/>
              <a:ea typeface="Arial"/>
              <a:cs typeface="Arial"/>
              <a:sym typeface="Arial"/>
            </a:endParaRPr>
          </a:p>
        </p:txBody>
      </p:sp>
      <p:sp>
        <p:nvSpPr>
          <p:cNvPr id="158" name="Google Shape;158;p25"/>
          <p:cNvSpPr txBox="1">
            <a:spLocks noGrp="1"/>
          </p:cNvSpPr>
          <p:nvPr>
            <p:ph type="body" idx="4294967295"/>
          </p:nvPr>
        </p:nvSpPr>
        <p:spPr>
          <a:xfrm>
            <a:off x="311900" y="1293125"/>
            <a:ext cx="8520300" cy="742500"/>
          </a:xfrm>
          <a:prstGeom prst="rect">
            <a:avLst/>
          </a:prstGeom>
        </p:spPr>
        <p:txBody>
          <a:bodyPr spcFirstLastPara="1" wrap="square" lIns="91425" tIns="91425" rIns="91425" bIns="91425" anchor="t" anchorCtr="0">
            <a:normAutofit lnSpcReduction="10000"/>
          </a:bodyPr>
          <a:lstStyle/>
          <a:p>
            <a:pPr marL="0" lvl="0" indent="0" algn="l" rtl="0">
              <a:lnSpc>
                <a:spcPct val="100000"/>
              </a:lnSpc>
              <a:spcBef>
                <a:spcPts val="0"/>
              </a:spcBef>
              <a:spcAft>
                <a:spcPts val="0"/>
              </a:spcAft>
              <a:buNone/>
            </a:pPr>
            <a:r>
              <a:rPr lang="en" sz="2000">
                <a:solidFill>
                  <a:srgbClr val="355E3B"/>
                </a:solidFill>
              </a:rPr>
              <a:t>After you have completed your revisions to your model, come back together as a class. </a:t>
            </a:r>
            <a:endParaRPr sz="2000">
              <a:solidFill>
                <a:srgbClr val="355E3B"/>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62"/>
        <p:cNvGrpSpPr/>
        <p:nvPr/>
      </p:nvGrpSpPr>
      <p:grpSpPr>
        <a:xfrm>
          <a:off x="0" y="0"/>
          <a:ext cx="0" cy="0"/>
          <a:chOff x="0" y="0"/>
          <a:chExt cx="0" cy="0"/>
        </a:xfrm>
      </p:grpSpPr>
      <p:sp>
        <p:nvSpPr>
          <p:cNvPr id="163" name="Google Shape;163;p26"/>
          <p:cNvSpPr txBox="1">
            <a:spLocks noGrp="1"/>
          </p:cNvSpPr>
          <p:nvPr>
            <p:ph type="title"/>
          </p:nvPr>
        </p:nvSpPr>
        <p:spPr>
          <a:xfrm>
            <a:off x="311700" y="445025"/>
            <a:ext cx="8520600" cy="84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Class Discussion Continued</a:t>
            </a:r>
            <a:endParaRPr sz="4500" b="1">
              <a:solidFill>
                <a:srgbClr val="541900"/>
              </a:solidFill>
            </a:endParaRPr>
          </a:p>
        </p:txBody>
      </p:sp>
      <p:sp>
        <p:nvSpPr>
          <p:cNvPr id="164" name="Google Shape;164;p26"/>
          <p:cNvSpPr txBox="1">
            <a:spLocks noGrp="1"/>
          </p:cNvSpPr>
          <p:nvPr>
            <p:ph type="body" idx="4294967295"/>
          </p:nvPr>
        </p:nvSpPr>
        <p:spPr>
          <a:xfrm>
            <a:off x="311850" y="2035625"/>
            <a:ext cx="8520300" cy="24360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2000">
                <a:solidFill>
                  <a:schemeClr val="dk1"/>
                </a:solidFill>
              </a:rPr>
              <a:t>As a class, discuss the following questions.</a:t>
            </a:r>
            <a:endParaRPr sz="2000">
              <a:solidFill>
                <a:schemeClr val="dk1"/>
              </a:solidFill>
            </a:endParaRPr>
          </a:p>
          <a:p>
            <a:pPr marL="457200" lvl="0" indent="-355600" algn="l" rtl="0">
              <a:lnSpc>
                <a:spcPct val="115000"/>
              </a:lnSpc>
              <a:spcBef>
                <a:spcPts val="0"/>
              </a:spcBef>
              <a:spcAft>
                <a:spcPts val="0"/>
              </a:spcAft>
              <a:buClr>
                <a:srgbClr val="541900"/>
              </a:buClr>
              <a:buSzPts val="2000"/>
              <a:buChar char="●"/>
            </a:pPr>
            <a:r>
              <a:rPr lang="en" sz="2000">
                <a:solidFill>
                  <a:schemeClr val="dk1"/>
                </a:solidFill>
              </a:rPr>
              <a:t>Looking at your current model, what specific data is still missing that could help you better understand the system you're modeling?</a:t>
            </a:r>
            <a:endParaRPr sz="2000">
              <a:solidFill>
                <a:schemeClr val="dk1"/>
              </a:solidFill>
            </a:endParaRPr>
          </a:p>
          <a:p>
            <a:pPr marL="457200" lvl="0" indent="-355600" algn="l" rtl="0">
              <a:lnSpc>
                <a:spcPct val="115000"/>
              </a:lnSpc>
              <a:spcBef>
                <a:spcPts val="0"/>
              </a:spcBef>
              <a:spcAft>
                <a:spcPts val="0"/>
              </a:spcAft>
              <a:buClr>
                <a:srgbClr val="541900"/>
              </a:buClr>
              <a:buSzPts val="2000"/>
              <a:buChar char="●"/>
            </a:pPr>
            <a:r>
              <a:rPr lang="en" sz="2000">
                <a:solidFill>
                  <a:schemeClr val="dk1"/>
                </a:solidFill>
              </a:rPr>
              <a:t>Where might we gather or collect this data?</a:t>
            </a:r>
            <a:endParaRPr sz="2000">
              <a:solidFill>
                <a:schemeClr val="dk1"/>
              </a:solidFill>
            </a:endParaRPr>
          </a:p>
        </p:txBody>
      </p:sp>
      <p:sp>
        <p:nvSpPr>
          <p:cNvPr id="165" name="Google Shape;165;p26"/>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rPr>
              <a:t>Module 2.2 Refining Your Model with Generative AI</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14</a:t>
            </a:r>
            <a:endParaRPr sz="1200">
              <a:solidFill>
                <a:schemeClr val="dk1"/>
              </a:solidFill>
              <a:latin typeface="Arial"/>
              <a:ea typeface="Arial"/>
              <a:cs typeface="Arial"/>
              <a:sym typeface="Arial"/>
            </a:endParaRPr>
          </a:p>
        </p:txBody>
      </p:sp>
      <p:sp>
        <p:nvSpPr>
          <p:cNvPr id="166" name="Google Shape;166;p26"/>
          <p:cNvSpPr txBox="1">
            <a:spLocks noGrp="1"/>
          </p:cNvSpPr>
          <p:nvPr>
            <p:ph type="body" idx="4294967295"/>
          </p:nvPr>
        </p:nvSpPr>
        <p:spPr>
          <a:xfrm>
            <a:off x="311900" y="1293125"/>
            <a:ext cx="8520300" cy="742500"/>
          </a:xfrm>
          <a:prstGeom prst="rect">
            <a:avLst/>
          </a:prstGeom>
        </p:spPr>
        <p:txBody>
          <a:bodyPr spcFirstLastPara="1" wrap="square" lIns="91425" tIns="91425" rIns="91425" bIns="91425" anchor="t" anchorCtr="0">
            <a:normAutofit lnSpcReduction="10000"/>
          </a:bodyPr>
          <a:lstStyle/>
          <a:p>
            <a:pPr marL="0" lvl="0" indent="0" algn="l" rtl="0">
              <a:lnSpc>
                <a:spcPct val="100000"/>
              </a:lnSpc>
              <a:spcBef>
                <a:spcPts val="0"/>
              </a:spcBef>
              <a:spcAft>
                <a:spcPts val="0"/>
              </a:spcAft>
              <a:buNone/>
            </a:pPr>
            <a:r>
              <a:rPr lang="en" sz="2000">
                <a:solidFill>
                  <a:srgbClr val="355E3B"/>
                </a:solidFill>
              </a:rPr>
              <a:t>After you have completed your revisions to your model, come back together as a class.</a:t>
            </a:r>
            <a:endParaRPr sz="2000">
              <a:solidFill>
                <a:srgbClr val="355E3B"/>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70"/>
        <p:cNvGrpSpPr/>
        <p:nvPr/>
      </p:nvGrpSpPr>
      <p:grpSpPr>
        <a:xfrm>
          <a:off x="0" y="0"/>
          <a:ext cx="0" cy="0"/>
          <a:chOff x="0" y="0"/>
          <a:chExt cx="0" cy="0"/>
        </a:xfrm>
      </p:grpSpPr>
      <p:sp>
        <p:nvSpPr>
          <p:cNvPr id="171" name="Google Shape;171;p27"/>
          <p:cNvSpPr txBox="1">
            <a:spLocks noGrp="1"/>
          </p:cNvSpPr>
          <p:nvPr>
            <p:ph type="body" idx="1"/>
          </p:nvPr>
        </p:nvSpPr>
        <p:spPr>
          <a:xfrm>
            <a:off x="311700" y="1196325"/>
            <a:ext cx="4543500" cy="9246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500">
                <a:solidFill>
                  <a:srgbClr val="355E3B"/>
                </a:solidFill>
              </a:rPr>
              <a:t>Reflect on what you learned in your science journal (p. 14) for Module 2.2 and your experience during AISciComm.</a:t>
            </a:r>
            <a:endParaRPr sz="1500">
              <a:solidFill>
                <a:srgbClr val="355E3B"/>
              </a:solidFill>
            </a:endParaRPr>
          </a:p>
        </p:txBody>
      </p:sp>
      <p:sp>
        <p:nvSpPr>
          <p:cNvPr id="172" name="Google Shape;172;p27"/>
          <p:cNvSpPr txBox="1">
            <a:spLocks noGrp="1"/>
          </p:cNvSpPr>
          <p:nvPr>
            <p:ph type="title"/>
          </p:nvPr>
        </p:nvSpPr>
        <p:spPr>
          <a:xfrm>
            <a:off x="311700" y="445025"/>
            <a:ext cx="454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200" b="1">
                <a:solidFill>
                  <a:srgbClr val="541900"/>
                </a:solidFill>
              </a:rPr>
              <a:t>Reflect</a:t>
            </a:r>
            <a:endParaRPr sz="4200" b="1">
              <a:solidFill>
                <a:srgbClr val="541900"/>
              </a:solidFill>
            </a:endParaRPr>
          </a:p>
        </p:txBody>
      </p:sp>
      <p:sp>
        <p:nvSpPr>
          <p:cNvPr id="173" name="Google Shape;173;p27"/>
          <p:cNvSpPr txBox="1">
            <a:spLocks noGrp="1"/>
          </p:cNvSpPr>
          <p:nvPr>
            <p:ph type="body" idx="2"/>
          </p:nvPr>
        </p:nvSpPr>
        <p:spPr>
          <a:xfrm>
            <a:off x="311700" y="2120975"/>
            <a:ext cx="4543500" cy="2906400"/>
          </a:xfrm>
          <a:prstGeom prst="rect">
            <a:avLst/>
          </a:prstGeom>
        </p:spPr>
        <p:txBody>
          <a:bodyPr spcFirstLastPara="1" wrap="square" lIns="91425" tIns="91425" rIns="91425" bIns="91425" anchor="t" anchorCtr="0">
            <a:normAutofit/>
          </a:bodyPr>
          <a:lstStyle/>
          <a:p>
            <a:pPr marL="457200" lvl="0" indent="-336550" algn="l" rtl="0">
              <a:lnSpc>
                <a:spcPct val="115000"/>
              </a:lnSpc>
              <a:spcBef>
                <a:spcPts val="0"/>
              </a:spcBef>
              <a:spcAft>
                <a:spcPts val="0"/>
              </a:spcAft>
              <a:buClr>
                <a:schemeClr val="dk1"/>
              </a:buClr>
              <a:buSzPts val="1700"/>
              <a:buFont typeface="Arial"/>
              <a:buChar char="●"/>
            </a:pPr>
            <a:r>
              <a:rPr lang="en" sz="1700">
                <a:solidFill>
                  <a:schemeClr val="dk1"/>
                </a:solidFill>
              </a:rPr>
              <a:t>How did the AI chatbots help change your thinking and support the changes in your model?</a:t>
            </a:r>
            <a:endParaRPr sz="1700">
              <a:solidFill>
                <a:schemeClr val="dk1"/>
              </a:solidFill>
            </a:endParaRPr>
          </a:p>
          <a:p>
            <a:pPr marL="457200" lvl="0" indent="-336550" algn="l" rtl="0">
              <a:lnSpc>
                <a:spcPct val="115000"/>
              </a:lnSpc>
              <a:spcBef>
                <a:spcPts val="0"/>
              </a:spcBef>
              <a:spcAft>
                <a:spcPts val="0"/>
              </a:spcAft>
              <a:buClr>
                <a:schemeClr val="dk1"/>
              </a:buClr>
              <a:buSzPts val="1700"/>
              <a:buFont typeface="Arial"/>
              <a:buChar char="●"/>
            </a:pPr>
            <a:r>
              <a:rPr lang="en" sz="1700">
                <a:solidFill>
                  <a:schemeClr val="dk1"/>
                </a:solidFill>
              </a:rPr>
              <a:t>Which areas of your model need more information? How might you explore them further?</a:t>
            </a:r>
            <a:endParaRPr sz="2000">
              <a:solidFill>
                <a:schemeClr val="dk1"/>
              </a:solidFill>
            </a:endParaRPr>
          </a:p>
        </p:txBody>
      </p:sp>
      <p:sp>
        <p:nvSpPr>
          <p:cNvPr id="174" name="Google Shape;174;p27"/>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2.2 Refining Your Model with Generative AI</a:t>
            </a:r>
            <a:br>
              <a:rPr lang="en" sz="1200">
                <a:solidFill>
                  <a:srgbClr val="000000"/>
                </a:solidFill>
              </a:rPr>
            </a:br>
            <a:r>
              <a:rPr lang="en" sz="1200"/>
              <a:t>Slide 15</a:t>
            </a:r>
            <a:endParaRPr sz="1200">
              <a:solidFill>
                <a:srgbClr val="000000"/>
              </a:solidFill>
            </a:endParaRPr>
          </a:p>
        </p:txBody>
      </p:sp>
      <p:pic>
        <p:nvPicPr>
          <p:cNvPr id="175" name="Google Shape;175;p27"/>
          <p:cNvPicPr preferRelativeResize="0"/>
          <p:nvPr/>
        </p:nvPicPr>
        <p:blipFill rotWithShape="1">
          <a:blip r:embed="rId3">
            <a:alphaModFix/>
          </a:blip>
          <a:srcRect l="40" t="23662" r="-40" b="4287"/>
          <a:stretch/>
        </p:blipFill>
        <p:spPr>
          <a:xfrm>
            <a:off x="4972050" y="0"/>
            <a:ext cx="4023150" cy="4361101"/>
          </a:xfrm>
          <a:prstGeom prst="rect">
            <a:avLst/>
          </a:prstGeom>
          <a:noFill/>
          <a:ln>
            <a:noFill/>
          </a:ln>
        </p:spPr>
      </p:pic>
      <p:sp>
        <p:nvSpPr>
          <p:cNvPr id="176" name="Google Shape;176;p27"/>
          <p:cNvSpPr txBox="1"/>
          <p:nvPr/>
        </p:nvSpPr>
        <p:spPr>
          <a:xfrm>
            <a:off x="4895850" y="4351075"/>
            <a:ext cx="4023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595959"/>
                </a:solidFill>
              </a:rPr>
              <a:t>Image created with ChatGPT</a:t>
            </a:r>
            <a:br>
              <a:rPr lang="en" sz="1000">
                <a:solidFill>
                  <a:srgbClr val="595959"/>
                </a:solidFill>
              </a:rPr>
            </a:br>
            <a:r>
              <a:rPr lang="en" sz="1000" i="1">
                <a:solidFill>
                  <a:srgbClr val="595959"/>
                </a:solidFill>
              </a:rPr>
              <a:t>Prompt: Create an image about SoCal beaches.</a:t>
            </a:r>
            <a:endParaRPr sz="1700" i="1">
              <a:solidFill>
                <a:srgbClr val="59595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80"/>
        <p:cNvGrpSpPr/>
        <p:nvPr/>
      </p:nvGrpSpPr>
      <p:grpSpPr>
        <a:xfrm>
          <a:off x="0" y="0"/>
          <a:ext cx="0" cy="0"/>
          <a:chOff x="0" y="0"/>
          <a:chExt cx="0" cy="0"/>
        </a:xfrm>
      </p:grpSpPr>
      <p:sp>
        <p:nvSpPr>
          <p:cNvPr id="181" name="Google Shape;181;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b="1">
                <a:solidFill>
                  <a:srgbClr val="541900"/>
                </a:solidFill>
              </a:rPr>
              <a:t>Thank you!</a:t>
            </a:r>
            <a:endParaRPr sz="4500" b="1">
              <a:solidFill>
                <a:srgbClr val="541900"/>
              </a:solidFill>
            </a:endParaRPr>
          </a:p>
        </p:txBody>
      </p:sp>
      <p:sp>
        <p:nvSpPr>
          <p:cNvPr id="182" name="Google Shape;182;p28"/>
          <p:cNvSpPr txBox="1"/>
          <p:nvPr/>
        </p:nvSpPr>
        <p:spPr>
          <a:xfrm>
            <a:off x="311700" y="1374600"/>
            <a:ext cx="8520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If you have any questions, please feel free to reach out.</a:t>
            </a:r>
            <a:endParaRPr sz="1800">
              <a:solidFill>
                <a:schemeClr val="dk1"/>
              </a:solidFill>
            </a:endParaRPr>
          </a:p>
        </p:txBody>
      </p:sp>
      <p:sp>
        <p:nvSpPr>
          <p:cNvPr id="183" name="Google Shape;183;p28"/>
          <p:cNvSpPr txBox="1"/>
          <p:nvPr/>
        </p:nvSpPr>
        <p:spPr>
          <a:xfrm>
            <a:off x="318402" y="3563413"/>
            <a:ext cx="3640200" cy="120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solidFill>
                  <a:schemeClr val="dk1"/>
                </a:solidFill>
              </a:rPr>
              <a:t>Ha Nguyen, Ph.D.</a:t>
            </a:r>
            <a:endParaRPr sz="2200" b="1">
              <a:solidFill>
                <a:schemeClr val="dk1"/>
              </a:solidFill>
            </a:endParaRPr>
          </a:p>
          <a:p>
            <a:pPr marL="0" lvl="0" indent="0" algn="l" rtl="0">
              <a:spcBef>
                <a:spcPts val="0"/>
              </a:spcBef>
              <a:spcAft>
                <a:spcPts val="0"/>
              </a:spcAft>
              <a:buNone/>
            </a:pPr>
            <a:r>
              <a:rPr lang="en" sz="2200">
                <a:solidFill>
                  <a:schemeClr val="dk1"/>
                </a:solidFill>
              </a:rPr>
              <a:t>Assistant Professor, UNC</a:t>
            </a:r>
            <a:endParaRPr sz="2200">
              <a:solidFill>
                <a:schemeClr val="dk1"/>
              </a:solidFill>
            </a:endParaRPr>
          </a:p>
          <a:p>
            <a:pPr marL="0" lvl="0" indent="0" algn="l" rtl="0">
              <a:spcBef>
                <a:spcPts val="0"/>
              </a:spcBef>
              <a:spcAft>
                <a:spcPts val="0"/>
              </a:spcAft>
              <a:buNone/>
            </a:pPr>
            <a:r>
              <a:rPr lang="en" sz="2200">
                <a:solidFill>
                  <a:schemeClr val="dk1"/>
                </a:solidFill>
              </a:rPr>
              <a:t>ha.nguyen@unc.edu</a:t>
            </a:r>
            <a:endParaRPr sz="2200">
              <a:solidFill>
                <a:schemeClr val="dk1"/>
              </a:solidFill>
            </a:endParaRPr>
          </a:p>
        </p:txBody>
      </p:sp>
      <p:sp>
        <p:nvSpPr>
          <p:cNvPr id="184" name="Google Shape;184;p28"/>
          <p:cNvSpPr txBox="1"/>
          <p:nvPr/>
        </p:nvSpPr>
        <p:spPr>
          <a:xfrm>
            <a:off x="318400" y="1971462"/>
            <a:ext cx="3455100" cy="120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solidFill>
                  <a:schemeClr val="dk1"/>
                </a:solidFill>
              </a:rPr>
              <a:t>Erick Valdez</a:t>
            </a:r>
            <a:endParaRPr sz="2200" b="1">
              <a:solidFill>
                <a:schemeClr val="dk1"/>
              </a:solidFill>
            </a:endParaRPr>
          </a:p>
          <a:p>
            <a:pPr marL="0" lvl="0" indent="0" algn="l" rtl="0">
              <a:spcBef>
                <a:spcPts val="0"/>
              </a:spcBef>
              <a:spcAft>
                <a:spcPts val="0"/>
              </a:spcAft>
              <a:buNone/>
            </a:pPr>
            <a:r>
              <a:rPr lang="en" sz="2200">
                <a:solidFill>
                  <a:schemeClr val="dk1"/>
                </a:solidFill>
              </a:rPr>
              <a:t>Inside the Outdoors</a:t>
            </a:r>
            <a:endParaRPr sz="2200">
              <a:solidFill>
                <a:schemeClr val="dk1"/>
              </a:solidFill>
            </a:endParaRPr>
          </a:p>
          <a:p>
            <a:pPr marL="0" lvl="0" indent="0" algn="l" rtl="0">
              <a:spcBef>
                <a:spcPts val="0"/>
              </a:spcBef>
              <a:spcAft>
                <a:spcPts val="0"/>
              </a:spcAft>
              <a:buNone/>
            </a:pPr>
            <a:r>
              <a:rPr lang="en" sz="2200">
                <a:solidFill>
                  <a:schemeClr val="dk1"/>
                </a:solidFill>
              </a:rPr>
              <a:t>evaldez@ocde.us</a:t>
            </a:r>
            <a:endParaRPr sz="2200">
              <a:solidFill>
                <a:schemeClr val="dk1"/>
              </a:solidFill>
            </a:endParaRPr>
          </a:p>
        </p:txBody>
      </p:sp>
      <p:pic>
        <p:nvPicPr>
          <p:cNvPr id="185" name="Google Shape;185;p28"/>
          <p:cNvPicPr preferRelativeResize="0"/>
          <p:nvPr/>
        </p:nvPicPr>
        <p:blipFill>
          <a:blip r:embed="rId3">
            <a:alphaModFix/>
          </a:blip>
          <a:stretch>
            <a:fillRect/>
          </a:stretch>
        </p:blipFill>
        <p:spPr>
          <a:xfrm>
            <a:off x="5958425" y="3608125"/>
            <a:ext cx="1289949" cy="1102075"/>
          </a:xfrm>
          <a:prstGeom prst="rect">
            <a:avLst/>
          </a:prstGeom>
          <a:noFill/>
          <a:ln>
            <a:noFill/>
          </a:ln>
        </p:spPr>
      </p:pic>
      <p:pic>
        <p:nvPicPr>
          <p:cNvPr id="186" name="Google Shape;186;p28" title="ITO-logo-col-clear.png"/>
          <p:cNvPicPr preferRelativeResize="0"/>
          <p:nvPr/>
        </p:nvPicPr>
        <p:blipFill>
          <a:blip r:embed="rId4">
            <a:alphaModFix/>
          </a:blip>
          <a:stretch>
            <a:fillRect/>
          </a:stretch>
        </p:blipFill>
        <p:spPr>
          <a:xfrm>
            <a:off x="4439452" y="1965350"/>
            <a:ext cx="1289950" cy="1329621"/>
          </a:xfrm>
          <a:prstGeom prst="rect">
            <a:avLst/>
          </a:prstGeom>
          <a:noFill/>
          <a:ln>
            <a:noFill/>
          </a:ln>
        </p:spPr>
      </p:pic>
      <p:pic>
        <p:nvPicPr>
          <p:cNvPr id="187" name="Google Shape;187;p28" title="University_of_California,_Irvine_seal.svg.png"/>
          <p:cNvPicPr preferRelativeResize="0"/>
          <p:nvPr/>
        </p:nvPicPr>
        <p:blipFill>
          <a:blip r:embed="rId5">
            <a:alphaModFix/>
          </a:blip>
          <a:stretch>
            <a:fillRect/>
          </a:stretch>
        </p:blipFill>
        <p:spPr>
          <a:xfrm>
            <a:off x="4495824" y="3546924"/>
            <a:ext cx="1233549" cy="1233576"/>
          </a:xfrm>
          <a:prstGeom prst="rect">
            <a:avLst/>
          </a:prstGeom>
          <a:noFill/>
          <a:ln>
            <a:noFill/>
          </a:ln>
        </p:spPr>
      </p:pic>
      <p:pic>
        <p:nvPicPr>
          <p:cNvPr id="188" name="Google Shape;188;p28" title="OCDE orange county department of education logo.png"/>
          <p:cNvPicPr preferRelativeResize="0"/>
          <p:nvPr/>
        </p:nvPicPr>
        <p:blipFill>
          <a:blip r:embed="rId6">
            <a:alphaModFix/>
          </a:blip>
          <a:stretch>
            <a:fillRect/>
          </a:stretch>
        </p:blipFill>
        <p:spPr>
          <a:xfrm>
            <a:off x="5958425" y="1983225"/>
            <a:ext cx="1289950" cy="12899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2997</Words>
  <Application>Microsoft Macintosh PowerPoint</Application>
  <PresentationFormat>On-screen Show (16:9)</PresentationFormat>
  <Paragraphs>232</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Simple Light</vt:lpstr>
      <vt:lpstr>Refining Your Model with Generative AI</vt:lpstr>
      <vt:lpstr>Reflecting On Your Model</vt:lpstr>
      <vt:lpstr>Module Overview</vt:lpstr>
      <vt:lpstr>Class Discussion</vt:lpstr>
      <vt:lpstr>Our AI Chatbot Platform: AISciComm </vt:lpstr>
      <vt:lpstr>Explore the Chatbots </vt:lpstr>
      <vt:lpstr>Preparing Your Chatbot Interview</vt:lpstr>
      <vt:lpstr>Conduct your Chatbot Interview</vt:lpstr>
      <vt:lpstr>Tips for Interviewing the Chatbots</vt:lpstr>
      <vt:lpstr>Interviewing the Chatbots</vt:lpstr>
      <vt:lpstr>Sharing Your Findings</vt:lpstr>
      <vt:lpstr>Revise Your Model</vt:lpstr>
      <vt:lpstr>Class Discussion</vt:lpstr>
      <vt:lpstr>Class Discussion Continued</vt:lpstr>
      <vt:lpstr>Reflect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Nguyen, Ha</cp:lastModifiedBy>
  <cp:revision>3</cp:revision>
  <dcterms:modified xsi:type="dcterms:W3CDTF">2026-08-20T04:21:24Z</dcterms:modified>
</cp:coreProperties>
</file>