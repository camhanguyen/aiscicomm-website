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le26o4q4uggeU3F06zXRDDMvydpX66ZRpuEYDw8v-68/edit?tab=t.0"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Link to </a:t>
            </a:r>
            <a:r>
              <a:rPr lang="en" u="sng">
                <a:solidFill>
                  <a:schemeClr val="hlink"/>
                </a:solidFill>
                <a:hlinkClick r:id="rId3"/>
              </a:rPr>
              <a:t>Module 3.5 Lesson Plan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1 </a:t>
            </a:r>
            <a:r>
              <a:rPr lang="en" sz="1200">
                <a:solidFill>
                  <a:schemeClr val="dk1"/>
                </a:solidFill>
                <a:latin typeface="Calibri"/>
                <a:ea typeface="Calibri"/>
                <a:cs typeface="Calibri"/>
                <a:sym typeface="Calibri"/>
              </a:rPr>
              <a:t>and invite the class to get together for the final lesson of Module 3.</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a5cdcc2ed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a5cdcc2ed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 </a:t>
            </a:r>
            <a:r>
              <a:rPr lang="en" sz="1200">
                <a:solidFill>
                  <a:schemeClr val="dk1"/>
                </a:solidFill>
                <a:latin typeface="Calibri"/>
                <a:ea typeface="Calibri"/>
                <a:cs typeface="Calibri"/>
                <a:sym typeface="Calibri"/>
              </a:rPr>
              <a:t>to show the Overview of lesson 3.5. Explain to students that in this lesson, they will bring all the new findings from Module 3 to update our models about how climate change impacts the values their community places on the ocean.</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you are ready, begin by inviting students to get into their model groups from Module 2 and have students bring up the models on SageModeler from Module 2. </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a5cdcc2edd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a5cdcc2edd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and have students open their Science Journals to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3.5: Updating our Models (</a:t>
            </a:r>
            <a:r>
              <a:rPr lang="en" sz="1200" b="1" i="1" u="sng">
                <a:solidFill>
                  <a:srgbClr val="1155CC"/>
                </a:solidFill>
                <a:hlinkClick r:id="rId3">
                  <a:extLst>
                    <a:ext uri="{A12FA001-AC4F-418D-AE19-62706E023703}">
                      <ahyp:hlinkClr xmlns:ahyp="http://schemas.microsoft.com/office/drawing/2018/hyperlinkcolor" val="tx"/>
                    </a:ext>
                  </a:extLst>
                </a:hlinkClick>
              </a:rPr>
              <a:t>Student Task: Plan SageModeler Update)</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 p. 56-57.</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Here groups will plan how they will use their new knowledge to update their models. </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a:t>
            </a:r>
            <a:r>
              <a:rPr lang="en" sz="1200" b="1">
                <a:solidFill>
                  <a:schemeClr val="dk1"/>
                </a:solidFill>
                <a:latin typeface="Calibri"/>
                <a:ea typeface="Calibri"/>
                <a:cs typeface="Calibri"/>
                <a:sym typeface="Calibri"/>
              </a:rPr>
              <a:t>processes</a:t>
            </a:r>
            <a:r>
              <a:rPr lang="en" sz="1200">
                <a:solidFill>
                  <a:schemeClr val="dk1"/>
                </a:solidFill>
                <a:latin typeface="Calibri"/>
                <a:ea typeface="Calibri"/>
                <a:cs typeface="Calibri"/>
                <a:sym typeface="Calibri"/>
              </a:rPr>
              <a:t> that we have studied, including sea level rise, coastal erosion, global warming, and ocean acidification, affect the values your community cares about? How do they affect the components you have in your models?</a:t>
            </a:r>
            <a:endParaRPr sz="1200">
              <a:solidFill>
                <a:schemeClr val="dk1"/>
              </a:solidFill>
              <a:latin typeface="Calibri"/>
              <a:ea typeface="Calibri"/>
              <a:cs typeface="Calibri"/>
              <a:sym typeface="Calibri"/>
            </a:endParaRPr>
          </a:p>
          <a:p>
            <a:pPr marL="13716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processes do you want to add to your model?</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a:t>
            </a:r>
            <a:r>
              <a:rPr lang="en" sz="1200" b="1">
                <a:solidFill>
                  <a:schemeClr val="dk1"/>
                </a:solidFill>
                <a:latin typeface="Calibri"/>
                <a:ea typeface="Calibri"/>
                <a:cs typeface="Calibri"/>
                <a:sym typeface="Calibri"/>
              </a:rPr>
              <a:t>components</a:t>
            </a:r>
            <a:r>
              <a:rPr lang="en" sz="1200">
                <a:solidFill>
                  <a:schemeClr val="dk1"/>
                </a:solidFill>
                <a:latin typeface="Calibri"/>
                <a:ea typeface="Calibri"/>
                <a:cs typeface="Calibri"/>
                <a:sym typeface="Calibri"/>
              </a:rPr>
              <a:t> were not in your original model that you want to add now?</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a:t>
            </a:r>
            <a:r>
              <a:rPr lang="en" sz="1200" b="1">
                <a:solidFill>
                  <a:schemeClr val="dk1"/>
                </a:solidFill>
                <a:latin typeface="Calibri"/>
                <a:ea typeface="Calibri"/>
                <a:cs typeface="Calibri"/>
                <a:sym typeface="Calibri"/>
              </a:rPr>
              <a:t>relationships</a:t>
            </a:r>
            <a:r>
              <a:rPr lang="en" sz="1200">
                <a:solidFill>
                  <a:schemeClr val="dk1"/>
                </a:solidFill>
                <a:latin typeface="Calibri"/>
                <a:ea typeface="Calibri"/>
                <a:cs typeface="Calibri"/>
                <a:sym typeface="Calibri"/>
              </a:rPr>
              <a:t> were not in your original model that you want to add now?</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t>
            </a:r>
            <a:r>
              <a:rPr lang="en" sz="1200" b="1">
                <a:solidFill>
                  <a:schemeClr val="dk1"/>
                </a:solidFill>
                <a:latin typeface="Calibri"/>
                <a:ea typeface="Calibri"/>
                <a:cs typeface="Calibri"/>
                <a:sym typeface="Calibri"/>
              </a:rPr>
              <a:t>human activities </a:t>
            </a:r>
            <a:r>
              <a:rPr lang="en" sz="1200">
                <a:solidFill>
                  <a:schemeClr val="dk1"/>
                </a:solidFill>
                <a:latin typeface="Calibri"/>
                <a:ea typeface="Calibri"/>
                <a:cs typeface="Calibri"/>
                <a:sym typeface="Calibri"/>
              </a:rPr>
              <a:t>contribute to the changes in these natural processes?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are working in their groups, walk around and help support them by asking probing and pressing questions.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Is there a component that may be missing here? Think back to the beginning of Module 3.</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think this component connects to what you learned in Module 3?</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we make this relationship explicit in our model?</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finish working in their Science Journals, take a moment to gather the class back together and let them know that their next step is going to be including these changes into their SageModeler models.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b338641fa0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b338641fa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groups rejoin their team and advance to </a:t>
            </a:r>
            <a:r>
              <a:rPr lang="en" sz="1200" b="1">
                <a:solidFill>
                  <a:schemeClr val="dk1"/>
                </a:solidFill>
                <a:latin typeface="Calibri"/>
                <a:ea typeface="Calibri"/>
                <a:cs typeface="Calibri"/>
                <a:sym typeface="Calibri"/>
              </a:rPr>
              <a:t>Slide 4</a:t>
            </a:r>
            <a:r>
              <a:rPr lang="en" sz="1200">
                <a:solidFill>
                  <a:schemeClr val="dk1"/>
                </a:solidFill>
                <a:latin typeface="Calibri"/>
                <a:ea typeface="Calibri"/>
                <a:cs typeface="Calibri"/>
                <a:sym typeface="Calibri"/>
              </a:rPr>
              <a:t>. Explain to students that they will now begin revising their SageModeler models using the plans they created in their Science Journals.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you revise your models, keep the following in mind:</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carbon dioxide play a role in your model?</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carbon dioxide impact other processes in your model?</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can you demonstrate carbon dioxide’s relationship to other portions of your model?</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Give students 15 minutes to work on updating their models.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As students are working make sure to walk around providing support to help them refine their models and emphasize how to demonstrate direct relationships and indirect relationships. Make sure that students include carbon dioxide as a component in their model.</a:t>
            </a:r>
            <a:endParaRPr sz="1200" b="1">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Does this component play a larger role in impacting your community value than previously thought? How can you change the intensity of the relationship to reflect this?</a:t>
            </a:r>
            <a:r>
              <a:rPr lang="en" sz="1200" i="1">
                <a:solidFill>
                  <a:schemeClr val="dk1"/>
                </a:solidFill>
                <a:latin typeface="Calibri"/>
                <a:ea typeface="Calibri"/>
                <a:cs typeface="Calibri"/>
                <a:sym typeface="Calibri"/>
              </a:rPr>
              <a:t>(increase the relationship magnitude within SageModeler.)</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you explain how this human caused impact indirectly impacts the value your community places on Southern California’s ocean?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338641fa0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338641fa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At the 15 minute mark, call student groups back to the class and advance to </a:t>
            </a:r>
            <a:r>
              <a:rPr lang="en" sz="1200" b="1">
                <a:solidFill>
                  <a:schemeClr val="dk1"/>
                </a:solidFill>
                <a:latin typeface="Calibri"/>
                <a:ea typeface="Calibri"/>
                <a:cs typeface="Calibri"/>
                <a:sym typeface="Calibri"/>
              </a:rPr>
              <a:t>Slide 5</a:t>
            </a:r>
            <a:r>
              <a:rPr lang="en" sz="1200">
                <a:solidFill>
                  <a:schemeClr val="dk1"/>
                </a:solidFill>
                <a:latin typeface="Calibri"/>
                <a:ea typeface="Calibri"/>
                <a:cs typeface="Calibri"/>
                <a:sym typeface="Calibri"/>
              </a:rPr>
              <a:t>. As students: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changes did you make to your model?</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Tell students that now that they have made revisions, together, they will track how one component that they explored in the last module, carbon dioxide emissions, impacts the value their model is centered around. If they haven’t added carbon dioxide emissions in yet, give them a moment to include it.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b32cbd2d3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b32cbd2d3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6 </a:t>
            </a:r>
            <a:r>
              <a:rPr lang="en" sz="1200">
                <a:solidFill>
                  <a:schemeClr val="dk1"/>
                </a:solidFill>
                <a:latin typeface="Calibri"/>
                <a:ea typeface="Calibri"/>
                <a:cs typeface="Calibri"/>
                <a:sym typeface="Calibri"/>
              </a:rPr>
              <a:t>and have students open their Science Journals to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3.5: Updating Our Models (Student Task: Make a Prediction), p.58</a:t>
            </a:r>
            <a:r>
              <a:rPr lang="en" sz="1200" b="1">
                <a:solidFill>
                  <a:schemeClr val="dk1"/>
                </a:solidFill>
                <a:latin typeface="Calibri"/>
                <a:ea typeface="Calibri"/>
                <a:cs typeface="Calibri"/>
                <a:sym typeface="Calibri"/>
              </a:rPr>
              <a:t>.</a:t>
            </a:r>
            <a:r>
              <a:rPr lang="en" sz="1800" b="1" i="1">
                <a:solidFill>
                  <a:srgbClr val="355E3B"/>
                </a:solidFill>
                <a:latin typeface="Calibri"/>
                <a:ea typeface="Calibri"/>
                <a:cs typeface="Calibri"/>
                <a:sym typeface="Calibri"/>
              </a:rPr>
              <a:t> </a:t>
            </a:r>
            <a:r>
              <a:rPr lang="en" sz="1200">
                <a:solidFill>
                  <a:schemeClr val="dk1"/>
                </a:solidFill>
                <a:latin typeface="Calibri"/>
                <a:ea typeface="Calibri"/>
                <a:cs typeface="Calibri"/>
                <a:sym typeface="Calibri"/>
              </a:rPr>
              <a:t>Here, students will be asked to make a prediction on how their chosen value will change as carbon dioxide emissions increase.</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b="1" i="1">
                <a:solidFill>
                  <a:schemeClr val="dk1"/>
                </a:solidFill>
                <a:latin typeface="Calibri"/>
                <a:ea typeface="Calibri"/>
                <a:cs typeface="Calibri"/>
                <a:sym typeface="Calibri"/>
              </a:rPr>
              <a:t>Prediction Sentence Frame</a:t>
            </a:r>
            <a:endParaRPr sz="1200" b="1" i="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We predict that as carbon dioxide emissions increase,  </a:t>
            </a:r>
            <a:r>
              <a:rPr lang="en" sz="1200" b="1" i="1">
                <a:solidFill>
                  <a:schemeClr val="dk1"/>
                </a:solidFill>
                <a:latin typeface="Calibri"/>
                <a:ea typeface="Calibri"/>
                <a:cs typeface="Calibri"/>
                <a:sym typeface="Calibri"/>
              </a:rPr>
              <a:t>[our value]</a:t>
            </a:r>
            <a:r>
              <a:rPr lang="en" sz="1200" i="1">
                <a:solidFill>
                  <a:schemeClr val="dk1"/>
                </a:solidFill>
                <a:latin typeface="Calibri"/>
                <a:ea typeface="Calibri"/>
                <a:cs typeface="Calibri"/>
                <a:sym typeface="Calibri"/>
              </a:rPr>
              <a:t> will  </a:t>
            </a:r>
            <a:r>
              <a:rPr lang="en" sz="1200" b="1" i="1">
                <a:solidFill>
                  <a:schemeClr val="dk1"/>
                </a:solidFill>
                <a:latin typeface="Calibri"/>
                <a:ea typeface="Calibri"/>
                <a:cs typeface="Calibri"/>
                <a:sym typeface="Calibri"/>
              </a:rPr>
              <a:t>[describe the change]. </a:t>
            </a:r>
            <a:r>
              <a:rPr lang="en" sz="1200" i="1">
                <a:solidFill>
                  <a:schemeClr val="dk1"/>
                </a:solidFill>
                <a:latin typeface="Calibri"/>
                <a:ea typeface="Calibri"/>
                <a:cs typeface="Calibri"/>
                <a:sym typeface="Calibri"/>
              </a:rPr>
              <a:t>This is because </a:t>
            </a:r>
            <a:r>
              <a:rPr lang="en" sz="1200" b="1" i="1">
                <a:solidFill>
                  <a:schemeClr val="dk1"/>
                </a:solidFill>
                <a:latin typeface="Calibri"/>
                <a:ea typeface="Calibri"/>
                <a:cs typeface="Calibri"/>
                <a:sym typeface="Calibri"/>
              </a:rPr>
              <a:t>[explain the process using the model as evidence].</a:t>
            </a:r>
            <a:endParaRPr sz="1200" b="1" i="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Examples:</a:t>
            </a:r>
            <a:endParaRPr sz="1200" b="1">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We predict that as carbon dioxide emissions increase, our seafood availability will decrease. This is because higher carbon dioxide levels decrease the ocean’s pH, which reduces the survival of calcifying organisms that fish depend on for food.</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We predict that as we increase carbon dioxide emissions, our access to the coast will decrease. This is because high carbon dioxide levels increase the global temperature, melting ice caps and raising sea levels, leading to more coastal flooding and erosion.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b338641fa0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b338641fa0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7 </a:t>
            </a:r>
            <a:r>
              <a:rPr lang="en" sz="1200">
                <a:solidFill>
                  <a:schemeClr val="dk1"/>
                </a:solidFill>
                <a:latin typeface="Calibri"/>
                <a:ea typeface="Calibri"/>
                <a:cs typeface="Calibri"/>
                <a:sym typeface="Calibri"/>
              </a:rPr>
              <a:t>and tell students that now it is time to test their prediction. Tell students that to test their prediction they will run a simulation in SageModeler. At the top right of your SageModeler screen, click on “Simulate” and bars will appear on components within your model. </a:t>
            </a:r>
            <a:endParaRPr sz="1200" b="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students move their carbon dioxide emissions bar to the bottom (lowest levels of carbon dioxide emissions) and then test their prediction by slowly moving the bar up towards higher levels of carbon dioxide emissions. As students do that, have them think about the following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is happening to my chosen value as carbon dioxide emissions increase?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is happening to other components or processes within my model as carbon dioxide levels increase?</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Note: If students have added components that contribute to carbon dioxide emissions, they may have to manipulate those instead of carbon dioxide emissions directly.</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If there is time, ask students to test other components within their model following the same process.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338641fa0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338641fa0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 groups have had a chance to test their models out, bring the class back together to share what they found. Advance to </a:t>
            </a:r>
            <a:r>
              <a:rPr lang="en" sz="1200" b="1">
                <a:solidFill>
                  <a:schemeClr val="dk1"/>
                </a:solidFill>
                <a:latin typeface="Calibri"/>
                <a:ea typeface="Calibri"/>
                <a:cs typeface="Calibri"/>
                <a:sym typeface="Calibri"/>
              </a:rPr>
              <a:t>Slide 8 </a:t>
            </a:r>
            <a:r>
              <a:rPr lang="en" sz="1200">
                <a:solidFill>
                  <a:schemeClr val="dk1"/>
                </a:solidFill>
                <a:latin typeface="Calibri"/>
                <a:ea typeface="Calibri"/>
                <a:cs typeface="Calibri"/>
                <a:sym typeface="Calibri"/>
              </a:rPr>
              <a:t>and ask the class the following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value did your team center their model around? How did an increase of carbon dioxide emissions impact your chosen value?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processes or components do you think had the biggest impact on your value?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discoveries about your model and its relationships was the most surprising to your team? Why?</a:t>
            </a:r>
            <a:endParaRPr sz="1200">
              <a:solidFill>
                <a:schemeClr val="dk1"/>
              </a:solidFill>
              <a:latin typeface="Calibri"/>
              <a:ea typeface="Calibri"/>
              <a:cs typeface="Calibri"/>
              <a:sym typeface="Calibri"/>
            </a:endParaRPr>
          </a:p>
          <a:p>
            <a:pPr marL="9144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Listen for and reinforce ideas that connect carbon dioxide emissions to impacts of other portions within their models, leading to a change in the value their community places on Southern California’s ocean.</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b338641fa0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b338641fa0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shared their findings, advance to </a:t>
            </a:r>
            <a:r>
              <a:rPr lang="en" sz="1200" b="1">
                <a:solidFill>
                  <a:schemeClr val="dk1"/>
                </a:solidFill>
                <a:latin typeface="Calibri"/>
                <a:ea typeface="Calibri"/>
                <a:cs typeface="Calibri"/>
                <a:sym typeface="Calibri"/>
              </a:rPr>
              <a:t>Slide 9 </a:t>
            </a:r>
            <a:r>
              <a:rPr lang="en" sz="1200">
                <a:solidFill>
                  <a:schemeClr val="dk1"/>
                </a:solidFill>
                <a:latin typeface="Calibri"/>
                <a:ea typeface="Calibri"/>
                <a:cs typeface="Calibri"/>
                <a:sym typeface="Calibri"/>
              </a:rPr>
              <a:t>where they will see another question to discuss with the class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is something about your model that you think everyone should know?</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you had to explain your updated model to someone in the community, what would you highlight first?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338641fa0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338641fa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their final task for the day is to reflect on what they did.</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10</a:t>
            </a:r>
            <a:r>
              <a:rPr lang="en" sz="1200">
                <a:solidFill>
                  <a:schemeClr val="dk1"/>
                </a:solidFill>
                <a:latin typeface="Calibri"/>
                <a:ea typeface="Calibri"/>
                <a:cs typeface="Calibri"/>
                <a:sym typeface="Calibri"/>
              </a:rPr>
              <a:t> and have student teams work together to answer the following questions together on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3.5 Updating our Models (Student Reflection)</a:t>
            </a:r>
            <a:r>
              <a:rPr lang="en" sz="1200" b="1">
                <a:solidFill>
                  <a:schemeClr val="dk1"/>
                </a:solidFill>
                <a:latin typeface="Calibri"/>
                <a:ea typeface="Calibri"/>
                <a:cs typeface="Calibri"/>
                <a:sym typeface="Calibri"/>
              </a:rPr>
              <a:t> page 59 </a:t>
            </a:r>
            <a:r>
              <a:rPr lang="en" sz="1200">
                <a:solidFill>
                  <a:schemeClr val="dk1"/>
                </a:solidFill>
                <a:latin typeface="Calibri"/>
                <a:ea typeface="Calibri"/>
                <a:cs typeface="Calibri"/>
                <a:sym typeface="Calibri"/>
              </a:rPr>
              <a:t>of their Science Journals.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you were explaining your updated model to someone in your community, what key idea or relationship would you highlight? Why should this idea or relationship matter to them?</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Based on what your model now shows, what action or solution could your community take to reduce or respond to these impacts?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Thank students for their participation today and inform them that in the next session, they will start to think about what </a:t>
            </a:r>
            <a:r>
              <a:rPr lang="en" sz="1200">
                <a:solidFill>
                  <a:srgbClr val="0F0F0F"/>
                </a:solidFill>
                <a:latin typeface="Calibri"/>
                <a:ea typeface="Calibri"/>
                <a:cs typeface="Calibri"/>
                <a:sym typeface="Calibri"/>
              </a:rPr>
              <a:t>information they want to communicate back out to their community and how they might do so.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4ac343a9b0_0_55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4ac343a9b0_0_5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53" name="Google Shape;53;p13"/>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55" name="Google Shape;55;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3.jpg"/><Relationship Id="rId4" Type="http://schemas.openxmlformats.org/officeDocument/2006/relationships/hyperlink" Target="http://www.youtube.com/watch?v=tuVa27WISy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idx="4294967295"/>
          </p:nvPr>
        </p:nvSpPr>
        <p:spPr>
          <a:xfrm>
            <a:off x="236575" y="1380550"/>
            <a:ext cx="3939300" cy="670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Updating </a:t>
            </a:r>
            <a:endParaRPr sz="4500" b="1">
              <a:solidFill>
                <a:srgbClr val="541900"/>
              </a:solidFill>
            </a:endParaRPr>
          </a:p>
          <a:p>
            <a:pPr marL="0" lvl="0" indent="0" algn="r" rtl="0">
              <a:spcBef>
                <a:spcPts val="0"/>
              </a:spcBef>
              <a:spcAft>
                <a:spcPts val="0"/>
              </a:spcAft>
              <a:buNone/>
            </a:pPr>
            <a:r>
              <a:rPr lang="en" sz="4500" b="1">
                <a:solidFill>
                  <a:srgbClr val="541900"/>
                </a:solidFill>
              </a:rPr>
              <a:t>Our Models</a:t>
            </a:r>
            <a:endParaRPr sz="4500" b="1">
              <a:solidFill>
                <a:srgbClr val="541900"/>
              </a:solidFill>
            </a:endParaRPr>
          </a:p>
        </p:txBody>
      </p:sp>
      <p:sp>
        <p:nvSpPr>
          <p:cNvPr id="61" name="Google Shape;61;p14"/>
          <p:cNvSpPr txBox="1">
            <a:spLocks noGrp="1"/>
          </p:cNvSpPr>
          <p:nvPr>
            <p:ph type="body" idx="4294967295"/>
          </p:nvPr>
        </p:nvSpPr>
        <p:spPr>
          <a:xfrm>
            <a:off x="2286475" y="2849900"/>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en" sz="1200" b="1">
                <a:solidFill>
                  <a:srgbClr val="355E3B"/>
                </a:solidFill>
              </a:rPr>
              <a:t>Module 3.5</a:t>
            </a:r>
            <a:endParaRPr sz="1200" b="1">
              <a:solidFill>
                <a:srgbClr val="355E3B"/>
              </a:solidFill>
            </a:endParaRPr>
          </a:p>
        </p:txBody>
      </p:sp>
      <p:sp>
        <p:nvSpPr>
          <p:cNvPr id="62" name="Google Shape;62;p14"/>
          <p:cNvSpPr txBox="1"/>
          <p:nvPr/>
        </p:nvSpPr>
        <p:spPr>
          <a:xfrm>
            <a:off x="636150" y="4641750"/>
            <a:ext cx="4343400" cy="32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00000"/>
                </a:solidFill>
              </a:rPr>
              <a:t>AISciComm | Module 3.</a:t>
            </a:r>
            <a:r>
              <a:rPr lang="en" sz="1200"/>
              <a:t>5</a:t>
            </a:r>
            <a:r>
              <a:rPr lang="en" sz="1200">
                <a:solidFill>
                  <a:srgbClr val="000000"/>
                </a:solidFill>
              </a:rPr>
              <a:t> </a:t>
            </a:r>
            <a:r>
              <a:rPr lang="en" sz="1200"/>
              <a:t>Updating Our Models</a:t>
            </a:r>
            <a:endParaRPr sz="1200">
              <a:solidFill>
                <a:srgbClr val="000000"/>
              </a:solidFill>
            </a:endParaRPr>
          </a:p>
          <a:p>
            <a:pPr marL="0" lvl="0" indent="0" algn="l" rtl="0">
              <a:lnSpc>
                <a:spcPct val="115000"/>
              </a:lnSpc>
              <a:spcBef>
                <a:spcPts val="0"/>
              </a:spcBef>
              <a:spcAft>
                <a:spcPts val="1200"/>
              </a:spcAft>
              <a:buNone/>
            </a:pPr>
            <a:endParaRPr sz="1200">
              <a:solidFill>
                <a:srgbClr val="000000"/>
              </a:solidFill>
            </a:endParaRPr>
          </a:p>
        </p:txBody>
      </p:sp>
      <p:pic>
        <p:nvPicPr>
          <p:cNvPr id="63" name="Google Shape;63;p14"/>
          <p:cNvPicPr preferRelativeResize="0"/>
          <p:nvPr/>
        </p:nvPicPr>
        <p:blipFill rotWithShape="1">
          <a:blip r:embed="rId3">
            <a:alphaModFix/>
          </a:blip>
          <a:srcRect l="4431" r="6940" b="1098"/>
          <a:stretch/>
        </p:blipFill>
        <p:spPr>
          <a:xfrm>
            <a:off x="4979550" y="0"/>
            <a:ext cx="4164451" cy="51428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7"/>
        <p:cNvGrpSpPr/>
        <p:nvPr/>
      </p:nvGrpSpPr>
      <p:grpSpPr>
        <a:xfrm>
          <a:off x="0" y="0"/>
          <a:ext cx="0" cy="0"/>
          <a:chOff x="0" y="0"/>
          <a:chExt cx="0" cy="0"/>
        </a:xfrm>
      </p:grpSpPr>
      <p:sp>
        <p:nvSpPr>
          <p:cNvPr id="68" name="Google Shape;68;p15"/>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i="1">
                <a:solidFill>
                  <a:srgbClr val="355E3B"/>
                </a:solidFill>
              </a:rPr>
              <a:t>During this lesson, you will work with your team to revise your SageModeler model using your newfound knowledge from Module 3.</a:t>
            </a:r>
            <a:endParaRPr sz="2000" i="1">
              <a:solidFill>
                <a:srgbClr val="355E3B"/>
              </a:solidFill>
            </a:endParaRPr>
          </a:p>
          <a:p>
            <a:pPr marL="0" lvl="0" indent="0" algn="l" rtl="0">
              <a:spcBef>
                <a:spcPts val="1200"/>
              </a:spcBef>
              <a:spcAft>
                <a:spcPts val="1200"/>
              </a:spcAft>
              <a:buNone/>
            </a:pPr>
            <a:endParaRPr sz="2000" i="1">
              <a:solidFill>
                <a:srgbClr val="355E3B"/>
              </a:solidFill>
            </a:endParaRPr>
          </a:p>
        </p:txBody>
      </p:sp>
      <p:sp>
        <p:nvSpPr>
          <p:cNvPr id="69" name="Google Shape;69;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Lesson Overview</a:t>
            </a:r>
            <a:endParaRPr sz="4500" b="1">
              <a:solidFill>
                <a:srgbClr val="541900"/>
              </a:solidFill>
            </a:endParaRPr>
          </a:p>
        </p:txBody>
      </p:sp>
      <p:sp>
        <p:nvSpPr>
          <p:cNvPr id="70" name="Google Shape;70;p15"/>
          <p:cNvSpPr txBox="1">
            <a:spLocks noGrp="1"/>
          </p:cNvSpPr>
          <p:nvPr>
            <p:ph type="body" idx="4294967295"/>
          </p:nvPr>
        </p:nvSpPr>
        <p:spPr>
          <a:xfrm>
            <a:off x="311700" y="1989175"/>
            <a:ext cx="8373300" cy="2906400"/>
          </a:xfrm>
          <a:prstGeom prst="rect">
            <a:avLst/>
          </a:prstGeom>
        </p:spPr>
        <p:txBody>
          <a:bodyPr spcFirstLastPara="1" wrap="square" lIns="91425" tIns="91425" rIns="91425" bIns="91425" anchor="t" anchorCtr="0">
            <a:normAutofit/>
          </a:bodyPr>
          <a:lstStyle/>
          <a:p>
            <a:pPr marL="0" lvl="0" indent="0" algn="l" rtl="0">
              <a:lnSpc>
                <a:spcPct val="115000"/>
              </a:lnSpc>
              <a:spcBef>
                <a:spcPts val="1000"/>
              </a:spcBef>
              <a:spcAft>
                <a:spcPts val="0"/>
              </a:spcAft>
              <a:buNone/>
            </a:pPr>
            <a:r>
              <a:rPr lang="en" sz="2000">
                <a:solidFill>
                  <a:schemeClr val="dk1"/>
                </a:solidFill>
              </a:rPr>
              <a:t>During the lesson, you will:</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Revise your SageModeler model from Module 2 to include your learning from Module 3.</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Begin to work with your team to decide what parts of your model you would like to share our to your community.</a:t>
            </a:r>
            <a:endParaRPr sz="2000">
              <a:solidFill>
                <a:schemeClr val="dk1"/>
              </a:solidFill>
            </a:endParaRPr>
          </a:p>
        </p:txBody>
      </p:sp>
      <p:sp>
        <p:nvSpPr>
          <p:cNvPr id="71" name="Google Shape;71;p15"/>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5"/>
        <p:cNvGrpSpPr/>
        <p:nvPr/>
      </p:nvGrpSpPr>
      <p:grpSpPr>
        <a:xfrm>
          <a:off x="0" y="0"/>
          <a:ext cx="0" cy="0"/>
          <a:chOff x="0" y="0"/>
          <a:chExt cx="0" cy="0"/>
        </a:xfrm>
      </p:grpSpPr>
      <p:sp>
        <p:nvSpPr>
          <p:cNvPr id="76" name="Google Shape;76;p16"/>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sp>
        <p:nvSpPr>
          <p:cNvPr id="77" name="Google Shape;77;p16"/>
          <p:cNvSpPr txBox="1">
            <a:spLocks noGrp="1"/>
          </p:cNvSpPr>
          <p:nvPr>
            <p:ph type="title"/>
          </p:nvPr>
        </p:nvSpPr>
        <p:spPr>
          <a:xfrm>
            <a:off x="311700" y="1941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Plan: Update Your Model</a:t>
            </a:r>
            <a:endParaRPr sz="4500" b="1">
              <a:solidFill>
                <a:srgbClr val="541900"/>
              </a:solidFill>
            </a:endParaRPr>
          </a:p>
        </p:txBody>
      </p:sp>
      <p:sp>
        <p:nvSpPr>
          <p:cNvPr id="78" name="Google Shape;78;p16"/>
          <p:cNvSpPr txBox="1">
            <a:spLocks noGrp="1"/>
          </p:cNvSpPr>
          <p:nvPr>
            <p:ph type="body" idx="1"/>
          </p:nvPr>
        </p:nvSpPr>
        <p:spPr>
          <a:xfrm>
            <a:off x="311675" y="1138325"/>
            <a:ext cx="8520600" cy="353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i="1" dirty="0">
                <a:solidFill>
                  <a:srgbClr val="355E3B"/>
                </a:solidFill>
              </a:rPr>
              <a:t>Open your </a:t>
            </a:r>
            <a:r>
              <a:rPr lang="en" sz="2000" i="1" dirty="0">
                <a:solidFill>
                  <a:schemeClr val="hlink"/>
                </a:solidFill>
              </a:rPr>
              <a:t>science journal, </a:t>
            </a:r>
            <a:r>
              <a:rPr lang="en" sz="2000" i="1" dirty="0">
                <a:solidFill>
                  <a:srgbClr val="355E3B"/>
                </a:solidFill>
              </a:rPr>
              <a:t>page 56-57. With your team, take a moment to reflect on the knowledge you build during Module 3.</a:t>
            </a:r>
            <a:endParaRPr sz="2000" i="1" dirty="0">
              <a:solidFill>
                <a:srgbClr val="355E3B"/>
              </a:solidFill>
            </a:endParaRPr>
          </a:p>
          <a:p>
            <a:pPr marL="457200" lvl="0" indent="-323850" algn="l" rtl="0">
              <a:lnSpc>
                <a:spcPct val="100000"/>
              </a:lnSpc>
              <a:spcBef>
                <a:spcPts val="1200"/>
              </a:spcBef>
              <a:spcAft>
                <a:spcPts val="0"/>
              </a:spcAft>
              <a:buClr>
                <a:schemeClr val="dk1"/>
              </a:buClr>
              <a:buSzPts val="1500"/>
              <a:buFont typeface="Calibri"/>
              <a:buChar char="●"/>
            </a:pPr>
            <a:r>
              <a:rPr lang="en" sz="1500" dirty="0">
                <a:solidFill>
                  <a:schemeClr val="dk1"/>
                </a:solidFill>
                <a:latin typeface="Calibri"/>
                <a:ea typeface="Calibri"/>
                <a:cs typeface="Calibri"/>
                <a:sym typeface="Calibri"/>
              </a:rPr>
              <a:t>Which </a:t>
            </a:r>
            <a:r>
              <a:rPr lang="en" sz="1500" b="1" dirty="0">
                <a:solidFill>
                  <a:schemeClr val="dk1"/>
                </a:solidFill>
                <a:latin typeface="Calibri"/>
                <a:ea typeface="Calibri"/>
                <a:cs typeface="Calibri"/>
                <a:sym typeface="Calibri"/>
              </a:rPr>
              <a:t>processes</a:t>
            </a:r>
            <a:r>
              <a:rPr lang="en" sz="1500" dirty="0">
                <a:solidFill>
                  <a:schemeClr val="dk1"/>
                </a:solidFill>
                <a:latin typeface="Calibri"/>
                <a:ea typeface="Calibri"/>
                <a:cs typeface="Calibri"/>
                <a:sym typeface="Calibri"/>
              </a:rPr>
              <a:t> that we have studied, including sea level rise, coastal erosion, global warming, and ocean acidification, affect the values your community cares about? How do they affect the components you have in your models?</a:t>
            </a:r>
            <a:endParaRPr sz="1500" dirty="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alibri"/>
              <a:buAutoNum type="alphaLcPeriod"/>
            </a:pPr>
            <a:r>
              <a:rPr lang="en" sz="1500" dirty="0">
                <a:solidFill>
                  <a:schemeClr val="dk1"/>
                </a:solidFill>
                <a:latin typeface="Calibri"/>
                <a:ea typeface="Calibri"/>
                <a:cs typeface="Calibri"/>
                <a:sym typeface="Calibri"/>
              </a:rPr>
              <a:t>Which processes do you want to add to your model?</a:t>
            </a:r>
            <a:endParaRPr sz="1500" dirty="0">
              <a:solidFill>
                <a:schemeClr val="dk1"/>
              </a:solidFill>
              <a:latin typeface="Calibri"/>
              <a:ea typeface="Calibri"/>
              <a:cs typeface="Calibri"/>
              <a:sym typeface="Calibri"/>
            </a:endParaRPr>
          </a:p>
          <a:p>
            <a:pPr marL="457200" lvl="0" indent="-323850" algn="l" rtl="0">
              <a:lnSpc>
                <a:spcPct val="100000"/>
              </a:lnSpc>
              <a:spcBef>
                <a:spcPts val="0"/>
              </a:spcBef>
              <a:spcAft>
                <a:spcPts val="0"/>
              </a:spcAft>
              <a:buClr>
                <a:schemeClr val="dk1"/>
              </a:buClr>
              <a:buSzPts val="1500"/>
              <a:buFont typeface="Calibri"/>
              <a:buChar char="●"/>
            </a:pPr>
            <a:r>
              <a:rPr lang="en" sz="1500" dirty="0">
                <a:solidFill>
                  <a:schemeClr val="dk1"/>
                </a:solidFill>
                <a:latin typeface="Calibri"/>
                <a:ea typeface="Calibri"/>
                <a:cs typeface="Calibri"/>
                <a:sym typeface="Calibri"/>
              </a:rPr>
              <a:t>Which </a:t>
            </a:r>
            <a:r>
              <a:rPr lang="en" sz="1500" b="1" dirty="0">
                <a:solidFill>
                  <a:schemeClr val="dk1"/>
                </a:solidFill>
                <a:latin typeface="Calibri"/>
                <a:ea typeface="Calibri"/>
                <a:cs typeface="Calibri"/>
                <a:sym typeface="Calibri"/>
              </a:rPr>
              <a:t>components</a:t>
            </a:r>
            <a:r>
              <a:rPr lang="en" sz="1500" dirty="0">
                <a:solidFill>
                  <a:schemeClr val="dk1"/>
                </a:solidFill>
                <a:latin typeface="Calibri"/>
                <a:ea typeface="Calibri"/>
                <a:cs typeface="Calibri"/>
                <a:sym typeface="Calibri"/>
              </a:rPr>
              <a:t> were not in your original model that you want to add now?</a:t>
            </a:r>
            <a:endParaRPr sz="1500" dirty="0">
              <a:solidFill>
                <a:schemeClr val="dk1"/>
              </a:solidFill>
              <a:latin typeface="Calibri"/>
              <a:ea typeface="Calibri"/>
              <a:cs typeface="Calibri"/>
              <a:sym typeface="Calibri"/>
            </a:endParaRPr>
          </a:p>
          <a:p>
            <a:pPr marL="457200" lvl="0" indent="-323850" algn="l" rtl="0">
              <a:lnSpc>
                <a:spcPct val="100000"/>
              </a:lnSpc>
              <a:spcBef>
                <a:spcPts val="0"/>
              </a:spcBef>
              <a:spcAft>
                <a:spcPts val="0"/>
              </a:spcAft>
              <a:buClr>
                <a:schemeClr val="dk1"/>
              </a:buClr>
              <a:buSzPts val="1500"/>
              <a:buFont typeface="Calibri"/>
              <a:buChar char="●"/>
            </a:pPr>
            <a:r>
              <a:rPr lang="en" sz="1500" dirty="0">
                <a:solidFill>
                  <a:schemeClr val="dk1"/>
                </a:solidFill>
                <a:latin typeface="Calibri"/>
                <a:ea typeface="Calibri"/>
                <a:cs typeface="Calibri"/>
                <a:sym typeface="Calibri"/>
              </a:rPr>
              <a:t>Which </a:t>
            </a:r>
            <a:r>
              <a:rPr lang="en" sz="1500" b="1" dirty="0">
                <a:solidFill>
                  <a:schemeClr val="dk1"/>
                </a:solidFill>
                <a:latin typeface="Calibri"/>
                <a:ea typeface="Calibri"/>
                <a:cs typeface="Calibri"/>
                <a:sym typeface="Calibri"/>
              </a:rPr>
              <a:t>relationships</a:t>
            </a:r>
            <a:r>
              <a:rPr lang="en" sz="1500" dirty="0">
                <a:solidFill>
                  <a:schemeClr val="dk1"/>
                </a:solidFill>
                <a:latin typeface="Calibri"/>
                <a:ea typeface="Calibri"/>
                <a:cs typeface="Calibri"/>
                <a:sym typeface="Calibri"/>
              </a:rPr>
              <a:t> were not in your original model that you want to add now?</a:t>
            </a:r>
            <a:endParaRPr sz="1500" dirty="0">
              <a:solidFill>
                <a:schemeClr val="dk1"/>
              </a:solidFill>
              <a:latin typeface="Calibri"/>
              <a:ea typeface="Calibri"/>
              <a:cs typeface="Calibri"/>
              <a:sym typeface="Calibri"/>
            </a:endParaRPr>
          </a:p>
          <a:p>
            <a:pPr marL="457200" lvl="0" indent="-323850" algn="l" rtl="0">
              <a:lnSpc>
                <a:spcPct val="100000"/>
              </a:lnSpc>
              <a:spcBef>
                <a:spcPts val="0"/>
              </a:spcBef>
              <a:spcAft>
                <a:spcPts val="0"/>
              </a:spcAft>
              <a:buClr>
                <a:schemeClr val="dk1"/>
              </a:buClr>
              <a:buSzPts val="1500"/>
              <a:buFont typeface="Calibri"/>
              <a:buChar char="●"/>
            </a:pPr>
            <a:r>
              <a:rPr lang="en" sz="1500" dirty="0">
                <a:solidFill>
                  <a:schemeClr val="dk1"/>
                </a:solidFill>
                <a:latin typeface="Calibri"/>
                <a:ea typeface="Calibri"/>
                <a:cs typeface="Calibri"/>
                <a:sym typeface="Calibri"/>
              </a:rPr>
              <a:t>What </a:t>
            </a:r>
            <a:r>
              <a:rPr lang="en" sz="1500" b="1" dirty="0">
                <a:solidFill>
                  <a:schemeClr val="dk1"/>
                </a:solidFill>
                <a:latin typeface="Calibri"/>
                <a:ea typeface="Calibri"/>
                <a:cs typeface="Calibri"/>
                <a:sym typeface="Calibri"/>
              </a:rPr>
              <a:t>human activities </a:t>
            </a:r>
            <a:r>
              <a:rPr lang="en" sz="1500" dirty="0">
                <a:solidFill>
                  <a:schemeClr val="dk1"/>
                </a:solidFill>
                <a:latin typeface="Calibri"/>
                <a:ea typeface="Calibri"/>
                <a:cs typeface="Calibri"/>
                <a:sym typeface="Calibri"/>
              </a:rPr>
              <a:t>contribute to the changes in these natural processes?</a:t>
            </a:r>
            <a:endParaRPr sz="1500" dirty="0">
              <a:solidFill>
                <a:schemeClr val="dk1"/>
              </a:solidFill>
            </a:endParaRPr>
          </a:p>
          <a:p>
            <a:pPr marL="0" lvl="0" indent="0" algn="l" rtl="0">
              <a:spcBef>
                <a:spcPts val="0"/>
              </a:spcBef>
              <a:spcAft>
                <a:spcPts val="1200"/>
              </a:spcAft>
              <a:buNone/>
            </a:pPr>
            <a:endParaRPr sz="2000" i="1" dirty="0">
              <a:solidFill>
                <a:srgbClr val="355E3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2"/>
        <p:cNvGrpSpPr/>
        <p:nvPr/>
      </p:nvGrpSpPr>
      <p:grpSpPr>
        <a:xfrm>
          <a:off x="0" y="0"/>
          <a:ext cx="0" cy="0"/>
          <a:chOff x="0" y="0"/>
          <a:chExt cx="0" cy="0"/>
        </a:xfrm>
      </p:grpSpPr>
      <p:sp>
        <p:nvSpPr>
          <p:cNvPr id="83" name="Google Shape;83;p17"/>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4</a:t>
            </a:r>
            <a:endParaRPr sz="1200">
              <a:solidFill>
                <a:schemeClr val="dk1"/>
              </a:solidFill>
              <a:latin typeface="Arial"/>
              <a:ea typeface="Arial"/>
              <a:cs typeface="Arial"/>
              <a:sym typeface="Arial"/>
            </a:endParaRPr>
          </a:p>
        </p:txBody>
      </p:sp>
      <p:sp>
        <p:nvSpPr>
          <p:cNvPr id="84" name="Google Shape;84;p17"/>
          <p:cNvSpPr txBox="1">
            <a:spLocks noGrp="1"/>
          </p:cNvSpPr>
          <p:nvPr>
            <p:ph type="title"/>
          </p:nvPr>
        </p:nvSpPr>
        <p:spPr>
          <a:xfrm>
            <a:off x="311700" y="1941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Revise Your Model</a:t>
            </a:r>
            <a:endParaRPr sz="4500" b="1">
              <a:solidFill>
                <a:srgbClr val="541900"/>
              </a:solidFill>
            </a:endParaRPr>
          </a:p>
        </p:txBody>
      </p:sp>
      <p:sp>
        <p:nvSpPr>
          <p:cNvPr id="85" name="Google Shape;85;p17"/>
          <p:cNvSpPr txBox="1">
            <a:spLocks noGrp="1"/>
          </p:cNvSpPr>
          <p:nvPr>
            <p:ph type="body" idx="1"/>
          </p:nvPr>
        </p:nvSpPr>
        <p:spPr>
          <a:xfrm>
            <a:off x="3161375" y="1138325"/>
            <a:ext cx="5670900" cy="353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700" i="1">
                <a:solidFill>
                  <a:srgbClr val="355E3B"/>
                </a:solidFill>
              </a:rPr>
              <a:t>Now that you have created a plan, with your team, take a moment to revise your model using your plan as a guide. Keep the following in mind:</a:t>
            </a:r>
            <a:endParaRPr sz="1700" i="1">
              <a:solidFill>
                <a:srgbClr val="355E3B"/>
              </a:solidFill>
            </a:endParaRPr>
          </a:p>
          <a:p>
            <a:pPr marL="457200" lvl="0" indent="-336550" algn="l" rtl="0">
              <a:lnSpc>
                <a:spcPct val="100000"/>
              </a:lnSpc>
              <a:spcBef>
                <a:spcPts val="120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How does carbon dioxide play a role in your model?</a:t>
            </a:r>
            <a:endParaRPr sz="1700">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How does carbon dioxide impact other parts in your model?</a:t>
            </a:r>
            <a:endParaRPr sz="1700">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How can you demonstrate carbon dioxide’s relationship to other portions of your model?</a:t>
            </a:r>
            <a:endParaRPr sz="1700">
              <a:solidFill>
                <a:schemeClr val="dk1"/>
              </a:solidFill>
              <a:latin typeface="Calibri"/>
              <a:ea typeface="Calibri"/>
              <a:cs typeface="Calibri"/>
              <a:sym typeface="Calibri"/>
            </a:endParaRPr>
          </a:p>
          <a:p>
            <a:pPr marL="0" lvl="0" indent="0" algn="l" rtl="0">
              <a:spcBef>
                <a:spcPts val="0"/>
              </a:spcBef>
              <a:spcAft>
                <a:spcPts val="1200"/>
              </a:spcAft>
              <a:buNone/>
            </a:pPr>
            <a:endParaRPr sz="1700" i="1">
              <a:solidFill>
                <a:srgbClr val="355E3B"/>
              </a:solidFill>
            </a:endParaRPr>
          </a:p>
        </p:txBody>
      </p:sp>
      <p:pic>
        <p:nvPicPr>
          <p:cNvPr id="86" name="Google Shape;86;p17"/>
          <p:cNvPicPr preferRelativeResize="0"/>
          <p:nvPr/>
        </p:nvPicPr>
        <p:blipFill>
          <a:blip r:embed="rId3">
            <a:alphaModFix/>
          </a:blip>
          <a:stretch>
            <a:fillRect/>
          </a:stretch>
        </p:blipFill>
        <p:spPr>
          <a:xfrm>
            <a:off x="386975" y="1138313"/>
            <a:ext cx="2520877" cy="3298037"/>
          </a:xfrm>
          <a:prstGeom prst="rect">
            <a:avLst/>
          </a:prstGeom>
          <a:noFill/>
          <a:ln>
            <a:noFill/>
          </a:ln>
        </p:spPr>
      </p:pic>
      <p:pic>
        <p:nvPicPr>
          <p:cNvPr id="87" name="Google Shape;87;p17" descr="Set a timer for 15 minutes. This 15 minute timer with alarm silently counts down to 00:00 and then alerts you with a gentle alarm sound.&#10;&#10;What Is the 15 Minute Timer?&#10;If you're looking for a timer to help you stay on track with your work, a 15 minute countdown is a great option. You can use it to break up your work time into manageable chunks, and it can also help you avoid getting bogged down with one task for too long.&#10;&#10;How to Set a 15 Minute Timer&#10;There are a few different ways to set a 1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5 Minute Alarm?&#10;This timer is perfect for work or study sessions. It's also great for any activity where you want to be sure to take a break every 15 minutes, such as cooking, laundry, or working out.&#10;&#10;Online Timer - https://timer.onlinealarmkur.com/en/" title="15 Minute Timer">
            <a:hlinkClick r:id="rId4"/>
          </p:cNvPr>
          <p:cNvPicPr preferRelativeResize="0"/>
          <p:nvPr/>
        </p:nvPicPr>
        <p:blipFill>
          <a:blip r:embed="rId5">
            <a:alphaModFix/>
          </a:blip>
          <a:stretch>
            <a:fillRect/>
          </a:stretch>
        </p:blipFill>
        <p:spPr>
          <a:xfrm>
            <a:off x="4943800" y="3655850"/>
            <a:ext cx="2106050" cy="1184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sp>
        <p:nvSpPr>
          <p:cNvPr id="93" name="Google Shape;93;p18"/>
          <p:cNvSpPr txBox="1">
            <a:spLocks noGrp="1"/>
          </p:cNvSpPr>
          <p:nvPr>
            <p:ph type="title"/>
          </p:nvPr>
        </p:nvSpPr>
        <p:spPr>
          <a:xfrm>
            <a:off x="408150" y="1044550"/>
            <a:ext cx="439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b="1">
                <a:solidFill>
                  <a:srgbClr val="541900"/>
                </a:solidFill>
              </a:rPr>
              <a:t>Share Your Model</a:t>
            </a:r>
            <a:endParaRPr sz="3200" b="1">
              <a:solidFill>
                <a:srgbClr val="541900"/>
              </a:solidFill>
            </a:endParaRPr>
          </a:p>
          <a:p>
            <a:pPr marL="0" lvl="0" indent="0" algn="l" rtl="0">
              <a:spcBef>
                <a:spcPts val="0"/>
              </a:spcBef>
              <a:spcAft>
                <a:spcPts val="0"/>
              </a:spcAft>
              <a:buNone/>
            </a:pPr>
            <a:r>
              <a:rPr lang="en" sz="1800" i="1">
                <a:solidFill>
                  <a:srgbClr val="355E3B"/>
                </a:solidFill>
              </a:rPr>
              <a:t>Take a moment to share out with the class.</a:t>
            </a:r>
            <a:endParaRPr sz="1800" i="1">
              <a:solidFill>
                <a:srgbClr val="355E3B"/>
              </a:solidFill>
            </a:endParaRPr>
          </a:p>
        </p:txBody>
      </p:sp>
      <p:sp>
        <p:nvSpPr>
          <p:cNvPr id="94" name="Google Shape;94;p18"/>
          <p:cNvSpPr txBox="1">
            <a:spLocks noGrp="1"/>
          </p:cNvSpPr>
          <p:nvPr>
            <p:ph type="body" idx="1"/>
          </p:nvPr>
        </p:nvSpPr>
        <p:spPr>
          <a:xfrm>
            <a:off x="408150" y="2464900"/>
            <a:ext cx="4589100" cy="1611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solidFill>
                  <a:schemeClr val="dk1"/>
                </a:solidFill>
              </a:rPr>
              <a:t>What changes did you make to your model? Why did you make those changes?</a:t>
            </a:r>
            <a:endParaRPr>
              <a:solidFill>
                <a:schemeClr val="dk1"/>
              </a:solidFill>
              <a:latin typeface="Calibri"/>
              <a:ea typeface="Calibri"/>
              <a:cs typeface="Calibri"/>
              <a:sym typeface="Calibri"/>
            </a:endParaRPr>
          </a:p>
          <a:p>
            <a:pPr marL="0" lvl="0" indent="0" algn="l" rtl="0">
              <a:spcBef>
                <a:spcPts val="0"/>
              </a:spcBef>
              <a:spcAft>
                <a:spcPts val="1200"/>
              </a:spcAft>
              <a:buNone/>
            </a:pPr>
            <a:endParaRPr i="1">
              <a:solidFill>
                <a:srgbClr val="355E3B"/>
              </a:solidFill>
            </a:endParaRPr>
          </a:p>
        </p:txBody>
      </p:sp>
      <p:pic>
        <p:nvPicPr>
          <p:cNvPr id="95" name="Google Shape;95;p18"/>
          <p:cNvPicPr preferRelativeResize="0"/>
          <p:nvPr/>
        </p:nvPicPr>
        <p:blipFill>
          <a:blip r:embed="rId3">
            <a:alphaModFix/>
          </a:blip>
          <a:stretch>
            <a:fillRect/>
          </a:stretch>
        </p:blipFill>
        <p:spPr>
          <a:xfrm>
            <a:off x="5212525" y="-1"/>
            <a:ext cx="3931472"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9"/>
        <p:cNvGrpSpPr/>
        <p:nvPr/>
      </p:nvGrpSpPr>
      <p:grpSpPr>
        <a:xfrm>
          <a:off x="0" y="0"/>
          <a:ext cx="0" cy="0"/>
          <a:chOff x="0" y="0"/>
          <a:chExt cx="0" cy="0"/>
        </a:xfrm>
      </p:grpSpPr>
      <p:sp>
        <p:nvSpPr>
          <p:cNvPr id="100" name="Google Shape;100;p19"/>
          <p:cNvSpPr txBox="1">
            <a:spLocks noGrp="1"/>
          </p:cNvSpPr>
          <p:nvPr>
            <p:ph type="body" idx="1"/>
          </p:nvPr>
        </p:nvSpPr>
        <p:spPr>
          <a:xfrm>
            <a:off x="280950" y="1004100"/>
            <a:ext cx="4291200" cy="3400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000" i="1" dirty="0">
                <a:solidFill>
                  <a:srgbClr val="355E3B"/>
                </a:solidFill>
                <a:latin typeface="Calibri"/>
                <a:ea typeface="Calibri"/>
                <a:cs typeface="Calibri"/>
                <a:sym typeface="Calibri"/>
              </a:rPr>
              <a:t>In your Science Journal, </a:t>
            </a:r>
            <a:r>
              <a:rPr lang="en" sz="2000" b="1" i="1" dirty="0">
                <a:solidFill>
                  <a:schemeClr val="hlink"/>
                </a:solidFill>
                <a:latin typeface="Calibri"/>
                <a:ea typeface="Calibri"/>
                <a:cs typeface="Calibri"/>
                <a:sym typeface="Calibri"/>
              </a:rPr>
              <a:t>Module 3.5: Updating Our Models</a:t>
            </a:r>
            <a:r>
              <a:rPr lang="en" sz="2000" b="1" i="1" dirty="0">
                <a:solidFill>
                  <a:srgbClr val="355E3B"/>
                </a:solidFill>
                <a:latin typeface="Calibri"/>
                <a:ea typeface="Calibri"/>
                <a:cs typeface="Calibri"/>
                <a:sym typeface="Calibri"/>
              </a:rPr>
              <a:t> </a:t>
            </a:r>
            <a:r>
              <a:rPr lang="en" sz="2000" i="1" dirty="0">
                <a:solidFill>
                  <a:srgbClr val="355E3B"/>
                </a:solidFill>
                <a:latin typeface="Calibri"/>
                <a:ea typeface="Calibri"/>
                <a:cs typeface="Calibri"/>
                <a:sym typeface="Calibri"/>
              </a:rPr>
              <a:t>(Student Task: Make a Prediction), p. 58, make a prediction on how your chosen value will change as carbon dioxide emissions increase:</a:t>
            </a:r>
            <a:endParaRPr sz="2000" i="1" dirty="0">
              <a:solidFill>
                <a:srgbClr val="355E3B"/>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000" i="1" dirty="0">
              <a:solidFill>
                <a:srgbClr val="355E3B"/>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2000" b="1" dirty="0">
                <a:solidFill>
                  <a:schemeClr val="dk1"/>
                </a:solidFill>
                <a:latin typeface="Calibri"/>
                <a:ea typeface="Calibri"/>
                <a:cs typeface="Calibri"/>
                <a:sym typeface="Calibri"/>
              </a:rPr>
              <a:t>Prediction Sentence Frame:</a:t>
            </a:r>
            <a:endParaRPr sz="20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400" i="1" dirty="0">
                <a:solidFill>
                  <a:schemeClr val="dk1"/>
                </a:solidFill>
                <a:latin typeface="Calibri"/>
                <a:ea typeface="Calibri"/>
                <a:cs typeface="Calibri"/>
                <a:sym typeface="Calibri"/>
              </a:rPr>
              <a:t>We predict that as carbon dioxide emissions increase,  </a:t>
            </a:r>
            <a:r>
              <a:rPr lang="en" sz="1400" b="1" i="1" dirty="0">
                <a:solidFill>
                  <a:schemeClr val="dk1"/>
                </a:solidFill>
                <a:latin typeface="Calibri"/>
                <a:ea typeface="Calibri"/>
                <a:cs typeface="Calibri"/>
                <a:sym typeface="Calibri"/>
              </a:rPr>
              <a:t>[our value]</a:t>
            </a:r>
            <a:r>
              <a:rPr lang="en" sz="1400" i="1" dirty="0">
                <a:solidFill>
                  <a:schemeClr val="dk1"/>
                </a:solidFill>
                <a:latin typeface="Calibri"/>
                <a:ea typeface="Calibri"/>
                <a:cs typeface="Calibri"/>
                <a:sym typeface="Calibri"/>
              </a:rPr>
              <a:t> will  </a:t>
            </a:r>
            <a:r>
              <a:rPr lang="en" sz="1400" b="1" i="1" dirty="0">
                <a:solidFill>
                  <a:schemeClr val="dk1"/>
                </a:solidFill>
                <a:latin typeface="Calibri"/>
                <a:ea typeface="Calibri"/>
                <a:cs typeface="Calibri"/>
                <a:sym typeface="Calibri"/>
              </a:rPr>
              <a:t>[describe the change]. </a:t>
            </a:r>
            <a:r>
              <a:rPr lang="en" sz="1400" i="1" dirty="0">
                <a:solidFill>
                  <a:schemeClr val="dk1"/>
                </a:solidFill>
                <a:latin typeface="Calibri"/>
                <a:ea typeface="Calibri"/>
                <a:cs typeface="Calibri"/>
                <a:sym typeface="Calibri"/>
              </a:rPr>
              <a:t>This is because </a:t>
            </a:r>
            <a:r>
              <a:rPr lang="en" sz="1400" b="1" i="1" dirty="0">
                <a:solidFill>
                  <a:schemeClr val="dk1"/>
                </a:solidFill>
                <a:latin typeface="Calibri"/>
                <a:ea typeface="Calibri"/>
                <a:cs typeface="Calibri"/>
                <a:sym typeface="Calibri"/>
              </a:rPr>
              <a:t>[explain the process using the model as evidence].</a:t>
            </a:r>
            <a:endParaRPr sz="1400" i="1" dirty="0">
              <a:solidFill>
                <a:srgbClr val="355E3B"/>
              </a:solidFill>
              <a:latin typeface="Calibri"/>
              <a:ea typeface="Calibri"/>
              <a:cs typeface="Calibri"/>
              <a:sym typeface="Calibri"/>
            </a:endParaRPr>
          </a:p>
          <a:p>
            <a:pPr marL="0" lvl="0" indent="0" algn="l" rtl="0">
              <a:spcBef>
                <a:spcPts val="0"/>
              </a:spcBef>
              <a:spcAft>
                <a:spcPts val="1200"/>
              </a:spcAft>
              <a:buNone/>
            </a:pPr>
            <a:endParaRPr sz="2000" i="1" dirty="0">
              <a:solidFill>
                <a:srgbClr val="355E3B"/>
              </a:solidFill>
            </a:endParaRPr>
          </a:p>
        </p:txBody>
      </p:sp>
      <p:sp>
        <p:nvSpPr>
          <p:cNvPr id="101" name="Google Shape;101;p19"/>
          <p:cNvSpPr txBox="1">
            <a:spLocks noGrp="1"/>
          </p:cNvSpPr>
          <p:nvPr>
            <p:ph type="title"/>
          </p:nvPr>
        </p:nvSpPr>
        <p:spPr>
          <a:xfrm>
            <a:off x="311700" y="241275"/>
            <a:ext cx="4343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Predictions</a:t>
            </a:r>
            <a:endParaRPr sz="4500" b="1">
              <a:solidFill>
                <a:srgbClr val="541900"/>
              </a:solidFill>
            </a:endParaRPr>
          </a:p>
        </p:txBody>
      </p:sp>
      <p:sp>
        <p:nvSpPr>
          <p:cNvPr id="102" name="Google Shape;102;p19"/>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pic>
        <p:nvPicPr>
          <p:cNvPr id="103" name="Google Shape;103;p19"/>
          <p:cNvPicPr preferRelativeResize="0"/>
          <p:nvPr/>
        </p:nvPicPr>
        <p:blipFill rotWithShape="1">
          <a:blip r:embed="rId3">
            <a:alphaModFix/>
          </a:blip>
          <a:srcRect l="32489" r="13846"/>
          <a:stretch/>
        </p:blipFill>
        <p:spPr>
          <a:xfrm>
            <a:off x="4655100" y="1066238"/>
            <a:ext cx="4242550" cy="3011022"/>
          </a:xfrm>
          <a:prstGeom prst="rect">
            <a:avLst/>
          </a:prstGeom>
          <a:noFill/>
          <a:ln>
            <a:noFill/>
          </a:ln>
        </p:spPr>
      </p:pic>
      <p:sp>
        <p:nvSpPr>
          <p:cNvPr id="104" name="Google Shape;104;p19"/>
          <p:cNvSpPr txBox="1">
            <a:spLocks noGrp="1"/>
          </p:cNvSpPr>
          <p:nvPr>
            <p:ph type="body" idx="1"/>
          </p:nvPr>
        </p:nvSpPr>
        <p:spPr>
          <a:xfrm>
            <a:off x="4655100" y="4067675"/>
            <a:ext cx="42426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900" i="1">
                <a:solidFill>
                  <a:schemeClr val="dk1"/>
                </a:solidFill>
              </a:rPr>
              <a:t>Santa Monica, CA</a:t>
            </a:r>
            <a:endParaRPr sz="900" i="1">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8"/>
        <p:cNvGrpSpPr/>
        <p:nvPr/>
      </p:nvGrpSpPr>
      <p:grpSpPr>
        <a:xfrm>
          <a:off x="0" y="0"/>
          <a:ext cx="0" cy="0"/>
          <a:chOff x="0" y="0"/>
          <a:chExt cx="0" cy="0"/>
        </a:xfrm>
      </p:grpSpPr>
      <p:sp>
        <p:nvSpPr>
          <p:cNvPr id="109" name="Google Shape;109;p20"/>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7</a:t>
            </a:r>
            <a:endParaRPr sz="1200">
              <a:solidFill>
                <a:schemeClr val="dk1"/>
              </a:solidFill>
              <a:latin typeface="Arial"/>
              <a:ea typeface="Arial"/>
              <a:cs typeface="Arial"/>
              <a:sym typeface="Arial"/>
            </a:endParaRPr>
          </a:p>
        </p:txBody>
      </p:sp>
      <p:sp>
        <p:nvSpPr>
          <p:cNvPr id="110" name="Google Shape;110;p20"/>
          <p:cNvSpPr txBox="1">
            <a:spLocks noGrp="1"/>
          </p:cNvSpPr>
          <p:nvPr>
            <p:ph type="title"/>
          </p:nvPr>
        </p:nvSpPr>
        <p:spPr>
          <a:xfrm>
            <a:off x="311700" y="333650"/>
            <a:ext cx="439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rgbClr val="541900"/>
                </a:solidFill>
              </a:rPr>
              <a:t>Test Your Prediction</a:t>
            </a:r>
            <a:endParaRPr sz="3300" b="1">
              <a:solidFill>
                <a:srgbClr val="541900"/>
              </a:solidFill>
            </a:endParaRPr>
          </a:p>
        </p:txBody>
      </p:sp>
      <p:sp>
        <p:nvSpPr>
          <p:cNvPr id="111" name="Google Shape;111;p20"/>
          <p:cNvSpPr txBox="1">
            <a:spLocks noGrp="1"/>
          </p:cNvSpPr>
          <p:nvPr>
            <p:ph type="body" idx="1"/>
          </p:nvPr>
        </p:nvSpPr>
        <p:spPr>
          <a:xfrm>
            <a:off x="280950" y="1004100"/>
            <a:ext cx="4698600" cy="340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i="1">
                <a:solidFill>
                  <a:srgbClr val="355E3B"/>
                </a:solidFill>
              </a:rPr>
              <a:t>Test your prediction by running a simulation within your SageModeler model. As you do, think about the following questions:</a:t>
            </a:r>
            <a:endParaRPr sz="1600" i="1">
              <a:solidFill>
                <a:srgbClr val="355E3B"/>
              </a:solidFill>
            </a:endParaRPr>
          </a:p>
          <a:p>
            <a:pPr marL="457200" lvl="0" indent="-355600" algn="l" rtl="0">
              <a:lnSpc>
                <a:spcPct val="100000"/>
              </a:lnSpc>
              <a:spcBef>
                <a:spcPts val="120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 What is happening to my chosen value as carbon dioxide emissions increase?</a:t>
            </a:r>
            <a:endParaRPr sz="200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is happening to other components or processes within my model as carbon dioxide levels increase?</a:t>
            </a:r>
            <a:endParaRPr sz="2000">
              <a:solidFill>
                <a:schemeClr val="dk1"/>
              </a:solidFill>
              <a:latin typeface="Calibri"/>
              <a:ea typeface="Calibri"/>
              <a:cs typeface="Calibri"/>
              <a:sym typeface="Calibri"/>
            </a:endParaRPr>
          </a:p>
          <a:p>
            <a:pPr marL="0" lvl="0" indent="0" algn="l" rtl="0">
              <a:spcBef>
                <a:spcPts val="0"/>
              </a:spcBef>
              <a:spcAft>
                <a:spcPts val="1200"/>
              </a:spcAft>
              <a:buNone/>
            </a:pPr>
            <a:endParaRPr sz="2000" i="1">
              <a:solidFill>
                <a:srgbClr val="355E3B"/>
              </a:solidFill>
            </a:endParaRPr>
          </a:p>
        </p:txBody>
      </p:sp>
      <p:pic>
        <p:nvPicPr>
          <p:cNvPr id="112" name="Google Shape;112;p20"/>
          <p:cNvPicPr preferRelativeResize="0"/>
          <p:nvPr/>
        </p:nvPicPr>
        <p:blipFill rotWithShape="1">
          <a:blip r:embed="rId3">
            <a:alphaModFix/>
          </a:blip>
          <a:srcRect l="4431" r="6940" b="1098"/>
          <a:stretch/>
        </p:blipFill>
        <p:spPr>
          <a:xfrm>
            <a:off x="4979550" y="0"/>
            <a:ext cx="4164451" cy="51428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6"/>
        <p:cNvGrpSpPr/>
        <p:nvPr/>
      </p:nvGrpSpPr>
      <p:grpSpPr>
        <a:xfrm>
          <a:off x="0" y="0"/>
          <a:ext cx="0" cy="0"/>
          <a:chOff x="0" y="0"/>
          <a:chExt cx="0" cy="0"/>
        </a:xfrm>
      </p:grpSpPr>
      <p:sp>
        <p:nvSpPr>
          <p:cNvPr id="117" name="Google Shape;117;p21"/>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8</a:t>
            </a:r>
            <a:endParaRPr sz="1200">
              <a:solidFill>
                <a:schemeClr val="dk1"/>
              </a:solidFill>
              <a:latin typeface="Arial"/>
              <a:ea typeface="Arial"/>
              <a:cs typeface="Arial"/>
              <a:sym typeface="Arial"/>
            </a:endParaRPr>
          </a:p>
        </p:txBody>
      </p:sp>
      <p:pic>
        <p:nvPicPr>
          <p:cNvPr id="118" name="Google Shape;118;p21"/>
          <p:cNvPicPr preferRelativeResize="0"/>
          <p:nvPr/>
        </p:nvPicPr>
        <p:blipFill>
          <a:blip r:embed="rId3">
            <a:alphaModFix/>
          </a:blip>
          <a:stretch>
            <a:fillRect/>
          </a:stretch>
        </p:blipFill>
        <p:spPr>
          <a:xfrm>
            <a:off x="5212525" y="-1"/>
            <a:ext cx="3931472" cy="5143501"/>
          </a:xfrm>
          <a:prstGeom prst="rect">
            <a:avLst/>
          </a:prstGeom>
          <a:noFill/>
          <a:ln>
            <a:noFill/>
          </a:ln>
        </p:spPr>
      </p:pic>
      <p:sp>
        <p:nvSpPr>
          <p:cNvPr id="119" name="Google Shape;119;p21"/>
          <p:cNvSpPr txBox="1">
            <a:spLocks noGrp="1"/>
          </p:cNvSpPr>
          <p:nvPr>
            <p:ph type="body" idx="1"/>
          </p:nvPr>
        </p:nvSpPr>
        <p:spPr>
          <a:xfrm>
            <a:off x="408150" y="906350"/>
            <a:ext cx="4396200" cy="309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700" i="1">
                <a:solidFill>
                  <a:srgbClr val="355E3B"/>
                </a:solidFill>
                <a:latin typeface="Calibri"/>
                <a:ea typeface="Calibri"/>
                <a:cs typeface="Calibri"/>
                <a:sym typeface="Calibri"/>
              </a:rPr>
              <a:t>Now that you have had a chance to test your prediction, share your updated model with the class. When sharing, think about the following:</a:t>
            </a:r>
            <a:endParaRPr sz="1700" i="1">
              <a:solidFill>
                <a:srgbClr val="355E3B"/>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What value did your team center their model around? How did an increase of carbon dioxide emissions impact your chosen value?</a:t>
            </a:r>
            <a:endParaRPr sz="1700">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What processes or components do you think had the biggest impact on your value?</a:t>
            </a:r>
            <a:endParaRPr sz="1700">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What discoveries about your model and its relationships was the most surprising to your team? Why?</a:t>
            </a:r>
            <a:endParaRPr sz="1700">
              <a:solidFill>
                <a:schemeClr val="dk1"/>
              </a:solidFill>
            </a:endParaRPr>
          </a:p>
          <a:p>
            <a:pPr marL="0" lvl="0" indent="0" algn="l" rtl="0">
              <a:spcBef>
                <a:spcPts val="0"/>
              </a:spcBef>
              <a:spcAft>
                <a:spcPts val="1200"/>
              </a:spcAft>
              <a:buNone/>
            </a:pPr>
            <a:endParaRPr sz="1700" i="1">
              <a:solidFill>
                <a:srgbClr val="355E3B"/>
              </a:solidFill>
            </a:endParaRPr>
          </a:p>
        </p:txBody>
      </p:sp>
      <p:sp>
        <p:nvSpPr>
          <p:cNvPr id="120" name="Google Shape;120;p21"/>
          <p:cNvSpPr txBox="1">
            <a:spLocks noGrp="1"/>
          </p:cNvSpPr>
          <p:nvPr>
            <p:ph type="title"/>
          </p:nvPr>
        </p:nvSpPr>
        <p:spPr>
          <a:xfrm>
            <a:off x="408150" y="333650"/>
            <a:ext cx="439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rgbClr val="541900"/>
                </a:solidFill>
              </a:rPr>
              <a:t>Share Your Model</a:t>
            </a:r>
            <a:endParaRPr sz="3300" b="1">
              <a:solidFill>
                <a:srgbClr val="5419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4"/>
        <p:cNvGrpSpPr/>
        <p:nvPr/>
      </p:nvGrpSpPr>
      <p:grpSpPr>
        <a:xfrm>
          <a:off x="0" y="0"/>
          <a:ext cx="0" cy="0"/>
          <a:chOff x="0" y="0"/>
          <a:chExt cx="0" cy="0"/>
        </a:xfrm>
      </p:grpSpPr>
      <p:sp>
        <p:nvSpPr>
          <p:cNvPr id="125" name="Google Shape;125;p22"/>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8</a:t>
            </a:r>
            <a:endParaRPr sz="1200">
              <a:solidFill>
                <a:schemeClr val="dk1"/>
              </a:solidFill>
              <a:latin typeface="Arial"/>
              <a:ea typeface="Arial"/>
              <a:cs typeface="Arial"/>
              <a:sym typeface="Arial"/>
            </a:endParaRPr>
          </a:p>
        </p:txBody>
      </p:sp>
      <p:sp>
        <p:nvSpPr>
          <p:cNvPr id="126" name="Google Shape;126;p22"/>
          <p:cNvSpPr txBox="1">
            <a:spLocks noGrp="1"/>
          </p:cNvSpPr>
          <p:nvPr>
            <p:ph type="body" idx="1"/>
          </p:nvPr>
        </p:nvSpPr>
        <p:spPr>
          <a:xfrm>
            <a:off x="256950" y="1359763"/>
            <a:ext cx="4698600" cy="1998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900" i="1">
                <a:solidFill>
                  <a:srgbClr val="355E3B"/>
                </a:solidFill>
                <a:latin typeface="Calibri"/>
                <a:ea typeface="Calibri"/>
                <a:cs typeface="Calibri"/>
                <a:sym typeface="Calibri"/>
              </a:rPr>
              <a:t>Now that you have shared your findings, take a moment with your group to think about how you may share our to your community. To help, think about the following:</a:t>
            </a:r>
            <a:endParaRPr sz="1900" i="1">
              <a:solidFill>
                <a:srgbClr val="355E3B"/>
              </a:solidFill>
              <a:latin typeface="Calibri"/>
              <a:ea typeface="Calibri"/>
              <a:cs typeface="Calibri"/>
              <a:sym typeface="Calibri"/>
            </a:endParaRPr>
          </a:p>
          <a:p>
            <a:pPr marL="457200" lvl="0" indent="-349250" algn="l" rtl="0">
              <a:lnSpc>
                <a:spcPct val="100000"/>
              </a:lnSpc>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What is something about your model that you think everyone should know?</a:t>
            </a:r>
            <a:endParaRPr sz="1900">
              <a:solidFill>
                <a:schemeClr val="dk1"/>
              </a:solidFill>
              <a:latin typeface="Calibri"/>
              <a:ea typeface="Calibri"/>
              <a:cs typeface="Calibri"/>
              <a:sym typeface="Calibri"/>
            </a:endParaRPr>
          </a:p>
          <a:p>
            <a:pPr marL="457200" lvl="0" indent="-349250" algn="l" rtl="0">
              <a:lnSpc>
                <a:spcPct val="100000"/>
              </a:lnSpc>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If you had to explain your updated model to someone in the community, what would you highlight first? </a:t>
            </a:r>
            <a:endParaRPr sz="1900">
              <a:solidFill>
                <a:schemeClr val="dk1"/>
              </a:solidFill>
              <a:latin typeface="Calibri"/>
              <a:ea typeface="Calibri"/>
              <a:cs typeface="Calibri"/>
              <a:sym typeface="Calibri"/>
            </a:endParaRPr>
          </a:p>
          <a:p>
            <a:pPr marL="0" lvl="0" indent="0" algn="l" rtl="0">
              <a:spcBef>
                <a:spcPts val="0"/>
              </a:spcBef>
              <a:spcAft>
                <a:spcPts val="1200"/>
              </a:spcAft>
              <a:buNone/>
            </a:pPr>
            <a:endParaRPr sz="1900" i="1">
              <a:solidFill>
                <a:srgbClr val="355E3B"/>
              </a:solidFill>
            </a:endParaRPr>
          </a:p>
        </p:txBody>
      </p:sp>
      <p:sp>
        <p:nvSpPr>
          <p:cNvPr id="127" name="Google Shape;127;p22"/>
          <p:cNvSpPr txBox="1">
            <a:spLocks noGrp="1"/>
          </p:cNvSpPr>
          <p:nvPr>
            <p:ph type="title"/>
          </p:nvPr>
        </p:nvSpPr>
        <p:spPr>
          <a:xfrm>
            <a:off x="341625" y="442375"/>
            <a:ext cx="4396200" cy="91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What Do You Want to Share?</a:t>
            </a:r>
            <a:endParaRPr b="1">
              <a:solidFill>
                <a:srgbClr val="541900"/>
              </a:solidFill>
            </a:endParaRPr>
          </a:p>
        </p:txBody>
      </p:sp>
      <p:pic>
        <p:nvPicPr>
          <p:cNvPr id="128" name="Google Shape;128;p22"/>
          <p:cNvPicPr preferRelativeResize="0"/>
          <p:nvPr/>
        </p:nvPicPr>
        <p:blipFill>
          <a:blip r:embed="rId3">
            <a:alphaModFix/>
          </a:blip>
          <a:stretch>
            <a:fillRect/>
          </a:stretch>
        </p:blipFill>
        <p:spPr>
          <a:xfrm>
            <a:off x="5091225" y="1573300"/>
            <a:ext cx="3883648" cy="2211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2"/>
        <p:cNvGrpSpPr/>
        <p:nvPr/>
      </p:nvGrpSpPr>
      <p:grpSpPr>
        <a:xfrm>
          <a:off x="0" y="0"/>
          <a:ext cx="0" cy="0"/>
          <a:chOff x="0" y="0"/>
          <a:chExt cx="0" cy="0"/>
        </a:xfrm>
      </p:grpSpPr>
      <p:sp>
        <p:nvSpPr>
          <p:cNvPr id="133" name="Google Shape;133;p23"/>
          <p:cNvSpPr txBox="1">
            <a:spLocks noGrp="1"/>
          </p:cNvSpPr>
          <p:nvPr>
            <p:ph type="body" idx="1"/>
          </p:nvPr>
        </p:nvSpPr>
        <p:spPr>
          <a:xfrm>
            <a:off x="311700" y="11383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i="1" dirty="0">
                <a:solidFill>
                  <a:srgbClr val="355E3B"/>
                </a:solidFill>
              </a:rPr>
              <a:t>In your </a:t>
            </a:r>
            <a:r>
              <a:rPr lang="en" sz="2000" i="1" dirty="0">
                <a:solidFill>
                  <a:schemeClr val="hlink"/>
                </a:solidFill>
              </a:rPr>
              <a:t>science journal </a:t>
            </a:r>
            <a:r>
              <a:rPr lang="en" sz="2000" i="1" dirty="0">
                <a:solidFill>
                  <a:srgbClr val="355E3B"/>
                </a:solidFill>
              </a:rPr>
              <a:t>(p.59), take a couple of minutes to reflect on your experiences during Module 3.5.</a:t>
            </a:r>
            <a:endParaRPr sz="2000" i="1" dirty="0">
              <a:solidFill>
                <a:srgbClr val="355E3B"/>
              </a:solidFill>
            </a:endParaRPr>
          </a:p>
          <a:p>
            <a:pPr marL="0" lvl="0" indent="0" algn="l" rtl="0">
              <a:spcBef>
                <a:spcPts val="1200"/>
              </a:spcBef>
              <a:spcAft>
                <a:spcPts val="1200"/>
              </a:spcAft>
              <a:buNone/>
            </a:pPr>
            <a:endParaRPr sz="2000" i="1" dirty="0">
              <a:solidFill>
                <a:srgbClr val="355E3B"/>
              </a:solidFill>
            </a:endParaRPr>
          </a:p>
        </p:txBody>
      </p:sp>
      <p:sp>
        <p:nvSpPr>
          <p:cNvPr id="134" name="Google Shape;134;p23"/>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Reflect</a:t>
            </a:r>
            <a:endParaRPr sz="4500" b="1">
              <a:solidFill>
                <a:srgbClr val="541900"/>
              </a:solidFill>
            </a:endParaRPr>
          </a:p>
        </p:txBody>
      </p:sp>
      <p:sp>
        <p:nvSpPr>
          <p:cNvPr id="135" name="Google Shape;135;p23"/>
          <p:cNvSpPr txBox="1">
            <a:spLocks noGrp="1"/>
          </p:cNvSpPr>
          <p:nvPr>
            <p:ph type="body" idx="4294967295"/>
          </p:nvPr>
        </p:nvSpPr>
        <p:spPr>
          <a:xfrm>
            <a:off x="311700" y="2009075"/>
            <a:ext cx="8373300" cy="19890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If you were explaining your updated model to someone in your community, what key idea or relationship would you highlight? </a:t>
            </a:r>
            <a:r>
              <a:rPr lang="en" sz="2000" dirty="0">
                <a:solidFill>
                  <a:schemeClr val="dk1"/>
                </a:solidFill>
                <a:latin typeface="Calibri"/>
                <a:ea typeface="Calibri"/>
                <a:cs typeface="Calibri"/>
                <a:sym typeface="Calibri"/>
              </a:rPr>
              <a:t>Why should this idea or relationship matter to them?</a:t>
            </a:r>
            <a:endParaRPr sz="2000" dirty="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Based on what your model now shows, what action or solution could your community take to reduce or respond to these impacts?</a:t>
            </a:r>
            <a:endParaRPr sz="2000" dirty="0">
              <a:solidFill>
                <a:schemeClr val="dk1"/>
              </a:solidFill>
              <a:latin typeface="Calibri"/>
              <a:ea typeface="Calibri"/>
              <a:cs typeface="Calibri"/>
              <a:sym typeface="Calibri"/>
            </a:endParaRPr>
          </a:p>
        </p:txBody>
      </p:sp>
      <p:sp>
        <p:nvSpPr>
          <p:cNvPr id="136" name="Google Shape;136;p23"/>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3.5 Updating Our Models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142" name="Google Shape;142;p24"/>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143" name="Google Shape;143;p24"/>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144" name="Google Shape;144;p24"/>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145" name="Google Shape;145;p24"/>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146" name="Google Shape;146;p24"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147" name="Google Shape;147;p24"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148" name="Google Shape;148;p24"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2186</Words>
  <Application>Microsoft Macintosh PowerPoint</Application>
  <PresentationFormat>On-screen Show (16:9)</PresentationFormat>
  <Paragraphs>137</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Simple Light</vt:lpstr>
      <vt:lpstr>Updating  Our Models</vt:lpstr>
      <vt:lpstr>Lesson Overview</vt:lpstr>
      <vt:lpstr>Plan: Update Your Model</vt:lpstr>
      <vt:lpstr>Revise Your Model</vt:lpstr>
      <vt:lpstr>Share Your Model Take a moment to share out with the class.</vt:lpstr>
      <vt:lpstr>Predictions</vt:lpstr>
      <vt:lpstr>Test Your Prediction</vt:lpstr>
      <vt:lpstr>Share Your Model</vt:lpstr>
      <vt:lpstr>What Do You Want to Share?</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3</cp:revision>
  <dcterms:modified xsi:type="dcterms:W3CDTF">2026-08-20T15:56:42Z</dcterms:modified>
</cp:coreProperties>
</file>