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ik6Xtwzc/85HyVdgSOdyJf8Qkts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82"/>
  </p:normalViewPr>
  <p:slideViewPr>
    <p:cSldViewPr snapToGrid="0">
      <p:cViewPr varScale="1">
        <p:scale>
          <a:sx n="153" d="100"/>
          <a:sy n="153" d="100"/>
        </p:scale>
        <p:origin x="536" y="1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docs.google.com/document/d/1dVG4Uy_SMyNZhXXlSAlQOJDbjvdFPxUh/edit" TargetMode="External"/><Relationship Id="rId2" Type="http://schemas.openxmlformats.org/officeDocument/2006/relationships/slide" Target="../slides/slide1.xml"/><Relationship Id="rId1" Type="http://schemas.openxmlformats.org/officeDocument/2006/relationships/notesMaster" Target="../notesMasters/notesMaster1.xml"/><Relationship Id="rId4" Type="http://schemas.openxmlformats.org/officeDocument/2006/relationships/hyperlink" Target="https://docs.google.com/document/d/1UndupAAsxXThMWqwfrnMWLxA3dpkoK1Unx8y0T5mxfk/edit?tab=t.0#heading=h.66wasdi8eqf3"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youtube.com/watch?v=OVAMb6Kui6A&amp;ab_channel=KatherineJohnson" TargetMode="External"/><Relationship Id="rId2" Type="http://schemas.openxmlformats.org/officeDocument/2006/relationships/slide" Target="../slides/slide11.xml"/><Relationship Id="rId1" Type="http://schemas.openxmlformats.org/officeDocument/2006/relationships/notesMaster" Target="../notesMasters/notesMaster1.xml"/><Relationship Id="rId5" Type="http://schemas.openxmlformats.org/officeDocument/2006/relationships/hyperlink" Target="https://docs.google.com/document/d/1OYL8P-VmXLmU2aZGeU95RMUtoRudtTbaGO24rFNaL1A/edit?tab=t.0" TargetMode="External"/><Relationship Id="rId4" Type="http://schemas.openxmlformats.org/officeDocument/2006/relationships/hyperlink" Target="https://www.youtube.com/watch?v=UJJrBX8YpWA"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Link to </a:t>
            </a:r>
            <a:r>
              <a:rPr lang="en" u="sng">
                <a:solidFill>
                  <a:schemeClr val="hlink"/>
                </a:solidFill>
                <a:hlinkClick r:id="rId3"/>
              </a:rPr>
              <a:t>Module 1.2 Lesson Plan</a:t>
            </a:r>
            <a:endParaRPr/>
          </a:p>
          <a:p>
            <a:pPr marL="0" lvl="0" indent="0" algn="l" rtl="0">
              <a:lnSpc>
                <a:spcPct val="100000"/>
              </a:lnSpc>
              <a:spcBef>
                <a:spcPts val="0"/>
              </a:spcBef>
              <a:spcAft>
                <a:spcPts val="0"/>
              </a:spcAft>
              <a:buSzPts val="1100"/>
              <a:buNone/>
            </a:pPr>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b="1">
                <a:solidFill>
                  <a:schemeClr val="dk1"/>
                </a:solidFill>
                <a:latin typeface="Calibri"/>
                <a:ea typeface="Calibri"/>
                <a:cs typeface="Calibri"/>
                <a:sym typeface="Calibri"/>
              </a:rPr>
              <a:t>BEFORE YOU START TEACHING</a:t>
            </a:r>
            <a:endParaRPr sz="1200" b="1">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Review the </a:t>
            </a:r>
            <a:r>
              <a:rPr lang="en" sz="1200" u="sng">
                <a:solidFill>
                  <a:srgbClr val="1155CC"/>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Teacher Facilitation Guide</a:t>
            </a:r>
            <a:r>
              <a:rPr lang="en" sz="1200">
                <a:solidFill>
                  <a:schemeClr val="dk1"/>
                </a:solidFill>
                <a:latin typeface="Calibri"/>
                <a:ea typeface="Calibri"/>
                <a:cs typeface="Calibri"/>
                <a:sym typeface="Calibri"/>
              </a:rPr>
              <a:t> for an overview of content and the curriculum as well as helpful facilitation suggestions.</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Make a copy of the slideshow and make any appropriate changes for your class.</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Make sure that you have a way to project a video with sound if you watch the interview etiquette videos.</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The science journal is intended to be a digital notebook. However, if you decide to print copies for students, they may need a writing instrument (pen, pencil, etc.).</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Optionally, you may want to provide a blank sheet of paper for students so they can easily reference their interview questions when they meet their interviewees.</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Open the slideshow to </a:t>
            </a:r>
            <a:r>
              <a:rPr lang="en" sz="1200" b="1">
                <a:solidFill>
                  <a:schemeClr val="dk1"/>
                </a:solidFill>
                <a:latin typeface="Calibri"/>
                <a:ea typeface="Calibri"/>
                <a:cs typeface="Calibri"/>
                <a:sym typeface="Calibri"/>
              </a:rPr>
              <a:t>Slide 1 </a:t>
            </a:r>
            <a:r>
              <a:rPr lang="en" sz="1200">
                <a:solidFill>
                  <a:schemeClr val="dk1"/>
                </a:solidFill>
                <a:latin typeface="Calibri"/>
                <a:ea typeface="Calibri"/>
                <a:cs typeface="Calibri"/>
                <a:sym typeface="Calibri"/>
              </a:rPr>
              <a:t>and welcome the class for the day. Tell them that today, their goal is to continue their investigations to learn how Southern California’s ocean is being impacted by climate change.</a:t>
            </a:r>
            <a:endParaRPr sz="12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 Advance to </a:t>
            </a:r>
            <a:r>
              <a:rPr lang="en" sz="1200" b="1">
                <a:solidFill>
                  <a:schemeClr val="dk1"/>
                </a:solidFill>
                <a:latin typeface="Calibri"/>
                <a:ea typeface="Calibri"/>
                <a:cs typeface="Calibri"/>
                <a:sym typeface="Calibri"/>
              </a:rPr>
              <a:t>Slide 2</a:t>
            </a:r>
            <a:r>
              <a:rPr lang="en" sz="1200">
                <a:solidFill>
                  <a:schemeClr val="dk1"/>
                </a:solidFill>
                <a:latin typeface="Calibri"/>
                <a:ea typeface="Calibri"/>
                <a:cs typeface="Calibri"/>
                <a:sym typeface="Calibri"/>
              </a:rPr>
              <a:t> and invite students to discuss what they did in lesson 1.1. Use the following questions to help guide the conversation.</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did you learn about how climate change might be affecting Southern California’s ocean?</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does climate change affect your experiences at the ocean?</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differences did you notice between using a search engine and generative AI ? </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are the pros and cons of each method?</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p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9" name="Google Shape;6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3</a:t>
            </a:r>
            <a:r>
              <a:rPr lang="en" sz="1200">
                <a:solidFill>
                  <a:schemeClr val="dk1"/>
                </a:solidFill>
                <a:latin typeface="Calibri"/>
                <a:ea typeface="Calibri"/>
                <a:cs typeface="Calibri"/>
                <a:sym typeface="Calibri"/>
              </a:rPr>
              <a:t> and give students the overview for the module.</a:t>
            </a:r>
            <a:endParaRPr sz="1200">
              <a:solidFill>
                <a:schemeClr val="dk1"/>
              </a:solidFill>
              <a:latin typeface="Calibri"/>
              <a:ea typeface="Calibri"/>
              <a:cs typeface="Calibri"/>
              <a:sym typeface="Calibri"/>
            </a:endParaRPr>
          </a:p>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p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4</a:t>
            </a:r>
            <a:r>
              <a:rPr lang="en" sz="1200">
                <a:solidFill>
                  <a:schemeClr val="dk1"/>
                </a:solidFill>
                <a:latin typeface="Calibri"/>
                <a:ea typeface="Calibri"/>
                <a:cs typeface="Calibri"/>
                <a:sym typeface="Calibri"/>
              </a:rPr>
              <a:t> and tell students that another way in gathering information is conducting interviews. Inform them that they will use interviews to find out more about why our community cares about the ocean, and what they know about climate change. </a:t>
            </a:r>
            <a:endParaRPr sz="1200">
              <a:solidFill>
                <a:schemeClr val="dk1"/>
              </a:solidFill>
              <a:latin typeface="Calibri"/>
              <a:ea typeface="Calibri"/>
              <a:cs typeface="Calibri"/>
              <a:sym typeface="Calibri"/>
            </a:endParaRPr>
          </a:p>
          <a:p>
            <a:pPr marL="2286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To begin thinking about interviews, have students discuss the following questions with their team.</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is an interview? What experience do you have with them?</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Why do we use interviews? What can they help us learn?</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Who might interview someone as part of their job?</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and where do interviews take place?</a:t>
            </a:r>
            <a:endParaRPr sz="1200">
              <a:solidFill>
                <a:schemeClr val="dk1"/>
              </a:solidFill>
              <a:latin typeface="Calibri"/>
              <a:ea typeface="Calibri"/>
              <a:cs typeface="Calibri"/>
              <a:sym typeface="Calibri"/>
            </a:endParaRPr>
          </a:p>
          <a:p>
            <a:pPr marL="4572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If time allows, join the class together for a group discussion and tell students during lesson 1.2 they will step into the shoes of a social scientist and interview people to learn more about how the community feels about climate change on Southern California’s ocean.</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Wrap up activity and transition to the question of the day on </a:t>
            </a:r>
            <a:r>
              <a:rPr lang="en" sz="1200" b="1">
                <a:solidFill>
                  <a:schemeClr val="dk1"/>
                </a:solidFill>
                <a:latin typeface="Calibri"/>
                <a:ea typeface="Calibri"/>
                <a:cs typeface="Calibri"/>
                <a:sym typeface="Calibri"/>
              </a:rPr>
              <a:t>Slide 5</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can interviews help us understand our community’s perspectives around how Southern California's ocean is changing?</a:t>
            </a:r>
            <a:endParaRPr sz="1200">
              <a:solidFill>
                <a:schemeClr val="dk1"/>
              </a:solidFill>
              <a:latin typeface="Calibri"/>
              <a:ea typeface="Calibri"/>
              <a:cs typeface="Calibri"/>
              <a:sym typeface="Calibri"/>
            </a:endParaRPr>
          </a:p>
          <a:p>
            <a:pPr marL="4572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0" algn="l" rtl="0">
              <a:lnSpc>
                <a:spcPct val="115000"/>
              </a:lnSpc>
              <a:spcBef>
                <a:spcPts val="0"/>
              </a:spcBef>
              <a:spcAft>
                <a:spcPts val="0"/>
              </a:spcAft>
              <a:buSzPts val="1100"/>
              <a:buNone/>
            </a:pPr>
            <a:r>
              <a:rPr lang="en" sz="1200">
                <a:solidFill>
                  <a:schemeClr val="dk1"/>
                </a:solidFill>
                <a:latin typeface="Calibri"/>
                <a:ea typeface="Calibri"/>
                <a:cs typeface="Calibri"/>
                <a:sym typeface="Calibri"/>
              </a:rPr>
              <a:t>Give students 1-2 minutes to discuss in small groups, and then ask for volunteers to share.</a:t>
            </a:r>
            <a:endParaRPr sz="1200">
              <a:solidFill>
                <a:schemeClr val="dk1"/>
              </a:solidFill>
              <a:latin typeface="Calibri"/>
              <a:ea typeface="Calibri"/>
              <a:cs typeface="Calibri"/>
              <a:sym typeface="Calibri"/>
            </a:endParaRPr>
          </a:p>
          <a:p>
            <a:pPr marL="228600" lvl="0" indent="0" algn="l" rtl="0">
              <a:lnSpc>
                <a:spcPct val="115000"/>
              </a:lnSpc>
              <a:spcBef>
                <a:spcPts val="0"/>
              </a:spcBef>
              <a:spcAft>
                <a:spcPts val="0"/>
              </a:spcAft>
              <a:buSzPts val="1100"/>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Tell students that their next goal is to interview someone to help them understand the community’s perspective around how Southern California’s ocean is changing.</a:t>
            </a:r>
            <a:endParaRPr sz="12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6" name="Google Shape;9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6</a:t>
            </a:r>
            <a:r>
              <a:rPr lang="en" sz="1200">
                <a:solidFill>
                  <a:schemeClr val="dk1"/>
                </a:solidFill>
                <a:latin typeface="Calibri"/>
                <a:ea typeface="Calibri"/>
                <a:cs typeface="Calibri"/>
                <a:sym typeface="Calibri"/>
              </a:rPr>
              <a:t> and inform students that their first task in planning for their interview is to determine who they may want to interview. Tell students that the slide shares examples of individuals they may interview and give them a moment to identify someone to interview.</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 name="Google Shape;104;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the slideshow to </a:t>
            </a:r>
            <a:r>
              <a:rPr lang="en" sz="1200" b="1">
                <a:solidFill>
                  <a:schemeClr val="dk1"/>
                </a:solidFill>
                <a:latin typeface="Calibri"/>
                <a:ea typeface="Calibri"/>
                <a:cs typeface="Calibri"/>
                <a:sym typeface="Calibri"/>
              </a:rPr>
              <a:t>Slide 7</a:t>
            </a:r>
            <a:r>
              <a:rPr lang="en" sz="1200">
                <a:solidFill>
                  <a:schemeClr val="dk1"/>
                </a:solidFill>
                <a:latin typeface="Calibri"/>
                <a:ea typeface="Calibri"/>
                <a:cs typeface="Calibri"/>
                <a:sym typeface="Calibri"/>
              </a:rPr>
              <a:t> and inform them that just like social scientists plan their interviews, they will have to as well. When they plan their interviews they will have to think about creating an interview protocol, which answers the following questions:</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4572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Who will you be interviewing?</a:t>
            </a:r>
            <a:endParaRPr sz="1200">
              <a:solidFill>
                <a:schemeClr val="dk1"/>
              </a:solidFill>
              <a:latin typeface="Calibri"/>
              <a:ea typeface="Calibri"/>
              <a:cs typeface="Calibri"/>
              <a:sym typeface="Calibri"/>
            </a:endParaRPr>
          </a:p>
          <a:p>
            <a:pPr marL="4572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questions will you ask your interviewee?</a:t>
            </a:r>
            <a:endParaRPr sz="1200">
              <a:solidFill>
                <a:schemeClr val="dk1"/>
              </a:solidFill>
              <a:latin typeface="Calibri"/>
              <a:ea typeface="Calibri"/>
              <a:cs typeface="Calibri"/>
              <a:sym typeface="Calibri"/>
            </a:endParaRPr>
          </a:p>
          <a:p>
            <a:pPr marL="4572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roles will each team member play?</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4" name="Google Shape;11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To help students think about what types of questions they might want to ask, advance to </a:t>
            </a:r>
            <a:r>
              <a:rPr lang="en" sz="1200" b="1">
                <a:solidFill>
                  <a:schemeClr val="dk1"/>
                </a:solidFill>
                <a:latin typeface="Calibri"/>
                <a:ea typeface="Calibri"/>
                <a:cs typeface="Calibri"/>
                <a:sym typeface="Calibri"/>
              </a:rPr>
              <a:t>Slide 8</a:t>
            </a:r>
            <a:r>
              <a:rPr lang="en" sz="1200">
                <a:solidFill>
                  <a:schemeClr val="dk1"/>
                </a:solidFill>
                <a:latin typeface="Calibri"/>
                <a:ea typeface="Calibri"/>
                <a:cs typeface="Calibri"/>
                <a:sym typeface="Calibri"/>
              </a:rPr>
              <a:t> to display a question bank of potential questions. Tell students to prepare 3-4 questions to get them started and add them to on </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Module 1.2: Planning Community Interviews (Student Task: Interview Planning), page 3</a:t>
            </a:r>
            <a:r>
              <a:rPr lang="en" sz="1200">
                <a:solidFill>
                  <a:schemeClr val="dk1"/>
                </a:solidFill>
                <a:latin typeface="Calibri"/>
                <a:ea typeface="Calibri"/>
                <a:cs typeface="Calibri"/>
                <a:sym typeface="Calibri"/>
              </a:rPr>
              <a:t> of their </a:t>
            </a:r>
            <a:r>
              <a:rPr lang="en" sz="1200" b="1">
                <a:solidFill>
                  <a:schemeClr val="dk1"/>
                </a:solidFill>
                <a:latin typeface="Calibri"/>
                <a:ea typeface="Calibri"/>
                <a:cs typeface="Calibri"/>
                <a:sym typeface="Calibri"/>
              </a:rPr>
              <a:t>Science Journals</a:t>
            </a:r>
            <a:r>
              <a:rPr lang="en" sz="1200">
                <a:solidFill>
                  <a:schemeClr val="dk1"/>
                </a:solidFill>
                <a:latin typeface="Calibri"/>
                <a:ea typeface="Calibri"/>
                <a:cs typeface="Calibri"/>
                <a:sym typeface="Calibri"/>
              </a:rPr>
              <a:t>. If they would like, they could create their own questions.</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While students work, walk around the room to check in on each group or provide support when needed. During this time, make note of a few interview plans to showcase in the </a:t>
            </a:r>
            <a:r>
              <a:rPr lang="en" sz="1200" i="1">
                <a:solidFill>
                  <a:schemeClr val="dk1"/>
                </a:solidFill>
                <a:latin typeface="Calibri"/>
                <a:ea typeface="Calibri"/>
                <a:cs typeface="Calibri"/>
                <a:sym typeface="Calibri"/>
              </a:rPr>
              <a:t>Expand </a:t>
            </a:r>
            <a:r>
              <a:rPr lang="en" sz="1200">
                <a:solidFill>
                  <a:schemeClr val="dk1"/>
                </a:solidFill>
                <a:latin typeface="Calibri"/>
                <a:ea typeface="Calibri"/>
                <a:cs typeface="Calibri"/>
                <a:sym typeface="Calibri"/>
              </a:rPr>
              <a:t>activity where they will work on the Lesson 1.2 Interview Etiquette Worksheet</a:t>
            </a:r>
            <a:r>
              <a:rPr lang="en" sz="1200" i="1">
                <a:solidFill>
                  <a:schemeClr val="dk1"/>
                </a:solidFill>
                <a:latin typeface="Calibri"/>
                <a:ea typeface="Calibri"/>
                <a:cs typeface="Calibri"/>
                <a:sym typeface="Calibri"/>
              </a:rPr>
              <a:t>, </a:t>
            </a:r>
            <a:r>
              <a:rPr lang="en" sz="1200">
                <a:solidFill>
                  <a:schemeClr val="dk1"/>
                </a:solidFill>
                <a:latin typeface="Calibri"/>
                <a:ea typeface="Calibri"/>
                <a:cs typeface="Calibri"/>
                <a:sym typeface="Calibri"/>
              </a:rPr>
              <a:t>which starts on</a:t>
            </a:r>
            <a:r>
              <a:rPr lang="en" sz="1200" b="1">
                <a:solidFill>
                  <a:schemeClr val="dk1"/>
                </a:solidFill>
                <a:latin typeface="Calibri"/>
                <a:ea typeface="Calibri"/>
                <a:cs typeface="Calibri"/>
                <a:sym typeface="Calibri"/>
              </a:rPr>
              <a:t> </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Module 1.2 Part 1: Planning Community Interviews (Student Task: Interview Etiquette), page 4-5</a:t>
            </a:r>
            <a:r>
              <a:rPr lang="en" sz="1200" b="1">
                <a:solidFill>
                  <a:schemeClr val="dk1"/>
                </a:solidFill>
                <a:latin typeface="Calibri"/>
                <a:ea typeface="Calibri"/>
                <a:cs typeface="Calibri"/>
                <a:sym typeface="Calibri"/>
              </a:rPr>
              <a:t> </a:t>
            </a:r>
            <a:r>
              <a:rPr lang="en" sz="1200">
                <a:solidFill>
                  <a:schemeClr val="dk1"/>
                </a:solidFill>
                <a:latin typeface="Calibri"/>
                <a:ea typeface="Calibri"/>
                <a:cs typeface="Calibri"/>
                <a:sym typeface="Calibri"/>
              </a:rPr>
              <a:t>in the </a:t>
            </a:r>
            <a:r>
              <a:rPr lang="en" sz="1200" b="1">
                <a:solidFill>
                  <a:schemeClr val="dk1"/>
                </a:solidFill>
                <a:latin typeface="Calibri"/>
                <a:ea typeface="Calibri"/>
                <a:cs typeface="Calibri"/>
                <a:sym typeface="Calibri"/>
              </a:rPr>
              <a:t>Science Journal</a:t>
            </a:r>
            <a:r>
              <a:rPr lang="en" sz="1200" b="1" i="1">
                <a:solidFill>
                  <a:schemeClr val="dk1"/>
                </a:solidFill>
                <a:latin typeface="Calibri"/>
                <a:ea typeface="Calibri"/>
                <a:cs typeface="Calibri"/>
                <a:sym typeface="Calibri"/>
              </a:rPr>
              <a:t>.</a:t>
            </a:r>
            <a:endParaRPr sz="1200" b="1" i="1">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b="1" i="1">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teams have created their interview plan, bring the whole class back together. Tell them that their next step is to work with another team to refine their interview plan.</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endParaRPr sz="1200" b="1" i="1">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5" name="Google Shape;125;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 teams are paired together, advance to </a:t>
            </a:r>
            <a:r>
              <a:rPr lang="en" sz="1200" b="1">
                <a:solidFill>
                  <a:schemeClr val="dk1"/>
                </a:solidFill>
                <a:latin typeface="Calibri"/>
                <a:ea typeface="Calibri"/>
                <a:cs typeface="Calibri"/>
                <a:sym typeface="Calibri"/>
              </a:rPr>
              <a:t>Slide 9. </a:t>
            </a:r>
            <a:r>
              <a:rPr lang="en" sz="1200">
                <a:solidFill>
                  <a:schemeClr val="dk1"/>
                </a:solidFill>
                <a:latin typeface="Calibri"/>
                <a:ea typeface="Calibri"/>
                <a:cs typeface="Calibri"/>
                <a:sym typeface="Calibri"/>
              </a:rPr>
              <a:t>Have student teams share their plan with each other and then refine their plans using the feedback they receive. Below are questions that can help guide the conversation:</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Are the interview questions clear and specific? </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 they make sense? Would the interviewee understand what’s being asked?</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 the questions encourage a detailed answer rather than a simple “yes” or “no”?</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Are the interview questions relevant and connect to climate change and the ocean?</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Are the interview questions unbiased and neutral?</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 they allow for honest responses without leading the interviewee?</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Are the interview questions engaging and invite personal stories, experiences, or expert knowledge?</a:t>
            </a:r>
            <a:endParaRPr sz="1200">
              <a:solidFill>
                <a:schemeClr val="dk1"/>
              </a:solidFill>
              <a:latin typeface="Calibri"/>
              <a:ea typeface="Calibri"/>
              <a:cs typeface="Calibri"/>
              <a:sym typeface="Calibri"/>
            </a:endParaRPr>
          </a:p>
          <a:p>
            <a:pPr marL="4572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are talking with each other, walk around and provide support where students have questions. If time allows, get the group back together and have a group share their interview plan.</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Pick from 1 of the 2 options: Worksheets or Videos</a:t>
            </a:r>
            <a:endParaRPr/>
          </a:p>
          <a:p>
            <a:pPr marL="0" lvl="0" indent="0" algn="l" rtl="0">
              <a:lnSpc>
                <a:spcPct val="100000"/>
              </a:lnSpc>
              <a:spcBef>
                <a:spcPts val="0"/>
              </a:spcBef>
              <a:spcAft>
                <a:spcPts val="0"/>
              </a:spcAft>
              <a:buSzPts val="1100"/>
              <a:buNone/>
            </a:pPr>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Tell students that another area that social scientists focus on before and during their interview is their interview etiquette, or a guide on how to behave in a social setting like an interview. </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To identify the best practices in interview etiquette tell students that they will observe what makes an interview effective or ineffective and why. The educator can pick from one of the following options:</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b="1">
                <a:solidFill>
                  <a:schemeClr val="dk1"/>
                </a:solidFill>
                <a:latin typeface="Calibri"/>
                <a:ea typeface="Calibri"/>
                <a:cs typeface="Calibri"/>
                <a:sym typeface="Calibri"/>
              </a:rPr>
              <a:t>Activity Option 1: </a:t>
            </a:r>
            <a:r>
              <a:rPr lang="en" sz="1200">
                <a:solidFill>
                  <a:schemeClr val="dk1"/>
                </a:solidFill>
                <a:latin typeface="Calibri"/>
                <a:ea typeface="Calibri"/>
                <a:cs typeface="Calibri"/>
                <a:sym typeface="Calibri"/>
              </a:rPr>
              <a:t>Lesson 1.2 Interview Etiquette Worksheet</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 to</a:t>
            </a:r>
            <a:r>
              <a:rPr lang="en" sz="1200" b="1">
                <a:solidFill>
                  <a:schemeClr val="dk1"/>
                </a:solidFill>
                <a:latin typeface="Calibri"/>
                <a:ea typeface="Calibri"/>
                <a:cs typeface="Calibri"/>
                <a:sym typeface="Calibri"/>
              </a:rPr>
              <a:t> Slide 10</a:t>
            </a:r>
            <a:r>
              <a:rPr lang="en" sz="1200">
                <a:solidFill>
                  <a:schemeClr val="dk1"/>
                </a:solidFill>
                <a:latin typeface="Calibri"/>
                <a:ea typeface="Calibri"/>
                <a:cs typeface="Calibri"/>
                <a:sym typeface="Calibri"/>
              </a:rPr>
              <a:t> and ask students to find the </a:t>
            </a:r>
            <a:r>
              <a:rPr lang="en" sz="1200"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interview etiquette page in their science journals (p. 4-5).</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 their teams, have students go through the three excerpts and state why the situation demonstrates proper interview etiquette. </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are examples of effective vs ineffective interview etiquette?</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it is not effective, what can be improved?</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Once students are done, bring the class together to discuss and come up with a list of ideal mannerisms for their interviews.</a:t>
            </a:r>
            <a:endParaRPr/>
          </a:p>
          <a:p>
            <a:pPr marL="457200" lvl="0" indent="-304800" algn="l" rtl="0">
              <a:lnSpc>
                <a:spcPct val="115000"/>
              </a:lnSpc>
              <a:spcBef>
                <a:spcPts val="0"/>
              </a:spcBef>
              <a:spcAft>
                <a:spcPts val="0"/>
              </a:spcAft>
              <a:buClr>
                <a:schemeClr val="dk1"/>
              </a:buClr>
              <a:buSzPts val="1200"/>
              <a:buFont typeface="Calibri"/>
              <a:buChar char="●"/>
            </a:pPr>
            <a:r>
              <a:rPr lang="en" sz="1200" b="1">
                <a:solidFill>
                  <a:schemeClr val="dk1"/>
                </a:solidFill>
                <a:latin typeface="Calibri"/>
                <a:ea typeface="Calibri"/>
                <a:cs typeface="Calibri"/>
                <a:sym typeface="Calibri"/>
              </a:rPr>
              <a:t>Activity Option 2:</a:t>
            </a:r>
            <a:r>
              <a:rPr lang="en" sz="1200">
                <a:solidFill>
                  <a:schemeClr val="dk1"/>
                </a:solidFill>
                <a:latin typeface="Calibri"/>
                <a:ea typeface="Calibri"/>
                <a:cs typeface="Calibri"/>
                <a:sym typeface="Calibri"/>
              </a:rPr>
              <a:t> Interview Videos </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11 </a:t>
            </a:r>
            <a:r>
              <a:rPr lang="en" sz="1200">
                <a:solidFill>
                  <a:schemeClr val="dk1"/>
                </a:solidFill>
                <a:latin typeface="Calibri"/>
                <a:ea typeface="Calibri"/>
                <a:cs typeface="Calibri"/>
                <a:sym typeface="Calibri"/>
              </a:rPr>
              <a:t>where there are two videos. One video portrays effective interview etiquette, the other videos portrays ineffective interview etiquette.</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 students watch the interviews, have them note down their observations.</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Once both videos have been watched, bring the class back together to discuss.</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are some similarities and differences between both videos?</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are examples of effective vs ineffective interview etiquette?</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Bring the class together after the activity and share that they will create a list containing qualities of a good interview.</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Pick from 1 of the 2 options: Worksheets or Videos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Video 1: </a:t>
            </a:r>
            <a:r>
              <a:rPr lang="en" u="sng">
                <a:solidFill>
                  <a:schemeClr val="hlink"/>
                </a:solidFill>
                <a:hlinkClick r:id="rId3"/>
              </a:rPr>
              <a:t>https://www.youtube.com/watch?v=OVAMb6Kui6A&amp;ab_channel=KatherineJohnson</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Video 2: </a:t>
            </a:r>
            <a:r>
              <a:rPr lang="en" u="sng">
                <a:solidFill>
                  <a:schemeClr val="hlink"/>
                </a:solidFill>
                <a:hlinkClick r:id="rId4"/>
              </a:rPr>
              <a:t>https://www.youtube.com/watch?v=UJJrBX8YpWA</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Tell students that another area that social scientists focus on before and during their interview is their interview etiquette, or a guide on how to behave in a social setting like an interview. </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To identify the best practices in interview etiquette tell students that they will observe what makes an interview effective or ineffective and why. The educator can pick from one of the following options:</a:t>
            </a: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Char char="●"/>
            </a:pPr>
            <a:r>
              <a:rPr lang="en" sz="1200" b="1">
                <a:solidFill>
                  <a:schemeClr val="dk1"/>
                </a:solidFill>
                <a:latin typeface="Calibri"/>
                <a:ea typeface="Calibri"/>
                <a:cs typeface="Calibri"/>
                <a:sym typeface="Calibri"/>
              </a:rPr>
              <a:t>Activity Option 1: </a:t>
            </a:r>
            <a:r>
              <a:rPr lang="en" sz="1200">
                <a:solidFill>
                  <a:schemeClr val="dk1"/>
                </a:solidFill>
                <a:latin typeface="Calibri"/>
                <a:ea typeface="Calibri"/>
                <a:cs typeface="Calibri"/>
                <a:sym typeface="Calibri"/>
              </a:rPr>
              <a:t>Lesson 1.2 Interview Etiquette Worksheet</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 to</a:t>
            </a:r>
            <a:r>
              <a:rPr lang="en" sz="1200" b="1">
                <a:solidFill>
                  <a:schemeClr val="dk1"/>
                </a:solidFill>
                <a:latin typeface="Calibri"/>
                <a:ea typeface="Calibri"/>
                <a:cs typeface="Calibri"/>
                <a:sym typeface="Calibri"/>
              </a:rPr>
              <a:t> Slide 10</a:t>
            </a:r>
            <a:r>
              <a:rPr lang="en" sz="1200">
                <a:solidFill>
                  <a:schemeClr val="dk1"/>
                </a:solidFill>
                <a:latin typeface="Calibri"/>
                <a:ea typeface="Calibri"/>
                <a:cs typeface="Calibri"/>
                <a:sym typeface="Calibri"/>
              </a:rPr>
              <a:t> and ask students to find the </a:t>
            </a:r>
            <a:r>
              <a:rPr lang="en" sz="1200" u="sng">
                <a:solidFill>
                  <a:srgbClr val="1155CC"/>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interview etiquette page in their science journals (p. 4-5).</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 their teams, have students go through the three excerpts and state why the situation demonstrates proper interview etiquette. </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are examples of effective vs ineffective interview etiquette?</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it is not effective, what can be improved?</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Once students are done, bring the class together to discuss and come up with a list of ideal mannerisms for their interviews.</a:t>
            </a:r>
            <a:endParaRPr>
              <a:solidFill>
                <a:schemeClr val="dk1"/>
              </a:solidFill>
            </a:endParaRPr>
          </a:p>
          <a:p>
            <a:pPr marL="457200" lvl="0" indent="-304800" algn="l" rtl="0">
              <a:lnSpc>
                <a:spcPct val="115000"/>
              </a:lnSpc>
              <a:spcBef>
                <a:spcPts val="0"/>
              </a:spcBef>
              <a:spcAft>
                <a:spcPts val="0"/>
              </a:spcAft>
              <a:buClr>
                <a:schemeClr val="dk1"/>
              </a:buClr>
              <a:buSzPts val="1200"/>
              <a:buFont typeface="Calibri"/>
              <a:buChar char="●"/>
            </a:pPr>
            <a:r>
              <a:rPr lang="en" sz="1200" b="1">
                <a:solidFill>
                  <a:schemeClr val="dk1"/>
                </a:solidFill>
                <a:latin typeface="Calibri"/>
                <a:ea typeface="Calibri"/>
                <a:cs typeface="Calibri"/>
                <a:sym typeface="Calibri"/>
              </a:rPr>
              <a:t>Activity Option 2:</a:t>
            </a:r>
            <a:r>
              <a:rPr lang="en" sz="1200">
                <a:solidFill>
                  <a:schemeClr val="dk1"/>
                </a:solidFill>
                <a:latin typeface="Calibri"/>
                <a:ea typeface="Calibri"/>
                <a:cs typeface="Calibri"/>
                <a:sym typeface="Calibri"/>
              </a:rPr>
              <a:t> Interview Videos </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11 </a:t>
            </a:r>
            <a:r>
              <a:rPr lang="en" sz="1200">
                <a:solidFill>
                  <a:schemeClr val="dk1"/>
                </a:solidFill>
                <a:latin typeface="Calibri"/>
                <a:ea typeface="Calibri"/>
                <a:cs typeface="Calibri"/>
                <a:sym typeface="Calibri"/>
              </a:rPr>
              <a:t>where there are two videos. One video portrays effective interview etiquette, the other videos portrays ineffective interview etiquette.</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 students watch the interviews, have them note down their observations.</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Once both videos have been watched, bring the class back together to discuss.</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are some similarities and differences between both videos?</a:t>
            </a:r>
            <a:endParaRPr sz="1200">
              <a:solidFill>
                <a:schemeClr val="dk1"/>
              </a:solidFill>
              <a:latin typeface="Calibri"/>
              <a:ea typeface="Calibri"/>
              <a:cs typeface="Calibri"/>
              <a:sym typeface="Calibri"/>
            </a:endParaRPr>
          </a:p>
          <a:p>
            <a:pPr marL="1371600" lvl="2"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are examples of effective vs ineffective interview etiquette?</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Bring the class together after the activity and share that they will create a list containing qualities of a good interview.</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4" name="Google Shape;154;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Bring the class together after the activity and share that they will create a list containing qualities of a good interview.</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12</a:t>
            </a:r>
            <a:r>
              <a:rPr lang="en" sz="1200">
                <a:solidFill>
                  <a:schemeClr val="dk1"/>
                </a:solidFill>
                <a:latin typeface="Calibri"/>
                <a:ea typeface="Calibri"/>
                <a:cs typeface="Calibri"/>
                <a:sym typeface="Calibri"/>
              </a:rPr>
              <a:t>, which asks the class to build a list containing the qualities of good interview etiquette. As students answer, fill in the list on the slideshow.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13</a:t>
            </a:r>
            <a:r>
              <a:rPr lang="en" sz="1200">
                <a:solidFill>
                  <a:schemeClr val="dk1"/>
                </a:solidFill>
                <a:latin typeface="Calibri"/>
                <a:ea typeface="Calibri"/>
                <a:cs typeface="Calibri"/>
                <a:sym typeface="Calibri"/>
              </a:rPr>
              <a:t>. If time allows, give students a couple of extra minutes to make further revision to their interview plan after learning more about interview etiquette. </a:t>
            </a:r>
            <a:endParaRPr sz="1200">
              <a:solidFill>
                <a:schemeClr val="dk1"/>
              </a:solidFill>
              <a:latin typeface="Calibri"/>
              <a:ea typeface="Calibri"/>
              <a:cs typeface="Calibri"/>
              <a:sym typeface="Calibri"/>
            </a:endParaRPr>
          </a:p>
          <a:p>
            <a:pPr marL="2286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0" algn="l" rtl="0">
              <a:lnSpc>
                <a:spcPct val="115000"/>
              </a:lnSpc>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Make sure to remind students to ask interviewees if it is ok to take notes and audio record the interview. Students may use </a:t>
            </a:r>
            <a:r>
              <a:rPr lang="en" sz="1200" b="1" u="sng">
                <a:solidFill>
                  <a:schemeClr val="hlink"/>
                </a:solidFill>
                <a:latin typeface="Calibri"/>
                <a:ea typeface="Calibri"/>
                <a:cs typeface="Calibri"/>
                <a:sym typeface="Calibri"/>
                <a:hlinkClick r:id="rId3"/>
              </a:rPr>
              <a:t>Module 1.2 Part 2: Conducting Community Interviews (Student Task: Optional Interview Notes) </a:t>
            </a:r>
            <a:r>
              <a:rPr lang="en" sz="1200" u="sng">
                <a:solidFill>
                  <a:schemeClr val="hlink"/>
                </a:solidFill>
                <a:latin typeface="Calibri"/>
                <a:ea typeface="Calibri"/>
                <a:cs typeface="Calibri"/>
                <a:sym typeface="Calibri"/>
                <a:hlinkClick r:id="rId3"/>
              </a:rPr>
              <a:t>in the Science Journal (p. 7)</a:t>
            </a:r>
            <a:r>
              <a:rPr lang="en" sz="1200">
                <a:solidFill>
                  <a:schemeClr val="dk1"/>
                </a:solidFill>
                <a:latin typeface="Calibri"/>
                <a:ea typeface="Calibri"/>
                <a:cs typeface="Calibri"/>
                <a:sym typeface="Calibri"/>
              </a:rPr>
              <a:t> as space to type their questions and responses from interviews (</a:t>
            </a:r>
            <a:r>
              <a:rPr lang="en" sz="1200" i="1">
                <a:solidFill>
                  <a:schemeClr val="dk1"/>
                </a:solidFill>
                <a:latin typeface="Calibri"/>
                <a:ea typeface="Calibri"/>
                <a:cs typeface="Calibri"/>
                <a:sym typeface="Calibri"/>
              </a:rPr>
              <a:t>Notes will be used for the next analysis in Lesson 1.3.</a:t>
            </a:r>
            <a:r>
              <a:rPr lang="en" sz="1200">
                <a:solidFill>
                  <a:schemeClr val="dk1"/>
                </a:solidFill>
                <a:latin typeface="Calibri"/>
                <a:ea typeface="Calibri"/>
                <a:cs typeface="Calibri"/>
                <a:sym typeface="Calibri"/>
              </a:rPr>
              <a:t>)</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14 </a:t>
            </a:r>
            <a:r>
              <a:rPr lang="en" sz="1200">
                <a:solidFill>
                  <a:schemeClr val="dk1"/>
                </a:solidFill>
                <a:latin typeface="Calibri"/>
                <a:ea typeface="Calibri"/>
                <a:cs typeface="Calibri"/>
                <a:sym typeface="Calibri"/>
              </a:rPr>
              <a:t>and as students wrap up, give them time to reflect back on their experiences during lesson 1.2 on </a:t>
            </a:r>
            <a:r>
              <a:rPr lang="en" sz="1200" b="1" u="sng">
                <a:solidFill>
                  <a:schemeClr val="hlink"/>
                </a:solidFill>
                <a:latin typeface="Calibri"/>
                <a:ea typeface="Calibri"/>
                <a:cs typeface="Calibri"/>
                <a:sym typeface="Calibri"/>
                <a:hlinkClick r:id="rId3"/>
              </a:rPr>
              <a:t>Module 1.2 Part 1: Planning your Community Interviews (Student Reflection) (p. 6)</a:t>
            </a:r>
            <a:r>
              <a:rPr lang="en" sz="1200" u="sng">
                <a:solidFill>
                  <a:schemeClr val="hlink"/>
                </a:solidFill>
                <a:latin typeface="Calibri"/>
                <a:ea typeface="Calibri"/>
                <a:cs typeface="Calibri"/>
                <a:sym typeface="Calibri"/>
                <a:hlinkClick r:id="rId3"/>
              </a:rPr>
              <a:t> of their </a:t>
            </a:r>
            <a:r>
              <a:rPr lang="en" sz="1200" b="1" u="sng">
                <a:solidFill>
                  <a:schemeClr val="hlink"/>
                </a:solidFill>
                <a:latin typeface="Calibri"/>
                <a:ea typeface="Calibri"/>
                <a:cs typeface="Calibri"/>
                <a:sym typeface="Calibri"/>
                <a:hlinkClick r:id="rId3"/>
              </a:rPr>
              <a:t>Science Journal.</a:t>
            </a:r>
            <a:br>
              <a:rPr lang="en" sz="1200" b="1" u="sng">
                <a:solidFill>
                  <a:schemeClr val="hlink"/>
                </a:solidFill>
                <a:latin typeface="Calibri"/>
                <a:ea typeface="Calibri"/>
                <a:cs typeface="Calibri"/>
                <a:sym typeface="Calibri"/>
                <a:hlinkClick r:id="rId3"/>
              </a:rPr>
            </a:br>
            <a:endParaRPr sz="1200">
              <a:solidFill>
                <a:schemeClr val="dk1"/>
              </a:solidFill>
              <a:latin typeface="Calibri"/>
              <a:ea typeface="Calibri"/>
              <a:cs typeface="Calibri"/>
              <a:sym typeface="Calibri"/>
            </a:endParaRPr>
          </a:p>
          <a:p>
            <a:pPr marL="4572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did you learn about planning and preparing for your community interview? How has your thinking about asking questions or gathering information changed?</a:t>
            </a:r>
            <a:endParaRPr sz="1200">
              <a:solidFill>
                <a:schemeClr val="dk1"/>
              </a:solidFill>
              <a:latin typeface="Calibri"/>
              <a:ea typeface="Calibri"/>
              <a:cs typeface="Calibri"/>
              <a:sym typeface="Calibri"/>
            </a:endParaRPr>
          </a:p>
          <a:p>
            <a:pPr marL="4572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do you hope to learn from your community interview?</a:t>
            </a:r>
            <a:endParaRPr sz="1200">
              <a:solidFill>
                <a:schemeClr val="dk1"/>
              </a:solidFill>
              <a:latin typeface="Calibri"/>
              <a:ea typeface="Calibri"/>
              <a:cs typeface="Calibri"/>
              <a:sym typeface="Calibri"/>
            </a:endParaRPr>
          </a:p>
          <a:p>
            <a:pPr marL="4572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questions do you still have before conducting your interview? How could you find answers or prepare?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2286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15</a:t>
            </a:r>
            <a:r>
              <a:rPr lang="en" sz="1200">
                <a:solidFill>
                  <a:schemeClr val="dk1"/>
                </a:solidFill>
                <a:latin typeface="Calibri"/>
                <a:ea typeface="Calibri"/>
                <a:cs typeface="Calibri"/>
                <a:sym typeface="Calibri"/>
              </a:rPr>
              <a:t> and thank the students for their time. Allow students to ask any questions they may have before they conduct their interviews. In the next lesson, students will analyze the results of their interview.</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17"/>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17"/>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
        <p:cNvGrpSpPr/>
        <p:nvPr/>
      </p:nvGrpSpPr>
      <p:grpSpPr>
        <a:xfrm>
          <a:off x="0" y="0"/>
          <a:ext cx="0" cy="0"/>
          <a:chOff x="0" y="0"/>
          <a:chExt cx="0" cy="0"/>
        </a:xfrm>
      </p:grpSpPr>
      <p:sp>
        <p:nvSpPr>
          <p:cNvPr id="14" name="Google Shape;14;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5" name="Google Shape;15;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6" name="Google Shape;16;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1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9" name="Google Shape;19;p1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0" name="Google Shape;20;p1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1" name="Google Shape;2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4" name="Google Shape;24;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2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22"/>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22"/>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23"/>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2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24"/>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24"/>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24"/>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25"/>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26"/>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26"/>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I0YjQwYTdhNV8wXzU5IiwiY29udGVudEluc3RhbmNlSWQiOiIxNEs4MnZsaXZnU3MxMUxFRjJlOXFCdzlobWdGdkNRR0NnRlp5VE1YQzRDMC81MmZmYTRhOC1hYzNjLTRhMzctYTg5NS1jNDhjNmQ5Mjk3M2YifQ==pearId=magic-pear-metadata-identifier"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I0YjQwYTdhNV8wXzExOCIsImNvbnRlbnRJbnN0YW5jZUlkIjoiMTRLODJ2bGl2Z1NzMTFMRUYyZTlxQnc5aG1nRnZDUUdDZ0ZaeVRNWEM0QzAvN2I2ODZkMWQtYzI3OC00ZjkxLTk1MzAtZDIzZjc2MjQwMzZmIn0=pearId=magic-pear-metadata-identifi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I0YjQwYTdhNV8wXzI0MCIsImNvbnRlbnRJbnN0YW5jZUlkIjoiMTRLODJ2bGl2Z1NzMTFMRUYyZTlxQnc5aG1nRnZDUUdDZ0ZaeVRNWEM0QzAvYTUwNTVkMTctODVmOC00ZWYzLTgzYjItYWE2NGMwYjkzMzI0In0=pearId=magic-pear-metadata-identifier"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UzNjM1ZTI4NV8wXzAiLCJjb250ZW50SW5zdGFuY2VJZCI6IjE0SzgydmxpdmdTczExTEVGMmU5cUJ3OWhtZ0Z2Q1FHQ2dGWnlUTVhDNEMwL2MxMDg4ZmYyLWQzMDgtNGVjZS1hNDhjLWI3ZTJiYTA3NWRjMiJ9pearId=magic-pear-metadata-identifier"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I0YjQwYTdhNV8wXzI5OCIsImNvbnRlbnRJbnN0YW5jZUlkIjoiMTRLODJ2bGl2Z1NzMTFMRUYyZTlxQnc5aG1nRnZDUUdDZ0ZaeVRNWEM0QzAvY2JmMDAwYzktOTU1ZC00ZmRjLWI1YTEtYzZiYTY0Y2Q2MTVlIn0=pearId=magic-pear-metadata-identifier"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I0YjQwYTdhNV8wXzM2MCIsImNvbnRlbnRJbnN0YW5jZUlkIjoiMTRLODJ2bGl2Z1NzMTFMRUYyZTlxQnc5aG1nRnZDUUdDZ0ZaeVRNWEM0QzAvNzU2N2YzZTMtMjhiMC00MTIwLWI3OWQtMGYyNWU1YmU3Y2Q1In0=pearId=magic-pear-metadata-identifier"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OVAMb6Kui6A&amp;ab_channel=KatherineJohnson"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hyperlink" Target="https://www.youtube.com/watch?v=UJJrBX8YpWA&amp;ab_channel=KatherineJohnson"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NiM2I5YTUxNF8wXzEiLCJjb250ZW50SW5zdGFuY2VJZCI6IjE0SzgydmxpdmdTczExTEVGMmU5cUJ3OWhtZ0Z2Q1FHQ2dGWnlUTVhDNEMwLzFlNmYyZjgyLTI4OTgtNDIxZC1hYzFiLTYxNGIxOWU5MjEzZSJ9pearId=magic-pear-metadata-identifier"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dontchangethislink.peardeckmagic.zone?eyJ0eXBlIjoiZ29vZ2xlLXNsaWRlcy1hZGRvbi1yZXNwb25zZS1mb290ZXIiLCJsYXN0RWRpdGVkQnkiOiIxMDI4ODIwNTk2OTkzMjk2Mjk0NTQiLCJwcmVzZW50YXRpb25JZCI6IjE0SzgydmxpdmdTczExTEVGMmU5cUJ3OWhtZ0Z2Q1FHQ2dGWnlUTVhDNEMwIiwiY29udGVudElkIjoiY3VzdG9tLXJlc3BvbnNlLWZyZWVSZXNwb25zZS10ZXh0Iiwic2xpZGVJZCI6ImczNGQzMGY2ZTQzMF8wXzY2IiwiY29udGVudEluc3RhbmNlSWQiOiIxNEs4MnZsaXZnU3MxMUxFRjJlOXFCdzlobWdGdkNRR0NnRlp5VE1YQzRDMC81Y2VhOTNkNS03YzNkLTRiNDYtYmE1Yi1lOGFlMGVkOGJkYjMifQ==pearId=magic-pear-metadata-identifier"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311700" y="1716150"/>
            <a:ext cx="4158000" cy="1041000"/>
          </a:xfrm>
          <a:prstGeom prst="rect">
            <a:avLst/>
          </a:prstGeom>
          <a:noFill/>
          <a:ln>
            <a:noFill/>
          </a:ln>
        </p:spPr>
        <p:txBody>
          <a:bodyPr spcFirstLastPara="1" wrap="square" lIns="91425" tIns="91425" rIns="91425" bIns="91425" anchor="b" anchorCtr="0">
            <a:noAutofit/>
          </a:bodyPr>
          <a:lstStyle/>
          <a:p>
            <a:pPr marL="0" lvl="0" indent="0" algn="r" rtl="0">
              <a:lnSpc>
                <a:spcPct val="100000"/>
              </a:lnSpc>
              <a:spcBef>
                <a:spcPts val="0"/>
              </a:spcBef>
              <a:spcAft>
                <a:spcPts val="0"/>
              </a:spcAft>
              <a:buSzPts val="5200"/>
              <a:buNone/>
            </a:pPr>
            <a:r>
              <a:rPr lang="en" sz="3100" b="1">
                <a:solidFill>
                  <a:srgbClr val="541900"/>
                </a:solidFill>
              </a:rPr>
              <a:t>Planning Community Interviews</a:t>
            </a:r>
            <a:endParaRPr sz="3100" b="1">
              <a:solidFill>
                <a:srgbClr val="541900"/>
              </a:solidFill>
            </a:endParaRPr>
          </a:p>
        </p:txBody>
      </p:sp>
      <p:sp>
        <p:nvSpPr>
          <p:cNvPr id="55" name="Google Shape;55;p1"/>
          <p:cNvSpPr txBox="1">
            <a:spLocks noGrp="1"/>
          </p:cNvSpPr>
          <p:nvPr>
            <p:ph type="body" idx="4294967295"/>
          </p:nvPr>
        </p:nvSpPr>
        <p:spPr>
          <a:xfrm>
            <a:off x="2580300" y="2757150"/>
            <a:ext cx="1889400" cy="670200"/>
          </a:xfrm>
          <a:prstGeom prst="rect">
            <a:avLst/>
          </a:prstGeom>
          <a:noFill/>
          <a:ln>
            <a:noFill/>
          </a:ln>
        </p:spPr>
        <p:txBody>
          <a:bodyPr spcFirstLastPara="1" wrap="square" lIns="91425" tIns="91425" rIns="91425" bIns="91425" anchor="t" anchorCtr="0">
            <a:normAutofit/>
          </a:bodyPr>
          <a:lstStyle/>
          <a:p>
            <a:pPr marL="0" lvl="0" indent="0" algn="r" rtl="0">
              <a:lnSpc>
                <a:spcPct val="115000"/>
              </a:lnSpc>
              <a:spcBef>
                <a:spcPts val="0"/>
              </a:spcBef>
              <a:spcAft>
                <a:spcPts val="1200"/>
              </a:spcAft>
              <a:buSzPts val="1800"/>
              <a:buNone/>
            </a:pPr>
            <a:r>
              <a:rPr lang="en" sz="1200">
                <a:solidFill>
                  <a:srgbClr val="355E3B"/>
                </a:solidFill>
                <a:latin typeface="Arial"/>
                <a:ea typeface="Arial"/>
                <a:cs typeface="Arial"/>
                <a:sym typeface="Arial"/>
              </a:rPr>
              <a:t>Module </a:t>
            </a:r>
            <a:r>
              <a:rPr lang="en" sz="1200">
                <a:solidFill>
                  <a:srgbClr val="355E3B"/>
                </a:solidFill>
              </a:rPr>
              <a:t>1.2</a:t>
            </a:r>
            <a:endParaRPr sz="1200">
              <a:solidFill>
                <a:srgbClr val="355E3B"/>
              </a:solidFill>
              <a:latin typeface="Arial"/>
              <a:ea typeface="Arial"/>
              <a:cs typeface="Arial"/>
              <a:sym typeface="Arial"/>
            </a:endParaRPr>
          </a:p>
        </p:txBody>
      </p:sp>
      <p:sp>
        <p:nvSpPr>
          <p:cNvPr id="56" name="Google Shape;56;p1"/>
          <p:cNvSpPr/>
          <p:nvPr/>
        </p:nvSpPr>
        <p:spPr>
          <a:xfrm>
            <a:off x="4919100" y="2400"/>
            <a:ext cx="4224900" cy="5143500"/>
          </a:xfrm>
          <a:prstGeom prst="rect">
            <a:avLst/>
          </a:prstGeom>
          <a:solidFill>
            <a:srgbClr val="9FA617"/>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
        <p:nvSpPr>
          <p:cNvPr id="57" name="Google Shape;57;p1"/>
          <p:cNvSpPr txBox="1">
            <a:spLocks noGrp="1"/>
          </p:cNvSpPr>
          <p:nvPr>
            <p:ph type="subTitle" id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 sz="1200">
                <a:solidFill>
                  <a:schemeClr val="dk1"/>
                </a:solidFill>
              </a:rPr>
              <a:t>AISciComm | </a:t>
            </a:r>
            <a:r>
              <a:rPr lang="en" sz="1200">
                <a:solidFill>
                  <a:schemeClr val="dk1"/>
                </a:solidFill>
                <a:latin typeface="Arial"/>
                <a:ea typeface="Arial"/>
                <a:cs typeface="Arial"/>
                <a:sym typeface="Arial"/>
              </a:rPr>
              <a:t>Module </a:t>
            </a:r>
            <a:r>
              <a:rPr lang="en" sz="1200">
                <a:solidFill>
                  <a:schemeClr val="dk1"/>
                </a:solidFill>
              </a:rPr>
              <a:t>1.2 Planning Community Interviews</a:t>
            </a:r>
            <a:endParaRPr sz="1200">
              <a:solidFill>
                <a:schemeClr val="dk1"/>
              </a:solidFill>
            </a:endParaRPr>
          </a:p>
          <a:p>
            <a:pPr marL="0" lvl="0" indent="0" algn="ctr" rtl="0">
              <a:lnSpc>
                <a:spcPct val="100000"/>
              </a:lnSpc>
              <a:spcBef>
                <a:spcPts val="0"/>
              </a:spcBef>
              <a:spcAft>
                <a:spcPts val="0"/>
              </a:spcAft>
              <a:buSzPts val="2800"/>
              <a:buNone/>
            </a:pPr>
            <a:endParaRPr sz="1200">
              <a:solidFill>
                <a:schemeClr val="dk1"/>
              </a:solidFill>
              <a:latin typeface="Arial"/>
              <a:ea typeface="Arial"/>
              <a:cs typeface="Arial"/>
              <a:sym typeface="Arial"/>
            </a:endParaRPr>
          </a:p>
        </p:txBody>
      </p:sp>
      <p:pic>
        <p:nvPicPr>
          <p:cNvPr id="58" name="Google Shape;58;p1"/>
          <p:cNvPicPr preferRelativeResize="0"/>
          <p:nvPr/>
        </p:nvPicPr>
        <p:blipFill rotWithShape="1">
          <a:blip r:embed="rId3">
            <a:alphaModFix/>
          </a:blip>
          <a:srcRect r="47641"/>
          <a:stretch/>
        </p:blipFill>
        <p:spPr>
          <a:xfrm>
            <a:off x="4919100" y="0"/>
            <a:ext cx="42249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62"/>
        <p:cNvGrpSpPr/>
        <p:nvPr/>
      </p:nvGrpSpPr>
      <p:grpSpPr>
        <a:xfrm>
          <a:off x="0" y="0"/>
          <a:ext cx="0" cy="0"/>
          <a:chOff x="0" y="0"/>
          <a:chExt cx="0" cy="0"/>
        </a:xfrm>
      </p:grpSpPr>
      <p:sp>
        <p:nvSpPr>
          <p:cNvPr id="63" name="Google Shape;63;p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4500" b="1">
                <a:solidFill>
                  <a:srgbClr val="541900"/>
                </a:solidFill>
              </a:rPr>
              <a:t>Module 1.1 Recap</a:t>
            </a:r>
            <a:endParaRPr sz="4500" b="1">
              <a:solidFill>
                <a:srgbClr val="541900"/>
              </a:solidFill>
            </a:endParaRPr>
          </a:p>
        </p:txBody>
      </p:sp>
      <p:sp>
        <p:nvSpPr>
          <p:cNvPr id="64" name="Google Shape;64;p2"/>
          <p:cNvSpPr txBox="1">
            <a:spLocks noGrp="1"/>
          </p:cNvSpPr>
          <p:nvPr>
            <p:ph type="body" idx="4294967295"/>
          </p:nvPr>
        </p:nvSpPr>
        <p:spPr>
          <a:xfrm>
            <a:off x="311700" y="1341300"/>
            <a:ext cx="8373300" cy="2906400"/>
          </a:xfrm>
          <a:prstGeom prst="rect">
            <a:avLst/>
          </a:prstGeom>
          <a:noFill/>
          <a:ln>
            <a:noFill/>
          </a:ln>
        </p:spPr>
        <p:txBody>
          <a:bodyPr spcFirstLastPara="1" wrap="square" lIns="91425" tIns="91425" rIns="91425" bIns="91425" anchor="t" anchorCtr="0">
            <a:normAutofit lnSpcReduction="20000"/>
          </a:bodyPr>
          <a:lstStyle/>
          <a:p>
            <a:pPr marL="0" lvl="0" indent="0" algn="l" rtl="0">
              <a:lnSpc>
                <a:spcPct val="115000"/>
              </a:lnSpc>
              <a:spcBef>
                <a:spcPts val="0"/>
              </a:spcBef>
              <a:spcAft>
                <a:spcPts val="0"/>
              </a:spcAft>
              <a:buSzPts val="1800"/>
              <a:buNone/>
            </a:pPr>
            <a:r>
              <a:rPr lang="en">
                <a:solidFill>
                  <a:srgbClr val="355E3B"/>
                </a:solidFill>
              </a:rPr>
              <a:t>During module 1.1 you took the time to investigate how climate change is impacting Southern California’s ocean. With your team discuss the following questions.</a:t>
            </a:r>
            <a:endParaRPr>
              <a:solidFill>
                <a:srgbClr val="355E3B"/>
              </a:solidFill>
            </a:endParaRPr>
          </a:p>
          <a:p>
            <a:pPr marL="457200" lvl="0" indent="-342900" algn="l" rtl="0">
              <a:lnSpc>
                <a:spcPct val="115000"/>
              </a:lnSpc>
              <a:spcBef>
                <a:spcPts val="1200"/>
              </a:spcBef>
              <a:spcAft>
                <a:spcPts val="0"/>
              </a:spcAft>
              <a:buClr>
                <a:schemeClr val="dk1"/>
              </a:buClr>
              <a:buSzPts val="1800"/>
              <a:buChar char="●"/>
            </a:pPr>
            <a:r>
              <a:rPr lang="en">
                <a:solidFill>
                  <a:schemeClr val="dk1"/>
                </a:solidFill>
              </a:rPr>
              <a:t>What did you learn about how climate change might be affecting Southern California’s ocean?</a:t>
            </a:r>
            <a:endParaRPr>
              <a:solidFill>
                <a:schemeClr val="dk1"/>
              </a:solidFill>
            </a:endParaRPr>
          </a:p>
          <a:p>
            <a:pPr marL="457200" lvl="0" indent="-342900" algn="l" rtl="0">
              <a:lnSpc>
                <a:spcPct val="115000"/>
              </a:lnSpc>
              <a:spcBef>
                <a:spcPts val="0"/>
              </a:spcBef>
              <a:spcAft>
                <a:spcPts val="0"/>
              </a:spcAft>
              <a:buClr>
                <a:schemeClr val="dk1"/>
              </a:buClr>
              <a:buSzPts val="1800"/>
              <a:buChar char="●"/>
            </a:pPr>
            <a:r>
              <a:rPr lang="en">
                <a:solidFill>
                  <a:schemeClr val="dk1"/>
                </a:solidFill>
              </a:rPr>
              <a:t>How does climate change affect your experiences at the ocean?</a:t>
            </a:r>
            <a:endParaRPr>
              <a:solidFill>
                <a:schemeClr val="dk1"/>
              </a:solidFill>
            </a:endParaRPr>
          </a:p>
          <a:p>
            <a:pPr marL="457200" lvl="0" indent="-342900" algn="l" rtl="0">
              <a:lnSpc>
                <a:spcPct val="115000"/>
              </a:lnSpc>
              <a:spcBef>
                <a:spcPts val="0"/>
              </a:spcBef>
              <a:spcAft>
                <a:spcPts val="0"/>
              </a:spcAft>
              <a:buClr>
                <a:schemeClr val="dk1"/>
              </a:buClr>
              <a:buSzPts val="1800"/>
              <a:buChar char="●"/>
            </a:pPr>
            <a:r>
              <a:rPr lang="en">
                <a:solidFill>
                  <a:schemeClr val="dk1"/>
                </a:solidFill>
              </a:rPr>
              <a:t>What differences did you notice between using a search engine and generative AI ? </a:t>
            </a:r>
            <a:endParaRPr>
              <a:solidFill>
                <a:schemeClr val="dk1"/>
              </a:solidFill>
            </a:endParaRPr>
          </a:p>
          <a:p>
            <a:pPr marL="457200" lvl="0" indent="-342900" algn="l" rtl="0">
              <a:lnSpc>
                <a:spcPct val="115000"/>
              </a:lnSpc>
              <a:spcBef>
                <a:spcPts val="0"/>
              </a:spcBef>
              <a:spcAft>
                <a:spcPts val="0"/>
              </a:spcAft>
              <a:buClr>
                <a:schemeClr val="dk1"/>
              </a:buClr>
              <a:buSzPts val="1800"/>
              <a:buChar char="●"/>
            </a:pPr>
            <a:r>
              <a:rPr lang="en">
                <a:solidFill>
                  <a:schemeClr val="dk1"/>
                </a:solidFill>
              </a:rPr>
              <a:t>What are the pros and cons of each method?</a:t>
            </a:r>
            <a:endParaRPr>
              <a:solidFill>
                <a:schemeClr val="dk1"/>
              </a:solidFill>
            </a:endParaRPr>
          </a:p>
        </p:txBody>
      </p:sp>
      <p:sp>
        <p:nvSpPr>
          <p:cNvPr id="65" name="Google Shape;65;p2"/>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120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2</a:t>
            </a:r>
            <a:endParaRPr sz="1200" b="0" i="0" u="none" strike="noStrike" cap="none">
              <a:solidFill>
                <a:srgbClr val="000000"/>
              </a:solidFill>
              <a:latin typeface="Arial"/>
              <a:ea typeface="Arial"/>
              <a:cs typeface="Arial"/>
              <a:sym typeface="Arial"/>
            </a:endParaRPr>
          </a:p>
        </p:txBody>
      </p:sp>
      <p:sp>
        <p:nvSpPr>
          <p:cNvPr id="66" name="Google Shape;66;p2">
            <a:hlinkClick r:id="rId3"/>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70"/>
        <p:cNvGrpSpPr/>
        <p:nvPr/>
      </p:nvGrpSpPr>
      <p:grpSpPr>
        <a:xfrm>
          <a:off x="0" y="0"/>
          <a:ext cx="0" cy="0"/>
          <a:chOff x="0" y="0"/>
          <a:chExt cx="0" cy="0"/>
        </a:xfrm>
      </p:grpSpPr>
      <p:sp>
        <p:nvSpPr>
          <p:cNvPr id="71" name="Google Shape;71;p3"/>
          <p:cNvSpPr txBox="1">
            <a:spLocks noGrp="1"/>
          </p:cNvSpPr>
          <p:nvPr>
            <p:ph type="body" idx="1"/>
          </p:nvPr>
        </p:nvSpPr>
        <p:spPr>
          <a:xfrm>
            <a:off x="311700" y="847675"/>
            <a:ext cx="4521900" cy="512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1800"/>
              <a:buNone/>
            </a:pPr>
            <a:r>
              <a:rPr lang="en" sz="2000">
                <a:solidFill>
                  <a:srgbClr val="355E3B"/>
                </a:solidFill>
              </a:rPr>
              <a:t>During module 1.2, you will:</a:t>
            </a:r>
            <a:endParaRPr sz="2000">
              <a:solidFill>
                <a:srgbClr val="355E3B"/>
              </a:solidFill>
            </a:endParaRPr>
          </a:p>
        </p:txBody>
      </p:sp>
      <p:sp>
        <p:nvSpPr>
          <p:cNvPr id="72" name="Google Shape;72;p3"/>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4100" b="1">
                <a:solidFill>
                  <a:srgbClr val="541900"/>
                </a:solidFill>
              </a:rPr>
              <a:t>Module Overview</a:t>
            </a:r>
            <a:endParaRPr sz="4100" b="1">
              <a:solidFill>
                <a:srgbClr val="541900"/>
              </a:solidFill>
            </a:endParaRPr>
          </a:p>
        </p:txBody>
      </p:sp>
      <p:sp>
        <p:nvSpPr>
          <p:cNvPr id="73" name="Google Shape;73;p3"/>
          <p:cNvSpPr txBox="1">
            <a:spLocks noGrp="1"/>
          </p:cNvSpPr>
          <p:nvPr>
            <p:ph type="body" idx="4294967295"/>
          </p:nvPr>
        </p:nvSpPr>
        <p:spPr>
          <a:xfrm>
            <a:off x="235500" y="1360075"/>
            <a:ext cx="4521900" cy="2906400"/>
          </a:xfrm>
          <a:prstGeom prst="rect">
            <a:avLst/>
          </a:prstGeom>
          <a:noFill/>
          <a:ln>
            <a:noFill/>
          </a:ln>
        </p:spPr>
        <p:txBody>
          <a:bodyPr spcFirstLastPara="1" wrap="square" lIns="91425" tIns="91425" rIns="91425" bIns="91425" anchor="t" anchorCtr="0">
            <a:normAutofit/>
          </a:bodyPr>
          <a:lstStyle/>
          <a:p>
            <a:pPr marL="457200" lvl="0" indent="-349250" algn="l" rtl="0">
              <a:lnSpc>
                <a:spcPct val="115000"/>
              </a:lnSpc>
              <a:spcBef>
                <a:spcPts val="0"/>
              </a:spcBef>
              <a:spcAft>
                <a:spcPts val="0"/>
              </a:spcAft>
              <a:buClr>
                <a:srgbClr val="541900"/>
              </a:buClr>
              <a:buSzPts val="1900"/>
              <a:buChar char="●"/>
            </a:pPr>
            <a:r>
              <a:rPr lang="en" sz="1900">
                <a:solidFill>
                  <a:schemeClr val="dk1"/>
                </a:solidFill>
              </a:rPr>
              <a:t>Explore community members’ ideas on how climate change is impacting Southern California’s ocean.</a:t>
            </a:r>
            <a:endParaRPr sz="1900">
              <a:solidFill>
                <a:schemeClr val="dk1"/>
              </a:solidFill>
            </a:endParaRPr>
          </a:p>
          <a:p>
            <a:pPr marL="457200" lvl="0" indent="-349250" algn="l" rtl="0">
              <a:lnSpc>
                <a:spcPct val="115000"/>
              </a:lnSpc>
              <a:spcBef>
                <a:spcPts val="0"/>
              </a:spcBef>
              <a:spcAft>
                <a:spcPts val="0"/>
              </a:spcAft>
              <a:buClr>
                <a:srgbClr val="541900"/>
              </a:buClr>
              <a:buSzPts val="1900"/>
              <a:buChar char="●"/>
            </a:pPr>
            <a:r>
              <a:rPr lang="en" sz="1900">
                <a:solidFill>
                  <a:schemeClr val="dk1"/>
                </a:solidFill>
              </a:rPr>
              <a:t>Prepare to conduct an interview with the community member</a:t>
            </a:r>
            <a:endParaRPr sz="1900">
              <a:solidFill>
                <a:schemeClr val="dk1"/>
              </a:solidFill>
            </a:endParaRPr>
          </a:p>
        </p:txBody>
      </p:sp>
      <p:pic>
        <p:nvPicPr>
          <p:cNvPr id="74" name="Google Shape;74;p3" title="PXL_20231208_203932984~2.jpg"/>
          <p:cNvPicPr preferRelativeResize="0"/>
          <p:nvPr/>
        </p:nvPicPr>
        <p:blipFill rotWithShape="1">
          <a:blip r:embed="rId3">
            <a:alphaModFix/>
          </a:blip>
          <a:srcRect l="36385" t="3025"/>
          <a:stretch/>
        </p:blipFill>
        <p:spPr>
          <a:xfrm>
            <a:off x="4978400" y="0"/>
            <a:ext cx="4054825" cy="4654026"/>
          </a:xfrm>
          <a:prstGeom prst="rect">
            <a:avLst/>
          </a:prstGeom>
          <a:noFill/>
          <a:ln>
            <a:noFill/>
          </a:ln>
        </p:spPr>
      </p:pic>
      <p:sp>
        <p:nvSpPr>
          <p:cNvPr id="75" name="Google Shape;75;p3"/>
          <p:cNvSpPr txBox="1"/>
          <p:nvPr/>
        </p:nvSpPr>
        <p:spPr>
          <a:xfrm>
            <a:off x="6269900" y="4654025"/>
            <a:ext cx="1490700" cy="604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1" i="0" u="none" strike="noStrike" cap="none">
                <a:solidFill>
                  <a:schemeClr val="dk2"/>
                </a:solidFill>
                <a:latin typeface="Arial"/>
                <a:ea typeface="Arial"/>
                <a:cs typeface="Arial"/>
                <a:sym typeface="Arial"/>
              </a:rPr>
              <a:t>Crystal Cove State Park</a:t>
            </a:r>
            <a:endParaRPr sz="800" b="1" i="0" u="none" strike="noStrike" cap="none">
              <a:solidFill>
                <a:schemeClr val="dk2"/>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800"/>
              <a:buFont typeface="Arial"/>
              <a:buNone/>
            </a:pPr>
            <a:r>
              <a:rPr lang="en" sz="800" b="1" i="0" u="none" strike="noStrike" cap="none">
                <a:solidFill>
                  <a:schemeClr val="dk2"/>
                </a:solidFill>
                <a:latin typeface="Arial"/>
                <a:ea typeface="Arial"/>
                <a:cs typeface="Arial"/>
                <a:sym typeface="Arial"/>
              </a:rPr>
              <a:t>Newport Beach, California</a:t>
            </a:r>
            <a:endParaRPr sz="800" b="1" i="0" u="none" strike="noStrike" cap="none">
              <a:solidFill>
                <a:schemeClr val="dk2"/>
              </a:solidFill>
              <a:latin typeface="Arial"/>
              <a:ea typeface="Arial"/>
              <a:cs typeface="Arial"/>
              <a:sym typeface="Arial"/>
            </a:endParaRPr>
          </a:p>
        </p:txBody>
      </p:sp>
      <p:sp>
        <p:nvSpPr>
          <p:cNvPr id="76" name="Google Shape;76;p3"/>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120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3</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80"/>
        <p:cNvGrpSpPr/>
        <p:nvPr/>
      </p:nvGrpSpPr>
      <p:grpSpPr>
        <a:xfrm>
          <a:off x="0" y="0"/>
          <a:ext cx="0" cy="0"/>
          <a:chOff x="0" y="0"/>
          <a:chExt cx="0" cy="0"/>
        </a:xfrm>
      </p:grpSpPr>
      <p:sp>
        <p:nvSpPr>
          <p:cNvPr id="81" name="Google Shape;81;p4"/>
          <p:cNvSpPr txBox="1">
            <a:spLocks noGrp="1"/>
          </p:cNvSpPr>
          <p:nvPr>
            <p:ph type="body" idx="1"/>
          </p:nvPr>
        </p:nvSpPr>
        <p:spPr>
          <a:xfrm>
            <a:off x="311700" y="1608275"/>
            <a:ext cx="45435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1400"/>
              <a:buNone/>
            </a:pPr>
            <a:r>
              <a:rPr lang="en" sz="1600">
                <a:solidFill>
                  <a:srgbClr val="355E3B"/>
                </a:solidFill>
              </a:rPr>
              <a:t>One way to collect information is through conducting interviews. Discuss in a team:</a:t>
            </a:r>
            <a:endParaRPr sz="1600">
              <a:solidFill>
                <a:srgbClr val="355E3B"/>
              </a:solidFill>
            </a:endParaRPr>
          </a:p>
        </p:txBody>
      </p:sp>
      <p:sp>
        <p:nvSpPr>
          <p:cNvPr id="82" name="Google Shape;82;p4"/>
          <p:cNvSpPr txBox="1">
            <a:spLocks noGrp="1"/>
          </p:cNvSpPr>
          <p:nvPr>
            <p:ph type="title"/>
          </p:nvPr>
        </p:nvSpPr>
        <p:spPr>
          <a:xfrm>
            <a:off x="311700" y="367325"/>
            <a:ext cx="4543500" cy="13575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3800" b="1">
                <a:solidFill>
                  <a:srgbClr val="541900"/>
                </a:solidFill>
              </a:rPr>
              <a:t>Conducting Interviews</a:t>
            </a:r>
            <a:endParaRPr sz="3800" b="1">
              <a:solidFill>
                <a:srgbClr val="541900"/>
              </a:solidFill>
            </a:endParaRPr>
          </a:p>
        </p:txBody>
      </p:sp>
      <p:sp>
        <p:nvSpPr>
          <p:cNvPr id="83" name="Google Shape;83;p4"/>
          <p:cNvSpPr txBox="1">
            <a:spLocks noGrp="1"/>
          </p:cNvSpPr>
          <p:nvPr>
            <p:ph type="body" idx="2"/>
          </p:nvPr>
        </p:nvSpPr>
        <p:spPr>
          <a:xfrm>
            <a:off x="311700" y="2344125"/>
            <a:ext cx="4543500" cy="19512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rgbClr val="541900"/>
              </a:buClr>
              <a:buSzPts val="1400"/>
              <a:buFont typeface="Arial"/>
              <a:buChar char="●"/>
            </a:pPr>
            <a:r>
              <a:rPr lang="en">
                <a:solidFill>
                  <a:schemeClr val="dk1"/>
                </a:solidFill>
              </a:rPr>
              <a:t>What is an interview? What experience do you have with them?</a:t>
            </a:r>
            <a:endParaRPr>
              <a:solidFill>
                <a:schemeClr val="dk1"/>
              </a:solidFill>
            </a:endParaRPr>
          </a:p>
          <a:p>
            <a:pPr marL="457200" lvl="0" indent="-317500" algn="l" rtl="0">
              <a:lnSpc>
                <a:spcPct val="115000"/>
              </a:lnSpc>
              <a:spcBef>
                <a:spcPts val="0"/>
              </a:spcBef>
              <a:spcAft>
                <a:spcPts val="0"/>
              </a:spcAft>
              <a:buClr>
                <a:srgbClr val="541900"/>
              </a:buClr>
              <a:buSzPts val="1400"/>
              <a:buFont typeface="Arial"/>
              <a:buChar char="●"/>
            </a:pPr>
            <a:r>
              <a:rPr lang="en">
                <a:solidFill>
                  <a:schemeClr val="dk1"/>
                </a:solidFill>
              </a:rPr>
              <a:t>Why do we use interviews? What can they help us learn?</a:t>
            </a:r>
            <a:endParaRPr>
              <a:solidFill>
                <a:schemeClr val="dk1"/>
              </a:solidFill>
            </a:endParaRPr>
          </a:p>
          <a:p>
            <a:pPr marL="457200" lvl="0" indent="-317500" algn="l" rtl="0">
              <a:lnSpc>
                <a:spcPct val="115000"/>
              </a:lnSpc>
              <a:spcBef>
                <a:spcPts val="0"/>
              </a:spcBef>
              <a:spcAft>
                <a:spcPts val="0"/>
              </a:spcAft>
              <a:buClr>
                <a:srgbClr val="541900"/>
              </a:buClr>
              <a:buSzPts val="1400"/>
              <a:buFont typeface="Arial"/>
              <a:buChar char="●"/>
            </a:pPr>
            <a:r>
              <a:rPr lang="en">
                <a:solidFill>
                  <a:schemeClr val="dk1"/>
                </a:solidFill>
              </a:rPr>
              <a:t>Who might interview someone as part of their job?</a:t>
            </a:r>
            <a:endParaRPr>
              <a:solidFill>
                <a:schemeClr val="dk1"/>
              </a:solidFill>
            </a:endParaRPr>
          </a:p>
          <a:p>
            <a:pPr marL="457200" lvl="0" indent="-317500" algn="l" rtl="0">
              <a:lnSpc>
                <a:spcPct val="115000"/>
              </a:lnSpc>
              <a:spcBef>
                <a:spcPts val="0"/>
              </a:spcBef>
              <a:spcAft>
                <a:spcPts val="0"/>
              </a:spcAft>
              <a:buClr>
                <a:srgbClr val="541900"/>
              </a:buClr>
              <a:buSzPts val="1400"/>
              <a:buFont typeface="Arial"/>
              <a:buChar char="●"/>
            </a:pPr>
            <a:r>
              <a:rPr lang="en">
                <a:solidFill>
                  <a:schemeClr val="dk1"/>
                </a:solidFill>
              </a:rPr>
              <a:t>When and where do interviews take place?</a:t>
            </a:r>
            <a:endParaRPr>
              <a:solidFill>
                <a:schemeClr val="dk1"/>
              </a:solidFill>
            </a:endParaRPr>
          </a:p>
        </p:txBody>
      </p:sp>
      <p:pic>
        <p:nvPicPr>
          <p:cNvPr id="84" name="Google Shape;84;p4"/>
          <p:cNvPicPr preferRelativeResize="0"/>
          <p:nvPr/>
        </p:nvPicPr>
        <p:blipFill rotWithShape="1">
          <a:blip r:embed="rId3">
            <a:alphaModFix/>
          </a:blip>
          <a:srcRect/>
          <a:stretch/>
        </p:blipFill>
        <p:spPr>
          <a:xfrm>
            <a:off x="5069750" y="1146963"/>
            <a:ext cx="3983997" cy="2525271"/>
          </a:xfrm>
          <a:prstGeom prst="rect">
            <a:avLst/>
          </a:prstGeom>
          <a:noFill/>
          <a:ln>
            <a:noFill/>
          </a:ln>
        </p:spPr>
      </p:pic>
      <p:sp>
        <p:nvSpPr>
          <p:cNvPr id="85" name="Google Shape;85;p4"/>
          <p:cNvSpPr txBox="1"/>
          <p:nvPr/>
        </p:nvSpPr>
        <p:spPr>
          <a:xfrm>
            <a:off x="5069750" y="3672238"/>
            <a:ext cx="39840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1200"/>
              </a:spcAft>
              <a:buClr>
                <a:srgbClr val="000000"/>
              </a:buClr>
              <a:buSzPts val="1100"/>
              <a:buFont typeface="Arial"/>
              <a:buNone/>
            </a:pPr>
            <a:r>
              <a:rPr lang="en" sz="1100" b="0" i="0" u="none" strike="noStrike" cap="none">
                <a:solidFill>
                  <a:srgbClr val="000000"/>
                </a:solidFill>
                <a:latin typeface="Arial"/>
                <a:ea typeface="Arial"/>
                <a:cs typeface="Arial"/>
                <a:sym typeface="Arial"/>
              </a:rPr>
              <a:t>Community garden in Lynwood. </a:t>
            </a:r>
            <a:br>
              <a:rPr lang="en" sz="1100" b="0" i="0" u="none" strike="noStrike" cap="none">
                <a:solidFill>
                  <a:srgbClr val="000000"/>
                </a:solidFill>
                <a:latin typeface="Arial"/>
                <a:ea typeface="Arial"/>
                <a:cs typeface="Arial"/>
                <a:sym typeface="Arial"/>
              </a:rPr>
            </a:br>
            <a:r>
              <a:rPr lang="en" sz="900" b="0" i="0" u="none" strike="noStrike" cap="none">
                <a:solidFill>
                  <a:srgbClr val="000000"/>
                </a:solidFill>
                <a:latin typeface="Arial"/>
                <a:ea typeface="Arial"/>
                <a:cs typeface="Arial"/>
                <a:sym typeface="Arial"/>
              </a:rPr>
              <a:t>Source: https://www.lynwoodca.gov/CivicAlerts.aspx?AID=78&amp;ARC=113</a:t>
            </a:r>
            <a:endParaRPr sz="900" b="0" i="0" u="none" strike="noStrike" cap="none">
              <a:solidFill>
                <a:srgbClr val="000000"/>
              </a:solidFill>
              <a:latin typeface="Arial"/>
              <a:ea typeface="Arial"/>
              <a:cs typeface="Arial"/>
              <a:sym typeface="Arial"/>
            </a:endParaRPr>
          </a:p>
        </p:txBody>
      </p:sp>
      <p:sp>
        <p:nvSpPr>
          <p:cNvPr id="86" name="Google Shape;86;p4"/>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120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4</a:t>
            </a:r>
            <a:endParaRPr sz="1200" b="0" i="0" u="none" strike="noStrike" cap="none">
              <a:solidFill>
                <a:srgbClr val="000000"/>
              </a:solidFill>
              <a:latin typeface="Arial"/>
              <a:ea typeface="Arial"/>
              <a:cs typeface="Arial"/>
              <a:sym typeface="Arial"/>
            </a:endParaRPr>
          </a:p>
        </p:txBody>
      </p:sp>
      <p:sp>
        <p:nvSpPr>
          <p:cNvPr id="87" name="Google Shape;87;p4">
            <a:hlinkClick r:id="rId4"/>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91"/>
        <p:cNvGrpSpPr/>
        <p:nvPr/>
      </p:nvGrpSpPr>
      <p:grpSpPr>
        <a:xfrm>
          <a:off x="0" y="0"/>
          <a:ext cx="0" cy="0"/>
          <a:chOff x="0" y="0"/>
          <a:chExt cx="0" cy="0"/>
        </a:xfrm>
      </p:grpSpPr>
      <p:sp>
        <p:nvSpPr>
          <p:cNvPr id="92" name="Google Shape;92;p5"/>
          <p:cNvSpPr txBox="1">
            <a:spLocks noGrp="1"/>
          </p:cNvSpPr>
          <p:nvPr>
            <p:ph type="title"/>
          </p:nvPr>
        </p:nvSpPr>
        <p:spPr>
          <a:xfrm>
            <a:off x="311700" y="864300"/>
            <a:ext cx="8520600" cy="34149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 sz="3600" b="1">
                <a:solidFill>
                  <a:srgbClr val="541900"/>
                </a:solidFill>
              </a:rPr>
              <a:t>How can interviews help us understand our </a:t>
            </a:r>
            <a:r>
              <a:rPr lang="en" sz="3600" b="1">
                <a:solidFill>
                  <a:srgbClr val="9FA617"/>
                </a:solidFill>
              </a:rPr>
              <a:t>community’s perspectives</a:t>
            </a:r>
            <a:r>
              <a:rPr lang="en" sz="3600" b="1">
                <a:solidFill>
                  <a:srgbClr val="541900"/>
                </a:solidFill>
              </a:rPr>
              <a:t> around how Southern California's ocean is changing?</a:t>
            </a:r>
            <a:endParaRPr sz="3600" b="1">
              <a:solidFill>
                <a:srgbClr val="541900"/>
              </a:solidFill>
            </a:endParaRPr>
          </a:p>
          <a:p>
            <a:pPr marL="0" lvl="0" indent="0" algn="ctr" rtl="0">
              <a:lnSpc>
                <a:spcPct val="100000"/>
              </a:lnSpc>
              <a:spcBef>
                <a:spcPts val="0"/>
              </a:spcBef>
              <a:spcAft>
                <a:spcPts val="0"/>
              </a:spcAft>
              <a:buSzPts val="2800"/>
              <a:buNone/>
            </a:pPr>
            <a:endParaRPr sz="4500" b="1">
              <a:solidFill>
                <a:srgbClr val="541900"/>
              </a:solidFill>
            </a:endParaRPr>
          </a:p>
        </p:txBody>
      </p:sp>
      <p:sp>
        <p:nvSpPr>
          <p:cNvPr id="93" name="Google Shape;93;p5"/>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5</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97"/>
        <p:cNvGrpSpPr/>
        <p:nvPr/>
      </p:nvGrpSpPr>
      <p:grpSpPr>
        <a:xfrm>
          <a:off x="0" y="0"/>
          <a:ext cx="0" cy="0"/>
          <a:chOff x="0" y="0"/>
          <a:chExt cx="0" cy="0"/>
        </a:xfrm>
      </p:grpSpPr>
      <p:sp>
        <p:nvSpPr>
          <p:cNvPr id="98" name="Google Shape;98;p6"/>
          <p:cNvSpPr txBox="1">
            <a:spLocks noGrp="1"/>
          </p:cNvSpPr>
          <p:nvPr>
            <p:ph type="title"/>
          </p:nvPr>
        </p:nvSpPr>
        <p:spPr>
          <a:xfrm>
            <a:off x="311700" y="432000"/>
            <a:ext cx="8379000" cy="8982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4500" b="1">
                <a:solidFill>
                  <a:srgbClr val="541900"/>
                </a:solidFill>
              </a:rPr>
              <a:t>Planning your Interview</a:t>
            </a:r>
            <a:endParaRPr sz="4500" b="1">
              <a:solidFill>
                <a:srgbClr val="541900"/>
              </a:solidFill>
            </a:endParaRPr>
          </a:p>
        </p:txBody>
      </p:sp>
      <p:sp>
        <p:nvSpPr>
          <p:cNvPr id="99" name="Google Shape;99;p6"/>
          <p:cNvSpPr txBox="1">
            <a:spLocks noGrp="1"/>
          </p:cNvSpPr>
          <p:nvPr>
            <p:ph type="subTitle" idx="4294967295"/>
          </p:nvPr>
        </p:nvSpPr>
        <p:spPr>
          <a:xfrm>
            <a:off x="311700" y="1330200"/>
            <a:ext cx="8379000" cy="3241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800"/>
              <a:buFont typeface="Arial"/>
              <a:buNone/>
            </a:pPr>
            <a:r>
              <a:rPr lang="en" sz="1600" b="0" i="0" u="none" strike="noStrike" cap="none">
                <a:solidFill>
                  <a:srgbClr val="355E3B"/>
                </a:solidFill>
                <a:latin typeface="Arial"/>
                <a:ea typeface="Arial"/>
                <a:cs typeface="Arial"/>
                <a:sym typeface="Arial"/>
              </a:rPr>
              <a:t>With your team, identify who may be someone you want to interview:</a:t>
            </a:r>
            <a:endParaRPr sz="1600" b="0" i="0" u="none" strike="noStrike" cap="none">
              <a:solidFill>
                <a:srgbClr val="355E3B"/>
              </a:solidFill>
              <a:latin typeface="Arial"/>
              <a:ea typeface="Arial"/>
              <a:cs typeface="Arial"/>
              <a:sym typeface="Arial"/>
            </a:endParaRPr>
          </a:p>
          <a:p>
            <a:pPr marL="0" marR="0" lvl="0" indent="0" algn="l" rtl="0">
              <a:lnSpc>
                <a:spcPct val="115000"/>
              </a:lnSpc>
              <a:spcBef>
                <a:spcPts val="1200"/>
              </a:spcBef>
              <a:spcAft>
                <a:spcPts val="0"/>
              </a:spcAft>
              <a:buClr>
                <a:schemeClr val="dk2"/>
              </a:buClr>
              <a:buSzPts val="1800"/>
              <a:buFont typeface="Arial"/>
              <a:buNone/>
            </a:pPr>
            <a:r>
              <a:rPr lang="en" sz="1600" b="0" i="0" u="none" strike="noStrike" cap="none">
                <a:solidFill>
                  <a:schemeClr val="dk1"/>
                </a:solidFill>
                <a:latin typeface="Arial"/>
                <a:ea typeface="Arial"/>
                <a:cs typeface="Arial"/>
                <a:sym typeface="Arial"/>
              </a:rPr>
              <a:t>Examples of individuals you may interview may include:</a:t>
            </a:r>
            <a:endParaRPr sz="1600" b="0" i="0" u="none" strike="noStrike" cap="none">
              <a:solidFill>
                <a:schemeClr val="dk1"/>
              </a:solidFill>
              <a:latin typeface="Arial"/>
              <a:ea typeface="Arial"/>
              <a:cs typeface="Arial"/>
              <a:sym typeface="Arial"/>
            </a:endParaRPr>
          </a:p>
          <a:p>
            <a:pPr marL="457200" marR="0" lvl="0" indent="-330200" algn="l" rtl="0">
              <a:lnSpc>
                <a:spcPct val="115000"/>
              </a:lnSpc>
              <a:spcBef>
                <a:spcPts val="1200"/>
              </a:spcBef>
              <a:spcAft>
                <a:spcPts val="0"/>
              </a:spcAft>
              <a:buClr>
                <a:srgbClr val="541900"/>
              </a:buClr>
              <a:buSzPts val="1600"/>
              <a:buFont typeface="Arial"/>
              <a:buChar char="●"/>
            </a:pPr>
            <a:r>
              <a:rPr lang="en" sz="1600" b="0" i="0" u="none" strike="noStrike" cap="none">
                <a:solidFill>
                  <a:schemeClr val="dk1"/>
                </a:solidFill>
                <a:latin typeface="Arial"/>
                <a:ea typeface="Arial"/>
                <a:cs typeface="Arial"/>
                <a:sym typeface="Arial"/>
              </a:rPr>
              <a:t>A family member who fishes on the weekend</a:t>
            </a:r>
            <a:endParaRPr sz="1600" b="0" i="0" u="none" strike="noStrike" cap="none">
              <a:solidFill>
                <a:schemeClr val="dk1"/>
              </a:solidFill>
              <a:latin typeface="Arial"/>
              <a:ea typeface="Arial"/>
              <a:cs typeface="Arial"/>
              <a:sym typeface="Arial"/>
            </a:endParaRPr>
          </a:p>
          <a:p>
            <a:pPr marL="457200" marR="0" lvl="0" indent="-330200" algn="l" rtl="0">
              <a:lnSpc>
                <a:spcPct val="115000"/>
              </a:lnSpc>
              <a:spcBef>
                <a:spcPts val="0"/>
              </a:spcBef>
              <a:spcAft>
                <a:spcPts val="0"/>
              </a:spcAft>
              <a:buClr>
                <a:srgbClr val="541900"/>
              </a:buClr>
              <a:buSzPts val="1600"/>
              <a:buFont typeface="Arial"/>
              <a:buChar char="●"/>
            </a:pPr>
            <a:r>
              <a:rPr lang="en" sz="1600" b="0" i="0" u="none" strike="noStrike" cap="none">
                <a:solidFill>
                  <a:schemeClr val="dk1"/>
                </a:solidFill>
                <a:latin typeface="Arial"/>
                <a:ea typeface="Arial"/>
                <a:cs typeface="Arial"/>
                <a:sym typeface="Arial"/>
              </a:rPr>
              <a:t>A person who enjoys eating seafood</a:t>
            </a:r>
            <a:endParaRPr sz="1600" b="0" i="0" u="none" strike="noStrike" cap="none">
              <a:solidFill>
                <a:schemeClr val="dk1"/>
              </a:solidFill>
              <a:latin typeface="Arial"/>
              <a:ea typeface="Arial"/>
              <a:cs typeface="Arial"/>
              <a:sym typeface="Arial"/>
            </a:endParaRPr>
          </a:p>
          <a:p>
            <a:pPr marL="457200" marR="0" lvl="0" indent="-330200" algn="l" rtl="0">
              <a:lnSpc>
                <a:spcPct val="115000"/>
              </a:lnSpc>
              <a:spcBef>
                <a:spcPts val="0"/>
              </a:spcBef>
              <a:spcAft>
                <a:spcPts val="0"/>
              </a:spcAft>
              <a:buClr>
                <a:srgbClr val="541900"/>
              </a:buClr>
              <a:buSzPts val="1600"/>
              <a:buFont typeface="Arial"/>
              <a:buChar char="●"/>
            </a:pPr>
            <a:r>
              <a:rPr lang="en" sz="1600" b="0" i="0" u="none" strike="noStrike" cap="none">
                <a:solidFill>
                  <a:schemeClr val="dk1"/>
                </a:solidFill>
                <a:latin typeface="Arial"/>
                <a:ea typeface="Arial"/>
                <a:cs typeface="Arial"/>
                <a:sym typeface="Arial"/>
              </a:rPr>
              <a:t>A teacher who teaches marine biology</a:t>
            </a:r>
            <a:endParaRPr sz="1600" b="0" i="0" u="none" strike="noStrike" cap="none">
              <a:solidFill>
                <a:schemeClr val="dk1"/>
              </a:solidFill>
              <a:latin typeface="Arial"/>
              <a:ea typeface="Arial"/>
              <a:cs typeface="Arial"/>
              <a:sym typeface="Arial"/>
            </a:endParaRPr>
          </a:p>
          <a:p>
            <a:pPr marL="457200" marR="0" lvl="0" indent="-330200" algn="l" rtl="0">
              <a:lnSpc>
                <a:spcPct val="115000"/>
              </a:lnSpc>
              <a:spcBef>
                <a:spcPts val="0"/>
              </a:spcBef>
              <a:spcAft>
                <a:spcPts val="0"/>
              </a:spcAft>
              <a:buClr>
                <a:srgbClr val="541900"/>
              </a:buClr>
              <a:buSzPts val="1600"/>
              <a:buFont typeface="Arial"/>
              <a:buChar char="●"/>
            </a:pPr>
            <a:r>
              <a:rPr lang="en" sz="1600" b="0" i="0" u="none" strike="noStrike" cap="none">
                <a:solidFill>
                  <a:schemeClr val="dk1"/>
                </a:solidFill>
                <a:latin typeface="Arial"/>
                <a:ea typeface="Arial"/>
                <a:cs typeface="Arial"/>
                <a:sym typeface="Arial"/>
              </a:rPr>
              <a:t>A lifeguard</a:t>
            </a:r>
            <a:endParaRPr sz="1600" b="0" i="0" u="none" strike="noStrike" cap="none">
              <a:solidFill>
                <a:schemeClr val="dk1"/>
              </a:solidFill>
              <a:latin typeface="Arial"/>
              <a:ea typeface="Arial"/>
              <a:cs typeface="Arial"/>
              <a:sym typeface="Arial"/>
            </a:endParaRPr>
          </a:p>
          <a:p>
            <a:pPr marL="457200" marR="0" lvl="0" indent="-330200" algn="l" rtl="0">
              <a:lnSpc>
                <a:spcPct val="115000"/>
              </a:lnSpc>
              <a:spcBef>
                <a:spcPts val="0"/>
              </a:spcBef>
              <a:spcAft>
                <a:spcPts val="0"/>
              </a:spcAft>
              <a:buClr>
                <a:srgbClr val="541900"/>
              </a:buClr>
              <a:buSzPts val="1600"/>
              <a:buFont typeface="Arial"/>
              <a:buChar char="●"/>
            </a:pPr>
            <a:r>
              <a:rPr lang="en" sz="1600" b="0" i="0" u="none" strike="noStrike" cap="none">
                <a:solidFill>
                  <a:schemeClr val="dk1"/>
                </a:solidFill>
                <a:latin typeface="Arial"/>
                <a:ea typeface="Arial"/>
                <a:cs typeface="Arial"/>
                <a:sym typeface="Arial"/>
              </a:rPr>
              <a:t>A local artist that paints the ocean</a:t>
            </a:r>
            <a:endParaRPr sz="1600" b="0" i="0" u="none" strike="noStrike" cap="none">
              <a:solidFill>
                <a:schemeClr val="dk1"/>
              </a:solidFill>
              <a:latin typeface="Arial"/>
              <a:ea typeface="Arial"/>
              <a:cs typeface="Arial"/>
              <a:sym typeface="Arial"/>
            </a:endParaRPr>
          </a:p>
          <a:p>
            <a:pPr marL="457200" marR="0" lvl="0" indent="-330200" algn="l" rtl="0">
              <a:lnSpc>
                <a:spcPct val="115000"/>
              </a:lnSpc>
              <a:spcBef>
                <a:spcPts val="0"/>
              </a:spcBef>
              <a:spcAft>
                <a:spcPts val="0"/>
              </a:spcAft>
              <a:buClr>
                <a:srgbClr val="541900"/>
              </a:buClr>
              <a:buSzPts val="1600"/>
              <a:buFont typeface="Arial"/>
              <a:buChar char="●"/>
            </a:pPr>
            <a:r>
              <a:rPr lang="en" sz="1600" b="0" i="0" u="none" strike="noStrike" cap="none">
                <a:solidFill>
                  <a:schemeClr val="dk1"/>
                </a:solidFill>
                <a:latin typeface="Arial"/>
                <a:ea typeface="Arial"/>
                <a:cs typeface="Arial"/>
                <a:sym typeface="Arial"/>
              </a:rPr>
              <a:t>A person who runs on the beach</a:t>
            </a:r>
            <a:endParaRPr sz="1600" b="0" i="0" u="none" strike="noStrike" cap="none">
              <a:solidFill>
                <a:schemeClr val="dk1"/>
              </a:solidFill>
              <a:latin typeface="Arial"/>
              <a:ea typeface="Arial"/>
              <a:cs typeface="Arial"/>
              <a:sym typeface="Arial"/>
            </a:endParaRPr>
          </a:p>
          <a:p>
            <a:pPr marL="457200" marR="0" lvl="0" indent="-330200" algn="l" rtl="0">
              <a:lnSpc>
                <a:spcPct val="115000"/>
              </a:lnSpc>
              <a:spcBef>
                <a:spcPts val="0"/>
              </a:spcBef>
              <a:spcAft>
                <a:spcPts val="0"/>
              </a:spcAft>
              <a:buClr>
                <a:srgbClr val="541900"/>
              </a:buClr>
              <a:buSzPts val="1600"/>
              <a:buFont typeface="Arial"/>
              <a:buChar char="●"/>
            </a:pPr>
            <a:r>
              <a:rPr lang="en" sz="1600" b="0" i="0" u="none" strike="noStrike" cap="none">
                <a:solidFill>
                  <a:schemeClr val="dk1"/>
                </a:solidFill>
                <a:latin typeface="Arial"/>
                <a:ea typeface="Arial"/>
                <a:cs typeface="Arial"/>
                <a:sym typeface="Arial"/>
              </a:rPr>
              <a:t>Someone who lives on or near the coast</a:t>
            </a:r>
            <a:endParaRPr sz="1600" b="0" i="0" u="none" strike="noStrike" cap="none">
              <a:solidFill>
                <a:schemeClr val="dk1"/>
              </a:solidFill>
              <a:latin typeface="Arial"/>
              <a:ea typeface="Arial"/>
              <a:cs typeface="Arial"/>
              <a:sym typeface="Arial"/>
            </a:endParaRPr>
          </a:p>
        </p:txBody>
      </p:sp>
      <p:sp>
        <p:nvSpPr>
          <p:cNvPr id="100" name="Google Shape;100;p6"/>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6</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
        <p:nvSpPr>
          <p:cNvPr id="101" name="Google Shape;101;p6">
            <a:hlinkClick r:id="rId3"/>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05"/>
        <p:cNvGrpSpPr/>
        <p:nvPr/>
      </p:nvGrpSpPr>
      <p:grpSpPr>
        <a:xfrm>
          <a:off x="0" y="0"/>
          <a:ext cx="0" cy="0"/>
          <a:chOff x="0" y="0"/>
          <a:chExt cx="0" cy="0"/>
        </a:xfrm>
      </p:grpSpPr>
      <p:sp>
        <p:nvSpPr>
          <p:cNvPr id="106" name="Google Shape;106;p7"/>
          <p:cNvSpPr txBox="1">
            <a:spLocks noGrp="1"/>
          </p:cNvSpPr>
          <p:nvPr>
            <p:ph type="title"/>
          </p:nvPr>
        </p:nvSpPr>
        <p:spPr>
          <a:xfrm>
            <a:off x="311700" y="432000"/>
            <a:ext cx="4260300" cy="14871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4500" b="1">
                <a:solidFill>
                  <a:srgbClr val="541900"/>
                </a:solidFill>
              </a:rPr>
              <a:t>Planning your Interview</a:t>
            </a:r>
            <a:endParaRPr sz="4500" b="1">
              <a:solidFill>
                <a:srgbClr val="541900"/>
              </a:solidFill>
            </a:endParaRPr>
          </a:p>
        </p:txBody>
      </p:sp>
      <p:sp>
        <p:nvSpPr>
          <p:cNvPr id="107" name="Google Shape;107;p7"/>
          <p:cNvSpPr txBox="1">
            <a:spLocks noGrp="1"/>
          </p:cNvSpPr>
          <p:nvPr>
            <p:ph type="subTitle" idx="4294967295"/>
          </p:nvPr>
        </p:nvSpPr>
        <p:spPr>
          <a:xfrm>
            <a:off x="311700" y="1919100"/>
            <a:ext cx="4343400" cy="2652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chemeClr val="dk2"/>
              </a:buClr>
              <a:buSzPts val="1800"/>
              <a:buFont typeface="Arial"/>
              <a:buNone/>
            </a:pPr>
            <a:r>
              <a:rPr lang="en" sz="1700" b="0" i="0" u="none" strike="noStrike" cap="none">
                <a:solidFill>
                  <a:srgbClr val="355E3B"/>
                </a:solidFill>
                <a:latin typeface="Arial"/>
                <a:ea typeface="Arial"/>
                <a:cs typeface="Arial"/>
                <a:sym typeface="Arial"/>
              </a:rPr>
              <a:t>With your team, you will create an interview protocol. The protocol will answer the following:</a:t>
            </a:r>
            <a:endParaRPr sz="1700" b="0" i="0" u="none" strike="noStrike" cap="none">
              <a:solidFill>
                <a:srgbClr val="355E3B"/>
              </a:solidFill>
              <a:latin typeface="Arial"/>
              <a:ea typeface="Arial"/>
              <a:cs typeface="Arial"/>
              <a:sym typeface="Arial"/>
            </a:endParaRPr>
          </a:p>
          <a:p>
            <a:pPr marL="457200" marR="0" lvl="0" indent="-336550" algn="l" rtl="0">
              <a:lnSpc>
                <a:spcPct val="115000"/>
              </a:lnSpc>
              <a:spcBef>
                <a:spcPts val="1200"/>
              </a:spcBef>
              <a:spcAft>
                <a:spcPts val="0"/>
              </a:spcAft>
              <a:buClr>
                <a:srgbClr val="541900"/>
              </a:buClr>
              <a:buSzPts val="1700"/>
              <a:buFont typeface="Arial"/>
              <a:buChar char="●"/>
            </a:pPr>
            <a:r>
              <a:rPr lang="en" sz="1700" b="0" i="0" u="none" strike="noStrike" cap="none">
                <a:solidFill>
                  <a:schemeClr val="dk1"/>
                </a:solidFill>
                <a:latin typeface="Arial"/>
                <a:ea typeface="Arial"/>
                <a:cs typeface="Arial"/>
                <a:sym typeface="Arial"/>
              </a:rPr>
              <a:t>Who you are interviewing?</a:t>
            </a:r>
            <a:endParaRPr sz="1700" b="0" i="0" u="none" strike="noStrike" cap="none">
              <a:solidFill>
                <a:schemeClr val="dk1"/>
              </a:solidFill>
              <a:latin typeface="Arial"/>
              <a:ea typeface="Arial"/>
              <a:cs typeface="Arial"/>
              <a:sym typeface="Arial"/>
            </a:endParaRPr>
          </a:p>
          <a:p>
            <a:pPr marL="457200" marR="0" lvl="0" indent="-336550" algn="l" rtl="0">
              <a:lnSpc>
                <a:spcPct val="115000"/>
              </a:lnSpc>
              <a:spcBef>
                <a:spcPts val="0"/>
              </a:spcBef>
              <a:spcAft>
                <a:spcPts val="0"/>
              </a:spcAft>
              <a:buClr>
                <a:srgbClr val="541900"/>
              </a:buClr>
              <a:buSzPts val="1700"/>
              <a:buFont typeface="Arial"/>
              <a:buChar char="●"/>
            </a:pPr>
            <a:r>
              <a:rPr lang="en" sz="1700" b="0" i="0" u="none" strike="noStrike" cap="none">
                <a:solidFill>
                  <a:schemeClr val="dk1"/>
                </a:solidFill>
                <a:latin typeface="Arial"/>
                <a:ea typeface="Arial"/>
                <a:cs typeface="Arial"/>
                <a:sym typeface="Arial"/>
              </a:rPr>
              <a:t>What questions will you ask your interviewee?</a:t>
            </a:r>
            <a:endParaRPr sz="1700" b="0" i="0" u="none" strike="noStrike" cap="none">
              <a:solidFill>
                <a:schemeClr val="dk1"/>
              </a:solidFill>
              <a:latin typeface="Arial"/>
              <a:ea typeface="Arial"/>
              <a:cs typeface="Arial"/>
              <a:sym typeface="Arial"/>
            </a:endParaRPr>
          </a:p>
          <a:p>
            <a:pPr marL="457200" marR="0" lvl="0" indent="-336550" algn="l" rtl="0">
              <a:lnSpc>
                <a:spcPct val="115000"/>
              </a:lnSpc>
              <a:spcBef>
                <a:spcPts val="0"/>
              </a:spcBef>
              <a:spcAft>
                <a:spcPts val="0"/>
              </a:spcAft>
              <a:buClr>
                <a:srgbClr val="541900"/>
              </a:buClr>
              <a:buSzPts val="1700"/>
              <a:buFont typeface="Arial"/>
              <a:buChar char="●"/>
            </a:pPr>
            <a:r>
              <a:rPr lang="en" sz="1700" b="0" i="0" u="none" strike="noStrike" cap="none">
                <a:solidFill>
                  <a:schemeClr val="dk1"/>
                </a:solidFill>
                <a:latin typeface="Arial"/>
                <a:ea typeface="Arial"/>
                <a:cs typeface="Arial"/>
                <a:sym typeface="Arial"/>
              </a:rPr>
              <a:t>What roles will each team member play?</a:t>
            </a:r>
            <a:endParaRPr sz="1700" b="0" i="0" u="none" strike="noStrike" cap="none">
              <a:solidFill>
                <a:schemeClr val="dk1"/>
              </a:solidFill>
              <a:latin typeface="Arial"/>
              <a:ea typeface="Arial"/>
              <a:cs typeface="Arial"/>
              <a:sym typeface="Arial"/>
            </a:endParaRPr>
          </a:p>
        </p:txBody>
      </p:sp>
      <p:sp>
        <p:nvSpPr>
          <p:cNvPr id="108" name="Google Shape;108;p7"/>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7</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pic>
        <p:nvPicPr>
          <p:cNvPr id="109" name="Google Shape;109;p7"/>
          <p:cNvPicPr preferRelativeResize="0"/>
          <p:nvPr/>
        </p:nvPicPr>
        <p:blipFill rotWithShape="1">
          <a:blip r:embed="rId3">
            <a:alphaModFix/>
          </a:blip>
          <a:srcRect/>
          <a:stretch/>
        </p:blipFill>
        <p:spPr>
          <a:xfrm>
            <a:off x="4830834" y="1177050"/>
            <a:ext cx="4184102" cy="2789402"/>
          </a:xfrm>
          <a:prstGeom prst="rect">
            <a:avLst/>
          </a:prstGeom>
          <a:noFill/>
          <a:ln>
            <a:noFill/>
          </a:ln>
        </p:spPr>
      </p:pic>
      <p:sp>
        <p:nvSpPr>
          <p:cNvPr id="110" name="Google Shape;110;p7"/>
          <p:cNvSpPr txBox="1"/>
          <p:nvPr/>
        </p:nvSpPr>
        <p:spPr>
          <a:xfrm>
            <a:off x="4830825" y="3966450"/>
            <a:ext cx="41841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595959"/>
                </a:solidFill>
                <a:latin typeface="Arial"/>
                <a:ea typeface="Arial"/>
                <a:cs typeface="Arial"/>
                <a:sym typeface="Arial"/>
              </a:rPr>
              <a:t>Image created with ChatGPT</a:t>
            </a:r>
            <a:br>
              <a:rPr lang="en" sz="1000" b="0" i="0" u="none" strike="noStrike" cap="none">
                <a:solidFill>
                  <a:srgbClr val="595959"/>
                </a:solidFill>
                <a:latin typeface="Arial"/>
                <a:ea typeface="Arial"/>
                <a:cs typeface="Arial"/>
                <a:sym typeface="Arial"/>
              </a:rPr>
            </a:br>
            <a:r>
              <a:rPr lang="en" sz="1000" b="0" i="1" u="none" strike="noStrike" cap="none">
                <a:solidFill>
                  <a:srgbClr val="595959"/>
                </a:solidFill>
                <a:latin typeface="Arial"/>
                <a:ea typeface="Arial"/>
                <a:cs typeface="Arial"/>
                <a:sym typeface="Arial"/>
              </a:rPr>
              <a:t>Prompt: Generate an image, in a minimalistic style, that shows two individuals participating in a community interview.</a:t>
            </a:r>
            <a:endParaRPr sz="1700" b="0" i="1" u="none" strike="noStrike" cap="none">
              <a:solidFill>
                <a:srgbClr val="595959"/>
              </a:solidFill>
              <a:latin typeface="Arial"/>
              <a:ea typeface="Arial"/>
              <a:cs typeface="Arial"/>
              <a:sym typeface="Arial"/>
            </a:endParaRPr>
          </a:p>
        </p:txBody>
      </p:sp>
      <p:sp>
        <p:nvSpPr>
          <p:cNvPr id="111" name="Google Shape;111;p7">
            <a:hlinkClick r:id="rId4"/>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15"/>
        <p:cNvGrpSpPr/>
        <p:nvPr/>
      </p:nvGrpSpPr>
      <p:grpSpPr>
        <a:xfrm>
          <a:off x="0" y="0"/>
          <a:ext cx="0" cy="0"/>
          <a:chOff x="0" y="0"/>
          <a:chExt cx="0" cy="0"/>
        </a:xfrm>
      </p:grpSpPr>
      <p:sp>
        <p:nvSpPr>
          <p:cNvPr id="116" name="Google Shape;116;p8"/>
          <p:cNvSpPr txBox="1">
            <a:spLocks noGrp="1"/>
          </p:cNvSpPr>
          <p:nvPr>
            <p:ph type="title"/>
          </p:nvPr>
        </p:nvSpPr>
        <p:spPr>
          <a:xfrm>
            <a:off x="311700" y="0"/>
            <a:ext cx="42603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4500" b="1">
                <a:solidFill>
                  <a:srgbClr val="541900"/>
                </a:solidFill>
              </a:rPr>
              <a:t>Question Bank</a:t>
            </a:r>
            <a:endParaRPr sz="4500" b="1">
              <a:solidFill>
                <a:srgbClr val="541900"/>
              </a:solidFill>
            </a:endParaRPr>
          </a:p>
        </p:txBody>
      </p:sp>
      <p:sp>
        <p:nvSpPr>
          <p:cNvPr id="117" name="Google Shape;117;p8"/>
          <p:cNvSpPr txBox="1">
            <a:spLocks noGrp="1"/>
          </p:cNvSpPr>
          <p:nvPr>
            <p:ph type="body" idx="1"/>
          </p:nvPr>
        </p:nvSpPr>
        <p:spPr>
          <a:xfrm>
            <a:off x="282150" y="761125"/>
            <a:ext cx="8579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1800"/>
              <a:buNone/>
            </a:pPr>
            <a:r>
              <a:rPr lang="en" sz="1700" i="1">
                <a:solidFill>
                  <a:srgbClr val="355E3B"/>
                </a:solidFill>
              </a:rPr>
              <a:t>With your team, prepare 3-4 questions for your interview (Science Journal, p.3). Below are a couple of questions you may consider asking. If you’d like, feel free to make your own questions!</a:t>
            </a:r>
            <a:endParaRPr sz="1700" i="1">
              <a:solidFill>
                <a:srgbClr val="355E3B"/>
              </a:solidFill>
            </a:endParaRPr>
          </a:p>
          <a:p>
            <a:pPr marL="0" lvl="0" indent="0" algn="l" rtl="0">
              <a:lnSpc>
                <a:spcPct val="115000"/>
              </a:lnSpc>
              <a:spcBef>
                <a:spcPts val="1200"/>
              </a:spcBef>
              <a:spcAft>
                <a:spcPts val="1200"/>
              </a:spcAft>
              <a:buSzPts val="1800"/>
              <a:buNone/>
            </a:pPr>
            <a:endParaRPr sz="1700" i="1">
              <a:solidFill>
                <a:srgbClr val="355E3B"/>
              </a:solidFill>
            </a:endParaRPr>
          </a:p>
        </p:txBody>
      </p:sp>
      <p:sp>
        <p:nvSpPr>
          <p:cNvPr id="118" name="Google Shape;118;p8"/>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8</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
        <p:nvSpPr>
          <p:cNvPr id="119" name="Google Shape;119;p8"/>
          <p:cNvSpPr txBox="1"/>
          <p:nvPr/>
        </p:nvSpPr>
        <p:spPr>
          <a:xfrm>
            <a:off x="270150" y="1649600"/>
            <a:ext cx="4343400" cy="2860500"/>
          </a:xfrm>
          <a:prstGeom prst="rect">
            <a:avLst/>
          </a:prstGeom>
          <a:noFill/>
          <a:ln>
            <a:noFill/>
          </a:ln>
        </p:spPr>
        <p:txBody>
          <a:bodyPr spcFirstLastPara="1" wrap="square" lIns="91425" tIns="91425" rIns="91425" bIns="91425" anchor="t" anchorCtr="0">
            <a:noAutofit/>
          </a:bodyPr>
          <a:lstStyle/>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What experiences do you have with the ocean?</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Do you care about the ocean? Why or why not?</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What’s a memorable day or experience you had interacting with the ocean or at the beach?</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How have you noticed changes in the ocean affecting your daily life (family, job, or culture)?</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How has your work as a [occupation] changed due to shifts in fish populations/rising water temperatures/etc.?</a:t>
            </a:r>
            <a:endParaRPr sz="1400" b="0" i="0" u="none" strike="noStrike" cap="none">
              <a:solidFill>
                <a:srgbClr val="595959"/>
              </a:solidFill>
              <a:latin typeface="Arial"/>
              <a:ea typeface="Arial"/>
              <a:cs typeface="Arial"/>
              <a:sym typeface="Arial"/>
            </a:endParaRPr>
          </a:p>
        </p:txBody>
      </p:sp>
      <p:sp>
        <p:nvSpPr>
          <p:cNvPr id="120" name="Google Shape;120;p8"/>
          <p:cNvSpPr txBox="1"/>
          <p:nvPr/>
        </p:nvSpPr>
        <p:spPr>
          <a:xfrm>
            <a:off x="4704100" y="1649600"/>
            <a:ext cx="4260300" cy="2985000"/>
          </a:xfrm>
          <a:prstGeom prst="rect">
            <a:avLst/>
          </a:prstGeom>
          <a:noFill/>
          <a:ln>
            <a:noFill/>
          </a:ln>
        </p:spPr>
        <p:txBody>
          <a:bodyPr spcFirstLastPara="1" wrap="square" lIns="91425" tIns="91425" rIns="91425" bIns="91425" anchor="t" anchorCtr="0">
            <a:normAutofit/>
          </a:bodyPr>
          <a:lstStyle/>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What do you wish more people understood about climate change and the ocean?</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Can you share a personal experience that made you realize climate change was affecting the ocean?</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What role do humans play in both causing and solving these issues?</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What do you think will happen to </a:t>
            </a:r>
            <a:r>
              <a:rPr lang="en" sz="1400" b="0" i="0" u="sng" strike="noStrike" cap="none">
                <a:solidFill>
                  <a:srgbClr val="000000"/>
                </a:solidFill>
                <a:latin typeface="Arial"/>
                <a:ea typeface="Arial"/>
                <a:cs typeface="Arial"/>
                <a:sym typeface="Arial"/>
              </a:rPr>
              <a:t>[object or location]</a:t>
            </a:r>
            <a:r>
              <a:rPr lang="en" sz="1400" b="0" i="0" u="none" strike="noStrike" cap="none">
                <a:solidFill>
                  <a:srgbClr val="000000"/>
                </a:solidFill>
                <a:latin typeface="Arial"/>
                <a:ea typeface="Arial"/>
                <a:cs typeface="Arial"/>
                <a:sym typeface="Arial"/>
              </a:rPr>
              <a:t> in the future?</a:t>
            </a:r>
            <a:endParaRPr sz="1400" b="0" i="0" u="none" strike="noStrike" cap="none">
              <a:solidFill>
                <a:srgbClr val="000000"/>
              </a:solidFill>
              <a:latin typeface="Arial"/>
              <a:ea typeface="Arial"/>
              <a:cs typeface="Arial"/>
              <a:sym typeface="Arial"/>
            </a:endParaRPr>
          </a:p>
          <a:p>
            <a:pPr marL="457200" marR="0" lvl="0" indent="-317500" algn="l" rtl="0">
              <a:lnSpc>
                <a:spcPct val="115000"/>
              </a:lnSpc>
              <a:spcBef>
                <a:spcPts val="0"/>
              </a:spcBef>
              <a:spcAft>
                <a:spcPts val="0"/>
              </a:spcAft>
              <a:buClr>
                <a:srgbClr val="000000"/>
              </a:buClr>
              <a:buSzPts val="1400"/>
              <a:buFont typeface="Arial"/>
              <a:buChar char="●"/>
            </a:pPr>
            <a:r>
              <a:rPr lang="en" sz="1400" b="0" i="0" u="none" strike="noStrike" cap="none">
                <a:solidFill>
                  <a:srgbClr val="000000"/>
                </a:solidFill>
                <a:latin typeface="Arial"/>
                <a:ea typeface="Arial"/>
                <a:cs typeface="Arial"/>
                <a:sym typeface="Arial"/>
              </a:rPr>
              <a:t>How does </a:t>
            </a:r>
            <a:r>
              <a:rPr lang="en" sz="1400" b="0" i="0" u="sng" strike="noStrike" cap="none">
                <a:solidFill>
                  <a:srgbClr val="000000"/>
                </a:solidFill>
                <a:latin typeface="Arial"/>
                <a:ea typeface="Arial"/>
                <a:cs typeface="Arial"/>
                <a:sym typeface="Arial"/>
              </a:rPr>
              <a:t>[your experience]</a:t>
            </a:r>
            <a:r>
              <a:rPr lang="en" sz="1400" b="0" i="0" u="none" strike="noStrike" cap="none">
                <a:solidFill>
                  <a:srgbClr val="000000"/>
                </a:solidFill>
                <a:latin typeface="Arial"/>
                <a:ea typeface="Arial"/>
                <a:cs typeface="Arial"/>
                <a:sym typeface="Arial"/>
              </a:rPr>
              <a:t> compare to how it was 10 years ago?</a:t>
            </a:r>
            <a:endParaRPr sz="1400" b="0" i="0" u="none" strike="noStrike" cap="none">
              <a:solidFill>
                <a:srgbClr val="000000"/>
              </a:solidFill>
              <a:latin typeface="Arial"/>
              <a:ea typeface="Arial"/>
              <a:cs typeface="Arial"/>
              <a:sym typeface="Arial"/>
            </a:endParaRPr>
          </a:p>
        </p:txBody>
      </p:sp>
      <p:cxnSp>
        <p:nvCxnSpPr>
          <p:cNvPr id="121" name="Google Shape;121;p8"/>
          <p:cNvCxnSpPr/>
          <p:nvPr/>
        </p:nvCxnSpPr>
        <p:spPr>
          <a:xfrm>
            <a:off x="4603400" y="1878200"/>
            <a:ext cx="0" cy="2860500"/>
          </a:xfrm>
          <a:prstGeom prst="straightConnector1">
            <a:avLst/>
          </a:prstGeom>
          <a:noFill/>
          <a:ln w="9525" cap="flat" cmpd="sng">
            <a:solidFill>
              <a:schemeClr val="dk2"/>
            </a:solidFill>
            <a:prstDash val="solid"/>
            <a:round/>
            <a:headEnd type="none" w="sm" len="sm"/>
            <a:tailEnd type="none" w="sm" len="sm"/>
          </a:ln>
        </p:spPr>
      </p:cxnSp>
      <p:sp>
        <p:nvSpPr>
          <p:cNvPr id="122" name="Google Shape;122;p8">
            <a:hlinkClick r:id="rId3"/>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26"/>
        <p:cNvGrpSpPr/>
        <p:nvPr/>
      </p:nvGrpSpPr>
      <p:grpSpPr>
        <a:xfrm>
          <a:off x="0" y="0"/>
          <a:ext cx="0" cy="0"/>
          <a:chOff x="0" y="0"/>
          <a:chExt cx="0" cy="0"/>
        </a:xfrm>
      </p:grpSpPr>
      <p:sp>
        <p:nvSpPr>
          <p:cNvPr id="127" name="Google Shape;127;p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4500" b="1">
                <a:solidFill>
                  <a:srgbClr val="541900"/>
                </a:solidFill>
              </a:rPr>
              <a:t>Refining interview plans</a:t>
            </a:r>
            <a:endParaRPr sz="4500" b="1">
              <a:solidFill>
                <a:srgbClr val="541900"/>
              </a:solidFill>
            </a:endParaRPr>
          </a:p>
        </p:txBody>
      </p:sp>
      <p:sp>
        <p:nvSpPr>
          <p:cNvPr id="128" name="Google Shape;128;p9"/>
          <p:cNvSpPr txBox="1">
            <a:spLocks noGrp="1"/>
          </p:cNvSpPr>
          <p:nvPr>
            <p:ph type="body" idx="4294967295"/>
          </p:nvPr>
        </p:nvSpPr>
        <p:spPr>
          <a:xfrm>
            <a:off x="311700" y="1843725"/>
            <a:ext cx="8373300" cy="2739000"/>
          </a:xfrm>
          <a:prstGeom prst="rect">
            <a:avLst/>
          </a:prstGeom>
          <a:noFill/>
          <a:ln>
            <a:noFill/>
          </a:ln>
        </p:spPr>
        <p:txBody>
          <a:bodyPr spcFirstLastPara="1" wrap="square" lIns="91425" tIns="91425" rIns="91425" bIns="91425" anchor="t" anchorCtr="0">
            <a:noAutofit/>
          </a:bodyPr>
          <a:lstStyle/>
          <a:p>
            <a:pPr marL="457200" lvl="0" indent="-330200" algn="l" rtl="0">
              <a:lnSpc>
                <a:spcPct val="105000"/>
              </a:lnSpc>
              <a:spcBef>
                <a:spcPts val="0"/>
              </a:spcBef>
              <a:spcAft>
                <a:spcPts val="0"/>
              </a:spcAft>
              <a:buClr>
                <a:schemeClr val="dk1"/>
              </a:buClr>
              <a:buSzPts val="1600"/>
              <a:buChar char="●"/>
            </a:pPr>
            <a:r>
              <a:rPr lang="en" sz="1600">
                <a:solidFill>
                  <a:schemeClr val="dk1"/>
                </a:solidFill>
              </a:rPr>
              <a:t>Are the interview questions </a:t>
            </a:r>
            <a:r>
              <a:rPr lang="en" sz="1600" b="1">
                <a:solidFill>
                  <a:srgbClr val="9FA617"/>
                </a:solidFill>
              </a:rPr>
              <a:t>clear</a:t>
            </a:r>
            <a:r>
              <a:rPr lang="en" sz="1600">
                <a:solidFill>
                  <a:schemeClr val="dk1"/>
                </a:solidFill>
              </a:rPr>
              <a:t> and </a:t>
            </a:r>
            <a:r>
              <a:rPr lang="en" sz="1600" b="1">
                <a:solidFill>
                  <a:srgbClr val="9FA617"/>
                </a:solidFill>
              </a:rPr>
              <a:t>specific</a:t>
            </a:r>
            <a:r>
              <a:rPr lang="en" sz="1600">
                <a:solidFill>
                  <a:schemeClr val="dk1"/>
                </a:solidFill>
              </a:rPr>
              <a:t>? </a:t>
            </a:r>
            <a:endParaRPr sz="1600">
              <a:solidFill>
                <a:schemeClr val="dk1"/>
              </a:solidFill>
            </a:endParaRPr>
          </a:p>
          <a:p>
            <a:pPr marL="914400" lvl="1" indent="-330200" algn="l" rtl="0">
              <a:lnSpc>
                <a:spcPct val="105000"/>
              </a:lnSpc>
              <a:spcBef>
                <a:spcPts val="0"/>
              </a:spcBef>
              <a:spcAft>
                <a:spcPts val="0"/>
              </a:spcAft>
              <a:buClr>
                <a:schemeClr val="dk1"/>
              </a:buClr>
              <a:buSzPts val="1600"/>
              <a:buChar char="○"/>
            </a:pPr>
            <a:r>
              <a:rPr lang="en" sz="1600">
                <a:solidFill>
                  <a:schemeClr val="dk1"/>
                </a:solidFill>
              </a:rPr>
              <a:t>Do they make sense? Would the interviewee understand what’s being asked?</a:t>
            </a:r>
            <a:endParaRPr sz="1600">
              <a:solidFill>
                <a:schemeClr val="dk1"/>
              </a:solidFill>
            </a:endParaRPr>
          </a:p>
          <a:p>
            <a:pPr marL="457200" lvl="0" indent="-330200" algn="l" rtl="0">
              <a:lnSpc>
                <a:spcPct val="105000"/>
              </a:lnSpc>
              <a:spcBef>
                <a:spcPts val="0"/>
              </a:spcBef>
              <a:spcAft>
                <a:spcPts val="0"/>
              </a:spcAft>
              <a:buClr>
                <a:schemeClr val="dk1"/>
              </a:buClr>
              <a:buSzPts val="1600"/>
              <a:buChar char="●"/>
            </a:pPr>
            <a:r>
              <a:rPr lang="en" sz="1600">
                <a:solidFill>
                  <a:schemeClr val="dk1"/>
                </a:solidFill>
              </a:rPr>
              <a:t>Do the interview questions </a:t>
            </a:r>
            <a:r>
              <a:rPr lang="en" sz="1600" b="1">
                <a:solidFill>
                  <a:srgbClr val="9FA617"/>
                </a:solidFill>
              </a:rPr>
              <a:t>encourage a detailed answer</a:t>
            </a:r>
            <a:r>
              <a:rPr lang="en" sz="1600">
                <a:solidFill>
                  <a:schemeClr val="dk1"/>
                </a:solidFill>
              </a:rPr>
              <a:t> rather than a simple “yes” or “no”?</a:t>
            </a:r>
            <a:endParaRPr sz="1600">
              <a:solidFill>
                <a:schemeClr val="dk1"/>
              </a:solidFill>
            </a:endParaRPr>
          </a:p>
          <a:p>
            <a:pPr marL="457200" lvl="0" indent="-330200" algn="l" rtl="0">
              <a:lnSpc>
                <a:spcPct val="105000"/>
              </a:lnSpc>
              <a:spcBef>
                <a:spcPts val="0"/>
              </a:spcBef>
              <a:spcAft>
                <a:spcPts val="0"/>
              </a:spcAft>
              <a:buClr>
                <a:schemeClr val="dk1"/>
              </a:buClr>
              <a:buSzPts val="1600"/>
              <a:buChar char="●"/>
            </a:pPr>
            <a:r>
              <a:rPr lang="en" sz="1600">
                <a:solidFill>
                  <a:schemeClr val="dk1"/>
                </a:solidFill>
              </a:rPr>
              <a:t>Are the interview questions </a:t>
            </a:r>
            <a:r>
              <a:rPr lang="en" sz="1600" b="1">
                <a:solidFill>
                  <a:srgbClr val="9FA617"/>
                </a:solidFill>
              </a:rPr>
              <a:t>relevant</a:t>
            </a:r>
            <a:r>
              <a:rPr lang="en" sz="1600">
                <a:solidFill>
                  <a:schemeClr val="dk1"/>
                </a:solidFill>
              </a:rPr>
              <a:t> and connect to climate change and the ocean?</a:t>
            </a:r>
            <a:endParaRPr sz="1600">
              <a:solidFill>
                <a:schemeClr val="dk1"/>
              </a:solidFill>
            </a:endParaRPr>
          </a:p>
          <a:p>
            <a:pPr marL="457200" lvl="0" indent="-330200" algn="l" rtl="0">
              <a:lnSpc>
                <a:spcPct val="105000"/>
              </a:lnSpc>
              <a:spcBef>
                <a:spcPts val="0"/>
              </a:spcBef>
              <a:spcAft>
                <a:spcPts val="0"/>
              </a:spcAft>
              <a:buClr>
                <a:schemeClr val="dk1"/>
              </a:buClr>
              <a:buSzPts val="1600"/>
              <a:buChar char="●"/>
            </a:pPr>
            <a:r>
              <a:rPr lang="en" sz="1600">
                <a:solidFill>
                  <a:schemeClr val="dk1"/>
                </a:solidFill>
              </a:rPr>
              <a:t>Are the interview questions </a:t>
            </a:r>
            <a:r>
              <a:rPr lang="en" sz="1600" b="1">
                <a:solidFill>
                  <a:srgbClr val="9FA617"/>
                </a:solidFill>
              </a:rPr>
              <a:t>unbiased</a:t>
            </a:r>
            <a:r>
              <a:rPr lang="en" sz="1600">
                <a:solidFill>
                  <a:schemeClr val="dk1"/>
                </a:solidFill>
              </a:rPr>
              <a:t> and </a:t>
            </a:r>
            <a:r>
              <a:rPr lang="en" sz="1600" b="1">
                <a:solidFill>
                  <a:srgbClr val="9FA617"/>
                </a:solidFill>
              </a:rPr>
              <a:t>neutral</a:t>
            </a:r>
            <a:r>
              <a:rPr lang="en" sz="1600">
                <a:solidFill>
                  <a:schemeClr val="dk1"/>
                </a:solidFill>
              </a:rPr>
              <a:t>?</a:t>
            </a:r>
            <a:endParaRPr sz="1600">
              <a:solidFill>
                <a:schemeClr val="dk1"/>
              </a:solidFill>
            </a:endParaRPr>
          </a:p>
          <a:p>
            <a:pPr marL="914400" lvl="1" indent="-330200" algn="l" rtl="0">
              <a:lnSpc>
                <a:spcPct val="105000"/>
              </a:lnSpc>
              <a:spcBef>
                <a:spcPts val="0"/>
              </a:spcBef>
              <a:spcAft>
                <a:spcPts val="0"/>
              </a:spcAft>
              <a:buClr>
                <a:schemeClr val="dk1"/>
              </a:buClr>
              <a:buSzPts val="1600"/>
              <a:buChar char="○"/>
            </a:pPr>
            <a:r>
              <a:rPr lang="en" sz="1600">
                <a:solidFill>
                  <a:schemeClr val="dk1"/>
                </a:solidFill>
              </a:rPr>
              <a:t>Do they allow for honest responses without leading the interviewee?</a:t>
            </a:r>
            <a:endParaRPr sz="1600">
              <a:solidFill>
                <a:schemeClr val="dk1"/>
              </a:solidFill>
            </a:endParaRPr>
          </a:p>
          <a:p>
            <a:pPr marL="457200" lvl="0" indent="-330200" algn="l" rtl="0">
              <a:lnSpc>
                <a:spcPct val="105000"/>
              </a:lnSpc>
              <a:spcBef>
                <a:spcPts val="0"/>
              </a:spcBef>
              <a:spcAft>
                <a:spcPts val="0"/>
              </a:spcAft>
              <a:buClr>
                <a:schemeClr val="dk1"/>
              </a:buClr>
              <a:buSzPts val="1600"/>
              <a:buChar char="●"/>
            </a:pPr>
            <a:r>
              <a:rPr lang="en" sz="1600">
                <a:solidFill>
                  <a:schemeClr val="dk1"/>
                </a:solidFill>
              </a:rPr>
              <a:t>Are the interview questions </a:t>
            </a:r>
            <a:r>
              <a:rPr lang="en" sz="1600" b="1">
                <a:solidFill>
                  <a:srgbClr val="9FA617"/>
                </a:solidFill>
              </a:rPr>
              <a:t>engaging</a:t>
            </a:r>
            <a:r>
              <a:rPr lang="en" sz="1600">
                <a:solidFill>
                  <a:schemeClr val="dk1"/>
                </a:solidFill>
              </a:rPr>
              <a:t> and invite personal stories, experiences, or expert knowledge?</a:t>
            </a:r>
            <a:endParaRPr sz="1600">
              <a:solidFill>
                <a:schemeClr val="dk1"/>
              </a:solidFill>
            </a:endParaRPr>
          </a:p>
        </p:txBody>
      </p:sp>
      <p:sp>
        <p:nvSpPr>
          <p:cNvPr id="129" name="Google Shape;129;p9"/>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9</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
        <p:nvSpPr>
          <p:cNvPr id="130" name="Google Shape;130;p9"/>
          <p:cNvSpPr txBox="1">
            <a:spLocks noGrp="1"/>
          </p:cNvSpPr>
          <p:nvPr>
            <p:ph type="body" idx="1"/>
          </p:nvPr>
        </p:nvSpPr>
        <p:spPr>
          <a:xfrm>
            <a:off x="311700" y="1196325"/>
            <a:ext cx="8777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1800"/>
              <a:buNone/>
            </a:pPr>
            <a:r>
              <a:rPr lang="en" sz="1700" i="1">
                <a:solidFill>
                  <a:srgbClr val="355E3B"/>
                </a:solidFill>
              </a:rPr>
              <a:t>Share your interview plans with another team. Provide feedback using the following guiding questions:</a:t>
            </a:r>
            <a:endParaRPr sz="1700" i="1">
              <a:solidFill>
                <a:srgbClr val="355E3B"/>
              </a:solidFill>
            </a:endParaRPr>
          </a:p>
        </p:txBody>
      </p:sp>
      <p:sp>
        <p:nvSpPr>
          <p:cNvPr id="131" name="Google Shape;131;p9">
            <a:hlinkClick r:id="rId3"/>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35"/>
        <p:cNvGrpSpPr/>
        <p:nvPr/>
      </p:nvGrpSpPr>
      <p:grpSpPr>
        <a:xfrm>
          <a:off x="0" y="0"/>
          <a:ext cx="0" cy="0"/>
          <a:chOff x="0" y="0"/>
          <a:chExt cx="0" cy="0"/>
        </a:xfrm>
      </p:grpSpPr>
      <p:sp>
        <p:nvSpPr>
          <p:cNvPr id="136" name="Google Shape;136;p10"/>
          <p:cNvSpPr txBox="1">
            <a:spLocks noGrp="1"/>
          </p:cNvSpPr>
          <p:nvPr>
            <p:ph type="title"/>
          </p:nvPr>
        </p:nvSpPr>
        <p:spPr>
          <a:xfrm>
            <a:off x="311700" y="445025"/>
            <a:ext cx="4543500" cy="704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3800" b="1">
                <a:solidFill>
                  <a:srgbClr val="541900"/>
                </a:solidFill>
              </a:rPr>
              <a:t>Interview Etiquette</a:t>
            </a:r>
            <a:endParaRPr sz="3800" b="1">
              <a:solidFill>
                <a:srgbClr val="541900"/>
              </a:solidFill>
            </a:endParaRPr>
          </a:p>
        </p:txBody>
      </p:sp>
      <p:sp>
        <p:nvSpPr>
          <p:cNvPr id="137" name="Google Shape;137;p10"/>
          <p:cNvSpPr txBox="1">
            <a:spLocks noGrp="1"/>
          </p:cNvSpPr>
          <p:nvPr>
            <p:ph type="body" idx="2"/>
          </p:nvPr>
        </p:nvSpPr>
        <p:spPr>
          <a:xfrm>
            <a:off x="311700" y="2608188"/>
            <a:ext cx="4543500" cy="11451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rgbClr val="541900"/>
              </a:buClr>
              <a:buSzPts val="1600"/>
              <a:buFont typeface="Arial"/>
              <a:buChar char="●"/>
            </a:pPr>
            <a:r>
              <a:rPr lang="en" sz="1600">
                <a:solidFill>
                  <a:schemeClr val="dk1"/>
                </a:solidFill>
              </a:rPr>
              <a:t>What are examples of effective vs ineffective interview etiquette?</a:t>
            </a:r>
            <a:endParaRPr sz="1600">
              <a:solidFill>
                <a:schemeClr val="dk1"/>
              </a:solidFill>
            </a:endParaRPr>
          </a:p>
          <a:p>
            <a:pPr marL="457200" lvl="0" indent="-330200" algn="l" rtl="0">
              <a:lnSpc>
                <a:spcPct val="115000"/>
              </a:lnSpc>
              <a:spcBef>
                <a:spcPts val="0"/>
              </a:spcBef>
              <a:spcAft>
                <a:spcPts val="0"/>
              </a:spcAft>
              <a:buClr>
                <a:srgbClr val="541900"/>
              </a:buClr>
              <a:buSzPts val="1600"/>
              <a:buFont typeface="Arial"/>
              <a:buChar char="●"/>
            </a:pPr>
            <a:r>
              <a:rPr lang="en" sz="1600">
                <a:solidFill>
                  <a:schemeClr val="dk1"/>
                </a:solidFill>
              </a:rPr>
              <a:t>If it is not effective, what can be improved?</a:t>
            </a:r>
            <a:endParaRPr sz="2000">
              <a:solidFill>
                <a:schemeClr val="dk1"/>
              </a:solidFill>
            </a:endParaRPr>
          </a:p>
        </p:txBody>
      </p:sp>
      <p:sp>
        <p:nvSpPr>
          <p:cNvPr id="138" name="Google Shape;138;p10"/>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10</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
        <p:nvSpPr>
          <p:cNvPr id="139" name="Google Shape;139;p10"/>
          <p:cNvSpPr txBox="1"/>
          <p:nvPr/>
        </p:nvSpPr>
        <p:spPr>
          <a:xfrm>
            <a:off x="5007600" y="3757100"/>
            <a:ext cx="39840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1200"/>
              </a:spcAft>
              <a:buClr>
                <a:srgbClr val="000000"/>
              </a:buClr>
              <a:buSzPts val="1200"/>
              <a:buFont typeface="Arial"/>
              <a:buNone/>
            </a:pPr>
            <a:r>
              <a:rPr lang="en" sz="1200" b="0" i="0" u="none" strike="noStrike" cap="none">
                <a:solidFill>
                  <a:srgbClr val="000000"/>
                </a:solidFill>
                <a:latin typeface="Arial"/>
                <a:ea typeface="Arial"/>
                <a:cs typeface="Arial"/>
                <a:sym typeface="Arial"/>
              </a:rPr>
              <a:t>Space Exploration Park in Lynwood. </a:t>
            </a:r>
            <a:br>
              <a:rPr lang="en" sz="1200" b="0" i="0" u="none" strike="noStrike" cap="none">
                <a:solidFill>
                  <a:srgbClr val="000000"/>
                </a:solidFill>
                <a:latin typeface="Arial"/>
                <a:ea typeface="Arial"/>
                <a:cs typeface="Arial"/>
                <a:sym typeface="Arial"/>
              </a:rPr>
            </a:br>
            <a:r>
              <a:rPr lang="en" sz="800" b="0" i="0" u="none" strike="noStrike" cap="none">
                <a:solidFill>
                  <a:srgbClr val="000000"/>
                </a:solidFill>
                <a:latin typeface="Arial"/>
                <a:ea typeface="Arial"/>
                <a:cs typeface="Arial"/>
                <a:sym typeface="Arial"/>
              </a:rPr>
              <a:t>Source:https://landscape architect.com/landscape-articles/space-exploration-park</a:t>
            </a:r>
            <a:endParaRPr sz="800" b="0" i="0" u="none" strike="noStrike" cap="none">
              <a:solidFill>
                <a:srgbClr val="000000"/>
              </a:solidFill>
              <a:latin typeface="Arial"/>
              <a:ea typeface="Arial"/>
              <a:cs typeface="Arial"/>
              <a:sym typeface="Arial"/>
            </a:endParaRPr>
          </a:p>
        </p:txBody>
      </p:sp>
      <p:pic>
        <p:nvPicPr>
          <p:cNvPr id="140" name="Google Shape;140;p10"/>
          <p:cNvPicPr preferRelativeResize="0"/>
          <p:nvPr/>
        </p:nvPicPr>
        <p:blipFill rotWithShape="1">
          <a:blip r:embed="rId3">
            <a:alphaModFix/>
          </a:blip>
          <a:srcRect/>
          <a:stretch/>
        </p:blipFill>
        <p:spPr>
          <a:xfrm>
            <a:off x="4964525" y="1062100"/>
            <a:ext cx="4179476" cy="2580831"/>
          </a:xfrm>
          <a:prstGeom prst="rect">
            <a:avLst/>
          </a:prstGeom>
          <a:noFill/>
          <a:ln>
            <a:noFill/>
          </a:ln>
        </p:spPr>
      </p:pic>
      <p:sp>
        <p:nvSpPr>
          <p:cNvPr id="141" name="Google Shape;141;p10"/>
          <p:cNvSpPr txBox="1">
            <a:spLocks noGrp="1"/>
          </p:cNvSpPr>
          <p:nvPr>
            <p:ph type="body" idx="2"/>
          </p:nvPr>
        </p:nvSpPr>
        <p:spPr>
          <a:xfrm>
            <a:off x="311700" y="1390188"/>
            <a:ext cx="4543500" cy="1218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1400"/>
              <a:buNone/>
            </a:pPr>
            <a:r>
              <a:rPr lang="en" sz="1600" dirty="0">
                <a:solidFill>
                  <a:srgbClr val="355E3B"/>
                </a:solidFill>
              </a:rPr>
              <a:t>With your group go through the </a:t>
            </a:r>
            <a:r>
              <a:rPr lang="en" sz="1600" dirty="0">
                <a:solidFill>
                  <a:schemeClr val="hlink"/>
                </a:solidFill>
              </a:rPr>
              <a:t>Module 1.2 Interview Etiquette Worksheet.</a:t>
            </a:r>
            <a:r>
              <a:rPr lang="en" sz="1600" dirty="0">
                <a:solidFill>
                  <a:srgbClr val="355E3B"/>
                </a:solidFill>
              </a:rPr>
              <a:t> Examine if each excerpt demonstrates proper interview etiquette</a:t>
            </a:r>
            <a:endParaRPr sz="1600" dirty="0">
              <a:solidFill>
                <a:srgbClr val="355E3B"/>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45"/>
        <p:cNvGrpSpPr/>
        <p:nvPr/>
      </p:nvGrpSpPr>
      <p:grpSpPr>
        <a:xfrm>
          <a:off x="0" y="0"/>
          <a:ext cx="0" cy="0"/>
          <a:chOff x="0" y="0"/>
          <a:chExt cx="0" cy="0"/>
        </a:xfrm>
      </p:grpSpPr>
      <p:sp>
        <p:nvSpPr>
          <p:cNvPr id="146" name="Google Shape;146;p11"/>
          <p:cNvSpPr txBox="1">
            <a:spLocks noGrp="1"/>
          </p:cNvSpPr>
          <p:nvPr>
            <p:ph type="title"/>
          </p:nvPr>
        </p:nvSpPr>
        <p:spPr>
          <a:xfrm>
            <a:off x="311700" y="445025"/>
            <a:ext cx="45435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3800" b="1">
                <a:solidFill>
                  <a:srgbClr val="541900"/>
                </a:solidFill>
              </a:rPr>
              <a:t>Interview Etiquette</a:t>
            </a:r>
            <a:endParaRPr sz="3800" b="1">
              <a:solidFill>
                <a:srgbClr val="541900"/>
              </a:solidFill>
            </a:endParaRPr>
          </a:p>
        </p:txBody>
      </p:sp>
      <p:sp>
        <p:nvSpPr>
          <p:cNvPr id="147" name="Google Shape;147;p11"/>
          <p:cNvSpPr txBox="1">
            <a:spLocks noGrp="1"/>
          </p:cNvSpPr>
          <p:nvPr>
            <p:ph type="body" idx="2"/>
          </p:nvPr>
        </p:nvSpPr>
        <p:spPr>
          <a:xfrm>
            <a:off x="311700" y="2240200"/>
            <a:ext cx="4695900" cy="16110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SzPts val="1400"/>
              <a:buNone/>
            </a:pPr>
            <a:r>
              <a:rPr lang="en" sz="1600" u="sng">
                <a:solidFill>
                  <a:schemeClr val="accent5"/>
                </a:solidFill>
                <a:hlinkClick r:id="rId3">
                  <a:extLst>
                    <a:ext uri="{A12FA001-AC4F-418D-AE19-62706E023703}">
                      <ahyp:hlinkClr xmlns:ahyp="http://schemas.microsoft.com/office/drawing/2018/hyperlinkcolor" val="tx"/>
                    </a:ext>
                  </a:extLst>
                </a:hlinkClick>
              </a:rPr>
              <a:t>Video 1</a:t>
            </a:r>
            <a:r>
              <a:rPr lang="en"/>
              <a:t> | </a:t>
            </a:r>
            <a:r>
              <a:rPr lang="en" sz="1600" u="sng">
                <a:solidFill>
                  <a:schemeClr val="accent5"/>
                </a:solidFill>
                <a:hlinkClick r:id="rId4">
                  <a:extLst>
                    <a:ext uri="{A12FA001-AC4F-418D-AE19-62706E023703}">
                      <ahyp:hlinkClr xmlns:ahyp="http://schemas.microsoft.com/office/drawing/2018/hyperlinkcolor" val="tx"/>
                    </a:ext>
                  </a:extLst>
                </a:hlinkClick>
              </a:rPr>
              <a:t>Video 2</a:t>
            </a:r>
            <a:endParaRPr>
              <a:solidFill>
                <a:schemeClr val="dk1"/>
              </a:solidFill>
            </a:endParaRPr>
          </a:p>
          <a:p>
            <a:pPr marL="457200" lvl="0" indent="-330200" algn="l" rtl="0">
              <a:lnSpc>
                <a:spcPct val="115000"/>
              </a:lnSpc>
              <a:spcBef>
                <a:spcPts val="1200"/>
              </a:spcBef>
              <a:spcAft>
                <a:spcPts val="0"/>
              </a:spcAft>
              <a:buClr>
                <a:srgbClr val="541900"/>
              </a:buClr>
              <a:buSzPts val="1600"/>
              <a:buFont typeface="Arial"/>
              <a:buChar char="●"/>
            </a:pPr>
            <a:r>
              <a:rPr lang="en" sz="1600">
                <a:solidFill>
                  <a:schemeClr val="dk1"/>
                </a:solidFill>
              </a:rPr>
              <a:t>What are some similarities and differences between both videos?</a:t>
            </a:r>
            <a:endParaRPr sz="1600">
              <a:solidFill>
                <a:schemeClr val="dk1"/>
              </a:solidFill>
            </a:endParaRPr>
          </a:p>
          <a:p>
            <a:pPr marL="457200" lvl="0" indent="-330200" algn="l" rtl="0">
              <a:lnSpc>
                <a:spcPct val="115000"/>
              </a:lnSpc>
              <a:spcBef>
                <a:spcPts val="0"/>
              </a:spcBef>
              <a:spcAft>
                <a:spcPts val="0"/>
              </a:spcAft>
              <a:buClr>
                <a:srgbClr val="541900"/>
              </a:buClr>
              <a:buSzPts val="1600"/>
              <a:buFont typeface="Arial"/>
              <a:buChar char="●"/>
            </a:pPr>
            <a:r>
              <a:rPr lang="en" sz="1600">
                <a:solidFill>
                  <a:schemeClr val="dk1"/>
                </a:solidFill>
              </a:rPr>
              <a:t>What are examples of effective vs ineffective interview etiquette?</a:t>
            </a:r>
            <a:endParaRPr sz="1600">
              <a:solidFill>
                <a:schemeClr val="dk1"/>
              </a:solidFill>
            </a:endParaRPr>
          </a:p>
        </p:txBody>
      </p:sp>
      <p:sp>
        <p:nvSpPr>
          <p:cNvPr id="148" name="Google Shape;148;p11"/>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11</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
        <p:nvSpPr>
          <p:cNvPr id="149" name="Google Shape;149;p11"/>
          <p:cNvSpPr txBox="1"/>
          <p:nvPr/>
        </p:nvSpPr>
        <p:spPr>
          <a:xfrm>
            <a:off x="5007600" y="3710850"/>
            <a:ext cx="39840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1200"/>
              </a:spcAft>
              <a:buClr>
                <a:srgbClr val="000000"/>
              </a:buClr>
              <a:buSzPts val="1200"/>
              <a:buFont typeface="Arial"/>
              <a:buNone/>
            </a:pPr>
            <a:r>
              <a:rPr lang="en" sz="1200" b="0" i="0" u="none" strike="noStrike" cap="none">
                <a:solidFill>
                  <a:srgbClr val="000000"/>
                </a:solidFill>
                <a:latin typeface="Arial"/>
                <a:ea typeface="Arial"/>
                <a:cs typeface="Arial"/>
                <a:sym typeface="Arial"/>
              </a:rPr>
              <a:t>Space Exploration Park in Lynwood. </a:t>
            </a:r>
            <a:br>
              <a:rPr lang="en" sz="1200" b="0" i="0" u="none" strike="noStrike" cap="none">
                <a:solidFill>
                  <a:srgbClr val="000000"/>
                </a:solidFill>
                <a:latin typeface="Arial"/>
                <a:ea typeface="Arial"/>
                <a:cs typeface="Arial"/>
                <a:sym typeface="Arial"/>
              </a:rPr>
            </a:br>
            <a:r>
              <a:rPr lang="en" sz="800" b="0" i="0" u="none" strike="noStrike" cap="none">
                <a:solidFill>
                  <a:srgbClr val="000000"/>
                </a:solidFill>
                <a:latin typeface="Arial"/>
                <a:ea typeface="Arial"/>
                <a:cs typeface="Arial"/>
                <a:sym typeface="Arial"/>
              </a:rPr>
              <a:t>Source:https://landscapearchitect.com/landscape-articles/space-exploration-park</a:t>
            </a:r>
            <a:endParaRPr sz="800" b="0" i="0" u="none" strike="noStrike" cap="none">
              <a:solidFill>
                <a:srgbClr val="000000"/>
              </a:solidFill>
              <a:latin typeface="Arial"/>
              <a:ea typeface="Arial"/>
              <a:cs typeface="Arial"/>
              <a:sym typeface="Arial"/>
            </a:endParaRPr>
          </a:p>
        </p:txBody>
      </p:sp>
      <p:pic>
        <p:nvPicPr>
          <p:cNvPr id="150" name="Google Shape;150;p11"/>
          <p:cNvPicPr preferRelativeResize="0"/>
          <p:nvPr/>
        </p:nvPicPr>
        <p:blipFill rotWithShape="1">
          <a:blip r:embed="rId5">
            <a:alphaModFix/>
          </a:blip>
          <a:srcRect/>
          <a:stretch/>
        </p:blipFill>
        <p:spPr>
          <a:xfrm>
            <a:off x="5007600" y="1108325"/>
            <a:ext cx="3984000" cy="2654345"/>
          </a:xfrm>
          <a:prstGeom prst="rect">
            <a:avLst/>
          </a:prstGeom>
          <a:noFill/>
          <a:ln>
            <a:noFill/>
          </a:ln>
        </p:spPr>
      </p:pic>
      <p:sp>
        <p:nvSpPr>
          <p:cNvPr id="151" name="Google Shape;151;p11"/>
          <p:cNvSpPr txBox="1"/>
          <p:nvPr/>
        </p:nvSpPr>
        <p:spPr>
          <a:xfrm>
            <a:off x="311700" y="1292300"/>
            <a:ext cx="4695900" cy="9975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1200"/>
              </a:spcAft>
              <a:buClr>
                <a:srgbClr val="000000"/>
              </a:buClr>
              <a:buSzPts val="1600"/>
              <a:buFont typeface="Arial"/>
              <a:buNone/>
            </a:pPr>
            <a:r>
              <a:rPr lang="en" sz="1600" b="0" i="0" u="none" strike="noStrike" cap="none">
                <a:solidFill>
                  <a:srgbClr val="355E3B"/>
                </a:solidFill>
                <a:latin typeface="Arial"/>
                <a:ea typeface="Arial"/>
                <a:cs typeface="Arial"/>
                <a:sym typeface="Arial"/>
              </a:rPr>
              <a:t>With your group watch the following videos and determine how interview etiquette is portrayed in them.</a:t>
            </a:r>
            <a:endParaRPr sz="1600" b="0" i="0" u="none" strike="noStrike" cap="none">
              <a:solidFill>
                <a:srgbClr val="355E3B"/>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55"/>
        <p:cNvGrpSpPr/>
        <p:nvPr/>
      </p:nvGrpSpPr>
      <p:grpSpPr>
        <a:xfrm>
          <a:off x="0" y="0"/>
          <a:ext cx="0" cy="0"/>
          <a:chOff x="0" y="0"/>
          <a:chExt cx="0" cy="0"/>
        </a:xfrm>
      </p:grpSpPr>
      <p:sp>
        <p:nvSpPr>
          <p:cNvPr id="156" name="Google Shape;156;p1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4500" b="1">
                <a:solidFill>
                  <a:srgbClr val="541900"/>
                </a:solidFill>
              </a:rPr>
              <a:t>Interview Etiquette</a:t>
            </a:r>
            <a:endParaRPr sz="4500" b="1">
              <a:solidFill>
                <a:srgbClr val="541900"/>
              </a:solidFill>
            </a:endParaRPr>
          </a:p>
        </p:txBody>
      </p:sp>
      <p:sp>
        <p:nvSpPr>
          <p:cNvPr id="157" name="Google Shape;157;p12"/>
          <p:cNvSpPr txBox="1">
            <a:spLocks noGrp="1"/>
          </p:cNvSpPr>
          <p:nvPr>
            <p:ph type="body" idx="4294967295"/>
          </p:nvPr>
        </p:nvSpPr>
        <p:spPr>
          <a:xfrm>
            <a:off x="311700" y="1843725"/>
            <a:ext cx="8373300" cy="27390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SzPts val="1800"/>
              <a:buNone/>
            </a:pPr>
            <a:r>
              <a:rPr lang="en">
                <a:solidFill>
                  <a:schemeClr val="dk1"/>
                </a:solidFill>
              </a:rPr>
              <a:t>The qualities that make for good interview etiquette are:</a:t>
            </a: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endParaRPr>
              <a:solidFill>
                <a:schemeClr val="dk1"/>
              </a:solidFill>
            </a:endParaRPr>
          </a:p>
        </p:txBody>
      </p:sp>
      <p:sp>
        <p:nvSpPr>
          <p:cNvPr id="158" name="Google Shape;158;p12"/>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120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
        <p:nvSpPr>
          <p:cNvPr id="159" name="Google Shape;159;p12"/>
          <p:cNvSpPr txBox="1">
            <a:spLocks noGrp="1"/>
          </p:cNvSpPr>
          <p:nvPr>
            <p:ph type="body" idx="1"/>
          </p:nvPr>
        </p:nvSpPr>
        <p:spPr>
          <a:xfrm>
            <a:off x="311700" y="1196325"/>
            <a:ext cx="8777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1800"/>
              <a:buNone/>
            </a:pPr>
            <a:r>
              <a:rPr lang="en" sz="1900" i="1">
                <a:solidFill>
                  <a:srgbClr val="355E3B"/>
                </a:solidFill>
              </a:rPr>
              <a:t>As a class, work together to build a list containing the qualities of good interview etiquette. You can refer to this list as you prepare to conduct your interview </a:t>
            </a:r>
            <a:endParaRPr sz="1900" i="1">
              <a:solidFill>
                <a:srgbClr val="355E3B"/>
              </a:solidFill>
            </a:endParaRPr>
          </a:p>
        </p:txBody>
      </p:sp>
      <p:sp>
        <p:nvSpPr>
          <p:cNvPr id="160" name="Google Shape;160;p12">
            <a:hlinkClick r:id="rId3"/>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64"/>
        <p:cNvGrpSpPr/>
        <p:nvPr/>
      </p:nvGrpSpPr>
      <p:grpSpPr>
        <a:xfrm>
          <a:off x="0" y="0"/>
          <a:ext cx="0" cy="0"/>
          <a:chOff x="0" y="0"/>
          <a:chExt cx="0" cy="0"/>
        </a:xfrm>
      </p:grpSpPr>
      <p:sp>
        <p:nvSpPr>
          <p:cNvPr id="165" name="Google Shape;165;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en" sz="3600" b="1">
                <a:solidFill>
                  <a:srgbClr val="541900"/>
                </a:solidFill>
              </a:rPr>
              <a:t>Get Ready to Conduct Your Interview!</a:t>
            </a:r>
            <a:endParaRPr sz="3600" b="1">
              <a:solidFill>
                <a:srgbClr val="541900"/>
              </a:solidFill>
            </a:endParaRPr>
          </a:p>
        </p:txBody>
      </p:sp>
      <p:sp>
        <p:nvSpPr>
          <p:cNvPr id="166" name="Google Shape;166;p13"/>
          <p:cNvSpPr txBox="1">
            <a:spLocks noGrp="1"/>
          </p:cNvSpPr>
          <p:nvPr>
            <p:ph type="body" idx="4294967295"/>
          </p:nvPr>
        </p:nvSpPr>
        <p:spPr>
          <a:xfrm>
            <a:off x="311700" y="1843725"/>
            <a:ext cx="8373300" cy="2739000"/>
          </a:xfrm>
          <a:prstGeom prst="rect">
            <a:avLst/>
          </a:prstGeom>
          <a:noFill/>
          <a:ln>
            <a:noFill/>
          </a:ln>
        </p:spPr>
        <p:txBody>
          <a:bodyPr spcFirstLastPara="1" wrap="square" lIns="91425" tIns="91425" rIns="91425" bIns="91425" anchor="t" anchorCtr="0">
            <a:noAutofit/>
          </a:bodyPr>
          <a:lstStyle/>
          <a:p>
            <a:pPr marL="0" lvl="0" indent="0" algn="l" rtl="0">
              <a:lnSpc>
                <a:spcPct val="105000"/>
              </a:lnSpc>
              <a:spcBef>
                <a:spcPts val="0"/>
              </a:spcBef>
              <a:spcAft>
                <a:spcPts val="0"/>
              </a:spcAft>
              <a:buSzPts val="1800"/>
              <a:buNone/>
            </a:pPr>
            <a:r>
              <a:rPr lang="en">
                <a:solidFill>
                  <a:schemeClr val="dk1"/>
                </a:solidFill>
              </a:rPr>
              <a:t>Below are a couple of things to keep in mind for conducting your interview.</a:t>
            </a: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r>
              <a:rPr lang="en">
                <a:solidFill>
                  <a:schemeClr val="dk1"/>
                </a:solidFill>
              </a:rPr>
              <a:t>Think of where the interview will take place. Is it in-person or online?</a:t>
            </a: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r>
              <a:rPr lang="en">
                <a:solidFill>
                  <a:schemeClr val="dk1"/>
                </a:solidFill>
              </a:rPr>
              <a:t>Prepare who will ask the questions. You can share this responsibility with your whole group</a:t>
            </a: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r>
              <a:rPr lang="en">
                <a:solidFill>
                  <a:schemeClr val="dk1"/>
                </a:solidFill>
              </a:rPr>
              <a:t>Review your questions ahead of time.</a:t>
            </a: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r>
              <a:rPr lang="en">
                <a:solidFill>
                  <a:schemeClr val="dk1"/>
                </a:solidFill>
              </a:rPr>
              <a:t>Make sure to take good notes.</a:t>
            </a:r>
            <a:endParaRPr>
              <a:solidFill>
                <a:schemeClr val="dk1"/>
              </a:solidFill>
            </a:endParaRPr>
          </a:p>
          <a:p>
            <a:pPr marL="914400" lvl="0" indent="-342900" algn="l" rtl="0">
              <a:lnSpc>
                <a:spcPct val="105000"/>
              </a:lnSpc>
              <a:spcBef>
                <a:spcPts val="0"/>
              </a:spcBef>
              <a:spcAft>
                <a:spcPts val="0"/>
              </a:spcAft>
              <a:buClr>
                <a:srgbClr val="541900"/>
              </a:buClr>
              <a:buSzPts val="1800"/>
              <a:buAutoNum type="arabicPeriod"/>
            </a:pPr>
            <a:r>
              <a:rPr lang="en">
                <a:solidFill>
                  <a:schemeClr val="dk1"/>
                </a:solidFill>
              </a:rPr>
              <a:t>Be respectful and professional.</a:t>
            </a:r>
            <a:endParaRPr>
              <a:solidFill>
                <a:schemeClr val="dk1"/>
              </a:solidFill>
            </a:endParaRPr>
          </a:p>
          <a:p>
            <a:pPr marL="0" lvl="0" indent="0" algn="l" rtl="0">
              <a:lnSpc>
                <a:spcPct val="105000"/>
              </a:lnSpc>
              <a:spcBef>
                <a:spcPts val="0"/>
              </a:spcBef>
              <a:spcAft>
                <a:spcPts val="0"/>
              </a:spcAft>
              <a:buSzPts val="1800"/>
              <a:buNone/>
            </a:pPr>
            <a:endParaRPr>
              <a:solidFill>
                <a:schemeClr val="dk1"/>
              </a:solidFill>
            </a:endParaRPr>
          </a:p>
        </p:txBody>
      </p:sp>
      <p:sp>
        <p:nvSpPr>
          <p:cNvPr id="167" name="Google Shape;167;p13"/>
          <p:cNvSpPr txBox="1"/>
          <p:nvPr/>
        </p:nvSpPr>
        <p:spPr>
          <a:xfrm>
            <a:off x="311700" y="4571275"/>
            <a:ext cx="4343400" cy="324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13</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
        <p:nvSpPr>
          <p:cNvPr id="168" name="Google Shape;168;p13"/>
          <p:cNvSpPr txBox="1">
            <a:spLocks noGrp="1"/>
          </p:cNvSpPr>
          <p:nvPr>
            <p:ph type="body" idx="1"/>
          </p:nvPr>
        </p:nvSpPr>
        <p:spPr>
          <a:xfrm>
            <a:off x="311700" y="1196325"/>
            <a:ext cx="8777700" cy="572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1800"/>
              <a:buNone/>
            </a:pPr>
            <a:r>
              <a:rPr lang="en" sz="1900" i="1">
                <a:solidFill>
                  <a:srgbClr val="355E3B"/>
                </a:solidFill>
              </a:rPr>
              <a:t>It is time to conduct your interview! With your team, prepare to conduct the interview.</a:t>
            </a:r>
            <a:endParaRPr sz="1900" i="1">
              <a:solidFill>
                <a:srgbClr val="355E3B"/>
              </a:solidFill>
            </a:endParaRPr>
          </a:p>
        </p:txBody>
      </p:sp>
      <p:sp>
        <p:nvSpPr>
          <p:cNvPr id="169" name="Google Shape;169;p13">
            <a:hlinkClick r:id="rId3"/>
          </p:cNvPr>
          <p:cNvSpPr/>
          <p:nvPr/>
        </p:nvSpPr>
        <p:spPr>
          <a:xfrm>
            <a:off x="0" y="5207000"/>
            <a:ext cx="12600" cy="126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73"/>
        <p:cNvGrpSpPr/>
        <p:nvPr/>
      </p:nvGrpSpPr>
      <p:grpSpPr>
        <a:xfrm>
          <a:off x="0" y="0"/>
          <a:ext cx="0" cy="0"/>
          <a:chOff x="0" y="0"/>
          <a:chExt cx="0" cy="0"/>
        </a:xfrm>
      </p:grpSpPr>
      <p:sp>
        <p:nvSpPr>
          <p:cNvPr id="174" name="Google Shape;174;p14"/>
          <p:cNvSpPr txBox="1">
            <a:spLocks noGrp="1"/>
          </p:cNvSpPr>
          <p:nvPr>
            <p:ph type="body" idx="1"/>
          </p:nvPr>
        </p:nvSpPr>
        <p:spPr>
          <a:xfrm>
            <a:off x="311700" y="1196325"/>
            <a:ext cx="4886100" cy="763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1400"/>
              <a:buNone/>
            </a:pPr>
            <a:r>
              <a:rPr lang="en" sz="1800" i="1">
                <a:solidFill>
                  <a:srgbClr val="355E3B"/>
                </a:solidFill>
              </a:rPr>
              <a:t>Reflect on what you learned in your Science Journal (p.6) for Module 1.2:</a:t>
            </a:r>
            <a:endParaRPr sz="1800" i="1">
              <a:solidFill>
                <a:srgbClr val="355E3B"/>
              </a:solidFill>
            </a:endParaRPr>
          </a:p>
        </p:txBody>
      </p:sp>
      <p:sp>
        <p:nvSpPr>
          <p:cNvPr id="175" name="Google Shape;175;p14"/>
          <p:cNvSpPr txBox="1">
            <a:spLocks noGrp="1"/>
          </p:cNvSpPr>
          <p:nvPr>
            <p:ph type="title"/>
          </p:nvPr>
        </p:nvSpPr>
        <p:spPr>
          <a:xfrm>
            <a:off x="311700" y="445025"/>
            <a:ext cx="45435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 sz="4200" b="1">
                <a:solidFill>
                  <a:srgbClr val="541900"/>
                </a:solidFill>
              </a:rPr>
              <a:t>Reflect</a:t>
            </a:r>
            <a:endParaRPr sz="4200" b="1">
              <a:solidFill>
                <a:srgbClr val="541900"/>
              </a:solidFill>
            </a:endParaRPr>
          </a:p>
        </p:txBody>
      </p:sp>
      <p:sp>
        <p:nvSpPr>
          <p:cNvPr id="176" name="Google Shape;176;p14"/>
          <p:cNvSpPr txBox="1">
            <a:spLocks noGrp="1"/>
          </p:cNvSpPr>
          <p:nvPr>
            <p:ph type="body" idx="2"/>
          </p:nvPr>
        </p:nvSpPr>
        <p:spPr>
          <a:xfrm>
            <a:off x="311700" y="1959525"/>
            <a:ext cx="4543500" cy="2546400"/>
          </a:xfrm>
          <a:prstGeom prst="rect">
            <a:avLst/>
          </a:prstGeom>
          <a:noFill/>
          <a:ln>
            <a:noFill/>
          </a:ln>
        </p:spPr>
        <p:txBody>
          <a:bodyPr spcFirstLastPara="1" wrap="square" lIns="91425" tIns="91425" rIns="91425" bIns="91425" anchor="t" anchorCtr="0">
            <a:noAutofit/>
          </a:bodyPr>
          <a:lstStyle/>
          <a:p>
            <a:pPr marL="457200" lvl="0" indent="-323850" algn="l" rtl="0">
              <a:lnSpc>
                <a:spcPct val="115000"/>
              </a:lnSpc>
              <a:spcBef>
                <a:spcPts val="0"/>
              </a:spcBef>
              <a:spcAft>
                <a:spcPts val="0"/>
              </a:spcAft>
              <a:buClr>
                <a:schemeClr val="dk1"/>
              </a:buClr>
              <a:buSzPts val="1500"/>
              <a:buAutoNum type="arabicPeriod"/>
            </a:pPr>
            <a:r>
              <a:rPr lang="en" sz="1500">
                <a:solidFill>
                  <a:schemeClr val="dk1"/>
                </a:solidFill>
              </a:rPr>
              <a:t>What did you learn about planning and preparing for your community interview? How has your thinking about asking questions or gathering information changed?</a:t>
            </a:r>
            <a:endParaRPr sz="1500">
              <a:solidFill>
                <a:schemeClr val="dk1"/>
              </a:solidFill>
            </a:endParaRPr>
          </a:p>
          <a:p>
            <a:pPr marL="457200" lvl="0" indent="-323850" algn="l" rtl="0">
              <a:lnSpc>
                <a:spcPct val="115000"/>
              </a:lnSpc>
              <a:spcBef>
                <a:spcPts val="0"/>
              </a:spcBef>
              <a:spcAft>
                <a:spcPts val="0"/>
              </a:spcAft>
              <a:buClr>
                <a:schemeClr val="dk1"/>
              </a:buClr>
              <a:buSzPts val="1500"/>
              <a:buAutoNum type="arabicPeriod"/>
            </a:pPr>
            <a:r>
              <a:rPr lang="en" sz="1500">
                <a:solidFill>
                  <a:schemeClr val="dk1"/>
                </a:solidFill>
              </a:rPr>
              <a:t>What do you hope to learn from your community interviews?</a:t>
            </a:r>
            <a:endParaRPr sz="1500">
              <a:solidFill>
                <a:schemeClr val="dk1"/>
              </a:solidFill>
            </a:endParaRPr>
          </a:p>
          <a:p>
            <a:pPr marL="457200" lvl="0" indent="-323850" algn="l" rtl="0">
              <a:lnSpc>
                <a:spcPct val="115000"/>
              </a:lnSpc>
              <a:spcBef>
                <a:spcPts val="0"/>
              </a:spcBef>
              <a:spcAft>
                <a:spcPts val="0"/>
              </a:spcAft>
              <a:buClr>
                <a:schemeClr val="dk1"/>
              </a:buClr>
              <a:buSzPts val="1500"/>
              <a:buAutoNum type="arabicPeriod"/>
            </a:pPr>
            <a:r>
              <a:rPr lang="en" sz="1500">
                <a:solidFill>
                  <a:schemeClr val="dk1"/>
                </a:solidFill>
              </a:rPr>
              <a:t>What questions do you still have before conducting your interview? How could you find answers or prepare?</a:t>
            </a:r>
            <a:endParaRPr sz="1900">
              <a:solidFill>
                <a:schemeClr val="dk1"/>
              </a:solidFill>
            </a:endParaRPr>
          </a:p>
        </p:txBody>
      </p:sp>
      <p:sp>
        <p:nvSpPr>
          <p:cNvPr id="177" name="Google Shape;177;p14"/>
          <p:cNvSpPr txBox="1"/>
          <p:nvPr/>
        </p:nvSpPr>
        <p:spPr>
          <a:xfrm>
            <a:off x="311700" y="4571275"/>
            <a:ext cx="4343400" cy="4926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14</a:t>
            </a:fld>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pic>
        <p:nvPicPr>
          <p:cNvPr id="178" name="Google Shape;178;p14"/>
          <p:cNvPicPr preferRelativeResize="0"/>
          <p:nvPr/>
        </p:nvPicPr>
        <p:blipFill rotWithShape="1">
          <a:blip r:embed="rId3">
            <a:alphaModFix/>
          </a:blip>
          <a:srcRect l="39" t="23661" r="-39" b="4286"/>
          <a:stretch/>
        </p:blipFill>
        <p:spPr>
          <a:xfrm>
            <a:off x="4972050" y="0"/>
            <a:ext cx="4023150" cy="4361101"/>
          </a:xfrm>
          <a:prstGeom prst="rect">
            <a:avLst/>
          </a:prstGeom>
          <a:noFill/>
          <a:ln>
            <a:noFill/>
          </a:ln>
        </p:spPr>
      </p:pic>
      <p:sp>
        <p:nvSpPr>
          <p:cNvPr id="179" name="Google Shape;179;p14"/>
          <p:cNvSpPr txBox="1"/>
          <p:nvPr/>
        </p:nvSpPr>
        <p:spPr>
          <a:xfrm>
            <a:off x="4895850" y="4351075"/>
            <a:ext cx="40230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595959"/>
                </a:solidFill>
                <a:latin typeface="Arial"/>
                <a:ea typeface="Arial"/>
                <a:cs typeface="Arial"/>
                <a:sym typeface="Arial"/>
              </a:rPr>
              <a:t>Image created with ChatGPT</a:t>
            </a:r>
            <a:br>
              <a:rPr lang="en" sz="1000" b="0" i="0" u="none" strike="noStrike" cap="none">
                <a:solidFill>
                  <a:srgbClr val="595959"/>
                </a:solidFill>
                <a:latin typeface="Arial"/>
                <a:ea typeface="Arial"/>
                <a:cs typeface="Arial"/>
                <a:sym typeface="Arial"/>
              </a:rPr>
            </a:br>
            <a:r>
              <a:rPr lang="en" sz="1000" b="0" i="1" u="none" strike="noStrike" cap="none">
                <a:solidFill>
                  <a:srgbClr val="595959"/>
                </a:solidFill>
                <a:latin typeface="Arial"/>
                <a:ea typeface="Arial"/>
                <a:cs typeface="Arial"/>
                <a:sym typeface="Arial"/>
              </a:rPr>
              <a:t>Prompt: Create an image about SoCal beaches.</a:t>
            </a:r>
            <a:endParaRPr sz="1700" b="0" i="1" u="none" strike="noStrike" cap="none">
              <a:solidFill>
                <a:srgbClr val="595959"/>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83"/>
        <p:cNvGrpSpPr/>
        <p:nvPr/>
      </p:nvGrpSpPr>
      <p:grpSpPr>
        <a:xfrm>
          <a:off x="0" y="0"/>
          <a:ext cx="0" cy="0"/>
          <a:chOff x="0" y="0"/>
          <a:chExt cx="0" cy="0"/>
        </a:xfrm>
      </p:grpSpPr>
      <p:sp>
        <p:nvSpPr>
          <p:cNvPr id="184" name="Google Shape;184;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2800"/>
              <a:buNone/>
            </a:pPr>
            <a:r>
              <a:rPr lang="en" sz="4500" b="1">
                <a:solidFill>
                  <a:srgbClr val="541900"/>
                </a:solidFill>
              </a:rPr>
              <a:t>Thank you!</a:t>
            </a:r>
            <a:endParaRPr sz="4500" b="1">
              <a:solidFill>
                <a:srgbClr val="541900"/>
              </a:solidFill>
            </a:endParaRPr>
          </a:p>
        </p:txBody>
      </p:sp>
      <p:sp>
        <p:nvSpPr>
          <p:cNvPr id="185" name="Google Shape;185;p15"/>
          <p:cNvSpPr txBox="1"/>
          <p:nvPr/>
        </p:nvSpPr>
        <p:spPr>
          <a:xfrm>
            <a:off x="311700" y="1374600"/>
            <a:ext cx="8520600" cy="461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 sz="1800" b="0" i="0" u="none" strike="noStrike" cap="none">
                <a:solidFill>
                  <a:schemeClr val="dk1"/>
                </a:solidFill>
                <a:latin typeface="Arial"/>
                <a:ea typeface="Arial"/>
                <a:cs typeface="Arial"/>
                <a:sym typeface="Arial"/>
              </a:rPr>
              <a:t>If you have any questions, please feel free to reach out.</a:t>
            </a:r>
            <a:endParaRPr sz="1800" b="0" i="0" u="none" strike="noStrike" cap="none">
              <a:solidFill>
                <a:schemeClr val="dk1"/>
              </a:solidFill>
              <a:latin typeface="Arial"/>
              <a:ea typeface="Arial"/>
              <a:cs typeface="Arial"/>
              <a:sym typeface="Arial"/>
            </a:endParaRPr>
          </a:p>
        </p:txBody>
      </p:sp>
      <p:sp>
        <p:nvSpPr>
          <p:cNvPr id="186" name="Google Shape;186;p15"/>
          <p:cNvSpPr txBox="1"/>
          <p:nvPr/>
        </p:nvSpPr>
        <p:spPr>
          <a:xfrm>
            <a:off x="318402" y="3411013"/>
            <a:ext cx="3640200" cy="1200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chemeClr val="dk1"/>
                </a:solidFill>
                <a:latin typeface="Arial"/>
                <a:ea typeface="Arial"/>
                <a:cs typeface="Arial"/>
                <a:sym typeface="Arial"/>
              </a:rPr>
              <a:t>Ha Nguyen, Ph.D.</a:t>
            </a:r>
            <a:endParaRPr sz="22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200"/>
              <a:buFont typeface="Arial"/>
              <a:buNone/>
            </a:pPr>
            <a:r>
              <a:rPr lang="en" sz="2200" b="0" i="0" u="none" strike="noStrike" cap="none">
                <a:solidFill>
                  <a:schemeClr val="dk1"/>
                </a:solidFill>
                <a:latin typeface="Arial"/>
                <a:ea typeface="Arial"/>
                <a:cs typeface="Arial"/>
                <a:sym typeface="Arial"/>
              </a:rPr>
              <a:t>Assistant Professor, UNC</a:t>
            </a:r>
            <a:endParaRPr sz="22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200"/>
              <a:buFont typeface="Arial"/>
              <a:buNone/>
            </a:pPr>
            <a:r>
              <a:rPr lang="en" sz="2200" b="0" i="0" u="none" strike="noStrike" cap="none">
                <a:solidFill>
                  <a:schemeClr val="dk1"/>
                </a:solidFill>
                <a:latin typeface="Arial"/>
                <a:ea typeface="Arial"/>
                <a:cs typeface="Arial"/>
                <a:sym typeface="Arial"/>
              </a:rPr>
              <a:t>ha.nguyen@unc.edu</a:t>
            </a:r>
            <a:endParaRPr sz="2200" b="0" i="0" u="none" strike="noStrike" cap="none">
              <a:solidFill>
                <a:schemeClr val="dk1"/>
              </a:solidFill>
              <a:latin typeface="Arial"/>
              <a:ea typeface="Arial"/>
              <a:cs typeface="Arial"/>
              <a:sym typeface="Arial"/>
            </a:endParaRPr>
          </a:p>
        </p:txBody>
      </p:sp>
      <p:sp>
        <p:nvSpPr>
          <p:cNvPr id="187" name="Google Shape;187;p15"/>
          <p:cNvSpPr txBox="1"/>
          <p:nvPr/>
        </p:nvSpPr>
        <p:spPr>
          <a:xfrm>
            <a:off x="318400" y="1971462"/>
            <a:ext cx="3455100" cy="1200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 sz="2200" b="1" i="0" u="none" strike="noStrike" cap="none">
                <a:solidFill>
                  <a:schemeClr val="dk1"/>
                </a:solidFill>
                <a:latin typeface="Arial"/>
                <a:ea typeface="Arial"/>
                <a:cs typeface="Arial"/>
                <a:sym typeface="Arial"/>
              </a:rPr>
              <a:t>Erick Valdez</a:t>
            </a:r>
            <a:endParaRPr sz="22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200"/>
              <a:buFont typeface="Arial"/>
              <a:buNone/>
            </a:pPr>
            <a:r>
              <a:rPr lang="en" sz="2200" b="0" i="0" u="none" strike="noStrike" cap="none">
                <a:solidFill>
                  <a:schemeClr val="dk1"/>
                </a:solidFill>
                <a:latin typeface="Arial"/>
                <a:ea typeface="Arial"/>
                <a:cs typeface="Arial"/>
                <a:sym typeface="Arial"/>
              </a:rPr>
              <a:t>Inside the Outdoors</a:t>
            </a:r>
            <a:endParaRPr sz="22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200"/>
              <a:buFont typeface="Arial"/>
              <a:buNone/>
            </a:pPr>
            <a:r>
              <a:rPr lang="en" sz="2200" b="0" i="0" u="none" strike="noStrike" cap="none">
                <a:solidFill>
                  <a:schemeClr val="dk1"/>
                </a:solidFill>
                <a:latin typeface="Arial"/>
                <a:ea typeface="Arial"/>
                <a:cs typeface="Arial"/>
                <a:sym typeface="Arial"/>
              </a:rPr>
              <a:t>evaldez@ocde.us</a:t>
            </a:r>
            <a:endParaRPr sz="2200" b="0" i="0" u="none" strike="noStrike" cap="none">
              <a:solidFill>
                <a:schemeClr val="dk1"/>
              </a:solidFill>
              <a:latin typeface="Arial"/>
              <a:ea typeface="Arial"/>
              <a:cs typeface="Arial"/>
              <a:sym typeface="Arial"/>
            </a:endParaRPr>
          </a:p>
        </p:txBody>
      </p:sp>
      <p:pic>
        <p:nvPicPr>
          <p:cNvPr id="188" name="Google Shape;188;p15"/>
          <p:cNvPicPr preferRelativeResize="0"/>
          <p:nvPr/>
        </p:nvPicPr>
        <p:blipFill rotWithShape="1">
          <a:blip r:embed="rId3">
            <a:alphaModFix/>
          </a:blip>
          <a:srcRect/>
          <a:stretch/>
        </p:blipFill>
        <p:spPr>
          <a:xfrm>
            <a:off x="5958425" y="3531925"/>
            <a:ext cx="1289949" cy="1102075"/>
          </a:xfrm>
          <a:prstGeom prst="rect">
            <a:avLst/>
          </a:prstGeom>
          <a:noFill/>
          <a:ln>
            <a:noFill/>
          </a:ln>
        </p:spPr>
      </p:pic>
      <p:pic>
        <p:nvPicPr>
          <p:cNvPr id="189" name="Google Shape;189;p15" title="ITO-logo-col-clear.png"/>
          <p:cNvPicPr preferRelativeResize="0"/>
          <p:nvPr/>
        </p:nvPicPr>
        <p:blipFill rotWithShape="1">
          <a:blip r:embed="rId4">
            <a:alphaModFix/>
          </a:blip>
          <a:srcRect/>
          <a:stretch/>
        </p:blipFill>
        <p:spPr>
          <a:xfrm>
            <a:off x="4439452" y="1889150"/>
            <a:ext cx="1289950" cy="1329621"/>
          </a:xfrm>
          <a:prstGeom prst="rect">
            <a:avLst/>
          </a:prstGeom>
          <a:noFill/>
          <a:ln>
            <a:noFill/>
          </a:ln>
        </p:spPr>
      </p:pic>
      <p:pic>
        <p:nvPicPr>
          <p:cNvPr id="190" name="Google Shape;190;p15" title="University_of_California,_Irvine_seal.svg.png"/>
          <p:cNvPicPr preferRelativeResize="0"/>
          <p:nvPr/>
        </p:nvPicPr>
        <p:blipFill rotWithShape="1">
          <a:blip r:embed="rId5">
            <a:alphaModFix/>
          </a:blip>
          <a:srcRect/>
          <a:stretch/>
        </p:blipFill>
        <p:spPr>
          <a:xfrm>
            <a:off x="4495824" y="3470724"/>
            <a:ext cx="1233549" cy="1233576"/>
          </a:xfrm>
          <a:prstGeom prst="rect">
            <a:avLst/>
          </a:prstGeom>
          <a:noFill/>
          <a:ln>
            <a:noFill/>
          </a:ln>
        </p:spPr>
      </p:pic>
      <p:pic>
        <p:nvPicPr>
          <p:cNvPr id="191" name="Google Shape;191;p15" title="OCDE orange county department of education logo.png"/>
          <p:cNvPicPr preferRelativeResize="0"/>
          <p:nvPr/>
        </p:nvPicPr>
        <p:blipFill rotWithShape="1">
          <a:blip r:embed="rId6">
            <a:alphaModFix/>
          </a:blip>
          <a:srcRect/>
          <a:stretch/>
        </p:blipFill>
        <p:spPr>
          <a:xfrm>
            <a:off x="5958425" y="1907025"/>
            <a:ext cx="1289950" cy="1289950"/>
          </a:xfrm>
          <a:prstGeom prst="rect">
            <a:avLst/>
          </a:prstGeom>
          <a:noFill/>
          <a:ln>
            <a:noFill/>
          </a:ln>
        </p:spPr>
      </p:pic>
      <p:sp>
        <p:nvSpPr>
          <p:cNvPr id="192" name="Google Shape;192;p15"/>
          <p:cNvSpPr txBox="1"/>
          <p:nvPr/>
        </p:nvSpPr>
        <p:spPr>
          <a:xfrm>
            <a:off x="311700" y="4571275"/>
            <a:ext cx="4343400" cy="4926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Module 1.2 Planning Community Interviews</a:t>
            </a:r>
            <a:br>
              <a:rPr lang="en" sz="1200" b="0" i="0" u="none" strike="noStrike" cap="none">
                <a:solidFill>
                  <a:srgbClr val="000000"/>
                </a:solidFill>
                <a:latin typeface="Arial"/>
                <a:ea typeface="Arial"/>
                <a:cs typeface="Arial"/>
                <a:sym typeface="Arial"/>
              </a:rPr>
            </a:br>
            <a:r>
              <a:rPr lang="en" sz="1200" b="0" i="0" u="none" strike="noStrike" cap="none">
                <a:solidFill>
                  <a:srgbClr val="000000"/>
                </a:solidFill>
                <a:latin typeface="Arial"/>
                <a:ea typeface="Arial"/>
                <a:cs typeface="Arial"/>
                <a:sym typeface="Arial"/>
              </a:rPr>
              <a:t>Slide </a:t>
            </a:r>
            <a:fld id="{00000000-1234-1234-1234-123412341234}" type="slidenum">
              <a:rPr lang="en" sz="12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a:p>
            <a:pPr marL="0" marR="0" lvl="0" indent="0" algn="l" rtl="0">
              <a:lnSpc>
                <a:spcPct val="115000"/>
              </a:lnSpc>
              <a:spcBef>
                <a:spcPts val="1200"/>
              </a:spcBef>
              <a:spcAft>
                <a:spcPts val="1200"/>
              </a:spcAft>
              <a:buClr>
                <a:srgbClr val="000000"/>
              </a:buClr>
              <a:buSzPts val="1200"/>
              <a:buFont typeface="Arial"/>
              <a:buNone/>
            </a:pPr>
            <a:endParaRPr sz="12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3039</Words>
  <Application>Microsoft Macintosh PowerPoint</Application>
  <PresentationFormat>On-screen Show (16:9)</PresentationFormat>
  <Paragraphs>219</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Simple Light</vt:lpstr>
      <vt:lpstr>Planning Community Interviews</vt:lpstr>
      <vt:lpstr>Module 1.1 Recap</vt:lpstr>
      <vt:lpstr>Module Overview</vt:lpstr>
      <vt:lpstr>Conducting Interviews</vt:lpstr>
      <vt:lpstr>How can interviews help us understand our community’s perspectives around how Southern California's ocean is changing? </vt:lpstr>
      <vt:lpstr>Planning your Interview</vt:lpstr>
      <vt:lpstr>Planning your Interview</vt:lpstr>
      <vt:lpstr>Question Bank</vt:lpstr>
      <vt:lpstr>Refining interview plans</vt:lpstr>
      <vt:lpstr>Interview Etiquette</vt:lpstr>
      <vt:lpstr>Interview Etiquette</vt:lpstr>
      <vt:lpstr>Interview Etiquette</vt:lpstr>
      <vt:lpstr>Get Ready to Conduct Your Interview!</vt:lpstr>
      <vt:lpstr>Reflect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Nguyen, Ha</cp:lastModifiedBy>
  <cp:revision>2</cp:revision>
  <dcterms:modified xsi:type="dcterms:W3CDTF">2026-09-01T20:37:11Z</dcterms:modified>
</cp:coreProperties>
</file>