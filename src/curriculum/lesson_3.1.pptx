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3"/>
  </p:normalViewPr>
  <p:slideViewPr>
    <p:cSldViewPr snapToGrid="0">
      <p:cViewPr varScale="1">
        <p:scale>
          <a:sx n="153" d="100"/>
          <a:sy n="153" d="100"/>
        </p:scale>
        <p:origin x="536"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google.com/document/d/16pwwzGvMoa1mu0PmgDbIV_1bFVPdWBEkrKvuaoiQZNA/edit?tab=t.0"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docs.google.com/document/d/1UndupAAsxXThMWqwfrnMWLxA3dpkoK1Unx8y0T5mxfk/edit?tab=t.0#heading=h.66wasdi8eqf3"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Calibri"/>
                <a:ea typeface="Calibri"/>
                <a:cs typeface="Calibri"/>
                <a:sym typeface="Calibri"/>
              </a:rPr>
              <a:t>Link to </a:t>
            </a:r>
            <a:r>
              <a:rPr lang="en" sz="1200" u="sng">
                <a:solidFill>
                  <a:schemeClr val="hlink"/>
                </a:solidFill>
                <a:latin typeface="Calibri"/>
                <a:ea typeface="Calibri"/>
                <a:cs typeface="Calibri"/>
                <a:sym typeface="Calibri"/>
                <a:hlinkClick r:id="rId3"/>
              </a:rPr>
              <a:t>Module 3.1 Lesson Plan</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BEFORE YOU START TEACHING</a:t>
            </a:r>
            <a:endParaRPr sz="1200" b="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the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Teacher Facilitation Guide</a:t>
            </a:r>
            <a:r>
              <a:rPr lang="en" sz="1200">
                <a:solidFill>
                  <a:schemeClr val="dk1"/>
                </a:solidFill>
                <a:latin typeface="Calibri"/>
                <a:ea typeface="Calibri"/>
                <a:cs typeface="Calibri"/>
                <a:sym typeface="Calibri"/>
              </a:rPr>
              <a:t> for an overview of content and the curriculum as well as helpful facilitation suggestions.</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Include a numbered list of general steps to set up the investigation before students arrive.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This can also include other things that educators should do or think about before starting the lesson, such as checking for safety concerns.</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_______</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Open the slideshow to </a:t>
            </a:r>
            <a:r>
              <a:rPr lang="en" sz="1200" b="1">
                <a:solidFill>
                  <a:schemeClr val="dk1"/>
                </a:solidFill>
                <a:latin typeface="Calibri"/>
                <a:ea typeface="Calibri"/>
                <a:cs typeface="Calibri"/>
                <a:sym typeface="Calibri"/>
              </a:rPr>
              <a:t>Slide 1 </a:t>
            </a:r>
            <a:r>
              <a:rPr lang="en" sz="1200">
                <a:solidFill>
                  <a:schemeClr val="dk1"/>
                </a:solidFill>
                <a:latin typeface="Calibri"/>
                <a:ea typeface="Calibri"/>
                <a:cs typeface="Calibri"/>
                <a:sym typeface="Calibri"/>
              </a:rPr>
              <a:t>and inform students that today is the beginning of module 3. Tell students that in module 3, they will focus on the carbon cycle and incorporate it into the models they have built in Modules 1 and 2. </a:t>
            </a:r>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ae48c67a17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ae48c67a17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2</a:t>
            </a:r>
            <a:r>
              <a:rPr lang="en" sz="1200">
                <a:solidFill>
                  <a:schemeClr val="dk1"/>
                </a:solidFill>
                <a:latin typeface="Calibri"/>
                <a:ea typeface="Calibri"/>
                <a:cs typeface="Calibri"/>
                <a:sym typeface="Calibri"/>
              </a:rPr>
              <a:t> and have students work in groups to think about their models from Module 2.</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did you collect data to inform your SageModeler model?</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information is still missing? How can you get that information?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After students have discussed</a:t>
            </a:r>
            <a:r>
              <a:rPr lang="en" sz="1200" b="1">
                <a:solidFill>
                  <a:schemeClr val="dk1"/>
                </a:solidFill>
                <a:latin typeface="Calibri"/>
                <a:ea typeface="Calibri"/>
                <a:cs typeface="Calibri"/>
                <a:sym typeface="Calibri"/>
              </a:rPr>
              <a:t>,</a:t>
            </a:r>
            <a:r>
              <a:rPr lang="en" sz="1200">
                <a:solidFill>
                  <a:schemeClr val="dk1"/>
                </a:solidFill>
                <a:latin typeface="Calibri"/>
                <a:ea typeface="Calibri"/>
                <a:cs typeface="Calibri"/>
                <a:sym typeface="Calibri"/>
              </a:rPr>
              <a:t> share with the class that in Module 3, they will explore how they can strengthen their models even further through additional investigations.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ae48c67a17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ae48c67a17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3</a:t>
            </a:r>
            <a:r>
              <a:rPr lang="en" sz="1200">
                <a:solidFill>
                  <a:schemeClr val="dk1"/>
                </a:solidFill>
                <a:latin typeface="Calibri"/>
                <a:ea typeface="Calibri"/>
                <a:cs typeface="Calibri"/>
                <a:sym typeface="Calibri"/>
              </a:rPr>
              <a:t> and share the objectives for lesson 3.1. Tell them that in Module 3, they will be focusing further on carbon dioxide’s role in their model and how it can affect other factors.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ae48c67a17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ae48c67a17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Move to </a:t>
            </a:r>
            <a:r>
              <a:rPr lang="en" sz="1200" b="1">
                <a:solidFill>
                  <a:schemeClr val="dk1"/>
                </a:solidFill>
                <a:latin typeface="Calibri"/>
                <a:ea typeface="Calibri"/>
                <a:cs typeface="Calibri"/>
                <a:sym typeface="Calibri"/>
              </a:rPr>
              <a:t>Slide 4 </a:t>
            </a:r>
            <a:r>
              <a:rPr lang="en" sz="1200">
                <a:solidFill>
                  <a:schemeClr val="dk1"/>
                </a:solidFill>
                <a:latin typeface="Calibri"/>
                <a:ea typeface="Calibri"/>
                <a:cs typeface="Calibri"/>
                <a:sym typeface="Calibri"/>
              </a:rPr>
              <a:t>which </a:t>
            </a:r>
            <a:r>
              <a:rPr lang="en" sz="1200">
                <a:solidFill>
                  <a:srgbClr val="0F0F0F"/>
                </a:solidFill>
                <a:latin typeface="Calibri"/>
                <a:ea typeface="Calibri"/>
                <a:cs typeface="Calibri"/>
                <a:sym typeface="Calibri"/>
              </a:rPr>
              <a:t>shows a dual axis line graph without any labels. </a:t>
            </a:r>
            <a:endParaRPr sz="1200">
              <a:solidFill>
                <a:srgbClr val="0F0F0F"/>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rgbClr val="0F0F0F"/>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r>
              <a:rPr lang="en" sz="1200">
                <a:solidFill>
                  <a:srgbClr val="0F0F0F"/>
                </a:solidFill>
                <a:latin typeface="Calibri"/>
                <a:ea typeface="Calibri"/>
                <a:cs typeface="Calibri"/>
                <a:sym typeface="Calibri"/>
              </a:rPr>
              <a:t>The light blue line, which correlates to the y-axis on the left, shows increases in global atmospheric carbon dioxide levels since 1751. The gray line, which correlates to the y-axis on the right, shows increases in carbon dioxide emissions since 1751.</a:t>
            </a:r>
            <a:endParaRPr sz="1200">
              <a:solidFill>
                <a:srgbClr val="0F0F0F"/>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rgbClr val="0F0F0F"/>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r>
              <a:rPr lang="en" sz="1200">
                <a:solidFill>
                  <a:srgbClr val="0F0F0F"/>
                </a:solidFill>
                <a:latin typeface="Calibri"/>
                <a:ea typeface="Calibri"/>
                <a:cs typeface="Calibri"/>
                <a:sym typeface="Calibri"/>
              </a:rPr>
              <a:t>Invite students to make observations about the graph:</a:t>
            </a:r>
            <a:endParaRPr sz="1200">
              <a:solidFill>
                <a:srgbClr val="0F0F0F"/>
              </a:solidFill>
              <a:latin typeface="Calibri"/>
              <a:ea typeface="Calibri"/>
              <a:cs typeface="Calibri"/>
              <a:sym typeface="Calibri"/>
            </a:endParaRPr>
          </a:p>
          <a:p>
            <a:pPr marL="457200" lvl="0" indent="-304800" algn="l" rtl="0">
              <a:lnSpc>
                <a:spcPct val="115000"/>
              </a:lnSpc>
              <a:spcBef>
                <a:spcPts val="0"/>
              </a:spcBef>
              <a:spcAft>
                <a:spcPts val="0"/>
              </a:spcAft>
              <a:buClr>
                <a:srgbClr val="0F0F0F"/>
              </a:buClr>
              <a:buSzPts val="1200"/>
              <a:buFont typeface="Calibri"/>
              <a:buChar char="●"/>
            </a:pPr>
            <a:r>
              <a:rPr lang="en" sz="1200">
                <a:solidFill>
                  <a:srgbClr val="0F0F0F"/>
                </a:solidFill>
                <a:latin typeface="Calibri"/>
                <a:ea typeface="Calibri"/>
                <a:cs typeface="Calibri"/>
                <a:sym typeface="Calibri"/>
              </a:rPr>
              <a:t>What do you notice? What do you wonder?</a:t>
            </a:r>
            <a:endParaRPr sz="1200">
              <a:solidFill>
                <a:srgbClr val="0F0F0F"/>
              </a:solidFill>
              <a:latin typeface="Calibri"/>
              <a:ea typeface="Calibri"/>
              <a:cs typeface="Calibri"/>
              <a:sym typeface="Calibri"/>
            </a:endParaRPr>
          </a:p>
          <a:p>
            <a:pPr marL="457200" lvl="0" indent="-304800" algn="l" rtl="0">
              <a:lnSpc>
                <a:spcPct val="115000"/>
              </a:lnSpc>
              <a:spcBef>
                <a:spcPts val="0"/>
              </a:spcBef>
              <a:spcAft>
                <a:spcPts val="0"/>
              </a:spcAft>
              <a:buClr>
                <a:srgbClr val="0F0F0F"/>
              </a:buClr>
              <a:buSzPts val="1200"/>
              <a:buFont typeface="Calibri"/>
              <a:buChar char="●"/>
            </a:pPr>
            <a:r>
              <a:rPr lang="en" sz="1200">
                <a:solidFill>
                  <a:srgbClr val="0F0F0F"/>
                </a:solidFill>
                <a:latin typeface="Calibri"/>
                <a:ea typeface="Calibri"/>
                <a:cs typeface="Calibri"/>
                <a:sym typeface="Calibri"/>
              </a:rPr>
              <a:t>How would you describe the trends that you see?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ae48c67a1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ae48c67a1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rgbClr val="0F0F0F"/>
              </a:buClr>
              <a:buSzPts val="1200"/>
              <a:buFont typeface="Calibri"/>
              <a:buAutoNum type="arabicPeriod"/>
            </a:pPr>
            <a:r>
              <a:rPr lang="en" sz="1200">
                <a:solidFill>
                  <a:srgbClr val="0F0F0F"/>
                </a:solidFill>
                <a:latin typeface="Calibri"/>
                <a:ea typeface="Calibri"/>
                <a:cs typeface="Calibri"/>
                <a:sym typeface="Calibri"/>
              </a:rPr>
              <a:t>Advance through </a:t>
            </a:r>
            <a:r>
              <a:rPr lang="en" sz="1200" b="1">
                <a:solidFill>
                  <a:srgbClr val="0F0F0F"/>
                </a:solidFill>
                <a:latin typeface="Calibri"/>
                <a:ea typeface="Calibri"/>
                <a:cs typeface="Calibri"/>
                <a:sym typeface="Calibri"/>
              </a:rPr>
              <a:t>Slide 5</a:t>
            </a:r>
            <a:r>
              <a:rPr lang="en" sz="1200">
                <a:solidFill>
                  <a:srgbClr val="0F0F0F"/>
                </a:solidFill>
                <a:latin typeface="Calibri"/>
                <a:ea typeface="Calibri"/>
                <a:cs typeface="Calibri"/>
                <a:sym typeface="Calibri"/>
              </a:rPr>
              <a:t>, which will add numerical labels to the graph’s x-axis. As you do so, ask students:</a:t>
            </a:r>
            <a:endParaRPr sz="1200">
              <a:solidFill>
                <a:srgbClr val="0F0F0F"/>
              </a:solidFill>
              <a:latin typeface="Calibri"/>
              <a:ea typeface="Calibri"/>
              <a:cs typeface="Calibri"/>
              <a:sym typeface="Calibri"/>
            </a:endParaRPr>
          </a:p>
          <a:p>
            <a:pPr marL="457200" lvl="0" indent="-304800" algn="l" rtl="0">
              <a:lnSpc>
                <a:spcPct val="115000"/>
              </a:lnSpc>
              <a:spcBef>
                <a:spcPts val="0"/>
              </a:spcBef>
              <a:spcAft>
                <a:spcPts val="0"/>
              </a:spcAft>
              <a:buClr>
                <a:srgbClr val="0F0F0F"/>
              </a:buClr>
              <a:buSzPts val="1200"/>
              <a:buFont typeface="Calibri"/>
              <a:buChar char="●"/>
            </a:pPr>
            <a:r>
              <a:rPr lang="en" sz="1200">
                <a:solidFill>
                  <a:srgbClr val="0F0F0F"/>
                </a:solidFill>
                <a:latin typeface="Calibri"/>
                <a:ea typeface="Calibri"/>
                <a:cs typeface="Calibri"/>
                <a:sym typeface="Calibri"/>
              </a:rPr>
              <a:t>What do you notice? What do you wonder?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ae48c67a17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ae48c67a17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rgbClr val="0F0F0F"/>
              </a:buClr>
              <a:buSzPts val="1200"/>
              <a:buFont typeface="Calibri"/>
              <a:buAutoNum type="arabicPeriod"/>
            </a:pPr>
            <a:r>
              <a:rPr lang="en" sz="1200">
                <a:solidFill>
                  <a:srgbClr val="0F0F0F"/>
                </a:solidFill>
                <a:latin typeface="Calibri"/>
                <a:ea typeface="Calibri"/>
                <a:cs typeface="Calibri"/>
                <a:sym typeface="Calibri"/>
              </a:rPr>
              <a:t>Move on to </a:t>
            </a:r>
            <a:r>
              <a:rPr lang="en" sz="1200" b="1">
                <a:solidFill>
                  <a:srgbClr val="0F0F0F"/>
                </a:solidFill>
                <a:latin typeface="Calibri"/>
                <a:ea typeface="Calibri"/>
                <a:cs typeface="Calibri"/>
                <a:sym typeface="Calibri"/>
              </a:rPr>
              <a:t>Slide 6</a:t>
            </a:r>
            <a:r>
              <a:rPr lang="en" sz="1200">
                <a:solidFill>
                  <a:schemeClr val="dk1"/>
                </a:solidFill>
                <a:latin typeface="Calibri"/>
                <a:ea typeface="Calibri"/>
                <a:cs typeface="Calibri"/>
                <a:sym typeface="Calibri"/>
              </a:rPr>
              <a:t>, which will show the labeled left-hand y-axis. Ask the class: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do you notice? What do you wonder?</a:t>
            </a:r>
            <a:endParaRPr sz="1200" i="1">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do you think is causing the trend we see in the graph?</a:t>
            </a:r>
            <a:endParaRPr sz="1200">
              <a:solidFill>
                <a:schemeClr val="dk1"/>
              </a:solidFill>
              <a:latin typeface="Calibri"/>
              <a:ea typeface="Calibri"/>
              <a:cs typeface="Calibri"/>
              <a:sym typeface="Calibri"/>
            </a:endParaRPr>
          </a:p>
          <a:p>
            <a:pPr marL="9144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Once students share, confirm for them that the light blue line is a visual representation of the average amount of carbon dioxide in our atmosphere.</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Have student groups discuss together and answer the following question. When they have discussed, bring the class back together.</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do you think might have caused this rise in atmospheric carbon dioxide levels?</a:t>
            </a:r>
            <a:endParaRPr sz="12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ae48c67a17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ae48c67a17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Slides 7,</a:t>
            </a:r>
            <a:r>
              <a:rPr lang="en" sz="1200">
                <a:solidFill>
                  <a:schemeClr val="dk1"/>
                </a:solidFill>
                <a:latin typeface="Calibri"/>
                <a:ea typeface="Calibri"/>
                <a:cs typeface="Calibri"/>
                <a:sym typeface="Calibri"/>
              </a:rPr>
              <a:t> which adds labels to the gray y-axis on the right, revealing that it shows an increase in carbon dioxide emissions. Ask students: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do you notice? What do you wonder?</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are these graphs similar? Different?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ae48c67a17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ae48c67a17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Finally, move on to </a:t>
            </a:r>
            <a:r>
              <a:rPr lang="en" sz="1200" b="1">
                <a:solidFill>
                  <a:schemeClr val="dk1"/>
                </a:solidFill>
                <a:latin typeface="Calibri"/>
                <a:ea typeface="Calibri"/>
                <a:cs typeface="Calibri"/>
                <a:sym typeface="Calibri"/>
              </a:rPr>
              <a:t>Slide 8</a:t>
            </a:r>
            <a:r>
              <a:rPr lang="en" sz="1200">
                <a:solidFill>
                  <a:schemeClr val="dk1"/>
                </a:solidFill>
                <a:latin typeface="Calibri"/>
                <a:ea typeface="Calibri"/>
                <a:cs typeface="Calibri"/>
                <a:sym typeface="Calibri"/>
              </a:rPr>
              <a:t>, which gives the graph a title and shares the original source of the graph. Once you’ve finished revealing the full graph, ask the class: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would you describe the relationship between these graphs?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Where might the carbon dioxide emissions be coming from?</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 you think the rise in carbon dioxide in our atmosphere might be affecting our planet? </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share, reinforce ideas that discuss the increase in carbon dioxide emissions over the years or how it can impact their community. Use the opportunity to assess their current understanding, not to correct misconceptions.</a:t>
            </a:r>
            <a:endParaRPr sz="1200">
              <a:solidFill>
                <a:schemeClr val="dk1"/>
              </a:solidFill>
              <a:latin typeface="Calibri"/>
              <a:ea typeface="Calibri"/>
              <a:cs typeface="Calibri"/>
              <a:sym typeface="Calibri"/>
            </a:endParaRPr>
          </a:p>
          <a:p>
            <a:pPr marL="4572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After students have shared, tell students that today, they will start to learn more about carbon dioxide and how it cycles throughout our planet. </a:t>
            </a:r>
            <a:endParaRPr sz="12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4ac343a9b0_0_54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4ac343a9b0_0_54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you move into the Investigate section, tell students that in order to understand how carbon is moving through a system, you are going to have them work in their groups to build a drawn model of how carbon naturally moves and interacts with the earth.</a:t>
            </a:r>
            <a:endParaRPr sz="1200">
              <a:solidFill>
                <a:schemeClr val="dk1"/>
              </a:solidFill>
              <a:latin typeface="Calibri"/>
              <a:ea typeface="Calibri"/>
              <a:cs typeface="Calibri"/>
              <a:sym typeface="Calibri"/>
            </a:endParaRPr>
          </a:p>
          <a:p>
            <a:pPr marL="2286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9 </a:t>
            </a:r>
            <a:r>
              <a:rPr lang="en" sz="1200">
                <a:solidFill>
                  <a:schemeClr val="dk1"/>
                </a:solidFill>
                <a:latin typeface="Calibri"/>
                <a:ea typeface="Calibri"/>
                <a:cs typeface="Calibri"/>
                <a:sym typeface="Calibri"/>
              </a:rPr>
              <a:t>where they will see a base model and a few things to keep in mind while modeling. </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Science Journal, Module 3.1 The Carbon Cycle, Student Task: Create a Model of the Carbon Cycle (p. 25-26)</a:t>
            </a:r>
            <a:r>
              <a:rPr lang="en" sz="1200">
                <a:solidFill>
                  <a:schemeClr val="dk1"/>
                </a:solidFill>
                <a:latin typeface="Calibri"/>
                <a:ea typeface="Calibri"/>
                <a:cs typeface="Calibri"/>
                <a:sym typeface="Calibri"/>
              </a:rPr>
              <a:t> has same reflection questions for students to think about as they build their models.</a:t>
            </a:r>
            <a:endParaRPr sz="1200">
              <a:solidFill>
                <a:schemeClr val="dk1"/>
              </a:solidFill>
              <a:latin typeface="Calibri"/>
              <a:ea typeface="Calibri"/>
              <a:cs typeface="Calibri"/>
              <a:sym typeface="Calibri"/>
            </a:endParaRPr>
          </a:p>
          <a:p>
            <a:pPr marL="2286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 you model, think about how carbon interacts with different parts of the Earth, including the:</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Geosphere: The solid parts of Earth, including rocks, soil, and fossils.</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Biosphere: All the living things on Earth, including plants, animals and humans.</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Hydrosphere: All the water on Earth, including oceans, ice, and moisture in the air.</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Atmosphere: The air we breath and gasses surrounding Earth.</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Also make sure you are including:</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Where carbon is found in your model</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Labels to describe the pieces of your drawing</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Arrows to show the movement of carbon between spheres</a:t>
            </a:r>
            <a:endParaRPr sz="1200">
              <a:solidFill>
                <a:schemeClr val="dk1"/>
              </a:solidFill>
              <a:latin typeface="Calibri"/>
              <a:ea typeface="Calibri"/>
              <a:cs typeface="Calibri"/>
              <a:sym typeface="Calibri"/>
            </a:endParaRPr>
          </a:p>
          <a:p>
            <a:pPr marL="2286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Hand out a poster paper for students to build their model as a group. As students are working on their model, walk between groups and use guiding and probing questions to help them think about how to expand on their model.</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is carbon moving between the atmosphere, hydrosphere, biosphere, or geosphere in this section?</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Which processes are involved here? (photosynthesis, respiration, decomposition?)</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might carbon move into the ocean or other parts of the hydrosphere? </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Which processes return carbon to the atmosphere?</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Where might carbon go next?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ae48c67a17_0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ae48c67a17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are finishing up, bring them together to have them think about how carbon might be introduced through human source. Move to </a:t>
            </a:r>
            <a:r>
              <a:rPr lang="en" sz="1200" b="1">
                <a:solidFill>
                  <a:schemeClr val="dk1"/>
                </a:solidFill>
                <a:latin typeface="Calibri"/>
                <a:ea typeface="Calibri"/>
                <a:cs typeface="Calibri"/>
                <a:sym typeface="Calibri"/>
              </a:rPr>
              <a:t>Slide 10 </a:t>
            </a:r>
            <a:r>
              <a:rPr lang="en" sz="1200">
                <a:solidFill>
                  <a:schemeClr val="dk1"/>
                </a:solidFill>
                <a:latin typeface="Calibri"/>
                <a:ea typeface="Calibri"/>
                <a:cs typeface="Calibri"/>
                <a:sym typeface="Calibri"/>
              </a:rPr>
              <a:t>and invite students to consider how they may add human sources of carbon into their model.</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Which processes in your model are human contributions? </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other human sources of carbon can you think of?</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 students share, listen for ideas focused on deforestation, fossil fuel burning (electricity and heat production; transportation), agriculture, industry emissions (e.g., from cement production), commercial and residential building.</a:t>
            </a:r>
            <a:endParaRPr sz="1200">
              <a:solidFill>
                <a:schemeClr val="dk1"/>
              </a:solidFill>
              <a:latin typeface="Calibri"/>
              <a:ea typeface="Calibri"/>
              <a:cs typeface="Calibri"/>
              <a:sym typeface="Calibri"/>
            </a:endParaRPr>
          </a:p>
          <a:p>
            <a:pPr marL="2286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have shared, give them a few minutes to update their model to include these new ideas. To help them make connections, ask:</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Which parts of the natural cycle are most affected by these activities? Where does the extra carbon go?</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ae48c67a17_0_1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ae48c67a17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Bring the class back together and advance the slideshow to </a:t>
            </a:r>
            <a:r>
              <a:rPr lang="en" sz="1200" b="1">
                <a:solidFill>
                  <a:schemeClr val="dk1"/>
                </a:solidFill>
                <a:latin typeface="Calibri"/>
                <a:ea typeface="Calibri"/>
                <a:cs typeface="Calibri"/>
                <a:sym typeface="Calibri"/>
              </a:rPr>
              <a:t>Slide 11. </a:t>
            </a:r>
            <a:r>
              <a:rPr lang="en" sz="1200">
                <a:solidFill>
                  <a:schemeClr val="dk1"/>
                </a:solidFill>
                <a:latin typeface="Calibri"/>
                <a:ea typeface="Calibri"/>
                <a:cs typeface="Calibri"/>
                <a:sym typeface="Calibri"/>
              </a:rPr>
              <a:t>Give a moment for students to share their findings with one another as a class. Ask the following question to get the conversation started. </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did carbon move through the Earth in the model?</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might rising CO₂ emissions through human uses impact the carbon cycle?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ae48c67a17_0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ae48c67a17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have shared, ask them to think back to what their community values about the Southern California ocean. Advance to </a:t>
            </a:r>
            <a:r>
              <a:rPr lang="en" sz="1200" b="1">
                <a:solidFill>
                  <a:schemeClr val="dk1"/>
                </a:solidFill>
                <a:latin typeface="Calibri"/>
                <a:ea typeface="Calibri"/>
                <a:cs typeface="Calibri"/>
                <a:sym typeface="Calibri"/>
              </a:rPr>
              <a:t>Slide 12</a:t>
            </a:r>
            <a:r>
              <a:rPr lang="en" sz="1200">
                <a:solidFill>
                  <a:schemeClr val="dk1"/>
                </a:solidFill>
                <a:latin typeface="Calibri"/>
                <a:ea typeface="Calibri"/>
                <a:cs typeface="Calibri"/>
                <a:sym typeface="Calibri"/>
              </a:rPr>
              <a:t> and ask them to share responses as a class to the following questions:</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Which aspects of the ocean do you or your community care about?</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could changes in the carbon cycle or increases in carbon emissions affect those values?</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might we explore further?</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 students share their ideas, listen for and recognize responses that focus on exploring processes we will focus on in Module 3, which include, causes of sea level rise, coastal erosion, changing global temperatures, changes in the ocean’s pH, and impacts on food webs.</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b="1">
                <a:solidFill>
                  <a:schemeClr val="dk1"/>
                </a:solidFill>
                <a:highlight>
                  <a:srgbClr val="FFFF00"/>
                </a:highlight>
                <a:latin typeface="Calibri"/>
                <a:ea typeface="Calibri"/>
                <a:cs typeface="Calibri"/>
                <a:sym typeface="Calibri"/>
              </a:rPr>
              <a:t>Notes to educators</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Depending on which focus students show more interest in (e.g., sea level rise/coastal erosion versus ocean acidification/food webs), select the appropriate lesson, EITHER 3.3 OR 3.4. Students may do both if you have time.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4ac343a9b0_0_54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4ac343a9b0_0_54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you wrap up for the day, share with students that their final task for the day is to reflect on the lesson.</a:t>
            </a:r>
            <a:endParaRPr sz="1200">
              <a:solidFill>
                <a:schemeClr val="dk1"/>
              </a:solidFill>
              <a:latin typeface="Calibri"/>
              <a:ea typeface="Calibri"/>
              <a:cs typeface="Calibri"/>
              <a:sym typeface="Calibri"/>
            </a:endParaRPr>
          </a:p>
          <a:p>
            <a:pPr marL="4572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13 </a:t>
            </a:r>
            <a:r>
              <a:rPr lang="en" sz="1200">
                <a:solidFill>
                  <a:schemeClr val="dk1"/>
                </a:solidFill>
                <a:latin typeface="Calibri"/>
                <a:ea typeface="Calibri"/>
                <a:cs typeface="Calibri"/>
                <a:sym typeface="Calibri"/>
              </a:rPr>
              <a:t>and have student teams work together to answer the following questions in their Science Journals on </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3.1: The Carbon Cycle (Student Reflection), p. 27.</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has your thinking about the carbon cycle changed? What new ideas or connections did you discover about how carbon moves through the Earth’s systems and how humans affect that movement?</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natural process did you choose to investigate next (e.g., sea level rising, coastal erosion, ocean acidification, or weather pattern changes? How does this process affect the value your community places on Southern California’s ocean?</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questions do you still have? What evidence, data, or models would help you understand this process better?</a:t>
            </a:r>
            <a:endParaRPr sz="1200">
              <a:solidFill>
                <a:schemeClr val="dk1"/>
              </a:solidFill>
              <a:latin typeface="Calibri"/>
              <a:ea typeface="Calibri"/>
              <a:cs typeface="Calibri"/>
              <a:sym typeface="Calibri"/>
            </a:endParaRPr>
          </a:p>
          <a:p>
            <a:pPr marL="9144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wrap up their discussion, and if time allows, have teams share with the entire class.</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Thank the students for their time today. Let students know that during the next session, they are going to take more time to explore how carbon dioxide can impact the Earth’s atmosphere, and how that impacts humans.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4ac343a9b0_0_55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4ac343a9b0_0_5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with footer">
  <p:cSld name="ONE_COLUMN_TEXT_1">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rmAutofit lnSpcReduction="1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2" name="Google Shape;52;p13"/>
          <p:cNvSpPr txBox="1">
            <a:spLocks noGrp="1"/>
          </p:cNvSpPr>
          <p:nvPr>
            <p:ph type="title"/>
          </p:nvPr>
        </p:nvSpPr>
        <p:spPr>
          <a:xfrm>
            <a:off x="228600" y="2236650"/>
            <a:ext cx="3551400" cy="670200"/>
          </a:xfrm>
          <a:prstGeom prst="rect">
            <a:avLst/>
          </a:prstGeom>
        </p:spPr>
        <p:txBody>
          <a:bodyPr spcFirstLastPara="1" wrap="square" lIns="91425" tIns="91425" rIns="91425" bIns="91425" anchor="ctr" anchorCtr="0">
            <a:norm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
        <p:nvSpPr>
          <p:cNvPr id="53" name="Google Shape;53;p13"/>
          <p:cNvSpPr txBox="1">
            <a:spLocks noGrp="1"/>
          </p:cNvSpPr>
          <p:nvPr>
            <p:ph type="subTitle" idx="1"/>
          </p:nvPr>
        </p:nvSpPr>
        <p:spPr>
          <a:xfrm>
            <a:off x="4572000" y="1004700"/>
            <a:ext cx="4343400" cy="3134100"/>
          </a:xfrm>
          <a:prstGeom prst="rect">
            <a:avLst/>
          </a:prstGeom>
        </p:spPr>
        <p:txBody>
          <a:bodyPr spcFirstLastPara="1" wrap="square" lIns="91425" tIns="91425" rIns="91425" bIns="91425" anchor="t" anchorCtr="0">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13"/>
          <p:cNvSpPr txBox="1">
            <a:spLocks noGrp="1"/>
          </p:cNvSpPr>
          <p:nvPr>
            <p:ph type="body" idx="2"/>
          </p:nvPr>
        </p:nvSpPr>
        <p:spPr>
          <a:xfrm>
            <a:off x="228600" y="4679000"/>
            <a:ext cx="4343400" cy="3243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cxnSp>
        <p:nvCxnSpPr>
          <p:cNvPr id="55" name="Google Shape;55;p13"/>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idx="4294967295"/>
          </p:nvPr>
        </p:nvSpPr>
        <p:spPr>
          <a:xfrm>
            <a:off x="624600" y="1203625"/>
            <a:ext cx="3551400" cy="670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4500" b="1">
                <a:solidFill>
                  <a:srgbClr val="541900"/>
                </a:solidFill>
              </a:rPr>
              <a:t>The Carbon Cycle</a:t>
            </a:r>
            <a:endParaRPr sz="4500" b="1">
              <a:solidFill>
                <a:srgbClr val="541900"/>
              </a:solidFill>
            </a:endParaRPr>
          </a:p>
        </p:txBody>
      </p:sp>
      <p:sp>
        <p:nvSpPr>
          <p:cNvPr id="61" name="Google Shape;61;p14"/>
          <p:cNvSpPr txBox="1">
            <a:spLocks noGrp="1"/>
          </p:cNvSpPr>
          <p:nvPr>
            <p:ph type="body" idx="4294967295"/>
          </p:nvPr>
        </p:nvSpPr>
        <p:spPr>
          <a:xfrm>
            <a:off x="2286600" y="2571750"/>
            <a:ext cx="1889400" cy="670200"/>
          </a:xfrm>
          <a:prstGeom prst="rect">
            <a:avLst/>
          </a:prstGeom>
        </p:spPr>
        <p:txBody>
          <a:bodyPr spcFirstLastPara="1" wrap="square" lIns="91425" tIns="91425" rIns="91425" bIns="91425" anchor="t" anchorCtr="0">
            <a:normAutofit/>
          </a:bodyPr>
          <a:lstStyle/>
          <a:p>
            <a:pPr marL="0" lvl="0" indent="0" algn="r" rtl="0">
              <a:spcBef>
                <a:spcPts val="0"/>
              </a:spcBef>
              <a:spcAft>
                <a:spcPts val="1200"/>
              </a:spcAft>
              <a:buNone/>
            </a:pPr>
            <a:r>
              <a:rPr lang="en" sz="1200">
                <a:solidFill>
                  <a:srgbClr val="355E3B"/>
                </a:solidFill>
                <a:latin typeface="Arial"/>
                <a:ea typeface="Arial"/>
                <a:cs typeface="Arial"/>
                <a:sym typeface="Arial"/>
              </a:rPr>
              <a:t>Module </a:t>
            </a:r>
            <a:r>
              <a:rPr lang="en" sz="1200">
                <a:solidFill>
                  <a:srgbClr val="355E3B"/>
                </a:solidFill>
              </a:rPr>
              <a:t>3</a:t>
            </a:r>
            <a:r>
              <a:rPr lang="en" sz="1200">
                <a:solidFill>
                  <a:srgbClr val="355E3B"/>
                </a:solidFill>
                <a:latin typeface="Arial"/>
                <a:ea typeface="Arial"/>
                <a:cs typeface="Arial"/>
                <a:sym typeface="Arial"/>
              </a:rPr>
              <a:t>.</a:t>
            </a:r>
            <a:r>
              <a:rPr lang="en" sz="1200">
                <a:solidFill>
                  <a:srgbClr val="355E3B"/>
                </a:solidFill>
              </a:rPr>
              <a:t>1</a:t>
            </a:r>
            <a:endParaRPr sz="1200">
              <a:solidFill>
                <a:srgbClr val="355E3B"/>
              </a:solidFill>
              <a:latin typeface="Arial"/>
              <a:ea typeface="Arial"/>
              <a:cs typeface="Arial"/>
              <a:sym typeface="Arial"/>
            </a:endParaRPr>
          </a:p>
        </p:txBody>
      </p:sp>
      <p:sp>
        <p:nvSpPr>
          <p:cNvPr id="62" name="Google Shape;62;p14"/>
          <p:cNvSpPr txBox="1">
            <a:spLocks noGrp="1"/>
          </p:cNvSpPr>
          <p:nvPr>
            <p:ph type="body" idx="4294967295"/>
          </p:nvPr>
        </p:nvSpPr>
        <p:spPr>
          <a:xfrm>
            <a:off x="2400300" y="4641750"/>
            <a:ext cx="4343400" cy="324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sz="1200">
                <a:solidFill>
                  <a:schemeClr val="dk1"/>
                </a:solidFill>
              </a:rPr>
              <a:t>AISciComm | Module 3.1 The Carbon Cycle</a:t>
            </a:r>
            <a:endParaRPr sz="1200">
              <a:solidFill>
                <a:schemeClr val="dk1"/>
              </a:solidFill>
            </a:endParaRPr>
          </a:p>
          <a:p>
            <a:pPr marL="0" lvl="0" indent="0" algn="l" rtl="0">
              <a:spcBef>
                <a:spcPts val="0"/>
              </a:spcBef>
              <a:spcAft>
                <a:spcPts val="1200"/>
              </a:spcAft>
              <a:buNone/>
            </a:pPr>
            <a:endParaRPr sz="1200">
              <a:solidFill>
                <a:schemeClr val="dk1"/>
              </a:solidFill>
            </a:endParaRPr>
          </a:p>
        </p:txBody>
      </p:sp>
      <p:sp>
        <p:nvSpPr>
          <p:cNvPr id="63" name="Google Shape;63;p14"/>
          <p:cNvSpPr txBox="1"/>
          <p:nvPr/>
        </p:nvSpPr>
        <p:spPr>
          <a:xfrm>
            <a:off x="4919100" y="4033775"/>
            <a:ext cx="4224900" cy="376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800" b="1">
                <a:solidFill>
                  <a:srgbClr val="595959"/>
                </a:solidFill>
              </a:rPr>
              <a:t>Long Beach, California</a:t>
            </a:r>
            <a:endParaRPr sz="800" b="1">
              <a:solidFill>
                <a:srgbClr val="595959"/>
              </a:solidFill>
            </a:endParaRPr>
          </a:p>
          <a:p>
            <a:pPr marL="0" lvl="0" indent="0" algn="r" rtl="0">
              <a:spcBef>
                <a:spcPts val="0"/>
              </a:spcBef>
              <a:spcAft>
                <a:spcPts val="0"/>
              </a:spcAft>
              <a:buNone/>
            </a:pPr>
            <a:r>
              <a:rPr lang="en" sz="800" b="1">
                <a:solidFill>
                  <a:srgbClr val="595959"/>
                </a:solidFill>
              </a:rPr>
              <a:t>City of Long Beach</a:t>
            </a:r>
            <a:endParaRPr sz="800" b="1">
              <a:solidFill>
                <a:srgbClr val="595959"/>
              </a:solidFill>
            </a:endParaRPr>
          </a:p>
        </p:txBody>
      </p:sp>
      <p:pic>
        <p:nvPicPr>
          <p:cNvPr id="64" name="Google Shape;64;p14" title="Screenshot 2025-12-07 at 11.07.20 AM.png"/>
          <p:cNvPicPr preferRelativeResize="0"/>
          <p:nvPr/>
        </p:nvPicPr>
        <p:blipFill>
          <a:blip r:embed="rId3">
            <a:alphaModFix/>
          </a:blip>
          <a:stretch>
            <a:fillRect/>
          </a:stretch>
        </p:blipFill>
        <p:spPr>
          <a:xfrm>
            <a:off x="4388850" y="0"/>
            <a:ext cx="4755149" cy="4033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68"/>
        <p:cNvGrpSpPr/>
        <p:nvPr/>
      </p:nvGrpSpPr>
      <p:grpSpPr>
        <a:xfrm>
          <a:off x="0" y="0"/>
          <a:ext cx="0" cy="0"/>
          <a:chOff x="0" y="0"/>
          <a:chExt cx="0" cy="0"/>
        </a:xfrm>
      </p:grpSpPr>
      <p:sp>
        <p:nvSpPr>
          <p:cNvPr id="69" name="Google Shape;69;p15"/>
          <p:cNvSpPr txBox="1">
            <a:spLocks noGrp="1"/>
          </p:cNvSpPr>
          <p:nvPr>
            <p:ph type="body" idx="1"/>
          </p:nvPr>
        </p:nvSpPr>
        <p:spPr>
          <a:xfrm>
            <a:off x="311700" y="1152475"/>
            <a:ext cx="46803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2000" i="1">
                <a:solidFill>
                  <a:srgbClr val="355E3B"/>
                </a:solidFill>
              </a:rPr>
              <a:t>With your team, take a moment to reflect on your model from Module 2 and answer the following questions.</a:t>
            </a:r>
            <a:endParaRPr sz="2000" i="1">
              <a:solidFill>
                <a:srgbClr val="355E3B"/>
              </a:solidFill>
            </a:endParaRPr>
          </a:p>
        </p:txBody>
      </p:sp>
      <p:sp>
        <p:nvSpPr>
          <p:cNvPr id="70" name="Google Shape;70;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Reflect</a:t>
            </a:r>
            <a:endParaRPr sz="4500" b="1">
              <a:solidFill>
                <a:srgbClr val="541900"/>
              </a:solidFill>
            </a:endParaRPr>
          </a:p>
        </p:txBody>
      </p:sp>
      <p:sp>
        <p:nvSpPr>
          <p:cNvPr id="71" name="Google Shape;71;p15"/>
          <p:cNvSpPr txBox="1">
            <a:spLocks noGrp="1"/>
          </p:cNvSpPr>
          <p:nvPr>
            <p:ph type="body" idx="4294967295"/>
          </p:nvPr>
        </p:nvSpPr>
        <p:spPr>
          <a:xfrm>
            <a:off x="353100" y="2377700"/>
            <a:ext cx="4597500" cy="2360400"/>
          </a:xfrm>
          <a:prstGeom prst="rect">
            <a:avLst/>
          </a:prstGeom>
        </p:spPr>
        <p:txBody>
          <a:bodyPr spcFirstLastPara="1" wrap="square" lIns="91425" tIns="91425" rIns="91425" bIns="91425" anchor="t" anchorCtr="0">
            <a:normAutofit/>
          </a:bodyPr>
          <a:lstStyle/>
          <a:p>
            <a:pPr marL="457200" lvl="0" indent="-355600" algn="l" rtl="0">
              <a:lnSpc>
                <a:spcPct val="115000"/>
              </a:lnSpc>
              <a:spcBef>
                <a:spcPts val="0"/>
              </a:spcBef>
              <a:spcAft>
                <a:spcPts val="0"/>
              </a:spcAft>
              <a:buClr>
                <a:schemeClr val="dk1"/>
              </a:buClr>
              <a:buSzPts val="2000"/>
              <a:buChar char="●"/>
            </a:pPr>
            <a:r>
              <a:rPr lang="en" sz="2000">
                <a:solidFill>
                  <a:schemeClr val="dk1"/>
                </a:solidFill>
              </a:rPr>
              <a:t>How did you collect data to inform your SageModeler model?</a:t>
            </a:r>
            <a:endParaRPr sz="2000">
              <a:solidFill>
                <a:schemeClr val="dk1"/>
              </a:solidFill>
            </a:endParaRPr>
          </a:p>
          <a:p>
            <a:pPr marL="457200" lvl="0" indent="-355600" algn="l" rtl="0">
              <a:lnSpc>
                <a:spcPct val="115000"/>
              </a:lnSpc>
              <a:spcBef>
                <a:spcPts val="1000"/>
              </a:spcBef>
              <a:spcAft>
                <a:spcPts val="1000"/>
              </a:spcAft>
              <a:buClr>
                <a:schemeClr val="dk1"/>
              </a:buClr>
              <a:buSzPts val="2000"/>
              <a:buChar char="●"/>
            </a:pPr>
            <a:r>
              <a:rPr lang="en" sz="2000">
                <a:solidFill>
                  <a:schemeClr val="dk1"/>
                </a:solidFill>
              </a:rPr>
              <a:t>What information is still missing? How can you get that information?</a:t>
            </a:r>
            <a:endParaRPr sz="2000">
              <a:solidFill>
                <a:schemeClr val="dk1"/>
              </a:solidFill>
            </a:endParaRPr>
          </a:p>
        </p:txBody>
      </p:sp>
      <p:sp>
        <p:nvSpPr>
          <p:cNvPr id="72" name="Google Shape;72;p15"/>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3.1 The Carbon Cyle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2</a:t>
            </a:r>
            <a:endParaRPr sz="1200">
              <a:solidFill>
                <a:schemeClr val="dk1"/>
              </a:solidFill>
              <a:latin typeface="Arial"/>
              <a:ea typeface="Arial"/>
              <a:cs typeface="Arial"/>
              <a:sym typeface="Arial"/>
            </a:endParaRPr>
          </a:p>
        </p:txBody>
      </p:sp>
      <p:pic>
        <p:nvPicPr>
          <p:cNvPr id="73" name="Google Shape;73;p15"/>
          <p:cNvPicPr preferRelativeResize="0"/>
          <p:nvPr/>
        </p:nvPicPr>
        <p:blipFill>
          <a:blip r:embed="rId3">
            <a:alphaModFix/>
          </a:blip>
          <a:stretch>
            <a:fillRect/>
          </a:stretch>
        </p:blipFill>
        <p:spPr>
          <a:xfrm>
            <a:off x="5212500" y="0"/>
            <a:ext cx="3931500" cy="5143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77"/>
        <p:cNvGrpSpPr/>
        <p:nvPr/>
      </p:nvGrpSpPr>
      <p:grpSpPr>
        <a:xfrm>
          <a:off x="0" y="0"/>
          <a:ext cx="0" cy="0"/>
          <a:chOff x="0" y="0"/>
          <a:chExt cx="0" cy="0"/>
        </a:xfrm>
      </p:grpSpPr>
      <p:sp>
        <p:nvSpPr>
          <p:cNvPr id="78" name="Google Shape;78;p16"/>
          <p:cNvSpPr txBox="1">
            <a:spLocks noGrp="1"/>
          </p:cNvSpPr>
          <p:nvPr>
            <p:ph type="body" idx="1"/>
          </p:nvPr>
        </p:nvSpPr>
        <p:spPr>
          <a:xfrm>
            <a:off x="311700" y="11524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i="1">
                <a:solidFill>
                  <a:srgbClr val="355E3B"/>
                </a:solidFill>
              </a:rPr>
              <a:t>By the end of this lesson, you will be able to…</a:t>
            </a:r>
            <a:endParaRPr sz="2000" i="1">
              <a:solidFill>
                <a:srgbClr val="355E3B"/>
              </a:solidFill>
            </a:endParaRPr>
          </a:p>
        </p:txBody>
      </p:sp>
      <p:sp>
        <p:nvSpPr>
          <p:cNvPr id="79" name="Google Shape;79;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Lesson Objectives</a:t>
            </a:r>
            <a:endParaRPr sz="4500" b="1">
              <a:solidFill>
                <a:srgbClr val="541900"/>
              </a:solidFill>
            </a:endParaRPr>
          </a:p>
        </p:txBody>
      </p:sp>
      <p:sp>
        <p:nvSpPr>
          <p:cNvPr id="80" name="Google Shape;80;p16"/>
          <p:cNvSpPr txBox="1">
            <a:spLocks noGrp="1"/>
          </p:cNvSpPr>
          <p:nvPr>
            <p:ph type="body" idx="4294967295"/>
          </p:nvPr>
        </p:nvSpPr>
        <p:spPr>
          <a:xfrm>
            <a:off x="311700" y="1725175"/>
            <a:ext cx="8373300" cy="2906400"/>
          </a:xfrm>
          <a:prstGeom prst="rect">
            <a:avLst/>
          </a:prstGeom>
        </p:spPr>
        <p:txBody>
          <a:bodyPr spcFirstLastPara="1" wrap="square" lIns="91425" tIns="91425" rIns="91425" bIns="91425" anchor="t" anchorCtr="0">
            <a:normAutofit/>
          </a:bodyPr>
          <a:lstStyle/>
          <a:p>
            <a:pPr marL="457200" lvl="0" indent="-355600" algn="l" rtl="0">
              <a:lnSpc>
                <a:spcPct val="115000"/>
              </a:lnSpc>
              <a:spcBef>
                <a:spcPts val="1000"/>
              </a:spcBef>
              <a:spcAft>
                <a:spcPts val="0"/>
              </a:spcAft>
              <a:buClr>
                <a:schemeClr val="dk1"/>
              </a:buClr>
              <a:buSzPts val="2000"/>
              <a:buAutoNum type="arabicPeriod"/>
            </a:pPr>
            <a:r>
              <a:rPr lang="en" sz="2000">
                <a:solidFill>
                  <a:schemeClr val="dk1"/>
                </a:solidFill>
              </a:rPr>
              <a:t>Explain and describe the trend of change of atmospheric carbon levels between 1750 and today.</a:t>
            </a:r>
            <a:endParaRPr sz="2000">
              <a:solidFill>
                <a:schemeClr val="dk1"/>
              </a:solidFill>
            </a:endParaRPr>
          </a:p>
          <a:p>
            <a:pPr marL="457200" lvl="0" indent="-355600" algn="l" rtl="0">
              <a:lnSpc>
                <a:spcPct val="115000"/>
              </a:lnSpc>
              <a:spcBef>
                <a:spcPts val="1000"/>
              </a:spcBef>
              <a:spcAft>
                <a:spcPts val="0"/>
              </a:spcAft>
              <a:buClr>
                <a:schemeClr val="dk1"/>
              </a:buClr>
              <a:buSzPts val="2000"/>
              <a:buAutoNum type="arabicPeriod"/>
            </a:pPr>
            <a:r>
              <a:rPr lang="en" sz="2000">
                <a:solidFill>
                  <a:schemeClr val="dk1"/>
                </a:solidFill>
              </a:rPr>
              <a:t>Draw a model that conveys how carbon naturally cycles through Earth’s spheres and how human impacts have impacted this cycle.</a:t>
            </a:r>
            <a:endParaRPr sz="2000">
              <a:solidFill>
                <a:schemeClr val="dk1"/>
              </a:solidFill>
            </a:endParaRPr>
          </a:p>
          <a:p>
            <a:pPr marL="457200" lvl="0" indent="-355600" algn="l" rtl="0">
              <a:lnSpc>
                <a:spcPct val="115000"/>
              </a:lnSpc>
              <a:spcBef>
                <a:spcPts val="1000"/>
              </a:spcBef>
              <a:spcAft>
                <a:spcPts val="0"/>
              </a:spcAft>
              <a:buClr>
                <a:schemeClr val="dk1"/>
              </a:buClr>
              <a:buSzPts val="2000"/>
              <a:buAutoNum type="arabicPeriod"/>
            </a:pPr>
            <a:r>
              <a:rPr lang="en" sz="2000">
                <a:solidFill>
                  <a:schemeClr val="dk1"/>
                </a:solidFill>
              </a:rPr>
              <a:t>Predict how a change in rate of carbon emissions can impact Southern California’s ocean and what their community values about the ocean.</a:t>
            </a:r>
            <a:endParaRPr sz="2000">
              <a:solidFill>
                <a:schemeClr val="dk1"/>
              </a:solidFill>
            </a:endParaRPr>
          </a:p>
        </p:txBody>
      </p:sp>
      <p:sp>
        <p:nvSpPr>
          <p:cNvPr id="81" name="Google Shape;81;p16"/>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3.1 The Carbon Cycle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3</a:t>
            </a:r>
            <a:endParaRPr sz="12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85"/>
        <p:cNvGrpSpPr/>
        <p:nvPr/>
      </p:nvGrpSpPr>
      <p:grpSpPr>
        <a:xfrm>
          <a:off x="0" y="0"/>
          <a:ext cx="0" cy="0"/>
          <a:chOff x="0" y="0"/>
          <a:chExt cx="0" cy="0"/>
        </a:xfrm>
      </p:grpSpPr>
      <p:sp>
        <p:nvSpPr>
          <p:cNvPr id="86" name="Google Shape;86;p17"/>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3.1 The Carbon Cycle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4</a:t>
            </a:r>
            <a:endParaRPr sz="1200">
              <a:solidFill>
                <a:schemeClr val="dk1"/>
              </a:solidFill>
              <a:latin typeface="Arial"/>
              <a:ea typeface="Arial"/>
              <a:cs typeface="Arial"/>
              <a:sym typeface="Arial"/>
            </a:endParaRPr>
          </a:p>
        </p:txBody>
      </p:sp>
      <p:pic>
        <p:nvPicPr>
          <p:cNvPr id="87" name="Google Shape;87;p17" title="1.png"/>
          <p:cNvPicPr preferRelativeResize="0"/>
          <p:nvPr/>
        </p:nvPicPr>
        <p:blipFill>
          <a:blip r:embed="rId3">
            <a:alphaModFix/>
          </a:blip>
          <a:stretch>
            <a:fillRect/>
          </a:stretch>
        </p:blipFill>
        <p:spPr>
          <a:xfrm>
            <a:off x="3439157" y="355025"/>
            <a:ext cx="5392970" cy="4166050"/>
          </a:xfrm>
          <a:prstGeom prst="rect">
            <a:avLst/>
          </a:prstGeom>
          <a:noFill/>
          <a:ln>
            <a:noFill/>
          </a:ln>
        </p:spPr>
      </p:pic>
      <p:sp>
        <p:nvSpPr>
          <p:cNvPr id="88" name="Google Shape;88;p17"/>
          <p:cNvSpPr txBox="1">
            <a:spLocks noGrp="1"/>
          </p:cNvSpPr>
          <p:nvPr>
            <p:ph type="body" idx="4294967295"/>
          </p:nvPr>
        </p:nvSpPr>
        <p:spPr>
          <a:xfrm>
            <a:off x="141950" y="601000"/>
            <a:ext cx="3297300" cy="36741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400" b="1">
                <a:solidFill>
                  <a:srgbClr val="541900"/>
                </a:solidFill>
              </a:rPr>
              <a:t>Make an Observation</a:t>
            </a:r>
            <a:endParaRPr sz="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What do you notice?</a:t>
            </a:r>
            <a:endParaRPr sz="2000">
              <a:solidFill>
                <a:schemeClr val="dk1"/>
              </a:solidFill>
            </a:endParaRPr>
          </a:p>
          <a:p>
            <a:pPr marL="457200" lvl="0" indent="-355600" algn="l" rtl="0">
              <a:lnSpc>
                <a:spcPct val="115000"/>
              </a:lnSpc>
              <a:spcBef>
                <a:spcPts val="1000"/>
              </a:spcBef>
              <a:spcAft>
                <a:spcPts val="0"/>
              </a:spcAft>
              <a:buClr>
                <a:schemeClr val="dk1"/>
              </a:buClr>
              <a:buSzPts val="2000"/>
              <a:buChar char="●"/>
            </a:pPr>
            <a:r>
              <a:rPr lang="en" sz="2000">
                <a:solidFill>
                  <a:schemeClr val="dk1"/>
                </a:solidFill>
              </a:rPr>
              <a:t>What do you wonder?</a:t>
            </a:r>
            <a:endParaRPr sz="2000">
              <a:solidFill>
                <a:schemeClr val="dk1"/>
              </a:solidFill>
            </a:endParaRPr>
          </a:p>
          <a:p>
            <a:pPr marL="457200" lvl="0" indent="-355600" algn="l" rtl="0">
              <a:lnSpc>
                <a:spcPct val="115000"/>
              </a:lnSpc>
              <a:spcBef>
                <a:spcPts val="1000"/>
              </a:spcBef>
              <a:spcAft>
                <a:spcPts val="1000"/>
              </a:spcAft>
              <a:buClr>
                <a:schemeClr val="dk1"/>
              </a:buClr>
              <a:buSzPts val="2000"/>
              <a:buChar char="●"/>
            </a:pPr>
            <a:r>
              <a:rPr lang="en" sz="2000">
                <a:solidFill>
                  <a:schemeClr val="dk1"/>
                </a:solidFill>
              </a:rPr>
              <a:t>How would you describe the trends that you see?</a:t>
            </a:r>
            <a:endParaRPr sz="20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92"/>
        <p:cNvGrpSpPr/>
        <p:nvPr/>
      </p:nvGrpSpPr>
      <p:grpSpPr>
        <a:xfrm>
          <a:off x="0" y="0"/>
          <a:ext cx="0" cy="0"/>
          <a:chOff x="0" y="0"/>
          <a:chExt cx="0" cy="0"/>
        </a:xfrm>
      </p:grpSpPr>
      <p:sp>
        <p:nvSpPr>
          <p:cNvPr id="93" name="Google Shape;93;p18"/>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3.1 The Carbon Cycle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5</a:t>
            </a:r>
            <a:endParaRPr sz="1200">
              <a:solidFill>
                <a:schemeClr val="dk1"/>
              </a:solidFill>
              <a:latin typeface="Arial"/>
              <a:ea typeface="Arial"/>
              <a:cs typeface="Arial"/>
              <a:sym typeface="Arial"/>
            </a:endParaRPr>
          </a:p>
        </p:txBody>
      </p:sp>
      <p:pic>
        <p:nvPicPr>
          <p:cNvPr id="94" name="Google Shape;94;p18" title="2.png"/>
          <p:cNvPicPr preferRelativeResize="0"/>
          <p:nvPr/>
        </p:nvPicPr>
        <p:blipFill>
          <a:blip r:embed="rId3">
            <a:alphaModFix/>
          </a:blip>
          <a:stretch>
            <a:fillRect/>
          </a:stretch>
        </p:blipFill>
        <p:spPr>
          <a:xfrm>
            <a:off x="3288867" y="339075"/>
            <a:ext cx="5781485" cy="4466201"/>
          </a:xfrm>
          <a:prstGeom prst="rect">
            <a:avLst/>
          </a:prstGeom>
          <a:noFill/>
          <a:ln>
            <a:noFill/>
          </a:ln>
        </p:spPr>
      </p:pic>
      <p:sp>
        <p:nvSpPr>
          <p:cNvPr id="95" name="Google Shape;95;p18"/>
          <p:cNvSpPr txBox="1">
            <a:spLocks noGrp="1"/>
          </p:cNvSpPr>
          <p:nvPr>
            <p:ph type="body" idx="4294967295"/>
          </p:nvPr>
        </p:nvSpPr>
        <p:spPr>
          <a:xfrm>
            <a:off x="130175" y="1391975"/>
            <a:ext cx="3158700" cy="23604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sz="2400" b="1">
                <a:solidFill>
                  <a:srgbClr val="541900"/>
                </a:solidFill>
              </a:rPr>
              <a:t>Make an Observation</a:t>
            </a:r>
            <a:endParaRPr sz="20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What do you notice?</a:t>
            </a:r>
            <a:endParaRPr sz="2000">
              <a:solidFill>
                <a:schemeClr val="dk1"/>
              </a:solidFill>
            </a:endParaRPr>
          </a:p>
          <a:p>
            <a:pPr marL="457200" lvl="0" indent="-355600" algn="l" rtl="0">
              <a:lnSpc>
                <a:spcPct val="115000"/>
              </a:lnSpc>
              <a:spcBef>
                <a:spcPts val="1000"/>
              </a:spcBef>
              <a:spcAft>
                <a:spcPts val="1000"/>
              </a:spcAft>
              <a:buClr>
                <a:schemeClr val="dk1"/>
              </a:buClr>
              <a:buSzPts val="2000"/>
              <a:buChar char="●"/>
            </a:pPr>
            <a:r>
              <a:rPr lang="en" sz="2000">
                <a:solidFill>
                  <a:schemeClr val="dk1"/>
                </a:solidFill>
              </a:rPr>
              <a:t>What do you wonder?</a:t>
            </a:r>
            <a:endParaRPr sz="2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99"/>
        <p:cNvGrpSpPr/>
        <p:nvPr/>
      </p:nvGrpSpPr>
      <p:grpSpPr>
        <a:xfrm>
          <a:off x="0" y="0"/>
          <a:ext cx="0" cy="0"/>
          <a:chOff x="0" y="0"/>
          <a:chExt cx="0" cy="0"/>
        </a:xfrm>
      </p:grpSpPr>
      <p:sp>
        <p:nvSpPr>
          <p:cNvPr id="100" name="Google Shape;100;p19"/>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3.1 The Carbon Cycle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6</a:t>
            </a:r>
            <a:endParaRPr sz="1200">
              <a:solidFill>
                <a:schemeClr val="dk1"/>
              </a:solidFill>
              <a:latin typeface="Arial"/>
              <a:ea typeface="Arial"/>
              <a:cs typeface="Arial"/>
              <a:sym typeface="Arial"/>
            </a:endParaRPr>
          </a:p>
        </p:txBody>
      </p:sp>
      <p:pic>
        <p:nvPicPr>
          <p:cNvPr id="101" name="Google Shape;101;p19" title="3.png"/>
          <p:cNvPicPr preferRelativeResize="0"/>
          <p:nvPr/>
        </p:nvPicPr>
        <p:blipFill>
          <a:blip r:embed="rId3">
            <a:alphaModFix/>
          </a:blip>
          <a:stretch>
            <a:fillRect/>
          </a:stretch>
        </p:blipFill>
        <p:spPr>
          <a:xfrm>
            <a:off x="3540957" y="327249"/>
            <a:ext cx="5493920" cy="4244026"/>
          </a:xfrm>
          <a:prstGeom prst="rect">
            <a:avLst/>
          </a:prstGeom>
          <a:noFill/>
          <a:ln>
            <a:noFill/>
          </a:ln>
        </p:spPr>
      </p:pic>
      <p:sp>
        <p:nvSpPr>
          <p:cNvPr id="102" name="Google Shape;102;p19"/>
          <p:cNvSpPr txBox="1">
            <a:spLocks noGrp="1"/>
          </p:cNvSpPr>
          <p:nvPr>
            <p:ph type="body" idx="4294967295"/>
          </p:nvPr>
        </p:nvSpPr>
        <p:spPr>
          <a:xfrm>
            <a:off x="130125" y="327250"/>
            <a:ext cx="3328500" cy="4061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400" b="1">
                <a:solidFill>
                  <a:srgbClr val="541900"/>
                </a:solidFill>
              </a:rPr>
              <a:t>Make an Observation</a:t>
            </a:r>
            <a:endParaRPr sz="20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What do you notice?</a:t>
            </a:r>
            <a:endParaRPr sz="2000">
              <a:solidFill>
                <a:schemeClr val="dk1"/>
              </a:solidFill>
            </a:endParaRPr>
          </a:p>
          <a:p>
            <a:pPr marL="457200" lvl="0" indent="-355600" algn="l" rtl="0">
              <a:lnSpc>
                <a:spcPct val="115000"/>
              </a:lnSpc>
              <a:spcBef>
                <a:spcPts val="1000"/>
              </a:spcBef>
              <a:spcAft>
                <a:spcPts val="0"/>
              </a:spcAft>
              <a:buClr>
                <a:schemeClr val="dk1"/>
              </a:buClr>
              <a:buSzPts val="2000"/>
              <a:buChar char="●"/>
            </a:pPr>
            <a:r>
              <a:rPr lang="en" sz="2000">
                <a:solidFill>
                  <a:schemeClr val="dk1"/>
                </a:solidFill>
              </a:rPr>
              <a:t>What do you wonder?</a:t>
            </a:r>
            <a:endParaRPr sz="2000">
              <a:solidFill>
                <a:schemeClr val="dk1"/>
              </a:solidFill>
            </a:endParaRPr>
          </a:p>
          <a:p>
            <a:pPr marL="457200" lvl="0" indent="-355600" algn="l" rtl="0">
              <a:lnSpc>
                <a:spcPct val="115000"/>
              </a:lnSpc>
              <a:spcBef>
                <a:spcPts val="1000"/>
              </a:spcBef>
              <a:spcAft>
                <a:spcPts val="1000"/>
              </a:spcAft>
              <a:buClr>
                <a:schemeClr val="dk1"/>
              </a:buClr>
              <a:buSzPts val="2000"/>
              <a:buChar char="●"/>
            </a:pPr>
            <a:r>
              <a:rPr lang="en" sz="2000">
                <a:solidFill>
                  <a:schemeClr val="dk1"/>
                </a:solidFill>
              </a:rPr>
              <a:t>What do you think is causing the trend we see in the graph?</a:t>
            </a:r>
            <a:endParaRPr sz="20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06"/>
        <p:cNvGrpSpPr/>
        <p:nvPr/>
      </p:nvGrpSpPr>
      <p:grpSpPr>
        <a:xfrm>
          <a:off x="0" y="0"/>
          <a:ext cx="0" cy="0"/>
          <a:chOff x="0" y="0"/>
          <a:chExt cx="0" cy="0"/>
        </a:xfrm>
      </p:grpSpPr>
      <p:sp>
        <p:nvSpPr>
          <p:cNvPr id="107" name="Google Shape;107;p20"/>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3.1 The Carbon Cycle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7</a:t>
            </a:r>
            <a:endParaRPr sz="1200">
              <a:solidFill>
                <a:schemeClr val="dk1"/>
              </a:solidFill>
              <a:latin typeface="Arial"/>
              <a:ea typeface="Arial"/>
              <a:cs typeface="Arial"/>
              <a:sym typeface="Arial"/>
            </a:endParaRPr>
          </a:p>
        </p:txBody>
      </p:sp>
      <p:pic>
        <p:nvPicPr>
          <p:cNvPr id="108" name="Google Shape;108;p20" title="4.png"/>
          <p:cNvPicPr preferRelativeResize="0"/>
          <p:nvPr/>
        </p:nvPicPr>
        <p:blipFill>
          <a:blip r:embed="rId3">
            <a:alphaModFix/>
          </a:blip>
          <a:stretch>
            <a:fillRect/>
          </a:stretch>
        </p:blipFill>
        <p:spPr>
          <a:xfrm>
            <a:off x="3421750" y="164675"/>
            <a:ext cx="5674925" cy="4383903"/>
          </a:xfrm>
          <a:prstGeom prst="rect">
            <a:avLst/>
          </a:prstGeom>
          <a:noFill/>
          <a:ln>
            <a:noFill/>
          </a:ln>
        </p:spPr>
      </p:pic>
      <p:sp>
        <p:nvSpPr>
          <p:cNvPr id="109" name="Google Shape;109;p20"/>
          <p:cNvSpPr txBox="1">
            <a:spLocks noGrp="1"/>
          </p:cNvSpPr>
          <p:nvPr>
            <p:ph type="body" idx="4294967295"/>
          </p:nvPr>
        </p:nvSpPr>
        <p:spPr>
          <a:xfrm>
            <a:off x="106450" y="678425"/>
            <a:ext cx="3315300" cy="335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400" b="1">
                <a:solidFill>
                  <a:srgbClr val="541900"/>
                </a:solidFill>
              </a:rPr>
              <a:t>Make an Observation</a:t>
            </a:r>
            <a:endParaRPr sz="20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What do you notice?</a:t>
            </a:r>
            <a:endParaRPr sz="2000">
              <a:solidFill>
                <a:schemeClr val="dk1"/>
              </a:solidFill>
            </a:endParaRPr>
          </a:p>
          <a:p>
            <a:pPr marL="457200" lvl="0" indent="-355600" algn="l" rtl="0">
              <a:lnSpc>
                <a:spcPct val="115000"/>
              </a:lnSpc>
              <a:spcBef>
                <a:spcPts val="1000"/>
              </a:spcBef>
              <a:spcAft>
                <a:spcPts val="0"/>
              </a:spcAft>
              <a:buClr>
                <a:schemeClr val="dk1"/>
              </a:buClr>
              <a:buSzPts val="2000"/>
              <a:buChar char="●"/>
            </a:pPr>
            <a:r>
              <a:rPr lang="en" sz="2000">
                <a:solidFill>
                  <a:schemeClr val="dk1"/>
                </a:solidFill>
              </a:rPr>
              <a:t>What do you wonder?</a:t>
            </a:r>
            <a:endParaRPr sz="2000">
              <a:solidFill>
                <a:schemeClr val="dk1"/>
              </a:solidFill>
            </a:endParaRPr>
          </a:p>
          <a:p>
            <a:pPr marL="457200" lvl="0" indent="-355600" algn="l" rtl="0">
              <a:lnSpc>
                <a:spcPct val="115000"/>
              </a:lnSpc>
              <a:spcBef>
                <a:spcPts val="1000"/>
              </a:spcBef>
              <a:spcAft>
                <a:spcPts val="1000"/>
              </a:spcAft>
              <a:buClr>
                <a:schemeClr val="dk1"/>
              </a:buClr>
              <a:buSzPts val="2000"/>
              <a:buChar char="●"/>
            </a:pPr>
            <a:r>
              <a:rPr lang="en" sz="2000">
                <a:solidFill>
                  <a:schemeClr val="dk1"/>
                </a:solidFill>
              </a:rPr>
              <a:t>How are these graphs similar? Different?</a:t>
            </a:r>
            <a:endParaRPr sz="20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13"/>
        <p:cNvGrpSpPr/>
        <p:nvPr/>
      </p:nvGrpSpPr>
      <p:grpSpPr>
        <a:xfrm>
          <a:off x="0" y="0"/>
          <a:ext cx="0" cy="0"/>
          <a:chOff x="0" y="0"/>
          <a:chExt cx="0" cy="0"/>
        </a:xfrm>
      </p:grpSpPr>
      <p:sp>
        <p:nvSpPr>
          <p:cNvPr id="114" name="Google Shape;114;p21"/>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3.1 The Carbon Cycle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8</a:t>
            </a:r>
            <a:endParaRPr sz="1200">
              <a:solidFill>
                <a:schemeClr val="dk1"/>
              </a:solidFill>
              <a:latin typeface="Arial"/>
              <a:ea typeface="Arial"/>
              <a:cs typeface="Arial"/>
              <a:sym typeface="Arial"/>
            </a:endParaRPr>
          </a:p>
        </p:txBody>
      </p:sp>
      <p:sp>
        <p:nvSpPr>
          <p:cNvPr id="115" name="Google Shape;115;p21"/>
          <p:cNvSpPr txBox="1">
            <a:spLocks noGrp="1"/>
          </p:cNvSpPr>
          <p:nvPr>
            <p:ph type="body" idx="4294967295"/>
          </p:nvPr>
        </p:nvSpPr>
        <p:spPr>
          <a:xfrm>
            <a:off x="195175" y="571825"/>
            <a:ext cx="3686400" cy="3734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400" b="1">
                <a:solidFill>
                  <a:srgbClr val="541900"/>
                </a:solidFill>
              </a:rPr>
              <a:t>Make an Observation</a:t>
            </a:r>
            <a:endParaRPr sz="1300" b="1">
              <a:solidFill>
                <a:schemeClr val="dk1"/>
              </a:solidFill>
            </a:endParaRPr>
          </a:p>
          <a:p>
            <a:pPr marL="457200" lvl="0" indent="-342900" algn="l" rtl="0">
              <a:lnSpc>
                <a:spcPct val="115000"/>
              </a:lnSpc>
              <a:spcBef>
                <a:spcPts val="0"/>
              </a:spcBef>
              <a:spcAft>
                <a:spcPts val="0"/>
              </a:spcAft>
              <a:buClr>
                <a:schemeClr val="dk1"/>
              </a:buClr>
              <a:buSzPts val="1800"/>
              <a:buChar char="●"/>
            </a:pPr>
            <a:r>
              <a:rPr lang="en">
                <a:solidFill>
                  <a:schemeClr val="dk1"/>
                </a:solidFill>
              </a:rPr>
              <a:t>How would you describe the relationship between these graphs?</a:t>
            </a:r>
            <a:endParaRPr>
              <a:solidFill>
                <a:schemeClr val="dk1"/>
              </a:solidFill>
            </a:endParaRPr>
          </a:p>
          <a:p>
            <a:pPr marL="457200" lvl="0" indent="-342900" algn="l" rtl="0">
              <a:lnSpc>
                <a:spcPct val="115000"/>
              </a:lnSpc>
              <a:spcBef>
                <a:spcPts val="1000"/>
              </a:spcBef>
              <a:spcAft>
                <a:spcPts val="0"/>
              </a:spcAft>
              <a:buClr>
                <a:schemeClr val="dk1"/>
              </a:buClr>
              <a:buSzPts val="1800"/>
              <a:buChar char="●"/>
            </a:pPr>
            <a:r>
              <a:rPr lang="en">
                <a:solidFill>
                  <a:schemeClr val="dk1"/>
                </a:solidFill>
              </a:rPr>
              <a:t>Where might the carbon dioxide emissions be coming from?</a:t>
            </a:r>
            <a:endParaRPr>
              <a:solidFill>
                <a:schemeClr val="dk1"/>
              </a:solidFill>
            </a:endParaRPr>
          </a:p>
          <a:p>
            <a:pPr marL="457200" lvl="0" indent="-342900" algn="l" rtl="0">
              <a:lnSpc>
                <a:spcPct val="115000"/>
              </a:lnSpc>
              <a:spcBef>
                <a:spcPts val="1000"/>
              </a:spcBef>
              <a:spcAft>
                <a:spcPts val="1000"/>
              </a:spcAft>
              <a:buClr>
                <a:schemeClr val="dk1"/>
              </a:buClr>
              <a:buSzPts val="1800"/>
              <a:buChar char="●"/>
            </a:pPr>
            <a:r>
              <a:rPr lang="en">
                <a:solidFill>
                  <a:schemeClr val="dk1"/>
                </a:solidFill>
              </a:rPr>
              <a:t>How do you think the rise in carbon dioxide in our atmosphere might be affecting our planet?</a:t>
            </a:r>
            <a:endParaRPr>
              <a:solidFill>
                <a:schemeClr val="dk1"/>
              </a:solidFill>
            </a:endParaRPr>
          </a:p>
        </p:txBody>
      </p:sp>
      <p:pic>
        <p:nvPicPr>
          <p:cNvPr id="116" name="Google Shape;116;p21" title="AISciomm-Slow Reveal graphs.png"/>
          <p:cNvPicPr preferRelativeResize="0"/>
          <p:nvPr/>
        </p:nvPicPr>
        <p:blipFill>
          <a:blip r:embed="rId3">
            <a:alphaModFix/>
          </a:blip>
          <a:stretch>
            <a:fillRect/>
          </a:stretch>
        </p:blipFill>
        <p:spPr>
          <a:xfrm>
            <a:off x="3881525" y="571815"/>
            <a:ext cx="5175226" cy="39998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20"/>
        <p:cNvGrpSpPr/>
        <p:nvPr/>
      </p:nvGrpSpPr>
      <p:grpSpPr>
        <a:xfrm>
          <a:off x="0" y="0"/>
          <a:ext cx="0" cy="0"/>
          <a:chOff x="0" y="0"/>
          <a:chExt cx="0" cy="0"/>
        </a:xfrm>
      </p:grpSpPr>
      <p:sp>
        <p:nvSpPr>
          <p:cNvPr id="121" name="Google Shape;121;p22"/>
          <p:cNvSpPr txBox="1">
            <a:spLocks noGrp="1"/>
          </p:cNvSpPr>
          <p:nvPr>
            <p:ph type="body" idx="1"/>
          </p:nvPr>
        </p:nvSpPr>
        <p:spPr>
          <a:xfrm>
            <a:off x="311700" y="896788"/>
            <a:ext cx="8666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i="1">
                <a:solidFill>
                  <a:srgbClr val="355E3B"/>
                </a:solidFill>
              </a:rPr>
              <a:t>As you model, think about how carbon interacts with different parts of the Earth.</a:t>
            </a:r>
            <a:endParaRPr sz="2000" i="1">
              <a:solidFill>
                <a:srgbClr val="355E3B"/>
              </a:solidFill>
            </a:endParaRPr>
          </a:p>
        </p:txBody>
      </p:sp>
      <p:sp>
        <p:nvSpPr>
          <p:cNvPr id="122" name="Google Shape;122;p22"/>
          <p:cNvSpPr txBox="1">
            <a:spLocks noGrp="1"/>
          </p:cNvSpPr>
          <p:nvPr>
            <p:ph type="title"/>
          </p:nvPr>
        </p:nvSpPr>
        <p:spPr>
          <a:xfrm>
            <a:off x="2144400" y="137500"/>
            <a:ext cx="4855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200" b="1">
                <a:solidFill>
                  <a:srgbClr val="541900"/>
                </a:solidFill>
              </a:rPr>
              <a:t>The Carbon Cycle</a:t>
            </a:r>
            <a:endParaRPr sz="4200" b="1">
              <a:solidFill>
                <a:srgbClr val="541900"/>
              </a:solidFill>
            </a:endParaRPr>
          </a:p>
        </p:txBody>
      </p:sp>
      <p:sp>
        <p:nvSpPr>
          <p:cNvPr id="123" name="Google Shape;123;p22"/>
          <p:cNvSpPr txBox="1">
            <a:spLocks noGrp="1"/>
          </p:cNvSpPr>
          <p:nvPr>
            <p:ph type="body" idx="2"/>
          </p:nvPr>
        </p:nvSpPr>
        <p:spPr>
          <a:xfrm>
            <a:off x="3328150" y="1737100"/>
            <a:ext cx="5650200" cy="290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sz="1700" b="1" dirty="0">
                <a:solidFill>
                  <a:schemeClr val="dk1"/>
                </a:solidFill>
              </a:rPr>
              <a:t>Reference </a:t>
            </a:r>
            <a:r>
              <a:rPr lang="en" sz="1700" b="1" dirty="0">
                <a:solidFill>
                  <a:schemeClr val="hlink"/>
                </a:solidFill>
              </a:rPr>
              <a:t>Science Journal p. 25-26.</a:t>
            </a:r>
            <a:endParaRPr sz="1700" b="1" dirty="0">
              <a:solidFill>
                <a:schemeClr val="dk1"/>
              </a:solidFill>
            </a:endParaRPr>
          </a:p>
          <a:p>
            <a:pPr marL="0" lvl="0" indent="0" algn="l" rtl="0">
              <a:spcBef>
                <a:spcPts val="0"/>
              </a:spcBef>
              <a:spcAft>
                <a:spcPts val="0"/>
              </a:spcAft>
              <a:buNone/>
            </a:pPr>
            <a:r>
              <a:rPr lang="en" sz="1700" b="1" dirty="0">
                <a:solidFill>
                  <a:schemeClr val="dk1"/>
                </a:solidFill>
              </a:rPr>
              <a:t>Make sure to include the following:</a:t>
            </a:r>
            <a:endParaRPr sz="1700" b="1" dirty="0">
              <a:solidFill>
                <a:schemeClr val="dk1"/>
              </a:solidFill>
            </a:endParaRPr>
          </a:p>
          <a:p>
            <a:pPr marL="457200" lvl="0" indent="-320358" algn="l" rtl="0">
              <a:spcBef>
                <a:spcPts val="0"/>
              </a:spcBef>
              <a:spcAft>
                <a:spcPts val="0"/>
              </a:spcAft>
              <a:buClr>
                <a:schemeClr val="dk1"/>
              </a:buClr>
              <a:buSzPct val="100000"/>
              <a:buAutoNum type="arabicPeriod"/>
            </a:pPr>
            <a:r>
              <a:rPr lang="en" sz="1700" dirty="0">
                <a:solidFill>
                  <a:schemeClr val="dk1"/>
                </a:solidFill>
              </a:rPr>
              <a:t>Interactions:</a:t>
            </a:r>
            <a:endParaRPr sz="1700" dirty="0">
              <a:solidFill>
                <a:schemeClr val="dk1"/>
              </a:solidFill>
            </a:endParaRPr>
          </a:p>
          <a:p>
            <a:pPr marL="914400" lvl="1" indent="-320357" algn="l" rtl="0">
              <a:spcBef>
                <a:spcPts val="0"/>
              </a:spcBef>
              <a:spcAft>
                <a:spcPts val="0"/>
              </a:spcAft>
              <a:buClr>
                <a:schemeClr val="dk1"/>
              </a:buClr>
              <a:buSzPct val="100000"/>
              <a:buAutoNum type="alphaLcPeriod"/>
            </a:pPr>
            <a:r>
              <a:rPr lang="en" sz="1700" b="1" dirty="0">
                <a:solidFill>
                  <a:schemeClr val="dk1"/>
                </a:solidFill>
              </a:rPr>
              <a:t>Geosphere: </a:t>
            </a:r>
            <a:r>
              <a:rPr lang="en" sz="1700" dirty="0">
                <a:solidFill>
                  <a:schemeClr val="dk1"/>
                </a:solidFill>
              </a:rPr>
              <a:t>The solid parts of Earth.</a:t>
            </a:r>
            <a:endParaRPr sz="1700" dirty="0">
              <a:solidFill>
                <a:schemeClr val="dk1"/>
              </a:solidFill>
            </a:endParaRPr>
          </a:p>
          <a:p>
            <a:pPr marL="914400" lvl="1" indent="-320357" algn="l" rtl="0">
              <a:spcBef>
                <a:spcPts val="0"/>
              </a:spcBef>
              <a:spcAft>
                <a:spcPts val="0"/>
              </a:spcAft>
              <a:buClr>
                <a:schemeClr val="dk1"/>
              </a:buClr>
              <a:buSzPct val="100000"/>
              <a:buAutoNum type="alphaLcPeriod"/>
            </a:pPr>
            <a:r>
              <a:rPr lang="en" sz="1700" b="1" dirty="0">
                <a:solidFill>
                  <a:schemeClr val="dk1"/>
                </a:solidFill>
              </a:rPr>
              <a:t>Biosphere: </a:t>
            </a:r>
            <a:r>
              <a:rPr lang="en" sz="1700" dirty="0">
                <a:solidFill>
                  <a:schemeClr val="dk1"/>
                </a:solidFill>
              </a:rPr>
              <a:t>All the living things on Earth.</a:t>
            </a:r>
            <a:endParaRPr sz="1700" dirty="0">
              <a:solidFill>
                <a:schemeClr val="dk1"/>
              </a:solidFill>
            </a:endParaRPr>
          </a:p>
          <a:p>
            <a:pPr marL="914400" lvl="1" indent="-320357" algn="l" rtl="0">
              <a:spcBef>
                <a:spcPts val="0"/>
              </a:spcBef>
              <a:spcAft>
                <a:spcPts val="0"/>
              </a:spcAft>
              <a:buClr>
                <a:schemeClr val="dk1"/>
              </a:buClr>
              <a:buSzPct val="100000"/>
              <a:buAutoNum type="alphaLcPeriod"/>
            </a:pPr>
            <a:r>
              <a:rPr lang="en" sz="1700" b="1" dirty="0">
                <a:solidFill>
                  <a:schemeClr val="dk1"/>
                </a:solidFill>
              </a:rPr>
              <a:t>Hydrosphere: </a:t>
            </a:r>
            <a:r>
              <a:rPr lang="en" sz="1700" dirty="0">
                <a:solidFill>
                  <a:schemeClr val="dk1"/>
                </a:solidFill>
              </a:rPr>
              <a:t>All the water on Earth.</a:t>
            </a:r>
            <a:endParaRPr sz="1700" dirty="0">
              <a:solidFill>
                <a:schemeClr val="dk1"/>
              </a:solidFill>
            </a:endParaRPr>
          </a:p>
          <a:p>
            <a:pPr marL="914400" lvl="1" indent="-320357" algn="l" rtl="0">
              <a:spcBef>
                <a:spcPts val="0"/>
              </a:spcBef>
              <a:spcAft>
                <a:spcPts val="0"/>
              </a:spcAft>
              <a:buClr>
                <a:schemeClr val="dk1"/>
              </a:buClr>
              <a:buSzPct val="100000"/>
              <a:buAutoNum type="alphaLcPeriod"/>
            </a:pPr>
            <a:r>
              <a:rPr lang="en" sz="1700" b="1" dirty="0">
                <a:solidFill>
                  <a:schemeClr val="dk1"/>
                </a:solidFill>
              </a:rPr>
              <a:t>Atmosphere: </a:t>
            </a:r>
            <a:r>
              <a:rPr lang="en" sz="1700" dirty="0">
                <a:solidFill>
                  <a:schemeClr val="dk1"/>
                </a:solidFill>
              </a:rPr>
              <a:t>The air we breathe and gasses surrounding Earth.</a:t>
            </a:r>
            <a:endParaRPr sz="1700" dirty="0">
              <a:solidFill>
                <a:schemeClr val="dk1"/>
              </a:solidFill>
            </a:endParaRPr>
          </a:p>
          <a:p>
            <a:pPr marL="457200" lvl="0" indent="-320358" algn="l" rtl="0">
              <a:spcBef>
                <a:spcPts val="0"/>
              </a:spcBef>
              <a:spcAft>
                <a:spcPts val="0"/>
              </a:spcAft>
              <a:buClr>
                <a:schemeClr val="dk1"/>
              </a:buClr>
              <a:buSzPct val="100000"/>
              <a:buAutoNum type="arabicPeriod"/>
            </a:pPr>
            <a:r>
              <a:rPr lang="en" sz="1700" dirty="0">
                <a:solidFill>
                  <a:schemeClr val="dk1"/>
                </a:solidFill>
              </a:rPr>
              <a:t>Where </a:t>
            </a:r>
            <a:r>
              <a:rPr lang="en" sz="1700" b="1" dirty="0">
                <a:solidFill>
                  <a:schemeClr val="dk1"/>
                </a:solidFill>
              </a:rPr>
              <a:t>carbon</a:t>
            </a:r>
            <a:r>
              <a:rPr lang="en" sz="1700" dirty="0">
                <a:solidFill>
                  <a:schemeClr val="dk1"/>
                </a:solidFill>
              </a:rPr>
              <a:t> is found in your model.</a:t>
            </a:r>
            <a:endParaRPr sz="1700" dirty="0">
              <a:solidFill>
                <a:schemeClr val="dk1"/>
              </a:solidFill>
            </a:endParaRPr>
          </a:p>
          <a:p>
            <a:pPr marL="457200" lvl="0" indent="-320358" algn="l" rtl="0">
              <a:spcBef>
                <a:spcPts val="0"/>
              </a:spcBef>
              <a:spcAft>
                <a:spcPts val="0"/>
              </a:spcAft>
              <a:buClr>
                <a:schemeClr val="dk1"/>
              </a:buClr>
              <a:buSzPct val="100000"/>
              <a:buAutoNum type="arabicPeriod"/>
            </a:pPr>
            <a:r>
              <a:rPr lang="en" sz="1700" b="1" dirty="0">
                <a:solidFill>
                  <a:schemeClr val="dk1"/>
                </a:solidFill>
              </a:rPr>
              <a:t>Labels</a:t>
            </a:r>
            <a:r>
              <a:rPr lang="en" sz="1700" dirty="0">
                <a:solidFill>
                  <a:schemeClr val="dk1"/>
                </a:solidFill>
              </a:rPr>
              <a:t> to describe the pieces of your drawing.</a:t>
            </a:r>
            <a:endParaRPr sz="1700" dirty="0">
              <a:solidFill>
                <a:schemeClr val="dk1"/>
              </a:solidFill>
            </a:endParaRPr>
          </a:p>
          <a:p>
            <a:pPr marL="457200" lvl="0" indent="-320358" algn="l" rtl="0">
              <a:spcBef>
                <a:spcPts val="0"/>
              </a:spcBef>
              <a:spcAft>
                <a:spcPts val="0"/>
              </a:spcAft>
              <a:buClr>
                <a:schemeClr val="dk1"/>
              </a:buClr>
              <a:buSzPct val="100000"/>
              <a:buAutoNum type="arabicPeriod"/>
            </a:pPr>
            <a:r>
              <a:rPr lang="en" sz="1700" b="1" dirty="0">
                <a:solidFill>
                  <a:schemeClr val="dk1"/>
                </a:solidFill>
              </a:rPr>
              <a:t>Arrows</a:t>
            </a:r>
            <a:r>
              <a:rPr lang="en" sz="1700" dirty="0">
                <a:solidFill>
                  <a:schemeClr val="dk1"/>
                </a:solidFill>
              </a:rPr>
              <a:t> to show the movement of carbon between spheres.</a:t>
            </a:r>
            <a:endParaRPr sz="1700" dirty="0">
              <a:solidFill>
                <a:schemeClr val="dk1"/>
              </a:solidFill>
            </a:endParaRPr>
          </a:p>
        </p:txBody>
      </p:sp>
      <p:sp>
        <p:nvSpPr>
          <p:cNvPr id="124" name="Google Shape;124;p22"/>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3.1 The Carbon Cycle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9</a:t>
            </a:r>
            <a:endParaRPr sz="1200">
              <a:solidFill>
                <a:schemeClr val="dk1"/>
              </a:solidFill>
              <a:latin typeface="Arial"/>
              <a:ea typeface="Arial"/>
              <a:cs typeface="Arial"/>
              <a:sym typeface="Arial"/>
            </a:endParaRPr>
          </a:p>
        </p:txBody>
      </p:sp>
      <p:pic>
        <p:nvPicPr>
          <p:cNvPr id="125" name="Google Shape;125;p22"/>
          <p:cNvPicPr preferRelativeResize="0"/>
          <p:nvPr/>
        </p:nvPicPr>
        <p:blipFill>
          <a:blip r:embed="rId3">
            <a:alphaModFix/>
          </a:blip>
          <a:stretch>
            <a:fillRect/>
          </a:stretch>
        </p:blipFill>
        <p:spPr>
          <a:xfrm>
            <a:off x="311700" y="1696375"/>
            <a:ext cx="2744375" cy="2744375"/>
          </a:xfrm>
          <a:prstGeom prst="rect">
            <a:avLst/>
          </a:prstGeom>
          <a:noFill/>
          <a:ln>
            <a:noFill/>
          </a:ln>
        </p:spPr>
      </p:pic>
      <p:sp>
        <p:nvSpPr>
          <p:cNvPr id="126" name="Google Shape;126;p22"/>
          <p:cNvSpPr txBox="1"/>
          <p:nvPr/>
        </p:nvSpPr>
        <p:spPr>
          <a:xfrm>
            <a:off x="311700" y="4440763"/>
            <a:ext cx="2744400" cy="37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595959"/>
                </a:solidFill>
              </a:rPr>
              <a:t>UCAR Center for Science Education</a:t>
            </a:r>
            <a:endParaRPr sz="800" b="1">
              <a:solidFill>
                <a:srgbClr val="595959"/>
              </a:solidFill>
            </a:endParaRPr>
          </a:p>
          <a:p>
            <a:pPr marL="0" lvl="0" indent="0" algn="ctr" rtl="0">
              <a:spcBef>
                <a:spcPts val="0"/>
              </a:spcBef>
              <a:spcAft>
                <a:spcPts val="0"/>
              </a:spcAft>
              <a:buNone/>
            </a:pPr>
            <a:endParaRPr sz="800" b="1">
              <a:solidFill>
                <a:srgbClr val="59595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30"/>
        <p:cNvGrpSpPr/>
        <p:nvPr/>
      </p:nvGrpSpPr>
      <p:grpSpPr>
        <a:xfrm>
          <a:off x="0" y="0"/>
          <a:ext cx="0" cy="0"/>
          <a:chOff x="0" y="0"/>
          <a:chExt cx="0" cy="0"/>
        </a:xfrm>
      </p:grpSpPr>
      <p:sp>
        <p:nvSpPr>
          <p:cNvPr id="131" name="Google Shape;131;p23"/>
          <p:cNvSpPr txBox="1">
            <a:spLocks noGrp="1"/>
          </p:cNvSpPr>
          <p:nvPr>
            <p:ph type="body" idx="1"/>
          </p:nvPr>
        </p:nvSpPr>
        <p:spPr>
          <a:xfrm>
            <a:off x="311700" y="1843150"/>
            <a:ext cx="5248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i="1">
                <a:solidFill>
                  <a:srgbClr val="355E3B"/>
                </a:solidFill>
              </a:rPr>
              <a:t>Consider the following:</a:t>
            </a:r>
            <a:endParaRPr sz="2000" i="1">
              <a:solidFill>
                <a:srgbClr val="355E3B"/>
              </a:solidFill>
            </a:endParaRPr>
          </a:p>
        </p:txBody>
      </p:sp>
      <p:sp>
        <p:nvSpPr>
          <p:cNvPr id="132" name="Google Shape;132;p23"/>
          <p:cNvSpPr txBox="1">
            <a:spLocks noGrp="1"/>
          </p:cNvSpPr>
          <p:nvPr>
            <p:ph type="title"/>
          </p:nvPr>
        </p:nvSpPr>
        <p:spPr>
          <a:xfrm>
            <a:off x="311700" y="445075"/>
            <a:ext cx="5354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b="1">
                <a:solidFill>
                  <a:srgbClr val="541900"/>
                </a:solidFill>
              </a:rPr>
              <a:t>Human Contributions</a:t>
            </a:r>
            <a:endParaRPr sz="4200" b="1">
              <a:solidFill>
                <a:srgbClr val="541900"/>
              </a:solidFill>
            </a:endParaRPr>
          </a:p>
        </p:txBody>
      </p:sp>
      <p:sp>
        <p:nvSpPr>
          <p:cNvPr id="133" name="Google Shape;133;p23"/>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3.1 The Carbon Cycle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10</a:t>
            </a:r>
            <a:endParaRPr sz="1200">
              <a:solidFill>
                <a:schemeClr val="dk1"/>
              </a:solidFill>
              <a:latin typeface="Arial"/>
              <a:ea typeface="Arial"/>
              <a:cs typeface="Arial"/>
              <a:sym typeface="Arial"/>
            </a:endParaRPr>
          </a:p>
        </p:txBody>
      </p:sp>
      <p:pic>
        <p:nvPicPr>
          <p:cNvPr id="134" name="Google Shape;134;p23" title="Screenshot 2025-12-07 at 5.01.12 PM.png"/>
          <p:cNvPicPr preferRelativeResize="0"/>
          <p:nvPr/>
        </p:nvPicPr>
        <p:blipFill>
          <a:blip r:embed="rId3">
            <a:alphaModFix/>
          </a:blip>
          <a:stretch>
            <a:fillRect/>
          </a:stretch>
        </p:blipFill>
        <p:spPr>
          <a:xfrm>
            <a:off x="5707818" y="0"/>
            <a:ext cx="3436182" cy="5143500"/>
          </a:xfrm>
          <a:prstGeom prst="rect">
            <a:avLst/>
          </a:prstGeom>
          <a:noFill/>
          <a:ln>
            <a:noFill/>
          </a:ln>
        </p:spPr>
      </p:pic>
      <p:sp>
        <p:nvSpPr>
          <p:cNvPr id="135" name="Google Shape;135;p23"/>
          <p:cNvSpPr txBox="1">
            <a:spLocks noGrp="1"/>
          </p:cNvSpPr>
          <p:nvPr>
            <p:ph type="body" idx="2"/>
          </p:nvPr>
        </p:nvSpPr>
        <p:spPr>
          <a:xfrm>
            <a:off x="311700" y="2415850"/>
            <a:ext cx="4343400" cy="1849800"/>
          </a:xfrm>
          <a:prstGeom prst="rect">
            <a:avLst/>
          </a:prstGeom>
        </p:spPr>
        <p:txBody>
          <a:bodyPr spcFirstLastPara="1" wrap="square" lIns="91425" tIns="91425" rIns="91425" bIns="91425" anchor="t" anchorCtr="0">
            <a:normAutofit/>
          </a:bodyPr>
          <a:lstStyle/>
          <a:p>
            <a:pPr marL="457200" lvl="0" indent="-355600" algn="l" rtl="0">
              <a:lnSpc>
                <a:spcPct val="115000"/>
              </a:lnSpc>
              <a:spcBef>
                <a:spcPts val="0"/>
              </a:spcBef>
              <a:spcAft>
                <a:spcPts val="0"/>
              </a:spcAft>
              <a:buClr>
                <a:schemeClr val="dk1"/>
              </a:buClr>
              <a:buSzPts val="2000"/>
              <a:buChar char="●"/>
            </a:pPr>
            <a:r>
              <a:rPr lang="en" sz="2000">
                <a:solidFill>
                  <a:schemeClr val="dk1"/>
                </a:solidFill>
              </a:rPr>
              <a:t>Which processes in your model are human contributions?</a:t>
            </a:r>
            <a:endParaRPr sz="2000">
              <a:solidFill>
                <a:schemeClr val="dk1"/>
              </a:solidFill>
            </a:endParaRPr>
          </a:p>
          <a:p>
            <a:pPr marL="457200" lvl="0" indent="-355600" algn="l" rtl="0">
              <a:lnSpc>
                <a:spcPct val="115000"/>
              </a:lnSpc>
              <a:spcBef>
                <a:spcPts val="1000"/>
              </a:spcBef>
              <a:spcAft>
                <a:spcPts val="1000"/>
              </a:spcAft>
              <a:buClr>
                <a:schemeClr val="dk1"/>
              </a:buClr>
              <a:buSzPts val="2000"/>
              <a:buChar char="●"/>
            </a:pPr>
            <a:r>
              <a:rPr lang="en" sz="2000">
                <a:solidFill>
                  <a:schemeClr val="dk1"/>
                </a:solidFill>
              </a:rPr>
              <a:t>What other human sources of carbon can you think of?</a:t>
            </a:r>
            <a:endParaRPr sz="2000">
              <a:solidFill>
                <a:schemeClr val="dk1"/>
              </a:solidFill>
            </a:endParaRPr>
          </a:p>
        </p:txBody>
      </p:sp>
      <p:sp>
        <p:nvSpPr>
          <p:cNvPr id="136" name="Google Shape;136;p23"/>
          <p:cNvSpPr txBox="1"/>
          <p:nvPr/>
        </p:nvSpPr>
        <p:spPr>
          <a:xfrm>
            <a:off x="2963425" y="4767000"/>
            <a:ext cx="2744400" cy="376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800" b="1">
                <a:solidFill>
                  <a:srgbClr val="595959"/>
                </a:solidFill>
              </a:rPr>
              <a:t>UCAR Center for Science Education</a:t>
            </a:r>
            <a:endParaRPr sz="800" b="1">
              <a:solidFill>
                <a:srgbClr val="595959"/>
              </a:solidFill>
            </a:endParaRPr>
          </a:p>
          <a:p>
            <a:pPr marL="0" lvl="0" indent="0" algn="r" rtl="0">
              <a:spcBef>
                <a:spcPts val="0"/>
              </a:spcBef>
              <a:spcAft>
                <a:spcPts val="0"/>
              </a:spcAft>
              <a:buNone/>
            </a:pPr>
            <a:endParaRPr sz="800" b="1">
              <a:solidFill>
                <a:srgbClr val="59595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40"/>
        <p:cNvGrpSpPr/>
        <p:nvPr/>
      </p:nvGrpSpPr>
      <p:grpSpPr>
        <a:xfrm>
          <a:off x="0" y="0"/>
          <a:ext cx="0" cy="0"/>
          <a:chOff x="0" y="0"/>
          <a:chExt cx="0" cy="0"/>
        </a:xfrm>
      </p:grpSpPr>
      <p:sp>
        <p:nvSpPr>
          <p:cNvPr id="141" name="Google Shape;141;p24"/>
          <p:cNvSpPr txBox="1">
            <a:spLocks noGrp="1"/>
          </p:cNvSpPr>
          <p:nvPr>
            <p:ph type="body" idx="1"/>
          </p:nvPr>
        </p:nvSpPr>
        <p:spPr>
          <a:xfrm>
            <a:off x="311700" y="1145200"/>
            <a:ext cx="5051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i="1">
                <a:solidFill>
                  <a:srgbClr val="355E3B"/>
                </a:solidFill>
              </a:rPr>
              <a:t>How do carbon emissions impact the natural system?</a:t>
            </a:r>
            <a:endParaRPr sz="2000" i="1">
              <a:solidFill>
                <a:srgbClr val="355E3B"/>
              </a:solidFill>
            </a:endParaRPr>
          </a:p>
        </p:txBody>
      </p:sp>
      <p:sp>
        <p:nvSpPr>
          <p:cNvPr id="142" name="Google Shape;142;p24"/>
          <p:cNvSpPr txBox="1">
            <a:spLocks noGrp="1"/>
          </p:cNvSpPr>
          <p:nvPr>
            <p:ph type="title"/>
          </p:nvPr>
        </p:nvSpPr>
        <p:spPr>
          <a:xfrm>
            <a:off x="311700" y="245775"/>
            <a:ext cx="4855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b="1">
                <a:solidFill>
                  <a:srgbClr val="541900"/>
                </a:solidFill>
              </a:rPr>
              <a:t>Discuss</a:t>
            </a:r>
            <a:endParaRPr sz="4200" b="1">
              <a:solidFill>
                <a:srgbClr val="541900"/>
              </a:solidFill>
            </a:endParaRPr>
          </a:p>
        </p:txBody>
      </p:sp>
      <p:sp>
        <p:nvSpPr>
          <p:cNvPr id="143" name="Google Shape;143;p24"/>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3.1 The Carbon Cycle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11</a:t>
            </a:r>
            <a:endParaRPr sz="1200">
              <a:solidFill>
                <a:schemeClr val="dk1"/>
              </a:solidFill>
              <a:latin typeface="Arial"/>
              <a:ea typeface="Arial"/>
              <a:cs typeface="Arial"/>
              <a:sym typeface="Arial"/>
            </a:endParaRPr>
          </a:p>
        </p:txBody>
      </p:sp>
      <p:pic>
        <p:nvPicPr>
          <p:cNvPr id="144" name="Google Shape;144;p24"/>
          <p:cNvPicPr preferRelativeResize="0"/>
          <p:nvPr/>
        </p:nvPicPr>
        <p:blipFill>
          <a:blip r:embed="rId3">
            <a:alphaModFix/>
          </a:blip>
          <a:stretch>
            <a:fillRect/>
          </a:stretch>
        </p:blipFill>
        <p:spPr>
          <a:xfrm>
            <a:off x="4930156" y="54681"/>
            <a:ext cx="4131050" cy="4131050"/>
          </a:xfrm>
          <a:prstGeom prst="rect">
            <a:avLst/>
          </a:prstGeom>
          <a:noFill/>
          <a:ln>
            <a:noFill/>
          </a:ln>
        </p:spPr>
      </p:pic>
      <p:sp>
        <p:nvSpPr>
          <p:cNvPr id="145" name="Google Shape;145;p24"/>
          <p:cNvSpPr txBox="1"/>
          <p:nvPr/>
        </p:nvSpPr>
        <p:spPr>
          <a:xfrm>
            <a:off x="5623475" y="4244900"/>
            <a:ext cx="2744400" cy="37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595959"/>
                </a:solidFill>
              </a:rPr>
              <a:t>UCAR Center for Science Education</a:t>
            </a:r>
            <a:endParaRPr sz="800" b="1">
              <a:solidFill>
                <a:srgbClr val="595959"/>
              </a:solidFill>
            </a:endParaRPr>
          </a:p>
          <a:p>
            <a:pPr marL="0" lvl="0" indent="0" algn="ctr" rtl="0">
              <a:spcBef>
                <a:spcPts val="0"/>
              </a:spcBef>
              <a:spcAft>
                <a:spcPts val="0"/>
              </a:spcAft>
              <a:buNone/>
            </a:pPr>
            <a:endParaRPr sz="800" b="1">
              <a:solidFill>
                <a:srgbClr val="595959"/>
              </a:solidFill>
            </a:endParaRPr>
          </a:p>
        </p:txBody>
      </p:sp>
      <p:sp>
        <p:nvSpPr>
          <p:cNvPr id="146" name="Google Shape;146;p24"/>
          <p:cNvSpPr txBox="1">
            <a:spLocks noGrp="1"/>
          </p:cNvSpPr>
          <p:nvPr>
            <p:ph type="body" idx="2"/>
          </p:nvPr>
        </p:nvSpPr>
        <p:spPr>
          <a:xfrm>
            <a:off x="311700" y="2080150"/>
            <a:ext cx="4400400" cy="2415000"/>
          </a:xfrm>
          <a:prstGeom prst="rect">
            <a:avLst/>
          </a:prstGeom>
        </p:spPr>
        <p:txBody>
          <a:bodyPr spcFirstLastPara="1" wrap="square" lIns="91425" tIns="91425" rIns="91425" bIns="91425" anchor="t" anchorCtr="0">
            <a:normAutofit/>
          </a:bodyPr>
          <a:lstStyle/>
          <a:p>
            <a:pPr marL="457200" lvl="0" indent="-355600" algn="l" rtl="0">
              <a:lnSpc>
                <a:spcPct val="115000"/>
              </a:lnSpc>
              <a:spcBef>
                <a:spcPts val="1000"/>
              </a:spcBef>
              <a:spcAft>
                <a:spcPts val="0"/>
              </a:spcAft>
              <a:buClr>
                <a:schemeClr val="dk1"/>
              </a:buClr>
              <a:buSzPts val="2000"/>
              <a:buChar char="●"/>
            </a:pPr>
            <a:r>
              <a:rPr lang="en" sz="2000">
                <a:solidFill>
                  <a:schemeClr val="dk1"/>
                </a:solidFill>
              </a:rPr>
              <a:t>How did carbon move through the Earth in the model?</a:t>
            </a:r>
            <a:endParaRPr sz="2000">
              <a:solidFill>
                <a:schemeClr val="dk1"/>
              </a:solidFill>
            </a:endParaRPr>
          </a:p>
          <a:p>
            <a:pPr marL="457200" lvl="0" indent="-355600" algn="l" rtl="0">
              <a:lnSpc>
                <a:spcPct val="115000"/>
              </a:lnSpc>
              <a:spcBef>
                <a:spcPts val="1000"/>
              </a:spcBef>
              <a:spcAft>
                <a:spcPts val="0"/>
              </a:spcAft>
              <a:buClr>
                <a:schemeClr val="dk1"/>
              </a:buClr>
              <a:buSzPts val="2000"/>
              <a:buChar char="●"/>
            </a:pPr>
            <a:r>
              <a:rPr lang="en" sz="2000">
                <a:solidFill>
                  <a:schemeClr val="dk1"/>
                </a:solidFill>
              </a:rPr>
              <a:t>How might rising CO₂ emissions through human uses impact the carbon cycle?</a:t>
            </a:r>
            <a:endParaRPr sz="2000">
              <a:solidFill>
                <a:schemeClr val="dk1"/>
              </a:solidFill>
            </a:endParaRPr>
          </a:p>
          <a:p>
            <a:pPr marL="0" lvl="0" indent="0" algn="l" rtl="0">
              <a:lnSpc>
                <a:spcPct val="115000"/>
              </a:lnSpc>
              <a:spcBef>
                <a:spcPts val="0"/>
              </a:spcBef>
              <a:spcAft>
                <a:spcPts val="1000"/>
              </a:spcAft>
              <a:buNone/>
            </a:pPr>
            <a:endParaRPr sz="20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50"/>
        <p:cNvGrpSpPr/>
        <p:nvPr/>
      </p:nvGrpSpPr>
      <p:grpSpPr>
        <a:xfrm>
          <a:off x="0" y="0"/>
          <a:ext cx="0" cy="0"/>
          <a:chOff x="0" y="0"/>
          <a:chExt cx="0" cy="0"/>
        </a:xfrm>
      </p:grpSpPr>
      <p:sp>
        <p:nvSpPr>
          <p:cNvPr id="151" name="Google Shape;151;p25"/>
          <p:cNvSpPr txBox="1">
            <a:spLocks noGrp="1"/>
          </p:cNvSpPr>
          <p:nvPr>
            <p:ph type="body" idx="1"/>
          </p:nvPr>
        </p:nvSpPr>
        <p:spPr>
          <a:xfrm>
            <a:off x="191250" y="1016438"/>
            <a:ext cx="5248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i="1">
                <a:solidFill>
                  <a:srgbClr val="355E3B"/>
                </a:solidFill>
              </a:rPr>
              <a:t>Think back to how your community values the ocean and consider the following:</a:t>
            </a:r>
            <a:endParaRPr sz="2000" i="1">
              <a:solidFill>
                <a:srgbClr val="355E3B"/>
              </a:solidFill>
            </a:endParaRPr>
          </a:p>
        </p:txBody>
      </p:sp>
      <p:sp>
        <p:nvSpPr>
          <p:cNvPr id="152" name="Google Shape;152;p25"/>
          <p:cNvSpPr txBox="1">
            <a:spLocks noGrp="1"/>
          </p:cNvSpPr>
          <p:nvPr>
            <p:ph type="title"/>
          </p:nvPr>
        </p:nvSpPr>
        <p:spPr>
          <a:xfrm>
            <a:off x="191250" y="232150"/>
            <a:ext cx="8761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b="1">
                <a:solidFill>
                  <a:srgbClr val="541900"/>
                </a:solidFill>
              </a:rPr>
              <a:t>Connection to Community Values</a:t>
            </a:r>
            <a:endParaRPr sz="4200" b="1">
              <a:solidFill>
                <a:srgbClr val="541900"/>
              </a:solidFill>
            </a:endParaRPr>
          </a:p>
        </p:txBody>
      </p:sp>
      <p:sp>
        <p:nvSpPr>
          <p:cNvPr id="153" name="Google Shape;153;p25"/>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3.1 The Carbon Cycle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12</a:t>
            </a:r>
            <a:endParaRPr sz="1200">
              <a:solidFill>
                <a:schemeClr val="dk1"/>
              </a:solidFill>
              <a:latin typeface="Arial"/>
              <a:ea typeface="Arial"/>
              <a:cs typeface="Arial"/>
              <a:sym typeface="Arial"/>
            </a:endParaRPr>
          </a:p>
        </p:txBody>
      </p:sp>
      <p:sp>
        <p:nvSpPr>
          <p:cNvPr id="154" name="Google Shape;154;p25"/>
          <p:cNvSpPr txBox="1">
            <a:spLocks noGrp="1"/>
          </p:cNvSpPr>
          <p:nvPr>
            <p:ph type="body" idx="2"/>
          </p:nvPr>
        </p:nvSpPr>
        <p:spPr>
          <a:xfrm>
            <a:off x="150500" y="1717375"/>
            <a:ext cx="4810500" cy="29559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Clr>
                <a:schemeClr val="dk1"/>
              </a:buClr>
              <a:buSzPts val="2000"/>
              <a:buChar char="●"/>
            </a:pPr>
            <a:r>
              <a:rPr lang="en" sz="2000">
                <a:solidFill>
                  <a:schemeClr val="dk1"/>
                </a:solidFill>
              </a:rPr>
              <a:t>Which aspects of the ocean do you or your community care about?</a:t>
            </a:r>
            <a:endParaRPr sz="2000">
              <a:solidFill>
                <a:schemeClr val="dk1"/>
              </a:solidFill>
            </a:endParaRPr>
          </a:p>
          <a:p>
            <a:pPr marL="457200" lvl="0" indent="-355600" algn="l" rtl="0">
              <a:lnSpc>
                <a:spcPct val="115000"/>
              </a:lnSpc>
              <a:spcBef>
                <a:spcPts val="1000"/>
              </a:spcBef>
              <a:spcAft>
                <a:spcPts val="0"/>
              </a:spcAft>
              <a:buClr>
                <a:schemeClr val="dk1"/>
              </a:buClr>
              <a:buSzPts val="2000"/>
              <a:buChar char="●"/>
            </a:pPr>
            <a:r>
              <a:rPr lang="en" sz="2000">
                <a:solidFill>
                  <a:schemeClr val="dk1"/>
                </a:solidFill>
              </a:rPr>
              <a:t>How could changes in the carbon cycle or increases in carbon emissions affect those values?</a:t>
            </a:r>
            <a:endParaRPr sz="2000">
              <a:solidFill>
                <a:schemeClr val="dk1"/>
              </a:solidFill>
            </a:endParaRPr>
          </a:p>
          <a:p>
            <a:pPr marL="457200" lvl="0" indent="-355600" algn="l" rtl="0">
              <a:lnSpc>
                <a:spcPct val="115000"/>
              </a:lnSpc>
              <a:spcBef>
                <a:spcPts val="1000"/>
              </a:spcBef>
              <a:spcAft>
                <a:spcPts val="1000"/>
              </a:spcAft>
              <a:buClr>
                <a:schemeClr val="dk1"/>
              </a:buClr>
              <a:buSzPts val="2000"/>
              <a:buChar char="●"/>
            </a:pPr>
            <a:r>
              <a:rPr lang="en" sz="2000">
                <a:solidFill>
                  <a:schemeClr val="dk1"/>
                </a:solidFill>
              </a:rPr>
              <a:t>How might we explore further?</a:t>
            </a:r>
            <a:endParaRPr sz="2000">
              <a:solidFill>
                <a:schemeClr val="dk1"/>
              </a:solidFill>
            </a:endParaRPr>
          </a:p>
        </p:txBody>
      </p:sp>
      <p:sp>
        <p:nvSpPr>
          <p:cNvPr id="155" name="Google Shape;155;p25"/>
          <p:cNvSpPr txBox="1"/>
          <p:nvPr/>
        </p:nvSpPr>
        <p:spPr>
          <a:xfrm>
            <a:off x="5779063" y="4296775"/>
            <a:ext cx="2744400" cy="37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595959"/>
                </a:solidFill>
              </a:rPr>
              <a:t>Long Beach, California</a:t>
            </a:r>
            <a:endParaRPr sz="800" b="1">
              <a:solidFill>
                <a:srgbClr val="595959"/>
              </a:solidFill>
            </a:endParaRPr>
          </a:p>
          <a:p>
            <a:pPr marL="0" lvl="0" indent="0" algn="ctr" rtl="0">
              <a:spcBef>
                <a:spcPts val="0"/>
              </a:spcBef>
              <a:spcAft>
                <a:spcPts val="0"/>
              </a:spcAft>
              <a:buNone/>
            </a:pPr>
            <a:endParaRPr sz="800" b="1">
              <a:solidFill>
                <a:srgbClr val="595959"/>
              </a:solidFill>
            </a:endParaRPr>
          </a:p>
        </p:txBody>
      </p:sp>
      <p:pic>
        <p:nvPicPr>
          <p:cNvPr id="156" name="Google Shape;156;p25"/>
          <p:cNvPicPr preferRelativeResize="0"/>
          <p:nvPr/>
        </p:nvPicPr>
        <p:blipFill>
          <a:blip r:embed="rId3">
            <a:alphaModFix/>
          </a:blip>
          <a:stretch>
            <a:fillRect/>
          </a:stretch>
        </p:blipFill>
        <p:spPr>
          <a:xfrm>
            <a:off x="5263613" y="1121725"/>
            <a:ext cx="3775324" cy="3106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60"/>
        <p:cNvGrpSpPr/>
        <p:nvPr/>
      </p:nvGrpSpPr>
      <p:grpSpPr>
        <a:xfrm>
          <a:off x="0" y="0"/>
          <a:ext cx="0" cy="0"/>
          <a:chOff x="0" y="0"/>
          <a:chExt cx="0" cy="0"/>
        </a:xfrm>
      </p:grpSpPr>
      <p:sp>
        <p:nvSpPr>
          <p:cNvPr id="161" name="Google Shape;161;p26"/>
          <p:cNvSpPr txBox="1">
            <a:spLocks noGrp="1"/>
          </p:cNvSpPr>
          <p:nvPr>
            <p:ph type="body" idx="1"/>
          </p:nvPr>
        </p:nvSpPr>
        <p:spPr>
          <a:xfrm>
            <a:off x="311700" y="11383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900" i="1">
                <a:solidFill>
                  <a:srgbClr val="355E3B"/>
                </a:solidFill>
              </a:rPr>
              <a:t>In your science journal (p. 19), take a couple of minutes to reflect on your experiences during Module 3.1.</a:t>
            </a:r>
            <a:endParaRPr sz="1900" i="1">
              <a:solidFill>
                <a:srgbClr val="355E3B"/>
              </a:solidFill>
            </a:endParaRPr>
          </a:p>
          <a:p>
            <a:pPr marL="0" lvl="0" indent="0" algn="l" rtl="0">
              <a:spcBef>
                <a:spcPts val="1200"/>
              </a:spcBef>
              <a:spcAft>
                <a:spcPts val="1200"/>
              </a:spcAft>
              <a:buNone/>
            </a:pPr>
            <a:endParaRPr sz="2000" i="1">
              <a:solidFill>
                <a:srgbClr val="355E3B"/>
              </a:solidFill>
            </a:endParaRPr>
          </a:p>
        </p:txBody>
      </p:sp>
      <p:sp>
        <p:nvSpPr>
          <p:cNvPr id="162" name="Google Shape;162;p26"/>
          <p:cNvSpPr txBox="1">
            <a:spLocks noGrp="1"/>
          </p:cNvSpPr>
          <p:nvPr>
            <p:ph type="title"/>
          </p:nvPr>
        </p:nvSpPr>
        <p:spPr>
          <a:xfrm>
            <a:off x="311700" y="2675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Reflect</a:t>
            </a:r>
            <a:endParaRPr sz="4500" b="1">
              <a:solidFill>
                <a:srgbClr val="541900"/>
              </a:solidFill>
            </a:endParaRPr>
          </a:p>
        </p:txBody>
      </p:sp>
      <p:sp>
        <p:nvSpPr>
          <p:cNvPr id="163" name="Google Shape;163;p26"/>
          <p:cNvSpPr txBox="1">
            <a:spLocks noGrp="1"/>
          </p:cNvSpPr>
          <p:nvPr>
            <p:ph type="body" idx="4294967295"/>
          </p:nvPr>
        </p:nvSpPr>
        <p:spPr>
          <a:xfrm>
            <a:off x="311700" y="1894675"/>
            <a:ext cx="8373300" cy="2676600"/>
          </a:xfrm>
          <a:prstGeom prst="rect">
            <a:avLst/>
          </a:prstGeom>
        </p:spPr>
        <p:txBody>
          <a:bodyPr spcFirstLastPara="1" wrap="square" lIns="91425" tIns="91425" rIns="91425" bIns="91425" anchor="t" anchorCtr="0">
            <a:normAutofit/>
          </a:bodyPr>
          <a:lstStyle/>
          <a:p>
            <a:pPr marL="457200" lvl="0" indent="-355600" algn="l" rtl="0">
              <a:lnSpc>
                <a:spcPct val="115000"/>
              </a:lnSpc>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What natural process did you choose to investigate next (e.g., sea level rising, coastal erosion, ocean acidification, or weather pattern changes? How does this process affect the value your community places on Southern California’s ocean?</a:t>
            </a:r>
            <a:endParaRPr sz="200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What next steps do you need to take to learn more about this process?</a:t>
            </a:r>
            <a:endParaRPr sz="200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What questions do you still have? What evidence, data, or models would help you understand this process better?</a:t>
            </a:r>
            <a:endParaRPr sz="2000">
              <a:solidFill>
                <a:schemeClr val="dk1"/>
              </a:solidFill>
            </a:endParaRPr>
          </a:p>
        </p:txBody>
      </p:sp>
      <p:sp>
        <p:nvSpPr>
          <p:cNvPr id="164" name="Google Shape;164;p26"/>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3.1 The Carbon Cycle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n13</a:t>
            </a:r>
            <a:endParaRPr sz="12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68"/>
        <p:cNvGrpSpPr/>
        <p:nvPr/>
      </p:nvGrpSpPr>
      <p:grpSpPr>
        <a:xfrm>
          <a:off x="0" y="0"/>
          <a:ext cx="0" cy="0"/>
          <a:chOff x="0" y="0"/>
          <a:chExt cx="0" cy="0"/>
        </a:xfrm>
      </p:grpSpPr>
      <p:sp>
        <p:nvSpPr>
          <p:cNvPr id="169" name="Google Shape;169;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Thank you!</a:t>
            </a:r>
            <a:endParaRPr sz="4500" b="1">
              <a:solidFill>
                <a:srgbClr val="541900"/>
              </a:solidFill>
            </a:endParaRPr>
          </a:p>
        </p:txBody>
      </p:sp>
      <p:sp>
        <p:nvSpPr>
          <p:cNvPr id="170" name="Google Shape;170;p27"/>
          <p:cNvSpPr txBox="1"/>
          <p:nvPr/>
        </p:nvSpPr>
        <p:spPr>
          <a:xfrm>
            <a:off x="311700" y="1374600"/>
            <a:ext cx="8520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If you have any questions, please feel free to reach out.</a:t>
            </a:r>
            <a:endParaRPr sz="1800">
              <a:solidFill>
                <a:schemeClr val="dk1"/>
              </a:solidFill>
            </a:endParaRPr>
          </a:p>
        </p:txBody>
      </p:sp>
      <p:sp>
        <p:nvSpPr>
          <p:cNvPr id="171" name="Google Shape;171;p27"/>
          <p:cNvSpPr txBox="1"/>
          <p:nvPr/>
        </p:nvSpPr>
        <p:spPr>
          <a:xfrm>
            <a:off x="318402" y="3563413"/>
            <a:ext cx="36402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Ha Nguyen, Ph.D.</a:t>
            </a:r>
            <a:endParaRPr sz="2200" b="1">
              <a:solidFill>
                <a:schemeClr val="dk1"/>
              </a:solidFill>
            </a:endParaRPr>
          </a:p>
          <a:p>
            <a:pPr marL="0" lvl="0" indent="0" algn="l" rtl="0">
              <a:spcBef>
                <a:spcPts val="0"/>
              </a:spcBef>
              <a:spcAft>
                <a:spcPts val="0"/>
              </a:spcAft>
              <a:buNone/>
            </a:pPr>
            <a:r>
              <a:rPr lang="en" sz="2200">
                <a:solidFill>
                  <a:schemeClr val="dk1"/>
                </a:solidFill>
              </a:rPr>
              <a:t>Assistant Professor</a:t>
            </a:r>
            <a:endParaRPr sz="2200">
              <a:solidFill>
                <a:schemeClr val="dk1"/>
              </a:solidFill>
            </a:endParaRPr>
          </a:p>
          <a:p>
            <a:pPr marL="0" lvl="0" indent="0" algn="l" rtl="0">
              <a:spcBef>
                <a:spcPts val="0"/>
              </a:spcBef>
              <a:spcAft>
                <a:spcPts val="0"/>
              </a:spcAft>
              <a:buNone/>
            </a:pPr>
            <a:r>
              <a:rPr lang="en" sz="2200">
                <a:solidFill>
                  <a:schemeClr val="dk1"/>
                </a:solidFill>
              </a:rPr>
              <a:t>ha.nguyen@unc.edu</a:t>
            </a:r>
            <a:endParaRPr sz="2200">
              <a:solidFill>
                <a:schemeClr val="dk1"/>
              </a:solidFill>
            </a:endParaRPr>
          </a:p>
        </p:txBody>
      </p:sp>
      <p:sp>
        <p:nvSpPr>
          <p:cNvPr id="172" name="Google Shape;172;p27"/>
          <p:cNvSpPr txBox="1"/>
          <p:nvPr/>
        </p:nvSpPr>
        <p:spPr>
          <a:xfrm>
            <a:off x="318400" y="1971462"/>
            <a:ext cx="34551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Erick Valdez</a:t>
            </a:r>
            <a:endParaRPr sz="2200" b="1">
              <a:solidFill>
                <a:schemeClr val="dk1"/>
              </a:solidFill>
            </a:endParaRPr>
          </a:p>
          <a:p>
            <a:pPr marL="0" lvl="0" indent="0" algn="l" rtl="0">
              <a:spcBef>
                <a:spcPts val="0"/>
              </a:spcBef>
              <a:spcAft>
                <a:spcPts val="0"/>
              </a:spcAft>
              <a:buNone/>
            </a:pPr>
            <a:r>
              <a:rPr lang="en" sz="2200">
                <a:solidFill>
                  <a:schemeClr val="dk1"/>
                </a:solidFill>
              </a:rPr>
              <a:t>Inside the Outdoors</a:t>
            </a:r>
            <a:endParaRPr sz="2200">
              <a:solidFill>
                <a:schemeClr val="dk1"/>
              </a:solidFill>
            </a:endParaRPr>
          </a:p>
          <a:p>
            <a:pPr marL="0" lvl="0" indent="0" algn="l" rtl="0">
              <a:spcBef>
                <a:spcPts val="0"/>
              </a:spcBef>
              <a:spcAft>
                <a:spcPts val="0"/>
              </a:spcAft>
              <a:buNone/>
            </a:pPr>
            <a:r>
              <a:rPr lang="en" sz="2200">
                <a:solidFill>
                  <a:schemeClr val="dk1"/>
                </a:solidFill>
              </a:rPr>
              <a:t>evaldez@ocde.us</a:t>
            </a:r>
            <a:endParaRPr sz="2200">
              <a:solidFill>
                <a:schemeClr val="dk1"/>
              </a:solidFill>
            </a:endParaRPr>
          </a:p>
        </p:txBody>
      </p:sp>
      <p:pic>
        <p:nvPicPr>
          <p:cNvPr id="173" name="Google Shape;173;p27"/>
          <p:cNvPicPr preferRelativeResize="0"/>
          <p:nvPr/>
        </p:nvPicPr>
        <p:blipFill>
          <a:blip r:embed="rId3">
            <a:alphaModFix/>
          </a:blip>
          <a:stretch>
            <a:fillRect/>
          </a:stretch>
        </p:blipFill>
        <p:spPr>
          <a:xfrm>
            <a:off x="5958425" y="3608125"/>
            <a:ext cx="1289949" cy="1102075"/>
          </a:xfrm>
          <a:prstGeom prst="rect">
            <a:avLst/>
          </a:prstGeom>
          <a:noFill/>
          <a:ln>
            <a:noFill/>
          </a:ln>
        </p:spPr>
      </p:pic>
      <p:pic>
        <p:nvPicPr>
          <p:cNvPr id="174" name="Google Shape;174;p27" title="ITO-logo-col-clear.png"/>
          <p:cNvPicPr preferRelativeResize="0"/>
          <p:nvPr/>
        </p:nvPicPr>
        <p:blipFill>
          <a:blip r:embed="rId4">
            <a:alphaModFix/>
          </a:blip>
          <a:stretch>
            <a:fillRect/>
          </a:stretch>
        </p:blipFill>
        <p:spPr>
          <a:xfrm>
            <a:off x="4439452" y="1965350"/>
            <a:ext cx="1289950" cy="1329621"/>
          </a:xfrm>
          <a:prstGeom prst="rect">
            <a:avLst/>
          </a:prstGeom>
          <a:noFill/>
          <a:ln>
            <a:noFill/>
          </a:ln>
        </p:spPr>
      </p:pic>
      <p:pic>
        <p:nvPicPr>
          <p:cNvPr id="175" name="Google Shape;175;p27" title="University_of_California,_Irvine_seal.svg.png"/>
          <p:cNvPicPr preferRelativeResize="0"/>
          <p:nvPr/>
        </p:nvPicPr>
        <p:blipFill>
          <a:blip r:embed="rId5">
            <a:alphaModFix/>
          </a:blip>
          <a:stretch>
            <a:fillRect/>
          </a:stretch>
        </p:blipFill>
        <p:spPr>
          <a:xfrm>
            <a:off x="4495824" y="3546924"/>
            <a:ext cx="1233549" cy="1233576"/>
          </a:xfrm>
          <a:prstGeom prst="rect">
            <a:avLst/>
          </a:prstGeom>
          <a:noFill/>
          <a:ln>
            <a:noFill/>
          </a:ln>
        </p:spPr>
      </p:pic>
      <p:pic>
        <p:nvPicPr>
          <p:cNvPr id="176" name="Google Shape;176;p27" title="OCDE orange county department of education logo.png"/>
          <p:cNvPicPr preferRelativeResize="0"/>
          <p:nvPr/>
        </p:nvPicPr>
        <p:blipFill>
          <a:blip r:embed="rId6">
            <a:alphaModFix/>
          </a:blip>
          <a:stretch>
            <a:fillRect/>
          </a:stretch>
        </p:blipFill>
        <p:spPr>
          <a:xfrm>
            <a:off x="5958425" y="1983225"/>
            <a:ext cx="1289950" cy="12899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2323</Words>
  <Application>Microsoft Macintosh PowerPoint</Application>
  <PresentationFormat>On-screen Show (16:9)</PresentationFormat>
  <Paragraphs>183</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Simple Light</vt:lpstr>
      <vt:lpstr>The Carbon Cycle</vt:lpstr>
      <vt:lpstr>Reflect</vt:lpstr>
      <vt:lpstr>Lesson Objectives</vt:lpstr>
      <vt:lpstr>PowerPoint Presentation</vt:lpstr>
      <vt:lpstr>PowerPoint Presentation</vt:lpstr>
      <vt:lpstr>PowerPoint Presentation</vt:lpstr>
      <vt:lpstr>PowerPoint Presentation</vt:lpstr>
      <vt:lpstr>PowerPoint Presentation</vt:lpstr>
      <vt:lpstr>The Carbon Cycle</vt:lpstr>
      <vt:lpstr>Human Contributions</vt:lpstr>
      <vt:lpstr>Discuss</vt:lpstr>
      <vt:lpstr>Connection to Community Values</vt:lpstr>
      <vt:lpstr>Reflect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Nguyen, Ha</cp:lastModifiedBy>
  <cp:revision>1</cp:revision>
  <dcterms:modified xsi:type="dcterms:W3CDTF">2026-08-20T13:22:07Z</dcterms:modified>
</cp:coreProperties>
</file>