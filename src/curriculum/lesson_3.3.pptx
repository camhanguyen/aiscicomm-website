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EB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18"/>
    <p:restoredTop sz="94613"/>
  </p:normalViewPr>
  <p:slideViewPr>
    <p:cSldViewPr snapToGrid="0">
      <p:cViewPr varScale="1">
        <p:scale>
          <a:sx n="153" d="100"/>
          <a:sy n="153" d="100"/>
        </p:scale>
        <p:origin x="472"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8" Type="http://schemas.openxmlformats.org/officeDocument/2006/relationships/hyperlink" Target="https://docs.google.com/presentation/d/1ox_SaCJ6U23YlTRb4-9eKSoppniyO11xZs2-8d1zLHY/edit" TargetMode="External"/><Relationship Id="rId3" Type="http://schemas.openxmlformats.org/officeDocument/2006/relationships/hyperlink" Target="https://docs.google.com/document/d/1kzMKhKSfowoKXqNokczAKhsaSc8a4M0yO1X2LRq8s9k/edit?tab=t.0" TargetMode="External"/><Relationship Id="rId7" Type="http://schemas.openxmlformats.org/officeDocument/2006/relationships/hyperlink" Target="https://docs.google.com/presentation/d/1ox_SaCJ6U23YlTRb4-9eKSoppniyO11xZs2-8d1zLHY/edit?usp=sharing"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ourcoastourfuture.org/hazard-map/" TargetMode="External"/><Relationship Id="rId5" Type="http://schemas.openxmlformats.org/officeDocument/2006/relationships/hyperlink" Target="https://docs.google.com/document/d/1PCjq6ha1LaMEoeGhYhMxpfEN49sl_KtGGC_7m0N7ZRw/edit?tab=t.0" TargetMode="External"/><Relationship Id="rId4" Type="http://schemas.openxmlformats.org/officeDocument/2006/relationships/hyperlink" Target="https://docs.google.com/document/d/1UndupAAsxXThMWqwfrnMWLxA3dpkoK1Unx8y0T5mxfk/edit?tab=t.0#heading=h.66wasdi8eqf3"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youtube.com/watch?v=QH-KYmRAzOA"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ocs.google.com/presentation/d/15eNyYMk_Mr7lsXyMrhl3y_GcvYR5pcdOHrUFaAGPjEQ/edit?slide=id.g3aaebfcfed8_0_0#slide=id.g3aaebfcfed8_0_0"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ocs.google.com/presentation/d/15eNyYMk_Mr7lsXyMrhl3y_GcvYR5pcdOHrUFaAGPjEQ/edit?slide=id.g3b32f63960a_0_67#slide=id.g3b32f63960a_0_67" TargetMode="External"/><Relationship Id="rId7" Type="http://schemas.openxmlformats.org/officeDocument/2006/relationships/hyperlink" Target="https://ourcoastourfuture.org/hazard-map/" TargetMode="External"/><Relationship Id="rId2" Type="http://schemas.openxmlformats.org/officeDocument/2006/relationships/slide" Target="../slides/slide10.xml"/><Relationship Id="rId1" Type="http://schemas.openxmlformats.org/officeDocument/2006/relationships/notesMaster" Target="../notesMasters/notesMaster1.xml"/><Relationship Id="rId6" Type="http://schemas.openxmlformats.org/officeDocument/2006/relationships/hyperlink" Target="https://docs.google.com/document/d/1PCjq6ha1LaMEoeGhYhMxpfEN49sl_KtGGC_7m0N7ZRw/edit?tab=t.0" TargetMode="External"/><Relationship Id="rId5" Type="http://schemas.openxmlformats.org/officeDocument/2006/relationships/hyperlink" Target="https://docs.google.com/document/d/1UndupAAsxXThMWqwfrnMWLxA3dpkoK1Unx8y0T5mxfk/edit?tab=t.0#heading=h.66wasdi8eqf3" TargetMode="External"/><Relationship Id="rId4" Type="http://schemas.openxmlformats.org/officeDocument/2006/relationships/hyperlink" Target="https://docs.google.com/document/d/1kzMKhKSfowoKXqNokczAKhsaSc8a4M0yO1X2LRq8s9k/edit?tab=t.0"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ourcoastourfuture.org/hazard-map/"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https://docs.google.com/document/d/1OYL8P-VmXLmU2aZGeU95RMUtoRudtTbaGO24rFNaL1A/edit?tab=t.0"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ocs.google.com/document/d/1OYL8P-VmXLmU2aZGeU95RMUtoRudtTbaGO24rFNaL1A/edit?tab=t.0" TargetMode="External"/><Relationship Id="rId2" Type="http://schemas.openxmlformats.org/officeDocument/2006/relationships/slide" Target="../slides/slide14.xml"/><Relationship Id="rId1" Type="http://schemas.openxmlformats.org/officeDocument/2006/relationships/notesMaster" Target="../notesMasters/notesMaster1.xml"/><Relationship Id="rId4" Type="http://schemas.openxmlformats.org/officeDocument/2006/relationships/hyperlink" Target="https://docs.google.com/presentation/d/1R0zkp2xs8a8dN1ANJEXb3VXaOPwKGn-NxAg0_ELxO2c/edit?slide=id.g3aaebfcfed8_1_0#slide=id.g3aaebfcfed8_1_0" TargetMode="Externa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cs.google.com/document/d/1oRteCUkFReNpTDNY3kE7YKKk_uLB4eKVSFH4sSz259w/edit?tab=t.0#heading=h.brurcsgwa42v"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b32f63960a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32f63960a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Link to </a:t>
            </a:r>
            <a:r>
              <a:rPr lang="en" u="sng">
                <a:solidFill>
                  <a:schemeClr val="hlink"/>
                </a:solidFill>
                <a:hlinkClick r:id="rId3"/>
              </a:rPr>
              <a:t>Module 3.3 Lesson Plan</a:t>
            </a: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BEFORE YOU START TEACHING</a:t>
            </a: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the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Teacher Facilitation Guide</a:t>
            </a:r>
            <a:r>
              <a:rPr lang="en" sz="1200">
                <a:solidFill>
                  <a:schemeClr val="dk1"/>
                </a:solidFill>
                <a:latin typeface="Calibri"/>
                <a:ea typeface="Calibri"/>
                <a:cs typeface="Calibri"/>
                <a:sym typeface="Calibri"/>
              </a:rPr>
              <a:t> for an overview of content and the curriculum as well as helpful facilitation suggestions.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For </a:t>
            </a:r>
            <a:r>
              <a:rPr lang="en" sz="1200" b="1">
                <a:solidFill>
                  <a:schemeClr val="dk1"/>
                </a:solidFill>
                <a:latin typeface="Calibri"/>
                <a:ea typeface="Calibri"/>
                <a:cs typeface="Calibri"/>
                <a:sym typeface="Calibri"/>
              </a:rPr>
              <a:t>Lesson 3.3</a:t>
            </a:r>
            <a:r>
              <a:rPr lang="en" sz="1200">
                <a:solidFill>
                  <a:schemeClr val="dk1"/>
                </a:solidFill>
                <a:latin typeface="Calibri"/>
                <a:ea typeface="Calibri"/>
                <a:cs typeface="Calibri"/>
                <a:sym typeface="Calibri"/>
              </a:rPr>
              <a:t>, review </a:t>
            </a:r>
            <a:r>
              <a:rPr lang="en" sz="1200" u="sng">
                <a:solidFill>
                  <a:srgbClr val="1155CC"/>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Student Our Coast Our Future Instructions</a:t>
            </a:r>
            <a:r>
              <a:rPr lang="en" sz="1200">
                <a:solidFill>
                  <a:schemeClr val="dk1"/>
                </a:solidFill>
                <a:latin typeface="Calibri"/>
                <a:ea typeface="Calibri"/>
                <a:cs typeface="Calibri"/>
                <a:sym typeface="Calibri"/>
              </a:rPr>
              <a:t> (also in Science Journal, p. 36-43) to model or support students. Explore </a:t>
            </a:r>
            <a:r>
              <a:rPr lang="en" sz="1200" u="sng">
                <a:solidFill>
                  <a:srgbClr val="1155CC"/>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Our Coast Our Future Website.</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Include a numbered list of general steps to set up the investigation before students arrive.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This can also include other things that educators should do or think about before starting the lesson, such as checking for safety concerns.</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________</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u="sng">
                <a:solidFill>
                  <a:srgbClr val="1155CC"/>
                </a:solidFill>
                <a:highlight>
                  <a:srgbClr val="FFFF00"/>
                </a:highlight>
                <a:latin typeface="Calibri"/>
                <a:ea typeface="Calibri"/>
                <a:cs typeface="Calibri"/>
                <a:sym typeface="Calibri"/>
                <a:hlinkClick r:id="rId7">
                  <a:extLst>
                    <a:ext uri="{A12FA001-AC4F-418D-AE19-62706E023703}">
                      <ahyp:hlinkClr xmlns:ahyp="http://schemas.microsoft.com/office/drawing/2018/hyperlinkcolor" val="tx"/>
                    </a:ext>
                  </a:extLst>
                </a:hlinkClick>
              </a:rPr>
              <a:t>Lesson 3.3</a:t>
            </a:r>
            <a:r>
              <a:rPr lang="en" sz="1200">
                <a:solidFill>
                  <a:schemeClr val="dk1"/>
                </a:solidFill>
                <a:highlight>
                  <a:srgbClr val="FFFF00"/>
                </a:highlight>
                <a:latin typeface="Calibri"/>
                <a:ea typeface="Calibri"/>
                <a:cs typeface="Calibri"/>
                <a:sym typeface="Calibri"/>
              </a:rPr>
              <a:t> Slideshow: </a:t>
            </a:r>
            <a:r>
              <a:rPr lang="en" sz="1200">
                <a:solidFill>
                  <a:schemeClr val="dk1"/>
                </a:solidFill>
                <a:latin typeface="Calibri"/>
                <a:ea typeface="Calibri"/>
                <a:cs typeface="Calibri"/>
                <a:sym typeface="Calibri"/>
              </a:rPr>
              <a:t>CO₂ &amp; Sea Level Rise/ Coastal Erosion</a:t>
            </a:r>
            <a:endParaRPr sz="1200" b="1" i="1">
              <a:solidFill>
                <a:schemeClr val="dk1"/>
              </a:solidFill>
              <a:latin typeface="Calibri"/>
              <a:ea typeface="Calibri"/>
              <a:cs typeface="Calibri"/>
              <a:sym typeface="Calibri"/>
            </a:endParaRPr>
          </a:p>
          <a:p>
            <a:pPr marL="4572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Open the</a:t>
            </a:r>
            <a:r>
              <a:rPr lang="en" sz="1200" u="sng">
                <a:solidFill>
                  <a:srgbClr val="1155CC"/>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 Sea Level Rise and Coastal Erosio</a:t>
            </a:r>
            <a:r>
              <a:rPr lang="en" sz="1200">
                <a:solidFill>
                  <a:schemeClr val="dk1"/>
                </a:solidFill>
                <a:latin typeface="Calibri"/>
                <a:ea typeface="Calibri"/>
                <a:cs typeface="Calibri"/>
                <a:sym typeface="Calibri"/>
              </a:rPr>
              <a:t>n slideshow to </a:t>
            </a:r>
            <a:r>
              <a:rPr lang="en" sz="1200" b="1">
                <a:solidFill>
                  <a:schemeClr val="dk1"/>
                </a:solidFill>
                <a:latin typeface="Calibri"/>
                <a:ea typeface="Calibri"/>
                <a:cs typeface="Calibri"/>
                <a:sym typeface="Calibri"/>
              </a:rPr>
              <a:t>Slide 1</a:t>
            </a:r>
            <a:r>
              <a:rPr lang="en" sz="1200">
                <a:solidFill>
                  <a:schemeClr val="dk1"/>
                </a:solidFill>
                <a:latin typeface="Calibri"/>
                <a:ea typeface="Calibri"/>
                <a:cs typeface="Calibri"/>
                <a:sym typeface="Calibri"/>
              </a:rPr>
              <a:t> where students will see a notice that this lesson is a student-led lesson, meaning that they will move through it with their team within the next two sessions.</a:t>
            </a:r>
            <a:endParaRPr sz="12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67392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aaebfcfe4c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aaebfcfe4c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Move on to </a:t>
            </a:r>
            <a:r>
              <a:rPr lang="en" sz="1200" b="1">
                <a:solidFill>
                  <a:schemeClr val="dk1"/>
                </a:solidFill>
                <a:latin typeface="Calibri"/>
                <a:ea typeface="Calibri"/>
                <a:cs typeface="Calibri"/>
                <a:sym typeface="Calibri"/>
              </a:rPr>
              <a:t>Slide 2 </a:t>
            </a:r>
            <a:r>
              <a:rPr lang="en" sz="1200">
                <a:solidFill>
                  <a:schemeClr val="dk1"/>
                </a:solidFill>
                <a:latin typeface="Calibri"/>
                <a:ea typeface="Calibri"/>
                <a:cs typeface="Calibri"/>
                <a:sym typeface="Calibri"/>
              </a:rPr>
              <a:t>where students will see the two day overview for module 3.3.</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highlight>
                <a:srgbClr val="FFFF00"/>
              </a:highlight>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aaebfcfe4c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aaebfcfe4c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When student teams are ready, advance to </a:t>
            </a:r>
            <a:r>
              <a:rPr lang="en" sz="1200" b="1">
                <a:solidFill>
                  <a:schemeClr val="dk1"/>
                </a:solidFill>
                <a:latin typeface="Calibri"/>
                <a:ea typeface="Calibri"/>
                <a:cs typeface="Calibri"/>
                <a:sym typeface="Calibri"/>
              </a:rPr>
              <a:t>Slide 3</a:t>
            </a:r>
            <a:r>
              <a:rPr lang="en" sz="1200">
                <a:solidFill>
                  <a:schemeClr val="dk1"/>
                </a:solidFill>
                <a:latin typeface="Calibri"/>
                <a:ea typeface="Calibri"/>
                <a:cs typeface="Calibri"/>
                <a:sym typeface="Calibri"/>
              </a:rPr>
              <a:t> where they will see an image of houses by the coast. Students are then asked to take 5 minutes to discuss with their group and answer the following questions.</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you think is happening in this image?</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Is what you are observing a natural occurrence? How often does this happen?</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Why might communities want to understand this scenario?</a:t>
            </a:r>
            <a:endParaRPr sz="1200">
              <a:solidFill>
                <a:schemeClr val="dk1"/>
              </a:solidFill>
              <a:latin typeface="Calibri"/>
              <a:ea typeface="Calibri"/>
              <a:cs typeface="Calibri"/>
              <a:sym typeface="Calibri"/>
            </a:endParaRPr>
          </a:p>
          <a:p>
            <a:pPr marL="914400" lvl="0" indent="0" algn="l" rtl="0">
              <a:spcBef>
                <a:spcPts val="0"/>
              </a:spcBef>
              <a:spcAft>
                <a:spcPts val="0"/>
              </a:spcAft>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Gather the students as a class and ask students to share their responses with the class. At this point it is not important for them to be accurate with responses, you just want to gauge what they are noticing</a:t>
            </a:r>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aaebfcfe4c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aaebfcfe4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After students have shared, have them advance to </a:t>
            </a:r>
            <a:r>
              <a:rPr lang="en" sz="1200" b="1">
                <a:solidFill>
                  <a:schemeClr val="dk1"/>
                </a:solidFill>
                <a:latin typeface="Calibri"/>
                <a:ea typeface="Calibri"/>
                <a:cs typeface="Calibri"/>
                <a:sym typeface="Calibri"/>
              </a:rPr>
              <a:t>Slide 4 </a:t>
            </a:r>
            <a:r>
              <a:rPr lang="en" sz="1200">
                <a:solidFill>
                  <a:schemeClr val="dk1"/>
                </a:solidFill>
                <a:latin typeface="Calibri"/>
                <a:ea typeface="Calibri"/>
                <a:cs typeface="Calibri"/>
                <a:sym typeface="Calibri"/>
              </a:rPr>
              <a:t>where more information is shared with the students.  </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i="1">
                <a:solidFill>
                  <a:schemeClr val="dk1"/>
                </a:solidFill>
                <a:latin typeface="Calibri"/>
                <a:ea typeface="Calibri"/>
                <a:cs typeface="Calibri"/>
                <a:sym typeface="Calibri"/>
              </a:rPr>
              <a:t>The image shows a king tide event at Alamitos Bay, in Long Beach California on November 16, 2024. King tide events are the most extreme of low tide and high tides that happen within a couple of days, which happen once or twice a year. Though they do not happen often, they give us a glimpse as to what our future coastlines may look like.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aaebfcfe4c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aaebfcfe4c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5</a:t>
            </a:r>
            <a:r>
              <a:rPr lang="en" sz="1200">
                <a:solidFill>
                  <a:schemeClr val="dk1"/>
                </a:solidFill>
                <a:latin typeface="Calibri"/>
                <a:ea typeface="Calibri"/>
                <a:cs typeface="Calibri"/>
                <a:sym typeface="Calibri"/>
              </a:rPr>
              <a:t> where students will be told that over the next two lessons, they will investigate sea level rise, its causes, and how it can impact coastal accessibility for communities. They will do so by investigating how global warming is connected to sea level rise and look at simulations for predictions for the future.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aaebfcfe4c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aaebfcfe4c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Have students advance to</a:t>
            </a:r>
            <a:r>
              <a:rPr lang="en" sz="1200" b="1">
                <a:solidFill>
                  <a:schemeClr val="dk1"/>
                </a:solidFill>
                <a:latin typeface="Calibri"/>
                <a:ea typeface="Calibri"/>
                <a:cs typeface="Calibri"/>
                <a:sym typeface="Calibri"/>
              </a:rPr>
              <a:t> Slide 6 </a:t>
            </a:r>
            <a:r>
              <a:rPr lang="en" sz="1200">
                <a:solidFill>
                  <a:schemeClr val="dk1"/>
                </a:solidFill>
                <a:latin typeface="Calibri"/>
                <a:ea typeface="Calibri"/>
                <a:cs typeface="Calibri"/>
                <a:sym typeface="Calibri"/>
              </a:rPr>
              <a:t>and share that first, in their teams, you would like them to create a drawn model on what they think is causing sea level rise. Here students will see instructions to help guide them through the model.</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Using a poster paper, draw what is contributing to sea level rise.</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Remember to label the components of your model and explain processes that are happening, for example, “</a:t>
            </a:r>
            <a:r>
              <a:rPr lang="en" sz="1200" b="1">
                <a:solidFill>
                  <a:schemeClr val="dk1"/>
                </a:solidFill>
                <a:latin typeface="Calibri"/>
                <a:ea typeface="Calibri"/>
                <a:cs typeface="Calibri"/>
                <a:sym typeface="Calibri"/>
              </a:rPr>
              <a:t>Component A</a:t>
            </a:r>
            <a:r>
              <a:rPr lang="en" sz="1200">
                <a:solidFill>
                  <a:schemeClr val="dk1"/>
                </a:solidFill>
                <a:latin typeface="Calibri"/>
                <a:ea typeface="Calibri"/>
                <a:cs typeface="Calibri"/>
                <a:sym typeface="Calibri"/>
              </a:rPr>
              <a:t> interacts with </a:t>
            </a:r>
            <a:r>
              <a:rPr lang="en" sz="1200" b="1">
                <a:solidFill>
                  <a:schemeClr val="dk1"/>
                </a:solidFill>
                <a:latin typeface="Calibri"/>
                <a:ea typeface="Calibri"/>
                <a:cs typeface="Calibri"/>
                <a:sym typeface="Calibri"/>
              </a:rPr>
              <a:t>Component B</a:t>
            </a:r>
            <a:r>
              <a:rPr lang="en" sz="1200">
                <a:solidFill>
                  <a:schemeClr val="dk1"/>
                </a:solidFill>
                <a:latin typeface="Calibri"/>
                <a:ea typeface="Calibri"/>
                <a:cs typeface="Calibri"/>
                <a:sym typeface="Calibri"/>
              </a:rPr>
              <a:t>, causing </a:t>
            </a:r>
            <a:r>
              <a:rPr lang="en" sz="1200" b="1">
                <a:solidFill>
                  <a:schemeClr val="dk1"/>
                </a:solidFill>
                <a:latin typeface="Calibri"/>
                <a:ea typeface="Calibri"/>
                <a:cs typeface="Calibri"/>
                <a:sym typeface="Calibri"/>
              </a:rPr>
              <a:t>[what happens]</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914400" lvl="0" indent="0" algn="l" rtl="0">
              <a:spcBef>
                <a:spcPts val="0"/>
              </a:spcBef>
              <a:spcAft>
                <a:spcPts val="0"/>
              </a:spcAft>
              <a:buNone/>
            </a:pPr>
            <a:endParaRPr sz="1200">
              <a:solidFill>
                <a:schemeClr val="dk1"/>
              </a:solidFill>
              <a:latin typeface="Calibri"/>
              <a:ea typeface="Calibri"/>
              <a:cs typeface="Calibri"/>
              <a:sym typeface="Calibri"/>
            </a:endParaRPr>
          </a:p>
          <a:p>
            <a:pPr marL="457200" lvl="0" indent="0" algn="l" rtl="0">
              <a:spcBef>
                <a:spcPts val="0"/>
              </a:spcBef>
              <a:spcAft>
                <a:spcPts val="0"/>
              </a:spcAft>
              <a:buNone/>
            </a:pPr>
            <a:r>
              <a:rPr lang="en" sz="1200">
                <a:solidFill>
                  <a:schemeClr val="dk1"/>
                </a:solidFill>
                <a:latin typeface="Calibri"/>
                <a:ea typeface="Calibri"/>
                <a:cs typeface="Calibri"/>
                <a:sym typeface="Calibri"/>
              </a:rPr>
              <a:t>Give student teams 10 minutes to model their explanation of what is causing sea level rise.  As they work, walk around and support the students in reflecting back to what they have learned in previous lessons that might help their explanation.</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in your model is directly impacting sea levels?</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Do you think there are any human impacts that might indirectly affect sea levels? </a:t>
            </a:r>
            <a:endParaRPr sz="12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aaebfcfe4c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aaebfcfe4c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start wrapping up their initial model, have them advance to </a:t>
            </a:r>
            <a:r>
              <a:rPr lang="en" sz="1200" b="1">
                <a:solidFill>
                  <a:schemeClr val="dk1"/>
                </a:solidFill>
                <a:latin typeface="Calibri"/>
                <a:ea typeface="Calibri"/>
                <a:cs typeface="Calibri"/>
                <a:sym typeface="Calibri"/>
              </a:rPr>
              <a:t>Slide 7, </a:t>
            </a:r>
            <a:r>
              <a:rPr lang="en" sz="1200">
                <a:solidFill>
                  <a:schemeClr val="dk1"/>
                </a:solidFill>
                <a:latin typeface="Calibri"/>
                <a:ea typeface="Calibri"/>
                <a:cs typeface="Calibri"/>
                <a:sym typeface="Calibri"/>
              </a:rPr>
              <a:t>where they will be asked to watch a short video, </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What Causes Sea Level Rise?</a:t>
            </a:r>
            <a:r>
              <a:rPr lang="en" sz="1200">
                <a:solidFill>
                  <a:schemeClr val="dk1"/>
                </a:solidFill>
                <a:latin typeface="Calibri"/>
                <a:ea typeface="Calibri"/>
                <a:cs typeface="Calibri"/>
                <a:sym typeface="Calibri"/>
              </a:rPr>
              <a:t> [2:43], which will help them expand their models.</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watch the video, they will be asked to think of the following:</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are you observing in the video that you would like to add to your team’s model?</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are humans contributing to the sea level rise process?</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will sea levels impact communities that value Southern California’s Ocean?</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aaebfcfe4c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aaebfcfe4c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have watched the video, advance to </a:t>
            </a:r>
            <a:r>
              <a:rPr lang="en" sz="1200" b="1">
                <a:solidFill>
                  <a:schemeClr val="dk1"/>
                </a:solidFill>
                <a:latin typeface="Calibri"/>
                <a:ea typeface="Calibri"/>
                <a:cs typeface="Calibri"/>
                <a:sym typeface="Calibri"/>
              </a:rPr>
              <a:t>Slide 8 </a:t>
            </a:r>
            <a:r>
              <a:rPr lang="en" sz="1200">
                <a:solidFill>
                  <a:schemeClr val="dk1"/>
                </a:solidFill>
                <a:latin typeface="Calibri"/>
                <a:ea typeface="Calibri"/>
                <a:cs typeface="Calibri"/>
                <a:sym typeface="Calibri"/>
              </a:rPr>
              <a:t>and have them revisit their team’s model to revise it with their newfound knowledge.</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processes or components did you learn about in the video that you would like to add to your model?</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does sea level rise impact communities that value Southern California’s Ocean? How can that be shown in our team’s model?</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you reach the end of the class period, bring the students back together for a class conversation (</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See Module 3.3 &amp; 3.4 Introduction Slides, Slide 6</a:t>
            </a:r>
            <a:r>
              <a:rPr lang="en" sz="1200">
                <a:solidFill>
                  <a:schemeClr val="dk1"/>
                </a:solidFill>
                <a:latin typeface="Calibri"/>
                <a:ea typeface="Calibri"/>
                <a:cs typeface="Calibri"/>
                <a:sym typeface="Calibri"/>
              </a:rPr>
              <a:t>). As not all students did the exact same activity, get at least one student from each exploration to share responses to the following questions with the class.</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did you do today?</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were some of the most surprising findings you gained from today?</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share their experiences, ask the following questions</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specific data do you think is still missing to further your understanding? </a:t>
            </a:r>
            <a:endParaRPr sz="1200">
              <a:solidFill>
                <a:schemeClr val="dk1"/>
              </a:solidFill>
              <a:latin typeface="Calibri"/>
              <a:ea typeface="Calibri"/>
              <a:cs typeface="Calibri"/>
              <a:sym typeface="Calibri"/>
            </a:endParaRPr>
          </a:p>
          <a:p>
            <a:pPr marL="1371600" lvl="2"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might help strengthen your understanding of carbon dioxide’s impact on sea level rise?</a:t>
            </a:r>
            <a:endParaRPr sz="1200">
              <a:solidFill>
                <a:schemeClr val="dk1"/>
              </a:solidFill>
              <a:latin typeface="Calibri"/>
              <a:ea typeface="Calibri"/>
              <a:cs typeface="Calibri"/>
              <a:sym typeface="Calibri"/>
            </a:endParaRPr>
          </a:p>
          <a:p>
            <a:pPr marL="1371600" lvl="2"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might help strengthen your understanding of carbon dioxide’s impact on ocean acidification?</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Where might you collect this data</a:t>
            </a:r>
            <a:endParaRPr sz="12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b32cbd2d34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b32cbd2d34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9</a:t>
            </a:r>
            <a:r>
              <a:rPr lang="en" sz="1200">
                <a:solidFill>
                  <a:schemeClr val="dk1"/>
                </a:solidFill>
                <a:latin typeface="Calibri"/>
                <a:ea typeface="Calibri"/>
                <a:cs typeface="Calibri"/>
                <a:sym typeface="Calibri"/>
              </a:rPr>
              <a:t> and have student teams work together to answer the following questions together on </a:t>
            </a:r>
            <a:r>
              <a:rPr lang="en" sz="1200" u="sng">
                <a:solidFill>
                  <a:schemeClr val="hlink"/>
                </a:solidFill>
                <a:latin typeface="Calibri"/>
                <a:ea typeface="Calibri"/>
                <a:cs typeface="Calibri"/>
                <a:sym typeface="Calibri"/>
                <a:hlinkClick r:id="rId3"/>
              </a:rPr>
              <a:t>Module 3.3: CO2 and Sea Level Rise/Coastal Erosion (</a:t>
            </a:r>
            <a:r>
              <a:rPr lang="en" sz="1200" i="1" u="sng">
                <a:solidFill>
                  <a:schemeClr val="hlink"/>
                </a:solidFill>
                <a:latin typeface="Calibri"/>
                <a:ea typeface="Calibri"/>
                <a:cs typeface="Calibri"/>
                <a:sym typeface="Calibri"/>
                <a:hlinkClick r:id="rId3"/>
              </a:rPr>
              <a:t>Day 1: Investigating Sea Level Rise Student Reflection). P. 35</a:t>
            </a:r>
            <a:r>
              <a:rPr lang="en" sz="1200">
                <a:solidFill>
                  <a:schemeClr val="dk1"/>
                </a:solidFill>
                <a:latin typeface="Calibri"/>
                <a:ea typeface="Calibri"/>
                <a:cs typeface="Calibri"/>
                <a:sym typeface="Calibri"/>
              </a:rPr>
              <a:t> of their Science Journals.</a:t>
            </a:r>
            <a:endParaRPr sz="1200">
              <a:solidFill>
                <a:schemeClr val="dk1"/>
              </a:solidFill>
              <a:latin typeface="Calibri"/>
              <a:ea typeface="Calibri"/>
              <a:cs typeface="Calibri"/>
              <a:sym typeface="Calibri"/>
            </a:endParaRPr>
          </a:p>
          <a:p>
            <a:pPr marL="51435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has your thinking about what causes sea level rise changed? Think about new ideas or surprises you noticed while creating or revising your model.</a:t>
            </a:r>
            <a:endParaRPr sz="1200">
              <a:solidFill>
                <a:schemeClr val="dk1"/>
              </a:solidFill>
              <a:latin typeface="Calibri"/>
              <a:ea typeface="Calibri"/>
              <a:cs typeface="Calibri"/>
              <a:sym typeface="Calibri"/>
            </a:endParaRPr>
          </a:p>
          <a:p>
            <a:pPr marL="51435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could sea level rise impact communities and things they value about the Southern California ocean?</a:t>
            </a:r>
            <a:endParaRPr sz="1200">
              <a:solidFill>
                <a:schemeClr val="dk1"/>
              </a:solidFill>
              <a:latin typeface="Calibri"/>
              <a:ea typeface="Calibri"/>
              <a:cs typeface="Calibri"/>
              <a:sym typeface="Calibri"/>
            </a:endParaRPr>
          </a:p>
          <a:p>
            <a:pPr marL="51435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Which parts of your model do you still have questions about? </a:t>
            </a:r>
            <a:endParaRPr sz="1200">
              <a:solidFill>
                <a:schemeClr val="dk1"/>
              </a:solidFill>
              <a:latin typeface="Calibri"/>
              <a:ea typeface="Calibri"/>
              <a:cs typeface="Calibri"/>
              <a:sym typeface="Calibri"/>
            </a:endParaRPr>
          </a:p>
          <a:p>
            <a:pPr marL="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Thank students for their participation today and inform them that in the next session, they will continue to learn more about sea level rise, but through scientific simulations!</a:t>
            </a:r>
            <a:endParaRPr sz="12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aaebfcfe4c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aaebfcfe4c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Lesson 3.3/3.4 Introduction Slideshow</a:t>
            </a:r>
            <a:r>
              <a:rPr lang="en" sz="1200">
                <a:solidFill>
                  <a:schemeClr val="dk1"/>
                </a:solidFill>
                <a:latin typeface="Calibri"/>
                <a:ea typeface="Calibri"/>
                <a:cs typeface="Calibri"/>
                <a:sym typeface="Calibri"/>
              </a:rPr>
              <a:t>- Students select either lesson 3.3 or 3.4</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Link to </a:t>
            </a:r>
            <a:r>
              <a:rPr lang="en" sz="1200" u="sng">
                <a:solidFill>
                  <a:schemeClr val="hlink"/>
                </a:solidFill>
                <a:latin typeface="Calibri"/>
                <a:ea typeface="Calibri"/>
                <a:cs typeface="Calibri"/>
                <a:sym typeface="Calibri"/>
                <a:hlinkClick r:id="rId4"/>
              </a:rPr>
              <a:t>Module 3.3 Lesson Plan</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b="1">
                <a:solidFill>
                  <a:schemeClr val="dk1"/>
                </a:solidFill>
                <a:latin typeface="Calibri"/>
                <a:ea typeface="Calibri"/>
                <a:cs typeface="Calibri"/>
                <a:sym typeface="Calibri"/>
              </a:rPr>
              <a:t>BEFORE YOU START TEACHING</a:t>
            </a:r>
            <a:endParaRPr sz="1200" b="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Review the </a:t>
            </a:r>
            <a:r>
              <a:rPr lang="en" sz="1200" u="sng">
                <a:solidFill>
                  <a:srgbClr val="1155CC"/>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Teacher Facilitation Guide</a:t>
            </a:r>
            <a:r>
              <a:rPr lang="en" sz="1200">
                <a:solidFill>
                  <a:schemeClr val="dk1"/>
                </a:solidFill>
                <a:latin typeface="Calibri"/>
                <a:ea typeface="Calibri"/>
                <a:cs typeface="Calibri"/>
                <a:sym typeface="Calibri"/>
              </a:rPr>
              <a:t> for an overview of content and the curriculum as well as helpful facilitation suggestions.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For </a:t>
            </a:r>
            <a:r>
              <a:rPr lang="en" sz="1200" b="1">
                <a:solidFill>
                  <a:schemeClr val="dk1"/>
                </a:solidFill>
                <a:latin typeface="Calibri"/>
                <a:ea typeface="Calibri"/>
                <a:cs typeface="Calibri"/>
                <a:sym typeface="Calibri"/>
              </a:rPr>
              <a:t>Lesson 3.3</a:t>
            </a:r>
            <a:r>
              <a:rPr lang="en" sz="1200">
                <a:solidFill>
                  <a:schemeClr val="dk1"/>
                </a:solidFill>
                <a:latin typeface="Calibri"/>
                <a:ea typeface="Calibri"/>
                <a:cs typeface="Calibri"/>
                <a:sym typeface="Calibri"/>
              </a:rPr>
              <a:t>, review </a:t>
            </a:r>
            <a:r>
              <a:rPr lang="en" sz="1200" u="sng">
                <a:solidFill>
                  <a:srgbClr val="1155CC"/>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Student Our Coast Our Future Instructions</a:t>
            </a:r>
            <a:r>
              <a:rPr lang="en" sz="1200">
                <a:solidFill>
                  <a:schemeClr val="dk1"/>
                </a:solidFill>
                <a:latin typeface="Calibri"/>
                <a:ea typeface="Calibri"/>
                <a:cs typeface="Calibri"/>
                <a:sym typeface="Calibri"/>
              </a:rPr>
              <a:t> (also in Science Journal, p. 36-43) to model or support students. Explore </a:t>
            </a:r>
            <a:r>
              <a:rPr lang="en" sz="1200" u="sng">
                <a:solidFill>
                  <a:srgbClr val="1155CC"/>
                </a:solidFill>
                <a:latin typeface="Calibri"/>
                <a:ea typeface="Calibri"/>
                <a:cs typeface="Calibri"/>
                <a:sym typeface="Calibri"/>
                <a:hlinkClick r:id="rId7">
                  <a:extLst>
                    <a:ext uri="{A12FA001-AC4F-418D-AE19-62706E023703}">
                      <ahyp:hlinkClr xmlns:ahyp="http://schemas.microsoft.com/office/drawing/2018/hyperlinkcolor" val="tx"/>
                    </a:ext>
                  </a:extLst>
                </a:hlinkClick>
              </a:rPr>
              <a:t>Our Coast Our Future Website.</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Include a numbered list of general steps to set up the investigation before students arrive.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This can also include other things that educators should do or think about before starting the lesson, such as checking for safety concerns.</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__________</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Welcome students back for day two of their sea level rise investigation. Have students open the slideshow to </a:t>
            </a:r>
            <a:r>
              <a:rPr lang="en" sz="1200" b="1">
                <a:solidFill>
                  <a:schemeClr val="dk1"/>
                </a:solidFill>
                <a:latin typeface="Calibri"/>
                <a:ea typeface="Calibri"/>
                <a:cs typeface="Calibri"/>
                <a:sym typeface="Calibri"/>
              </a:rPr>
              <a:t>Slide 10, </a:t>
            </a:r>
            <a:r>
              <a:rPr lang="en" sz="1200">
                <a:solidFill>
                  <a:schemeClr val="dk1"/>
                </a:solidFill>
                <a:latin typeface="Calibri"/>
                <a:ea typeface="Calibri"/>
                <a:cs typeface="Calibri"/>
                <a:sym typeface="Calibri"/>
              </a:rPr>
              <a:t>where day two starts.</a:t>
            </a:r>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aaebfcfe4c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aaebfcfe4c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When student teams are ready, advance to </a:t>
            </a:r>
            <a:r>
              <a:rPr lang="en" sz="1200" b="1">
                <a:solidFill>
                  <a:schemeClr val="dk1"/>
                </a:solidFill>
                <a:latin typeface="Calibri"/>
                <a:ea typeface="Calibri"/>
                <a:cs typeface="Calibri"/>
                <a:sym typeface="Calibri"/>
              </a:rPr>
              <a:t>Slide 11</a:t>
            </a:r>
            <a:r>
              <a:rPr lang="en" sz="1200">
                <a:solidFill>
                  <a:schemeClr val="dk1"/>
                </a:solidFill>
                <a:latin typeface="Calibri"/>
                <a:ea typeface="Calibri"/>
                <a:cs typeface="Calibri"/>
                <a:sym typeface="Calibri"/>
              </a:rPr>
              <a:t> where they will see the same image from Long Beach on day one to see how their thinking has changed. As a group and  answer the following questions.</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Now that you have gained more information about sea level rise, let's revisit this image.</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you think is happening in this image? Why is it happening?</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Is what you are observing a natural occurrence? How often does this happen?</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Why might communities want to understand this scenario?</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aaebfcfe4c_0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aaebfcfe4c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0" indent="0" algn="l" rtl="0">
              <a:spcBef>
                <a:spcPts val="0"/>
              </a:spcBef>
              <a:spcAft>
                <a:spcPts val="0"/>
              </a:spcAft>
              <a:buClr>
                <a:schemeClr val="dk1"/>
              </a:buClr>
              <a:buSzPts val="1100"/>
              <a:buFont typeface="Arial"/>
              <a:buNone/>
            </a:pPr>
            <a:endParaRPr sz="1200" i="1">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Have students share with their group and then when they are ready they can advance to </a:t>
            </a:r>
            <a:r>
              <a:rPr lang="en" sz="1200" b="1">
                <a:solidFill>
                  <a:schemeClr val="dk1"/>
                </a:solidFill>
                <a:latin typeface="Calibri"/>
                <a:ea typeface="Calibri"/>
                <a:cs typeface="Calibri"/>
                <a:sym typeface="Calibri"/>
              </a:rPr>
              <a:t>Slide 12</a:t>
            </a:r>
            <a:r>
              <a:rPr lang="en" sz="1200">
                <a:solidFill>
                  <a:schemeClr val="dk1"/>
                </a:solidFill>
                <a:latin typeface="Calibri"/>
                <a:ea typeface="Calibri"/>
                <a:cs typeface="Calibri"/>
                <a:sym typeface="Calibri"/>
              </a:rPr>
              <a:t>. Where they will see their goal for today.</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Today, you will further investigate how sea level rise is affecting communities through exploring scientific sea level rise simulations and use the information you gather to plan how you want to update your SageModeler model to describe how ocean acidification impacts the values your community places on Southern California’s ocean.</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aaebfcfe4c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aaebfcfe4c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advance to </a:t>
            </a:r>
            <a:r>
              <a:rPr lang="en" sz="1200" b="1">
                <a:solidFill>
                  <a:schemeClr val="dk1"/>
                </a:solidFill>
                <a:latin typeface="Calibri"/>
                <a:ea typeface="Calibri"/>
                <a:cs typeface="Calibri"/>
                <a:sym typeface="Calibri"/>
              </a:rPr>
              <a:t>Slide 13 </a:t>
            </a:r>
            <a:r>
              <a:rPr lang="en" sz="1200">
                <a:solidFill>
                  <a:schemeClr val="dk1"/>
                </a:solidFill>
                <a:latin typeface="Calibri"/>
                <a:ea typeface="Calibri"/>
                <a:cs typeface="Calibri"/>
                <a:sym typeface="Calibri"/>
              </a:rPr>
              <a:t>they will see the simulation tool they will use to further investigate sea level rise, Our Coast Our Future, along with some tasks for the day.</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As a team, you will investigate the </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Our Coast Our Future </a:t>
            </a:r>
            <a:r>
              <a:rPr lang="en" sz="1200">
                <a:solidFill>
                  <a:schemeClr val="dk1"/>
                </a:solidFill>
                <a:latin typeface="Calibri"/>
                <a:ea typeface="Calibri"/>
                <a:cs typeface="Calibri"/>
                <a:sym typeface="Calibri"/>
              </a:rPr>
              <a:t>simulation tool to explore sea level rise impact predictions. </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On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Module 3.3 Impacts of Sea Level Rise on Coastal Communities </a:t>
            </a:r>
            <a:r>
              <a:rPr lang="en" sz="1200" i="1"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Our Coast Our Future</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 (p.36</a:t>
            </a:r>
            <a:r>
              <a:rPr lang="en" sz="1200">
                <a:solidFill>
                  <a:schemeClr val="dk1"/>
                </a:solidFill>
                <a:latin typeface="Calibri"/>
                <a:ea typeface="Calibri"/>
                <a:cs typeface="Calibri"/>
                <a:sym typeface="Calibri"/>
              </a:rPr>
              <a:t>) of your Science Journal, you will have scenarios to investigate and questions to answer. Work as a team to answer these questions.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are ready, have them open their Science Journals to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Module 3.3 Impact of Sea Level Rise on Flooding in Alamitos Bay </a:t>
            </a:r>
            <a:r>
              <a:rPr lang="en" sz="1200" i="1"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Our Coast Our Future</a:t>
            </a:r>
            <a:r>
              <a:rPr lang="en" sz="1200">
                <a:solidFill>
                  <a:schemeClr val="dk1"/>
                </a:solidFill>
                <a:latin typeface="Calibri"/>
                <a:ea typeface="Calibri"/>
                <a:cs typeface="Calibri"/>
                <a:sym typeface="Calibri"/>
              </a:rPr>
              <a:t> where they will track their findings during their investigation. </a:t>
            </a:r>
            <a:endParaRPr sz="1200">
              <a:solidFill>
                <a:schemeClr val="dk1"/>
              </a:solidFill>
              <a:latin typeface="Calibri"/>
              <a:ea typeface="Calibri"/>
              <a:cs typeface="Calibri"/>
              <a:sym typeface="Calibri"/>
            </a:endParaRPr>
          </a:p>
          <a:p>
            <a:pPr marL="4572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When students are ready, have them open up the Our Coast Our Future platform and locate Alamitos Bay in Long Beach. They will focus on exploring two different scenarios</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Sea level rise’s impact on flooding in Alamitos Bay</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Sea level rise’s impact on shoreline position on Alamitos Beach</a:t>
            </a:r>
            <a:endParaRPr sz="1200">
              <a:solidFill>
                <a:schemeClr val="dk1"/>
              </a:solidFill>
              <a:latin typeface="Calibri"/>
              <a:ea typeface="Calibri"/>
              <a:cs typeface="Calibri"/>
              <a:sym typeface="Calibri"/>
            </a:endParaRPr>
          </a:p>
          <a:p>
            <a:pPr marL="9144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navigate through the Our Coast Our Future platform, walk around the group and provide support and ask questions to guide their investigation. Examples include:</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impact is the sea level rise projection for 2050 having on the Alamitos Bay community? How can you tell?</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does the shoreline position differ on Alamitos Beach with the projections for sea level rise for 2050 and 2100?</a:t>
            </a:r>
            <a:endParaRPr sz="1200">
              <a:solidFill>
                <a:schemeClr val="dk1"/>
              </a:solidFill>
              <a:latin typeface="Calibri"/>
              <a:ea typeface="Calibri"/>
              <a:cs typeface="Calibri"/>
              <a:sym typeface="Calibri"/>
            </a:endParaRPr>
          </a:p>
          <a:p>
            <a:pPr marL="91440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If time allows as students investigate the platform, invite them to search another coast that they might be familiar with to see if the sea level impact is similar or different between these locations.</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does sea level rise impact these locations differently? How does it impact them similarly?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b32cbd2d3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b32cbd2d3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wrap up their investigation, advance to </a:t>
            </a:r>
            <a:r>
              <a:rPr lang="en" sz="1200" b="1">
                <a:solidFill>
                  <a:schemeClr val="dk1"/>
                </a:solidFill>
                <a:latin typeface="Calibri"/>
                <a:ea typeface="Calibri"/>
                <a:cs typeface="Calibri"/>
                <a:sym typeface="Calibri"/>
              </a:rPr>
              <a:t>Slide 14 </a:t>
            </a:r>
            <a:r>
              <a:rPr lang="en" sz="1200">
                <a:solidFill>
                  <a:schemeClr val="dk1"/>
                </a:solidFill>
                <a:latin typeface="Calibri"/>
                <a:ea typeface="Calibri"/>
                <a:cs typeface="Calibri"/>
                <a:sym typeface="Calibri"/>
              </a:rPr>
              <a:t>and tell students that their next step is to create a plan to update their SageModeler model from Module 2 with their newfound knowledge during their investigation.</a:t>
            </a:r>
            <a:endParaRPr sz="1200">
              <a:solidFill>
                <a:schemeClr val="dk1"/>
              </a:solidFill>
              <a:latin typeface="Calibri"/>
              <a:ea typeface="Calibri"/>
              <a:cs typeface="Calibri"/>
              <a:sym typeface="Calibri"/>
            </a:endParaRPr>
          </a:p>
          <a:p>
            <a:pPr marL="457200" lvl="0" indent="0" algn="l" rtl="0">
              <a:spcBef>
                <a:spcPts val="0"/>
              </a:spcBef>
              <a:spcAft>
                <a:spcPts val="0"/>
              </a:spcAft>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Have students open their Science Journal to </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3.3: Impacts of Sea Level Rise on Coastal Communities (</a:t>
            </a:r>
            <a:r>
              <a:rPr lang="en" sz="1200" i="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Planning to Update Our SageModler Model)</a:t>
            </a:r>
            <a:r>
              <a:rPr lang="en" sz="1200" i="1">
                <a:solidFill>
                  <a:schemeClr val="dk1"/>
                </a:solidFill>
                <a:latin typeface="Calibri"/>
                <a:ea typeface="Calibri"/>
                <a:cs typeface="Calibri"/>
                <a:sym typeface="Calibri"/>
              </a:rPr>
              <a:t> (p.44),</a:t>
            </a:r>
            <a:r>
              <a:rPr lang="en" sz="1200">
                <a:solidFill>
                  <a:schemeClr val="dk1"/>
                </a:solidFill>
                <a:latin typeface="Calibri"/>
                <a:ea typeface="Calibri"/>
                <a:cs typeface="Calibri"/>
                <a:sym typeface="Calibri"/>
              </a:rPr>
              <a:t> where they will have a table to help them think through their updates. As students work together, walk around the groups and support them in answering the questions.</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investigation did you take part in?</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did your thinking change as a result of this investigation? What new information did you learn?</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do you want to add, remove, or update in your SageModeler model?</a:t>
            </a:r>
            <a:endParaRPr sz="1200">
              <a:solidFill>
                <a:schemeClr val="dk1"/>
              </a:solidFill>
              <a:latin typeface="Calibri"/>
              <a:ea typeface="Calibri"/>
              <a:cs typeface="Calibri"/>
              <a:sym typeface="Calibri"/>
            </a:endParaRPr>
          </a:p>
          <a:p>
            <a:pPr marL="914400" lvl="0" indent="0" algn="l" rtl="0">
              <a:spcBef>
                <a:spcPts val="0"/>
              </a:spcBef>
              <a:spcAft>
                <a:spcPts val="0"/>
              </a:spcAft>
              <a:buNone/>
            </a:pPr>
            <a:endParaRPr sz="1200">
              <a:solidFill>
                <a:schemeClr val="dk1"/>
              </a:solidFill>
              <a:latin typeface="Calibri"/>
              <a:ea typeface="Calibri"/>
              <a:cs typeface="Calibri"/>
              <a:sym typeface="Calibri"/>
            </a:endParaRPr>
          </a:p>
          <a:p>
            <a:pPr marL="457200" lvl="0" indent="0" algn="l" rtl="0">
              <a:spcBef>
                <a:spcPts val="0"/>
              </a:spcBef>
              <a:spcAft>
                <a:spcPts val="0"/>
              </a:spcAft>
              <a:buNone/>
            </a:pPr>
            <a:r>
              <a:rPr lang="en" sz="1200" i="1">
                <a:solidFill>
                  <a:schemeClr val="dk1"/>
                </a:solidFill>
                <a:latin typeface="Calibri"/>
                <a:ea typeface="Calibri"/>
                <a:cs typeface="Calibri"/>
                <a:sym typeface="Calibri"/>
              </a:rPr>
              <a:t>Students may need support in thinking about how to expand their original model, invite students to take a look back at their materials from module 3 so far and look at what components they investigated. </a:t>
            </a:r>
            <a:endParaRPr sz="1200" i="1">
              <a:solidFill>
                <a:schemeClr val="dk1"/>
              </a:solidFill>
              <a:latin typeface="Calibri"/>
              <a:ea typeface="Calibri"/>
              <a:cs typeface="Calibri"/>
              <a:sym typeface="Calibri"/>
            </a:endParaRPr>
          </a:p>
          <a:p>
            <a:pPr marL="914400" lvl="0" indent="0" algn="l" rtl="0">
              <a:spcBef>
                <a:spcPts val="0"/>
              </a:spcBef>
              <a:spcAft>
                <a:spcPts val="0"/>
              </a:spcAft>
              <a:buNone/>
            </a:pPr>
            <a:endParaRPr sz="1200" i="1">
              <a:solidFill>
                <a:schemeClr val="dk1"/>
              </a:solidFill>
              <a:latin typeface="Calibri"/>
              <a:ea typeface="Calibri"/>
              <a:cs typeface="Calibri"/>
              <a:sym typeface="Calibri"/>
            </a:endParaRPr>
          </a:p>
          <a:p>
            <a:pPr marL="457200" lvl="0" indent="0" algn="l" rtl="0">
              <a:spcBef>
                <a:spcPts val="0"/>
              </a:spcBef>
              <a:spcAft>
                <a:spcPts val="0"/>
              </a:spcAft>
              <a:buNone/>
            </a:pPr>
            <a:r>
              <a:rPr lang="en" sz="1200">
                <a:solidFill>
                  <a:schemeClr val="dk1"/>
                </a:solidFill>
                <a:latin typeface="Calibri"/>
                <a:ea typeface="Calibri"/>
                <a:cs typeface="Calibri"/>
                <a:sym typeface="Calibri"/>
              </a:rPr>
              <a:t>Some options may include:</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For all investigations:</a:t>
            </a:r>
            <a:r>
              <a:rPr lang="en" sz="1200">
                <a:solidFill>
                  <a:schemeClr val="dk1"/>
                </a:solidFill>
                <a:latin typeface="Calibri"/>
                <a:ea typeface="Calibri"/>
                <a:cs typeface="Calibri"/>
                <a:sym typeface="Calibri"/>
              </a:rPr>
              <a:t> carbon dioxide emissions and atmospheric carbon dioxide.</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For sea level rise and coastal erosion investigations:</a:t>
            </a:r>
            <a:r>
              <a:rPr lang="en" sz="1200">
                <a:solidFill>
                  <a:schemeClr val="dk1"/>
                </a:solidFill>
                <a:latin typeface="Calibri"/>
                <a:ea typeface="Calibri"/>
                <a:cs typeface="Calibri"/>
                <a:sym typeface="Calibri"/>
              </a:rPr>
              <a:t> melting land ice, shoreline width, or flooding</a:t>
            </a:r>
            <a:endParaRPr sz="1200">
              <a:solidFill>
                <a:schemeClr val="dk1"/>
              </a:solidFill>
              <a:latin typeface="Calibri"/>
              <a:ea typeface="Calibri"/>
              <a:cs typeface="Calibri"/>
              <a:sym typeface="Calibri"/>
            </a:endParaRPr>
          </a:p>
          <a:p>
            <a:pPr marL="914400" lvl="0" indent="-304800" algn="l" rtl="0">
              <a:spcBef>
                <a:spcPts val="0"/>
              </a:spcBef>
              <a:spcAft>
                <a:spcPts val="0"/>
              </a:spcAft>
              <a:buClr>
                <a:schemeClr val="dk1"/>
              </a:buClr>
              <a:buSzPts val="1200"/>
              <a:buFont typeface="Calibri"/>
              <a:buChar char="●"/>
            </a:pPr>
            <a:r>
              <a:rPr lang="en" sz="1200" b="1">
                <a:solidFill>
                  <a:schemeClr val="dk1"/>
                </a:solidFill>
                <a:latin typeface="Calibri"/>
                <a:ea typeface="Calibri"/>
                <a:cs typeface="Calibri"/>
                <a:sym typeface="Calibri"/>
              </a:rPr>
              <a:t>For ocean acidification investigations:</a:t>
            </a:r>
            <a:r>
              <a:rPr lang="en" sz="1200">
                <a:solidFill>
                  <a:schemeClr val="dk1"/>
                </a:solidFill>
                <a:latin typeface="Calibri"/>
                <a:ea typeface="Calibri"/>
                <a:cs typeface="Calibri"/>
                <a:sym typeface="Calibri"/>
              </a:rPr>
              <a:t> ocean pH levels, organisms with calcium carbonate shells, or connections back to the food chain that impacts their value, for example, availability of fish.</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a:p>
            <a:pPr marL="457200" lvl="0" indent="-304800" algn="l" rtl="0">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Once students have created their plan, bring the class back together  (</a:t>
            </a:r>
            <a:r>
              <a:rPr lang="en" sz="1200" u="sng">
                <a:solidFill>
                  <a:srgbClr val="1155CC"/>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See Module 3.3 &amp; 3.4 Introduction Slides, Slide 7</a:t>
            </a:r>
            <a:r>
              <a:rPr lang="en" sz="1200" u="sng">
                <a:solidFill>
                  <a:srgbClr val="1155CC"/>
                </a:solidFill>
                <a:latin typeface="Calibri"/>
                <a:ea typeface="Calibri"/>
                <a:cs typeface="Calibri"/>
                <a:sym typeface="Calibri"/>
              </a:rPr>
              <a:t>) </a:t>
            </a:r>
            <a:r>
              <a:rPr lang="en" sz="1200">
                <a:solidFill>
                  <a:schemeClr val="dk1"/>
                </a:solidFill>
                <a:latin typeface="Calibri"/>
                <a:ea typeface="Calibri"/>
                <a:cs typeface="Calibri"/>
                <a:sym typeface="Calibri"/>
              </a:rPr>
              <a:t>and have them share out with the class if time permits. Since different students will have different investigations and their models share different values, focus on the following question.</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value does your SageModeler model center on?</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investigation did you take part in? (sea level rise or ocean acidification)’</a:t>
            </a:r>
            <a:endParaRPr sz="1200">
              <a:solidFill>
                <a:schemeClr val="dk1"/>
              </a:solidFill>
              <a:latin typeface="Calibri"/>
              <a:ea typeface="Calibri"/>
              <a:cs typeface="Calibri"/>
              <a:sym typeface="Calibri"/>
            </a:endParaRPr>
          </a:p>
          <a:p>
            <a:pPr marL="914400" lvl="1" indent="-3048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How do you want to update your SageModeler model as a result of your investigation? How does this impact connect with the value your model centers?</a:t>
            </a:r>
            <a:endParaRPr sz="12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aaebfcfe4c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aaebfcfe4c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As students wrap up for the day, their final task for the day is to reflect on what they did.</a:t>
            </a:r>
            <a:endParaRPr sz="1200">
              <a:solidFill>
                <a:schemeClr val="dk1"/>
              </a:solidFill>
              <a:latin typeface="Calibri"/>
              <a:ea typeface="Calibri"/>
              <a:cs typeface="Calibri"/>
              <a:sym typeface="Calibri"/>
            </a:endParaRPr>
          </a:p>
          <a:p>
            <a:pPr marL="45720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Advance to </a:t>
            </a:r>
            <a:r>
              <a:rPr lang="en" sz="1200" b="1">
                <a:solidFill>
                  <a:schemeClr val="dk1"/>
                </a:solidFill>
                <a:latin typeface="Calibri"/>
                <a:ea typeface="Calibri"/>
                <a:cs typeface="Calibri"/>
                <a:sym typeface="Calibri"/>
              </a:rPr>
              <a:t>Slide 15</a:t>
            </a:r>
            <a:r>
              <a:rPr lang="en" sz="1200">
                <a:solidFill>
                  <a:schemeClr val="dk1"/>
                </a:solidFill>
                <a:latin typeface="Calibri"/>
                <a:ea typeface="Calibri"/>
                <a:cs typeface="Calibri"/>
                <a:sym typeface="Calibri"/>
              </a:rPr>
              <a:t> and have student teams work together to answer the following questions together on </a:t>
            </a:r>
            <a:r>
              <a:rPr lang="en" sz="1200"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Module 3.3: CO2 and Sea Level Rise/Coastal Erosion (</a:t>
            </a:r>
            <a:r>
              <a:rPr lang="en" sz="1200" i="1" u="sng">
                <a:solidFill>
                  <a:srgbClr val="1155CC"/>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Day 2: Investigating Sea Level Rise Student Reflection)</a:t>
            </a:r>
            <a:r>
              <a:rPr lang="en" sz="1200" i="1">
                <a:solidFill>
                  <a:schemeClr val="dk1"/>
                </a:solidFill>
                <a:latin typeface="Calibri"/>
                <a:ea typeface="Calibri"/>
                <a:cs typeface="Calibri"/>
                <a:sym typeface="Calibri"/>
              </a:rPr>
              <a:t>, (p. 37) </a:t>
            </a:r>
            <a:r>
              <a:rPr lang="en" sz="1200">
                <a:solidFill>
                  <a:schemeClr val="dk1"/>
                </a:solidFill>
                <a:latin typeface="Calibri"/>
                <a:ea typeface="Calibri"/>
                <a:cs typeface="Calibri"/>
                <a:sym typeface="Calibri"/>
              </a:rPr>
              <a:t>of their Science Journals.</a:t>
            </a:r>
            <a:endParaRPr sz="1200">
              <a:solidFill>
                <a:schemeClr val="dk1"/>
              </a:solidFill>
              <a:latin typeface="Calibri"/>
              <a:ea typeface="Calibri"/>
              <a:cs typeface="Calibri"/>
              <a:sym typeface="Calibri"/>
            </a:endParaRPr>
          </a:p>
          <a:p>
            <a:pPr marL="51435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new information or evidence changed your thinking about what causes sea level rise or how it affects communities?</a:t>
            </a:r>
            <a:endParaRPr sz="1200">
              <a:solidFill>
                <a:schemeClr val="dk1"/>
              </a:solidFill>
              <a:latin typeface="Calibri"/>
              <a:ea typeface="Calibri"/>
              <a:cs typeface="Calibri"/>
              <a:sym typeface="Calibri"/>
            </a:endParaRPr>
          </a:p>
          <a:p>
            <a:pPr marL="51435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questions do you still have about sea level rise?</a:t>
            </a:r>
            <a:endParaRPr sz="1200">
              <a:solidFill>
                <a:schemeClr val="dk1"/>
              </a:solidFill>
              <a:latin typeface="Calibri"/>
              <a:ea typeface="Calibri"/>
              <a:cs typeface="Calibri"/>
              <a:sym typeface="Calibri"/>
            </a:endParaRPr>
          </a:p>
          <a:p>
            <a:pPr marL="514350" lvl="0" indent="-304800" algn="l" rtl="0">
              <a:lnSpc>
                <a:spcPct val="115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What updates do you plan to make to your SageModeler in the next lesson to strengthen your model?</a:t>
            </a:r>
            <a:br>
              <a:rPr lang="en"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marL="228600" lvl="0" indent="-304800" algn="l" rtl="0">
              <a:lnSpc>
                <a:spcPct val="115000"/>
              </a:lnSpc>
              <a:spcBef>
                <a:spcPts val="0"/>
              </a:spcBef>
              <a:spcAft>
                <a:spcPts val="0"/>
              </a:spcAft>
              <a:buClr>
                <a:schemeClr val="dk1"/>
              </a:buClr>
              <a:buSzPts val="1200"/>
              <a:buFont typeface="Calibri"/>
              <a:buAutoNum type="arabicPeriod"/>
            </a:pPr>
            <a:r>
              <a:rPr lang="en" sz="1200">
                <a:solidFill>
                  <a:schemeClr val="dk1"/>
                </a:solidFill>
                <a:latin typeface="Calibri"/>
                <a:ea typeface="Calibri"/>
                <a:cs typeface="Calibri"/>
                <a:sym typeface="Calibri"/>
              </a:rPr>
              <a:t>Thank students for their participation today and inform them that in the next session, they will come back to their SageModeler model and update it with their newfound knowledge from their investigations.</a:t>
            </a:r>
            <a:endParaRPr sz="12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4ac343a9b0_0_55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4ac343a9b0_0_5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with footer">
  <p:cSld name="ONE_COLUMN_TEXT_1">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7426775" y="4679000"/>
            <a:ext cx="1502400" cy="324300"/>
          </a:xfrm>
          <a:prstGeom prst="rect">
            <a:avLst/>
          </a:prstGeom>
        </p:spPr>
        <p:txBody>
          <a:bodyPr spcFirstLastPara="1" wrap="square" lIns="91425" tIns="91425" rIns="91425" bIns="91425" anchor="ctr" anchorCtr="0">
            <a:normAutofit lnSpcReduction="1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2" name="Google Shape;52;p13"/>
          <p:cNvSpPr txBox="1">
            <a:spLocks noGrp="1"/>
          </p:cNvSpPr>
          <p:nvPr>
            <p:ph type="title"/>
          </p:nvPr>
        </p:nvSpPr>
        <p:spPr>
          <a:xfrm>
            <a:off x="228600" y="2236650"/>
            <a:ext cx="3551400" cy="670200"/>
          </a:xfrm>
          <a:prstGeom prst="rect">
            <a:avLst/>
          </a:prstGeom>
        </p:spPr>
        <p:txBody>
          <a:bodyPr spcFirstLastPara="1" wrap="square" lIns="91425" tIns="91425" rIns="91425" bIns="91425" anchor="ctr" anchorCtr="0">
            <a:normAutofit/>
          </a:bodyPr>
          <a:lstStyle>
            <a:lvl1pPr lvl="0">
              <a:spcBef>
                <a:spcPts val="0"/>
              </a:spcBef>
              <a:spcAft>
                <a:spcPts val="0"/>
              </a:spcAft>
              <a:buSzPts val="4500"/>
              <a:buNone/>
              <a:defRPr sz="4500"/>
            </a:lvl1pPr>
            <a:lvl2pPr lvl="1">
              <a:spcBef>
                <a:spcPts val="0"/>
              </a:spcBef>
              <a:spcAft>
                <a:spcPts val="0"/>
              </a:spcAft>
              <a:buSzPts val="4500"/>
              <a:buNone/>
              <a:defRPr sz="4500"/>
            </a:lvl2pPr>
            <a:lvl3pPr lvl="2">
              <a:spcBef>
                <a:spcPts val="0"/>
              </a:spcBef>
              <a:spcAft>
                <a:spcPts val="0"/>
              </a:spcAft>
              <a:buSzPts val="4500"/>
              <a:buNone/>
              <a:defRPr sz="4500"/>
            </a:lvl3pPr>
            <a:lvl4pPr lvl="3">
              <a:spcBef>
                <a:spcPts val="0"/>
              </a:spcBef>
              <a:spcAft>
                <a:spcPts val="0"/>
              </a:spcAft>
              <a:buSzPts val="4500"/>
              <a:buNone/>
              <a:defRPr sz="4500"/>
            </a:lvl4pPr>
            <a:lvl5pPr lvl="4">
              <a:spcBef>
                <a:spcPts val="0"/>
              </a:spcBef>
              <a:spcAft>
                <a:spcPts val="0"/>
              </a:spcAft>
              <a:buSzPts val="4500"/>
              <a:buNone/>
              <a:defRPr sz="4500"/>
            </a:lvl5pPr>
            <a:lvl6pPr lvl="5">
              <a:spcBef>
                <a:spcPts val="0"/>
              </a:spcBef>
              <a:spcAft>
                <a:spcPts val="0"/>
              </a:spcAft>
              <a:buSzPts val="4500"/>
              <a:buNone/>
              <a:defRPr sz="4500"/>
            </a:lvl6pPr>
            <a:lvl7pPr lvl="6">
              <a:spcBef>
                <a:spcPts val="0"/>
              </a:spcBef>
              <a:spcAft>
                <a:spcPts val="0"/>
              </a:spcAft>
              <a:buSzPts val="4500"/>
              <a:buNone/>
              <a:defRPr sz="4500"/>
            </a:lvl7pPr>
            <a:lvl8pPr lvl="7">
              <a:spcBef>
                <a:spcPts val="0"/>
              </a:spcBef>
              <a:spcAft>
                <a:spcPts val="0"/>
              </a:spcAft>
              <a:buSzPts val="4500"/>
              <a:buNone/>
              <a:defRPr sz="4500"/>
            </a:lvl8pPr>
            <a:lvl9pPr lvl="8">
              <a:spcBef>
                <a:spcPts val="0"/>
              </a:spcBef>
              <a:spcAft>
                <a:spcPts val="0"/>
              </a:spcAft>
              <a:buSzPts val="4500"/>
              <a:buNone/>
              <a:defRPr sz="4500"/>
            </a:lvl9pPr>
          </a:lstStyle>
          <a:p>
            <a:endParaRPr/>
          </a:p>
        </p:txBody>
      </p:sp>
      <p:sp>
        <p:nvSpPr>
          <p:cNvPr id="53" name="Google Shape;53;p13"/>
          <p:cNvSpPr txBox="1">
            <a:spLocks noGrp="1"/>
          </p:cNvSpPr>
          <p:nvPr>
            <p:ph type="subTitle" idx="1"/>
          </p:nvPr>
        </p:nvSpPr>
        <p:spPr>
          <a:xfrm>
            <a:off x="4572000" y="1004700"/>
            <a:ext cx="4343400" cy="3134100"/>
          </a:xfrm>
          <a:prstGeom prst="rect">
            <a:avLst/>
          </a:prstGeom>
        </p:spPr>
        <p:txBody>
          <a:bodyPr spcFirstLastPara="1" wrap="square" lIns="91425" tIns="91425" rIns="91425" bIns="91425" anchor="t" anchorCtr="0">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13"/>
          <p:cNvSpPr txBox="1">
            <a:spLocks noGrp="1"/>
          </p:cNvSpPr>
          <p:nvPr>
            <p:ph type="body" idx="2"/>
          </p:nvPr>
        </p:nvSpPr>
        <p:spPr>
          <a:xfrm>
            <a:off x="228600" y="4679000"/>
            <a:ext cx="4343400" cy="3243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cxnSp>
        <p:nvCxnSpPr>
          <p:cNvPr id="55" name="Google Shape;55;p13"/>
          <p:cNvCxnSpPr/>
          <p:nvPr/>
        </p:nvCxnSpPr>
        <p:spPr>
          <a:xfrm rot="10800000" flipH="1">
            <a:off x="225750" y="4678950"/>
            <a:ext cx="8692500" cy="57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www.youtube.com/watch?v=lMVv3qz-rHs"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hyperlink" Target="http://www.youtube.com/watch?v=QH-KYmRAzOA"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ourcoastourfuture.org/hazard-map/"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AEBE9"/>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idx="4294967295"/>
          </p:nvPr>
        </p:nvSpPr>
        <p:spPr>
          <a:xfrm>
            <a:off x="236575" y="665825"/>
            <a:ext cx="3939300" cy="277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4500" b="1">
                <a:solidFill>
                  <a:srgbClr val="541900"/>
                </a:solidFill>
              </a:rPr>
              <a:t>CO₂ &amp; Sea Level Rise/ Coastal Erosion</a:t>
            </a:r>
            <a:endParaRPr sz="4500" b="1">
              <a:solidFill>
                <a:srgbClr val="541900"/>
              </a:solidFill>
            </a:endParaRPr>
          </a:p>
        </p:txBody>
      </p:sp>
      <p:sp>
        <p:nvSpPr>
          <p:cNvPr id="61" name="Google Shape;61;p14"/>
          <p:cNvSpPr txBox="1">
            <a:spLocks noGrp="1"/>
          </p:cNvSpPr>
          <p:nvPr>
            <p:ph type="body" idx="4294967295"/>
          </p:nvPr>
        </p:nvSpPr>
        <p:spPr>
          <a:xfrm>
            <a:off x="2286475" y="3440825"/>
            <a:ext cx="1889400" cy="6702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r>
              <a:rPr lang="en" sz="1200" b="1">
                <a:solidFill>
                  <a:srgbClr val="355E3B"/>
                </a:solidFill>
              </a:rPr>
              <a:t>Module 3.3 | Day 1</a:t>
            </a:r>
            <a:endParaRPr sz="1200" b="1">
              <a:solidFill>
                <a:srgbClr val="355E3B"/>
              </a:solidFill>
            </a:endParaRPr>
          </a:p>
        </p:txBody>
      </p:sp>
      <p:sp>
        <p:nvSpPr>
          <p:cNvPr id="62" name="Google Shape;62;p14"/>
          <p:cNvSpPr txBox="1"/>
          <p:nvPr/>
        </p:nvSpPr>
        <p:spPr>
          <a:xfrm>
            <a:off x="2026650" y="4658700"/>
            <a:ext cx="5090700" cy="32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rgbClr val="000000"/>
                </a:solidFill>
              </a:rPr>
              <a:t>AISciComm | Mo</a:t>
            </a:r>
            <a:r>
              <a:rPr lang="en" sz="1200">
                <a:solidFill>
                  <a:schemeClr val="dk1"/>
                </a:solidFill>
              </a:rPr>
              <a:t>dule 3.3 CO₂ &amp; Sea Level Rise/ Coastal Erosion</a:t>
            </a:r>
            <a:endParaRPr sz="1200">
              <a:solidFill>
                <a:schemeClr val="dk1"/>
              </a:solidFill>
            </a:endParaRPr>
          </a:p>
          <a:p>
            <a:pPr marL="0" lvl="0" indent="0" algn="l" rtl="0">
              <a:lnSpc>
                <a:spcPct val="115000"/>
              </a:lnSpc>
              <a:spcBef>
                <a:spcPts val="0"/>
              </a:spcBef>
              <a:spcAft>
                <a:spcPts val="1200"/>
              </a:spcAft>
              <a:buNone/>
            </a:pPr>
            <a:endParaRPr sz="1200">
              <a:solidFill>
                <a:srgbClr val="000000"/>
              </a:solidFill>
            </a:endParaRPr>
          </a:p>
        </p:txBody>
      </p:sp>
      <p:sp>
        <p:nvSpPr>
          <p:cNvPr id="63" name="Google Shape;63;p14"/>
          <p:cNvSpPr txBox="1"/>
          <p:nvPr/>
        </p:nvSpPr>
        <p:spPr>
          <a:xfrm>
            <a:off x="4746175" y="3649275"/>
            <a:ext cx="4224900" cy="376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800" b="1">
                <a:solidFill>
                  <a:srgbClr val="595959"/>
                </a:solidFill>
              </a:rPr>
              <a:t>Del Mar, CA</a:t>
            </a:r>
            <a:endParaRPr sz="800" b="1">
              <a:solidFill>
                <a:srgbClr val="595959"/>
              </a:solidFill>
            </a:endParaRPr>
          </a:p>
          <a:p>
            <a:pPr marL="0" lvl="0" indent="0" algn="r" rtl="0">
              <a:spcBef>
                <a:spcPts val="0"/>
              </a:spcBef>
              <a:spcAft>
                <a:spcPts val="0"/>
              </a:spcAft>
              <a:buNone/>
            </a:pPr>
            <a:r>
              <a:rPr lang="en" sz="800" b="1">
                <a:solidFill>
                  <a:srgbClr val="595959"/>
                </a:solidFill>
              </a:rPr>
              <a:t>Photo Credit: Los Angeles Times</a:t>
            </a:r>
            <a:endParaRPr sz="800" b="1">
              <a:solidFill>
                <a:srgbClr val="595959"/>
              </a:solidFill>
            </a:endParaRPr>
          </a:p>
        </p:txBody>
      </p:sp>
      <p:pic>
        <p:nvPicPr>
          <p:cNvPr id="64" name="Google Shape;64;p14" title="Screenshot 2025-12-22 at 12.09.29 PM.png"/>
          <p:cNvPicPr preferRelativeResize="0"/>
          <p:nvPr/>
        </p:nvPicPr>
        <p:blipFill>
          <a:blip r:embed="rId3">
            <a:alphaModFix/>
          </a:blip>
          <a:stretch>
            <a:fillRect/>
          </a:stretch>
        </p:blipFill>
        <p:spPr>
          <a:xfrm>
            <a:off x="4307750" y="665825"/>
            <a:ext cx="4663327" cy="3028600"/>
          </a:xfrm>
          <a:prstGeom prst="rect">
            <a:avLst/>
          </a:prstGeom>
          <a:noFill/>
          <a:ln>
            <a:noFill/>
          </a:ln>
        </p:spPr>
      </p:pic>
    </p:spTree>
    <p:extLst>
      <p:ext uri="{BB962C8B-B14F-4D97-AF65-F5344CB8AC3E}">
        <p14:creationId xmlns:p14="http://schemas.microsoft.com/office/powerpoint/2010/main" val="144778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68"/>
        <p:cNvGrpSpPr/>
        <p:nvPr/>
      </p:nvGrpSpPr>
      <p:grpSpPr>
        <a:xfrm>
          <a:off x="0" y="0"/>
          <a:ext cx="0" cy="0"/>
          <a:chOff x="0" y="0"/>
          <a:chExt cx="0" cy="0"/>
        </a:xfrm>
      </p:grpSpPr>
      <p:sp>
        <p:nvSpPr>
          <p:cNvPr id="69" name="Google Shape;69;p15"/>
          <p:cNvSpPr txBox="1">
            <a:spLocks noGrp="1"/>
          </p:cNvSpPr>
          <p:nvPr>
            <p:ph type="body" idx="1"/>
          </p:nvPr>
        </p:nvSpPr>
        <p:spPr>
          <a:xfrm>
            <a:off x="311700" y="11524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2000" i="1">
                <a:solidFill>
                  <a:srgbClr val="355E3B"/>
                </a:solidFill>
              </a:rPr>
              <a:t>During this lesson, you will work with your team to build additional background knowledge on how CO₂ impacts sea level rise and shoreline positions. </a:t>
            </a:r>
            <a:endParaRPr sz="2000" i="1">
              <a:solidFill>
                <a:srgbClr val="355E3B"/>
              </a:solidFill>
            </a:endParaRPr>
          </a:p>
        </p:txBody>
      </p:sp>
      <p:sp>
        <p:nvSpPr>
          <p:cNvPr id="70" name="Google Shape;70;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Lesson Overview</a:t>
            </a:r>
            <a:endParaRPr sz="4500" b="1">
              <a:solidFill>
                <a:srgbClr val="541900"/>
              </a:solidFill>
            </a:endParaRPr>
          </a:p>
        </p:txBody>
      </p:sp>
      <p:sp>
        <p:nvSpPr>
          <p:cNvPr id="71" name="Google Shape;71;p15"/>
          <p:cNvSpPr txBox="1">
            <a:spLocks noGrp="1"/>
          </p:cNvSpPr>
          <p:nvPr>
            <p:ph type="body" idx="4294967295"/>
          </p:nvPr>
        </p:nvSpPr>
        <p:spPr>
          <a:xfrm>
            <a:off x="311700" y="2301600"/>
            <a:ext cx="8373300" cy="2906400"/>
          </a:xfrm>
          <a:prstGeom prst="rect">
            <a:avLst/>
          </a:prstGeom>
        </p:spPr>
        <p:txBody>
          <a:bodyPr spcFirstLastPara="1" wrap="square" lIns="91425" tIns="91425" rIns="91425" bIns="91425" anchor="t" anchorCtr="0">
            <a:normAutofit/>
          </a:bodyPr>
          <a:lstStyle/>
          <a:p>
            <a:pPr marL="0" lvl="0" indent="0" algn="l" rtl="0">
              <a:lnSpc>
                <a:spcPct val="115000"/>
              </a:lnSpc>
              <a:spcBef>
                <a:spcPts val="1000"/>
              </a:spcBef>
              <a:spcAft>
                <a:spcPts val="0"/>
              </a:spcAft>
              <a:buNone/>
            </a:pPr>
            <a:r>
              <a:rPr lang="en" sz="2000">
                <a:solidFill>
                  <a:schemeClr val="dk1"/>
                </a:solidFill>
              </a:rPr>
              <a:t>During the lesson, you will:</a:t>
            </a:r>
            <a:endParaRPr sz="2000">
              <a:solidFill>
                <a:schemeClr val="dk1"/>
              </a:solidFill>
            </a:endParaRPr>
          </a:p>
          <a:p>
            <a:pPr marL="457200" lvl="0" indent="-355600" algn="l" rtl="0">
              <a:lnSpc>
                <a:spcPct val="115000"/>
              </a:lnSpc>
              <a:spcBef>
                <a:spcPts val="1000"/>
              </a:spcBef>
              <a:spcAft>
                <a:spcPts val="0"/>
              </a:spcAft>
              <a:buClr>
                <a:schemeClr val="dk1"/>
              </a:buClr>
              <a:buSzPts val="2000"/>
              <a:buChar char="●"/>
            </a:pPr>
            <a:r>
              <a:rPr lang="en" sz="2000">
                <a:solidFill>
                  <a:schemeClr val="dk1"/>
                </a:solidFill>
              </a:rPr>
              <a:t>Explore the Our Coast Our Future sea level rise simulation.</a:t>
            </a: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Use this information to create a plan to update your SageModeler model from Module 2.</a:t>
            </a:r>
            <a:endParaRPr sz="2000">
              <a:solidFill>
                <a:schemeClr val="dk1"/>
              </a:solidFill>
            </a:endParaRPr>
          </a:p>
        </p:txBody>
      </p:sp>
      <p:sp>
        <p:nvSpPr>
          <p:cNvPr id="72" name="Google Shape;72;p15"/>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2</a:t>
            </a:r>
            <a:endParaRPr sz="120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76"/>
        <p:cNvGrpSpPr/>
        <p:nvPr/>
      </p:nvGrpSpPr>
      <p:grpSpPr>
        <a:xfrm>
          <a:off x="0" y="0"/>
          <a:ext cx="0" cy="0"/>
          <a:chOff x="0" y="0"/>
          <a:chExt cx="0" cy="0"/>
        </a:xfrm>
      </p:grpSpPr>
      <p:sp>
        <p:nvSpPr>
          <p:cNvPr id="77" name="Google Shape;77;p16"/>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3</a:t>
            </a:r>
            <a:endParaRPr sz="1200">
              <a:solidFill>
                <a:schemeClr val="dk1"/>
              </a:solidFill>
              <a:latin typeface="Arial"/>
              <a:ea typeface="Arial"/>
              <a:cs typeface="Arial"/>
              <a:sym typeface="Arial"/>
            </a:endParaRPr>
          </a:p>
        </p:txBody>
      </p:sp>
      <p:pic>
        <p:nvPicPr>
          <p:cNvPr id="78" name="Google Shape;78;p16"/>
          <p:cNvPicPr preferRelativeResize="0"/>
          <p:nvPr/>
        </p:nvPicPr>
        <p:blipFill>
          <a:blip r:embed="rId3">
            <a:alphaModFix/>
          </a:blip>
          <a:stretch>
            <a:fillRect/>
          </a:stretch>
        </p:blipFill>
        <p:spPr>
          <a:xfrm>
            <a:off x="228600" y="946625"/>
            <a:ext cx="4343400" cy="3250258"/>
          </a:xfrm>
          <a:prstGeom prst="rect">
            <a:avLst/>
          </a:prstGeom>
          <a:noFill/>
          <a:ln>
            <a:noFill/>
          </a:ln>
        </p:spPr>
      </p:pic>
      <p:sp>
        <p:nvSpPr>
          <p:cNvPr id="79" name="Google Shape;79;p16"/>
          <p:cNvSpPr txBox="1">
            <a:spLocks noGrp="1"/>
          </p:cNvSpPr>
          <p:nvPr>
            <p:ph type="body" idx="4294967295"/>
          </p:nvPr>
        </p:nvSpPr>
        <p:spPr>
          <a:xfrm>
            <a:off x="4655100" y="1945325"/>
            <a:ext cx="4309200" cy="3030900"/>
          </a:xfrm>
          <a:prstGeom prst="rect">
            <a:avLst/>
          </a:prstGeom>
        </p:spPr>
        <p:txBody>
          <a:bodyPr spcFirstLastPara="1" wrap="square" lIns="91425" tIns="91425" rIns="91425" bIns="91425" anchor="t" anchorCtr="0">
            <a:noAutofit/>
          </a:bodyPr>
          <a:lstStyle/>
          <a:p>
            <a:pPr marL="457200" lvl="0" indent="-361950" algn="l" rtl="0">
              <a:lnSpc>
                <a:spcPct val="115000"/>
              </a:lnSpc>
              <a:spcBef>
                <a:spcPts val="0"/>
              </a:spcBef>
              <a:spcAft>
                <a:spcPts val="0"/>
              </a:spcAft>
              <a:buClr>
                <a:schemeClr val="dk1"/>
              </a:buClr>
              <a:buSzPts val="2100"/>
              <a:buChar char="●"/>
            </a:pPr>
            <a:r>
              <a:rPr lang="en" sz="2100">
                <a:solidFill>
                  <a:schemeClr val="dk1"/>
                </a:solidFill>
              </a:rPr>
              <a:t>What do you think is happening in this image?</a:t>
            </a:r>
            <a:endParaRPr sz="2100">
              <a:solidFill>
                <a:schemeClr val="dk1"/>
              </a:solidFill>
            </a:endParaRPr>
          </a:p>
          <a:p>
            <a:pPr marL="457200" lvl="0" indent="-361950" algn="l" rtl="0">
              <a:lnSpc>
                <a:spcPct val="115000"/>
              </a:lnSpc>
              <a:spcBef>
                <a:spcPts val="0"/>
              </a:spcBef>
              <a:spcAft>
                <a:spcPts val="0"/>
              </a:spcAft>
              <a:buClr>
                <a:schemeClr val="dk1"/>
              </a:buClr>
              <a:buSzPts val="2100"/>
              <a:buChar char="●"/>
            </a:pPr>
            <a:r>
              <a:rPr lang="en" sz="2100">
                <a:solidFill>
                  <a:schemeClr val="dk1"/>
                </a:solidFill>
              </a:rPr>
              <a:t>Is what you are observing a natural occurrence? How often does this happen?</a:t>
            </a:r>
            <a:endParaRPr sz="2100">
              <a:solidFill>
                <a:schemeClr val="dk1"/>
              </a:solidFill>
            </a:endParaRPr>
          </a:p>
          <a:p>
            <a:pPr marL="457200" lvl="0" indent="-361950" algn="l" rtl="0">
              <a:lnSpc>
                <a:spcPct val="115000"/>
              </a:lnSpc>
              <a:spcBef>
                <a:spcPts val="0"/>
              </a:spcBef>
              <a:spcAft>
                <a:spcPts val="0"/>
              </a:spcAft>
              <a:buClr>
                <a:schemeClr val="dk1"/>
              </a:buClr>
              <a:buSzPts val="2100"/>
              <a:buChar char="●"/>
            </a:pPr>
            <a:r>
              <a:rPr lang="en" sz="2100">
                <a:solidFill>
                  <a:schemeClr val="dk1"/>
                </a:solidFill>
              </a:rPr>
              <a:t>Why might communities what to understand this scenario?</a:t>
            </a:r>
            <a:endParaRPr sz="2100">
              <a:solidFill>
                <a:schemeClr val="dk1"/>
              </a:solidFill>
            </a:endParaRPr>
          </a:p>
        </p:txBody>
      </p:sp>
      <p:sp>
        <p:nvSpPr>
          <p:cNvPr id="80" name="Google Shape;80;p16"/>
          <p:cNvSpPr txBox="1">
            <a:spLocks noGrp="1"/>
          </p:cNvSpPr>
          <p:nvPr>
            <p:ph type="title"/>
          </p:nvPr>
        </p:nvSpPr>
        <p:spPr>
          <a:xfrm>
            <a:off x="4519475" y="69732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400" b="1">
                <a:solidFill>
                  <a:srgbClr val="541900"/>
                </a:solidFill>
              </a:rPr>
              <a:t>Make an Observation</a:t>
            </a:r>
            <a:endParaRPr sz="3400" b="1">
              <a:solidFill>
                <a:srgbClr val="541900"/>
              </a:solidFill>
            </a:endParaRPr>
          </a:p>
          <a:p>
            <a:pPr marL="0" lvl="0" indent="0" algn="l" rtl="0">
              <a:lnSpc>
                <a:spcPct val="115000"/>
              </a:lnSpc>
              <a:spcBef>
                <a:spcPts val="0"/>
              </a:spcBef>
              <a:spcAft>
                <a:spcPts val="1200"/>
              </a:spcAft>
              <a:buNone/>
            </a:pPr>
            <a:r>
              <a:rPr lang="en" sz="2000" i="1">
                <a:solidFill>
                  <a:srgbClr val="355E3B"/>
                </a:solidFill>
              </a:rPr>
              <a:t>With your team, take a moment to observe the image on the left.</a:t>
            </a:r>
            <a:endParaRPr sz="3400" b="1">
              <a:solidFill>
                <a:srgbClr val="5419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84"/>
        <p:cNvGrpSpPr/>
        <p:nvPr/>
      </p:nvGrpSpPr>
      <p:grpSpPr>
        <a:xfrm>
          <a:off x="0" y="0"/>
          <a:ext cx="0" cy="0"/>
          <a:chOff x="0" y="0"/>
          <a:chExt cx="0" cy="0"/>
        </a:xfrm>
      </p:grpSpPr>
      <p:sp>
        <p:nvSpPr>
          <p:cNvPr id="85" name="Google Shape;85;p17"/>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4</a:t>
            </a:r>
            <a:endParaRPr sz="1200">
              <a:solidFill>
                <a:schemeClr val="dk1"/>
              </a:solidFill>
              <a:latin typeface="Arial"/>
              <a:ea typeface="Arial"/>
              <a:cs typeface="Arial"/>
              <a:sym typeface="Arial"/>
            </a:endParaRPr>
          </a:p>
        </p:txBody>
      </p:sp>
      <p:pic>
        <p:nvPicPr>
          <p:cNvPr id="86" name="Google Shape;86;p17"/>
          <p:cNvPicPr preferRelativeResize="0"/>
          <p:nvPr/>
        </p:nvPicPr>
        <p:blipFill>
          <a:blip r:embed="rId3">
            <a:alphaModFix/>
          </a:blip>
          <a:stretch>
            <a:fillRect/>
          </a:stretch>
        </p:blipFill>
        <p:spPr>
          <a:xfrm>
            <a:off x="228600" y="1006713"/>
            <a:ext cx="4343400" cy="3250258"/>
          </a:xfrm>
          <a:prstGeom prst="rect">
            <a:avLst/>
          </a:prstGeom>
          <a:noFill/>
          <a:ln>
            <a:noFill/>
          </a:ln>
        </p:spPr>
      </p:pic>
      <p:sp>
        <p:nvSpPr>
          <p:cNvPr id="87" name="Google Shape;87;p17"/>
          <p:cNvSpPr txBox="1">
            <a:spLocks noGrp="1"/>
          </p:cNvSpPr>
          <p:nvPr>
            <p:ph type="body" idx="4294967295"/>
          </p:nvPr>
        </p:nvSpPr>
        <p:spPr>
          <a:xfrm>
            <a:off x="4814175" y="1116400"/>
            <a:ext cx="3726600" cy="30309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i="1">
                <a:solidFill>
                  <a:schemeClr val="dk1"/>
                </a:solidFill>
                <a:latin typeface="Calibri"/>
                <a:ea typeface="Calibri"/>
                <a:cs typeface="Calibri"/>
                <a:sym typeface="Calibri"/>
              </a:rPr>
              <a:t>The image shows a king tide event at Alamitos Bay, in Long Beach California on November 16, 2024. King tide events are the most extreme of low tide and high tides that happen within a couple of days, which happen once or twice a year. Though they do not happen often, they give us a glimpse as to what our future coastlines may look like.</a:t>
            </a:r>
            <a:endParaRPr>
              <a:solidFill>
                <a:schemeClr val="dk1"/>
              </a:solidFill>
            </a:endParaRPr>
          </a:p>
        </p:txBody>
      </p:sp>
      <p:sp>
        <p:nvSpPr>
          <p:cNvPr id="88" name="Google Shape;88;p17"/>
          <p:cNvSpPr txBox="1">
            <a:spLocks noGrp="1"/>
          </p:cNvSpPr>
          <p:nvPr>
            <p:ph type="title"/>
          </p:nvPr>
        </p:nvSpPr>
        <p:spPr>
          <a:xfrm>
            <a:off x="228600" y="194275"/>
            <a:ext cx="85731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300" b="1">
                <a:solidFill>
                  <a:srgbClr val="541900"/>
                </a:solidFill>
              </a:rPr>
              <a:t>Alamitos Bay - November 16, 2024</a:t>
            </a:r>
            <a:endParaRPr sz="3300" b="1">
              <a:solidFill>
                <a:srgbClr val="541900"/>
              </a:solidFill>
            </a:endParaRPr>
          </a:p>
        </p:txBody>
      </p:sp>
      <p:sp>
        <p:nvSpPr>
          <p:cNvPr id="89" name="Google Shape;89;p17"/>
          <p:cNvSpPr txBox="1"/>
          <p:nvPr/>
        </p:nvSpPr>
        <p:spPr>
          <a:xfrm>
            <a:off x="146450" y="4202325"/>
            <a:ext cx="42249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rgbClr val="595959"/>
                </a:solidFill>
              </a:rPr>
              <a:t>Alamitos Bay, Long Beach, CA</a:t>
            </a:r>
            <a:endParaRPr sz="800">
              <a:solidFill>
                <a:srgbClr val="59595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93"/>
        <p:cNvGrpSpPr/>
        <p:nvPr/>
      </p:nvGrpSpPr>
      <p:grpSpPr>
        <a:xfrm>
          <a:off x="0" y="0"/>
          <a:ext cx="0" cy="0"/>
          <a:chOff x="0" y="0"/>
          <a:chExt cx="0" cy="0"/>
        </a:xfrm>
      </p:grpSpPr>
      <p:sp>
        <p:nvSpPr>
          <p:cNvPr id="94" name="Google Shape;94;p18"/>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5</a:t>
            </a:r>
            <a:endParaRPr sz="1200">
              <a:solidFill>
                <a:schemeClr val="dk1"/>
              </a:solidFill>
              <a:latin typeface="Arial"/>
              <a:ea typeface="Arial"/>
              <a:cs typeface="Arial"/>
              <a:sym typeface="Arial"/>
            </a:endParaRPr>
          </a:p>
        </p:txBody>
      </p:sp>
      <p:sp>
        <p:nvSpPr>
          <p:cNvPr id="95" name="Google Shape;95;p18"/>
          <p:cNvSpPr txBox="1">
            <a:spLocks noGrp="1"/>
          </p:cNvSpPr>
          <p:nvPr>
            <p:ph type="title"/>
          </p:nvPr>
        </p:nvSpPr>
        <p:spPr>
          <a:xfrm>
            <a:off x="244800" y="19427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500" b="1">
                <a:solidFill>
                  <a:srgbClr val="541900"/>
                </a:solidFill>
              </a:rPr>
              <a:t>What’s Coming Next</a:t>
            </a:r>
            <a:endParaRPr sz="3500" b="1">
              <a:solidFill>
                <a:srgbClr val="541900"/>
              </a:solidFill>
            </a:endParaRPr>
          </a:p>
        </p:txBody>
      </p:sp>
      <p:sp>
        <p:nvSpPr>
          <p:cNvPr id="96" name="Google Shape;96;p18"/>
          <p:cNvSpPr txBox="1"/>
          <p:nvPr/>
        </p:nvSpPr>
        <p:spPr>
          <a:xfrm>
            <a:off x="152400" y="3947300"/>
            <a:ext cx="42249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rgbClr val="595959"/>
                </a:solidFill>
              </a:rPr>
              <a:t>Mission Beach, San Diego, CA, during a King Tide event in December 2023.</a:t>
            </a:r>
            <a:endParaRPr sz="800">
              <a:solidFill>
                <a:srgbClr val="595959"/>
              </a:solidFill>
            </a:endParaRPr>
          </a:p>
          <a:p>
            <a:pPr marL="0" lvl="0" indent="0" algn="l" rtl="0">
              <a:spcBef>
                <a:spcPts val="0"/>
              </a:spcBef>
              <a:spcAft>
                <a:spcPts val="0"/>
              </a:spcAft>
              <a:buNone/>
            </a:pPr>
            <a:r>
              <a:rPr lang="en" sz="800">
                <a:solidFill>
                  <a:srgbClr val="595959"/>
                </a:solidFill>
              </a:rPr>
              <a:t>Photo Credit: UC San Diego, Scripps Institution of Oceanography</a:t>
            </a:r>
            <a:endParaRPr sz="800">
              <a:solidFill>
                <a:srgbClr val="595959"/>
              </a:solidFill>
            </a:endParaRPr>
          </a:p>
        </p:txBody>
      </p:sp>
      <p:pic>
        <p:nvPicPr>
          <p:cNvPr id="97" name="Google Shape;97;p18"/>
          <p:cNvPicPr preferRelativeResize="0"/>
          <p:nvPr/>
        </p:nvPicPr>
        <p:blipFill>
          <a:blip r:embed="rId3">
            <a:alphaModFix/>
          </a:blip>
          <a:stretch>
            <a:fillRect/>
          </a:stretch>
        </p:blipFill>
        <p:spPr>
          <a:xfrm>
            <a:off x="244800" y="1120250"/>
            <a:ext cx="4703626" cy="2903025"/>
          </a:xfrm>
          <a:prstGeom prst="rect">
            <a:avLst/>
          </a:prstGeom>
          <a:noFill/>
          <a:ln>
            <a:noFill/>
          </a:ln>
        </p:spPr>
      </p:pic>
      <p:sp>
        <p:nvSpPr>
          <p:cNvPr id="98" name="Google Shape;98;p18"/>
          <p:cNvSpPr txBox="1">
            <a:spLocks noGrp="1"/>
          </p:cNvSpPr>
          <p:nvPr>
            <p:ph type="body" idx="4294967295"/>
          </p:nvPr>
        </p:nvSpPr>
        <p:spPr>
          <a:xfrm>
            <a:off x="5051100" y="1056313"/>
            <a:ext cx="3798600" cy="30309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000" i="1">
                <a:solidFill>
                  <a:schemeClr val="dk1"/>
                </a:solidFill>
                <a:latin typeface="Calibri"/>
                <a:ea typeface="Calibri"/>
                <a:cs typeface="Calibri"/>
                <a:sym typeface="Calibri"/>
              </a:rPr>
              <a:t>Over the next two lessons, you will investigate </a:t>
            </a:r>
            <a:r>
              <a:rPr lang="en" sz="2000" b="1" i="1">
                <a:solidFill>
                  <a:schemeClr val="dk1"/>
                </a:solidFill>
                <a:latin typeface="Calibri"/>
                <a:ea typeface="Calibri"/>
                <a:cs typeface="Calibri"/>
                <a:sym typeface="Calibri"/>
              </a:rPr>
              <a:t>sea level rise</a:t>
            </a:r>
            <a:r>
              <a:rPr lang="en" sz="2000" i="1">
                <a:solidFill>
                  <a:schemeClr val="dk1"/>
                </a:solidFill>
                <a:latin typeface="Calibri"/>
                <a:ea typeface="Calibri"/>
                <a:cs typeface="Calibri"/>
                <a:sym typeface="Calibri"/>
              </a:rPr>
              <a:t>, what causes it, and how it affects coastal communities.</a:t>
            </a:r>
            <a:endParaRPr sz="2000" i="1">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endParaRPr sz="2000" i="1">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r>
              <a:rPr lang="en" sz="2000" i="1">
                <a:solidFill>
                  <a:schemeClr val="dk1"/>
                </a:solidFill>
                <a:latin typeface="Calibri"/>
                <a:ea typeface="Calibri"/>
                <a:cs typeface="Calibri"/>
                <a:sym typeface="Calibri"/>
              </a:rPr>
              <a:t>You will explore </a:t>
            </a:r>
            <a:r>
              <a:rPr lang="en" sz="2000" b="1" i="1">
                <a:solidFill>
                  <a:schemeClr val="dk1"/>
                </a:solidFill>
                <a:latin typeface="Calibri"/>
                <a:ea typeface="Calibri"/>
                <a:cs typeface="Calibri"/>
                <a:sym typeface="Calibri"/>
              </a:rPr>
              <a:t>how global warming is connected to sea level rise</a:t>
            </a:r>
            <a:r>
              <a:rPr lang="en" sz="2000" i="1">
                <a:solidFill>
                  <a:schemeClr val="dk1"/>
                </a:solidFill>
                <a:latin typeface="Calibri"/>
                <a:ea typeface="Calibri"/>
                <a:cs typeface="Calibri"/>
                <a:sym typeface="Calibri"/>
              </a:rPr>
              <a:t> and analyze simulations that predict future changes.</a:t>
            </a:r>
            <a:endParaRPr sz="2000" i="1">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02"/>
        <p:cNvGrpSpPr/>
        <p:nvPr/>
      </p:nvGrpSpPr>
      <p:grpSpPr>
        <a:xfrm>
          <a:off x="0" y="0"/>
          <a:ext cx="0" cy="0"/>
          <a:chOff x="0" y="0"/>
          <a:chExt cx="0" cy="0"/>
        </a:xfrm>
      </p:grpSpPr>
      <p:sp>
        <p:nvSpPr>
          <p:cNvPr id="103" name="Google Shape;103;p19"/>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6</a:t>
            </a:r>
            <a:endParaRPr sz="1200">
              <a:solidFill>
                <a:schemeClr val="dk1"/>
              </a:solidFill>
              <a:latin typeface="Arial"/>
              <a:ea typeface="Arial"/>
              <a:cs typeface="Arial"/>
              <a:sym typeface="Arial"/>
            </a:endParaRPr>
          </a:p>
        </p:txBody>
      </p:sp>
      <p:sp>
        <p:nvSpPr>
          <p:cNvPr id="104" name="Google Shape;104;p19"/>
          <p:cNvSpPr txBox="1">
            <a:spLocks noGrp="1"/>
          </p:cNvSpPr>
          <p:nvPr>
            <p:ph type="title"/>
          </p:nvPr>
        </p:nvSpPr>
        <p:spPr>
          <a:xfrm>
            <a:off x="311700" y="19427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300" b="1">
                <a:solidFill>
                  <a:srgbClr val="541900"/>
                </a:solidFill>
              </a:rPr>
              <a:t>Create a Model</a:t>
            </a:r>
            <a:endParaRPr sz="3300" b="1">
              <a:solidFill>
                <a:srgbClr val="541900"/>
              </a:solidFill>
            </a:endParaRPr>
          </a:p>
          <a:p>
            <a:pPr marL="0" lvl="0" indent="0" algn="l" rtl="0">
              <a:lnSpc>
                <a:spcPct val="115000"/>
              </a:lnSpc>
              <a:spcBef>
                <a:spcPts val="0"/>
              </a:spcBef>
              <a:spcAft>
                <a:spcPts val="1200"/>
              </a:spcAft>
              <a:buNone/>
            </a:pPr>
            <a:r>
              <a:rPr lang="en" sz="1800" i="1">
                <a:solidFill>
                  <a:srgbClr val="355E3B"/>
                </a:solidFill>
              </a:rPr>
              <a:t>With your team, take a moment and draw what you think is causing sea level rise.</a:t>
            </a:r>
            <a:endParaRPr sz="3300" b="1">
              <a:solidFill>
                <a:srgbClr val="541900"/>
              </a:solidFill>
            </a:endParaRPr>
          </a:p>
        </p:txBody>
      </p:sp>
      <p:sp>
        <p:nvSpPr>
          <p:cNvPr id="105" name="Google Shape;105;p19"/>
          <p:cNvSpPr txBox="1">
            <a:spLocks noGrp="1"/>
          </p:cNvSpPr>
          <p:nvPr>
            <p:ph type="body" idx="4294967295"/>
          </p:nvPr>
        </p:nvSpPr>
        <p:spPr>
          <a:xfrm>
            <a:off x="325500" y="1410350"/>
            <a:ext cx="4662900" cy="3245400"/>
          </a:xfrm>
          <a:prstGeom prst="rect">
            <a:avLst/>
          </a:prstGeom>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1900" b="1">
                <a:solidFill>
                  <a:schemeClr val="dk1"/>
                </a:solidFill>
                <a:latin typeface="Calibri"/>
                <a:ea typeface="Calibri"/>
                <a:cs typeface="Calibri"/>
                <a:sym typeface="Calibri"/>
              </a:rPr>
              <a:t>Instructions:</a:t>
            </a:r>
            <a:endParaRPr sz="1900" b="1">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endParaRPr sz="900" b="1">
              <a:solidFill>
                <a:schemeClr val="dk1"/>
              </a:solidFill>
              <a:latin typeface="Calibri"/>
              <a:ea typeface="Calibri"/>
              <a:cs typeface="Calibri"/>
              <a:sym typeface="Calibri"/>
            </a:endParaRPr>
          </a:p>
          <a:p>
            <a:pPr marL="457200" lvl="0" indent="-349250" algn="l" rtl="0">
              <a:lnSpc>
                <a:spcPct val="100000"/>
              </a:lnSpc>
              <a:spcBef>
                <a:spcPts val="0"/>
              </a:spcBef>
              <a:spcAft>
                <a:spcPts val="0"/>
              </a:spcAft>
              <a:buClr>
                <a:schemeClr val="dk1"/>
              </a:buClr>
              <a:buSzPts val="1900"/>
              <a:buFont typeface="Calibri"/>
              <a:buAutoNum type="arabicPeriod"/>
            </a:pPr>
            <a:r>
              <a:rPr lang="en" sz="1900">
                <a:solidFill>
                  <a:schemeClr val="dk1"/>
                </a:solidFill>
                <a:latin typeface="Calibri"/>
                <a:ea typeface="Calibri"/>
                <a:cs typeface="Calibri"/>
                <a:sym typeface="Calibri"/>
              </a:rPr>
              <a:t>Using a poster paper, draw the process of how you think sea level rise happens.</a:t>
            </a:r>
            <a:endParaRPr sz="1900">
              <a:solidFill>
                <a:schemeClr val="dk1"/>
              </a:solidFill>
              <a:latin typeface="Calibri"/>
              <a:ea typeface="Calibri"/>
              <a:cs typeface="Calibri"/>
              <a:sym typeface="Calibri"/>
            </a:endParaRPr>
          </a:p>
          <a:p>
            <a:pPr marL="457200" lvl="0" indent="-349250" algn="l" rtl="0">
              <a:lnSpc>
                <a:spcPct val="100000"/>
              </a:lnSpc>
              <a:spcBef>
                <a:spcPts val="0"/>
              </a:spcBef>
              <a:spcAft>
                <a:spcPts val="0"/>
              </a:spcAft>
              <a:buClr>
                <a:schemeClr val="dk1"/>
              </a:buClr>
              <a:buSzPts val="1900"/>
              <a:buFont typeface="Calibri"/>
              <a:buAutoNum type="arabicPeriod"/>
            </a:pPr>
            <a:r>
              <a:rPr lang="en" sz="1900">
                <a:solidFill>
                  <a:schemeClr val="dk1"/>
                </a:solidFill>
                <a:latin typeface="Calibri"/>
                <a:ea typeface="Calibri"/>
                <a:cs typeface="Calibri"/>
                <a:sym typeface="Calibri"/>
              </a:rPr>
              <a:t>Label the components of your model and explain processes that are happening.</a:t>
            </a:r>
            <a:br>
              <a:rPr lang="en" sz="1900">
                <a:solidFill>
                  <a:schemeClr val="dk1"/>
                </a:solidFill>
                <a:latin typeface="Calibri"/>
                <a:ea typeface="Calibri"/>
                <a:cs typeface="Calibri"/>
                <a:sym typeface="Calibri"/>
              </a:rPr>
            </a:br>
            <a:r>
              <a:rPr lang="en" sz="1900" i="1">
                <a:solidFill>
                  <a:schemeClr val="dk1"/>
                </a:solidFill>
                <a:latin typeface="Calibri"/>
                <a:ea typeface="Calibri"/>
                <a:cs typeface="Calibri"/>
                <a:sym typeface="Calibri"/>
              </a:rPr>
              <a:t>Example: “</a:t>
            </a:r>
            <a:r>
              <a:rPr lang="en" sz="1900" b="1" i="1">
                <a:solidFill>
                  <a:schemeClr val="dk1"/>
                </a:solidFill>
                <a:latin typeface="Calibri"/>
                <a:ea typeface="Calibri"/>
                <a:cs typeface="Calibri"/>
                <a:sym typeface="Calibri"/>
              </a:rPr>
              <a:t>Component A</a:t>
            </a:r>
            <a:r>
              <a:rPr lang="en" sz="1900" i="1">
                <a:solidFill>
                  <a:schemeClr val="dk1"/>
                </a:solidFill>
                <a:latin typeface="Calibri"/>
                <a:ea typeface="Calibri"/>
                <a:cs typeface="Calibri"/>
                <a:sym typeface="Calibri"/>
              </a:rPr>
              <a:t> interacts with </a:t>
            </a:r>
            <a:r>
              <a:rPr lang="en" sz="1900" b="1" i="1">
                <a:solidFill>
                  <a:schemeClr val="dk1"/>
                </a:solidFill>
                <a:latin typeface="Calibri"/>
                <a:ea typeface="Calibri"/>
                <a:cs typeface="Calibri"/>
                <a:sym typeface="Calibri"/>
              </a:rPr>
              <a:t>Component B</a:t>
            </a:r>
            <a:r>
              <a:rPr lang="en" sz="1900" i="1">
                <a:solidFill>
                  <a:schemeClr val="dk1"/>
                </a:solidFill>
                <a:latin typeface="Calibri"/>
                <a:ea typeface="Calibri"/>
                <a:cs typeface="Calibri"/>
                <a:sym typeface="Calibri"/>
              </a:rPr>
              <a:t>, causing </a:t>
            </a:r>
            <a:r>
              <a:rPr lang="en" sz="1900" b="1" i="1">
                <a:solidFill>
                  <a:schemeClr val="dk1"/>
                </a:solidFill>
                <a:latin typeface="Calibri"/>
                <a:ea typeface="Calibri"/>
                <a:cs typeface="Calibri"/>
                <a:sym typeface="Calibri"/>
              </a:rPr>
              <a:t>[what happens]</a:t>
            </a:r>
            <a:endParaRPr sz="1900" i="1">
              <a:solidFill>
                <a:schemeClr val="dk1"/>
              </a:solidFill>
              <a:latin typeface="Calibri"/>
              <a:ea typeface="Calibri"/>
              <a:cs typeface="Calibri"/>
              <a:sym typeface="Calibri"/>
            </a:endParaRPr>
          </a:p>
        </p:txBody>
      </p:sp>
      <p:pic>
        <p:nvPicPr>
          <p:cNvPr id="106" name="Google Shape;106;p19" descr="Set a timer for 10 minutes. This 10 minute timer with alarm silently counts down to 00:00 and then alerts you with a gentle alarm sound.&#10;&#10;What Is the 10 Minute Timer?&#10;If you're looking for a timer to help you stay on track with your work, a 10 minute countdown is a great option. You can use it to break up your work time into manageable chunks, and it can also help you avoid getting bogged down with one task for too long.&#10;&#10;How to Set a 10 Minute Timer&#10;There are a few different ways to set a 10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10 Minute Alarm?&#10;This timer is perfect for work or study sessions. It's also great for any activity where you want to be sure to take a break every 10 minutes, such as cooking, laundry, or working out.&#10;&#10;5 Minute Timer: https://youtu.be/qgnDbQ1aM54&#10;15 Minute Timer: https://youtu.be/tuVa27WISyo&#10;30 Minute Timer: https://youtu.be/LNYm40RmRzs&#10;&#10;------------------------------------------------------------------------&#10;&#10;Follow Us on X: https://twitter.com/onlinealarmkur&#10;Online Timer: https://onlinealarmkur.com/timer/en/&#10;&#10;------------------------------------------------------------------------" title="10 Minute Timer">
            <a:hlinkClick r:id="rId3"/>
          </p:cNvPr>
          <p:cNvPicPr preferRelativeResize="0"/>
          <p:nvPr/>
        </p:nvPicPr>
        <p:blipFill>
          <a:blip r:embed="rId4">
            <a:alphaModFix/>
          </a:blip>
          <a:stretch>
            <a:fillRect/>
          </a:stretch>
        </p:blipFill>
        <p:spPr>
          <a:xfrm>
            <a:off x="6221250" y="3548300"/>
            <a:ext cx="2262600" cy="1272700"/>
          </a:xfrm>
          <a:prstGeom prst="rect">
            <a:avLst/>
          </a:prstGeom>
          <a:noFill/>
          <a:ln>
            <a:noFill/>
          </a:ln>
        </p:spPr>
      </p:pic>
      <p:pic>
        <p:nvPicPr>
          <p:cNvPr id="107" name="Google Shape;107;p19"/>
          <p:cNvPicPr preferRelativeResize="0"/>
          <p:nvPr/>
        </p:nvPicPr>
        <p:blipFill>
          <a:blip r:embed="rId5">
            <a:alphaModFix/>
          </a:blip>
          <a:stretch>
            <a:fillRect/>
          </a:stretch>
        </p:blipFill>
        <p:spPr>
          <a:xfrm>
            <a:off x="4988397" y="766974"/>
            <a:ext cx="3988900" cy="260420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10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xfrm>
            <a:off x="4800600" y="215925"/>
            <a:ext cx="4343400" cy="187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b="1">
                <a:solidFill>
                  <a:srgbClr val="541900"/>
                </a:solidFill>
              </a:rPr>
              <a:t>What Causes Sea Level Rise</a:t>
            </a:r>
            <a:endParaRPr sz="3000" b="1">
              <a:solidFill>
                <a:srgbClr val="541900"/>
              </a:solidFill>
            </a:endParaRPr>
          </a:p>
          <a:p>
            <a:pPr marL="0" lvl="0" indent="0" algn="l" rtl="0">
              <a:lnSpc>
                <a:spcPct val="115000"/>
              </a:lnSpc>
              <a:spcBef>
                <a:spcPts val="0"/>
              </a:spcBef>
              <a:spcAft>
                <a:spcPts val="0"/>
              </a:spcAft>
              <a:buClr>
                <a:schemeClr val="dk1"/>
              </a:buClr>
              <a:buSzPts val="1100"/>
              <a:buFont typeface="Arial"/>
              <a:buNone/>
            </a:pPr>
            <a:r>
              <a:rPr lang="en" sz="1600" i="1">
                <a:solidFill>
                  <a:srgbClr val="355E3B"/>
                </a:solidFill>
              </a:rPr>
              <a:t>With your team, watch the video on the left to help you build a deeper understanding of what causes sea level rise. As you watch, think about the following:</a:t>
            </a:r>
            <a:endParaRPr sz="1600" i="1">
              <a:solidFill>
                <a:srgbClr val="355E3B"/>
              </a:solidFill>
            </a:endParaRPr>
          </a:p>
          <a:p>
            <a:pPr marL="0" lvl="0" indent="0" algn="l" rtl="0">
              <a:spcBef>
                <a:spcPts val="1200"/>
              </a:spcBef>
              <a:spcAft>
                <a:spcPts val="0"/>
              </a:spcAft>
              <a:buNone/>
            </a:pPr>
            <a:endParaRPr sz="3000" b="1">
              <a:solidFill>
                <a:srgbClr val="541900"/>
              </a:solidFill>
            </a:endParaRPr>
          </a:p>
        </p:txBody>
      </p:sp>
      <p:sp>
        <p:nvSpPr>
          <p:cNvPr id="113" name="Google Shape;113;p20"/>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7</a:t>
            </a:r>
            <a:endParaRPr sz="1200">
              <a:solidFill>
                <a:schemeClr val="dk1"/>
              </a:solidFill>
              <a:latin typeface="Arial"/>
              <a:ea typeface="Arial"/>
              <a:cs typeface="Arial"/>
              <a:sym typeface="Arial"/>
            </a:endParaRPr>
          </a:p>
        </p:txBody>
      </p:sp>
      <p:pic>
        <p:nvPicPr>
          <p:cNvPr id="114" name="Google Shape;114;p20" descr="People have been measuring local sea level at certain locations along the coasts for hundreds of years. And NASA has been measuring the global sea level for almost three decades. Over this time, scientists have observed that the global sea level has been rising. The ocean is about 7 to 8 inches higher now than it was a century ago.&#10;&#10;Why? Because Earth is getting warmer.&#10;&#10;Comprehension Questions:&#10;1. What causes the level of the water to rise and sink all day long?&#10;2. The average height of the ocean in a particular place is called the _______ _________ ________. &#10;3. NASA measures the average sea level of the whole ocean from space. What is another name for the average sea level of the whole ocean?&#10;4. True or False: As Earth warms, the ocean warms, too. &#10;5. What is the name of the NASA satellites that measure global sea level? &#10;&#10;Answer Key:&#10;1. Waves and tides&#10;2. Local sea level&#10;3. Global sea level&#10;4. True&#10;5. Jason&#10;&#10;Learn more at &#10;https://climatekids.nasa.gov/sea-level/&#10;Find more fun videos, games, and articles about our planet at&#10;https://climatekids.nasa.gov/" title="What Causes Sea Level Rise?">
            <a:hlinkClick r:id="rId3"/>
          </p:cNvPr>
          <p:cNvPicPr preferRelativeResize="0"/>
          <p:nvPr/>
        </p:nvPicPr>
        <p:blipFill>
          <a:blip r:embed="rId4">
            <a:alphaModFix/>
          </a:blip>
          <a:stretch>
            <a:fillRect/>
          </a:stretch>
        </p:blipFill>
        <p:spPr>
          <a:xfrm>
            <a:off x="160913" y="1265350"/>
            <a:ext cx="4644975" cy="2612800"/>
          </a:xfrm>
          <a:prstGeom prst="rect">
            <a:avLst/>
          </a:prstGeom>
          <a:noFill/>
          <a:ln>
            <a:noFill/>
          </a:ln>
        </p:spPr>
      </p:pic>
      <p:sp>
        <p:nvSpPr>
          <p:cNvPr id="115" name="Google Shape;115;p20"/>
          <p:cNvSpPr txBox="1">
            <a:spLocks noGrp="1"/>
          </p:cNvSpPr>
          <p:nvPr>
            <p:ph type="body" idx="4294967295"/>
          </p:nvPr>
        </p:nvSpPr>
        <p:spPr>
          <a:xfrm>
            <a:off x="4800600" y="2312600"/>
            <a:ext cx="3726600" cy="26127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chemeClr val="dk1"/>
              </a:buClr>
              <a:buSzPts val="1800"/>
              <a:buChar char="●"/>
            </a:pPr>
            <a:r>
              <a:rPr lang="en">
                <a:solidFill>
                  <a:schemeClr val="dk1"/>
                </a:solidFill>
              </a:rPr>
              <a:t>What are you observing in the video that you would like to add to your team’s model?</a:t>
            </a:r>
            <a:endParaRPr>
              <a:solidFill>
                <a:schemeClr val="dk1"/>
              </a:solidFill>
            </a:endParaRPr>
          </a:p>
          <a:p>
            <a:pPr marL="457200" lvl="0" indent="-342900" algn="l" rtl="0">
              <a:lnSpc>
                <a:spcPct val="115000"/>
              </a:lnSpc>
              <a:spcBef>
                <a:spcPts val="0"/>
              </a:spcBef>
              <a:spcAft>
                <a:spcPts val="0"/>
              </a:spcAft>
              <a:buClr>
                <a:schemeClr val="dk1"/>
              </a:buClr>
              <a:buSzPts val="1800"/>
              <a:buChar char="●"/>
            </a:pPr>
            <a:r>
              <a:rPr lang="en">
                <a:solidFill>
                  <a:schemeClr val="dk1"/>
                </a:solidFill>
              </a:rPr>
              <a:t>How are humans contributing to the sea level rise process?</a:t>
            </a:r>
            <a:endParaRPr>
              <a:solidFill>
                <a:schemeClr val="dk1"/>
              </a:solidFill>
            </a:endParaRPr>
          </a:p>
          <a:p>
            <a:pPr marL="457200" lvl="0" indent="-342900" algn="l" rtl="0">
              <a:lnSpc>
                <a:spcPct val="115000"/>
              </a:lnSpc>
              <a:spcBef>
                <a:spcPts val="0"/>
              </a:spcBef>
              <a:spcAft>
                <a:spcPts val="0"/>
              </a:spcAft>
              <a:buClr>
                <a:schemeClr val="dk1"/>
              </a:buClr>
              <a:buSzPts val="1800"/>
              <a:buChar char="●"/>
            </a:pPr>
            <a:r>
              <a:rPr lang="en">
                <a:solidFill>
                  <a:schemeClr val="dk1"/>
                </a:solidFill>
              </a:rPr>
              <a:t>How will sea levels impact communities that value Southern California’s ocean?</a:t>
            </a:r>
            <a:endParaRPr>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p:cTn id="7" dur="1000"/>
                                        <p:tgtEl>
                                          <p:spTgt spid="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19"/>
        <p:cNvGrpSpPr/>
        <p:nvPr/>
      </p:nvGrpSpPr>
      <p:grpSpPr>
        <a:xfrm>
          <a:off x="0" y="0"/>
          <a:ext cx="0" cy="0"/>
          <a:chOff x="0" y="0"/>
          <a:chExt cx="0" cy="0"/>
        </a:xfrm>
      </p:grpSpPr>
      <p:sp>
        <p:nvSpPr>
          <p:cNvPr id="120" name="Google Shape;120;p21"/>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8</a:t>
            </a:r>
            <a:endParaRPr sz="1200">
              <a:solidFill>
                <a:schemeClr val="dk1"/>
              </a:solidFill>
              <a:latin typeface="Arial"/>
              <a:ea typeface="Arial"/>
              <a:cs typeface="Arial"/>
              <a:sym typeface="Arial"/>
            </a:endParaRPr>
          </a:p>
        </p:txBody>
      </p:sp>
      <p:sp>
        <p:nvSpPr>
          <p:cNvPr id="121" name="Google Shape;121;p21"/>
          <p:cNvSpPr txBox="1">
            <a:spLocks noGrp="1"/>
          </p:cNvSpPr>
          <p:nvPr>
            <p:ph type="title"/>
          </p:nvPr>
        </p:nvSpPr>
        <p:spPr>
          <a:xfrm>
            <a:off x="4345375" y="608125"/>
            <a:ext cx="4543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500" b="1">
                <a:solidFill>
                  <a:srgbClr val="541900"/>
                </a:solidFill>
              </a:rPr>
              <a:t>Revise Your Model</a:t>
            </a:r>
            <a:endParaRPr sz="3500" b="1">
              <a:solidFill>
                <a:srgbClr val="541900"/>
              </a:solidFill>
            </a:endParaRPr>
          </a:p>
        </p:txBody>
      </p:sp>
      <p:sp>
        <p:nvSpPr>
          <p:cNvPr id="122" name="Google Shape;122;p21"/>
          <p:cNvSpPr txBox="1">
            <a:spLocks noGrp="1"/>
          </p:cNvSpPr>
          <p:nvPr>
            <p:ph type="body" idx="4294967295"/>
          </p:nvPr>
        </p:nvSpPr>
        <p:spPr>
          <a:xfrm>
            <a:off x="4345375" y="1269600"/>
            <a:ext cx="4471500" cy="2604300"/>
          </a:xfrm>
          <a:prstGeom prst="rect">
            <a:avLst/>
          </a:prstGeom>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000" b="1">
                <a:solidFill>
                  <a:schemeClr val="dk1"/>
                </a:solidFill>
                <a:latin typeface="Calibri"/>
                <a:ea typeface="Calibri"/>
                <a:cs typeface="Calibri"/>
                <a:sym typeface="Calibri"/>
              </a:rPr>
              <a:t>Based on your newfound knowledge, revise your model. As you revise think about the following:</a:t>
            </a:r>
            <a:endParaRPr sz="2000" b="1">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endParaRPr sz="1000" b="1">
              <a:solidFill>
                <a:schemeClr val="dk1"/>
              </a:solidFill>
              <a:latin typeface="Calibri"/>
              <a:ea typeface="Calibri"/>
              <a:cs typeface="Calibri"/>
              <a:sym typeface="Calibri"/>
            </a:endParaRPr>
          </a:p>
          <a:p>
            <a:pPr marL="457200" lvl="0" indent="-355600" algn="l" rtl="0">
              <a:lnSpc>
                <a:spcPct val="100000"/>
              </a:lnSpc>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What processes or components did you learn about in the video that you would like to add to your model?</a:t>
            </a:r>
            <a:endParaRPr sz="2000">
              <a:solidFill>
                <a:schemeClr val="dk1"/>
              </a:solidFill>
              <a:latin typeface="Calibri"/>
              <a:ea typeface="Calibri"/>
              <a:cs typeface="Calibri"/>
              <a:sym typeface="Calibri"/>
            </a:endParaRPr>
          </a:p>
          <a:p>
            <a:pPr marL="457200" lvl="0" indent="-355600" algn="l" rtl="0">
              <a:lnSpc>
                <a:spcPct val="100000"/>
              </a:lnSpc>
              <a:spcBef>
                <a:spcPts val="0"/>
              </a:spcBef>
              <a:spcAft>
                <a:spcPts val="0"/>
              </a:spcAft>
              <a:buClr>
                <a:schemeClr val="dk1"/>
              </a:buClr>
              <a:buSzPts val="2000"/>
              <a:buFont typeface="Calibri"/>
              <a:buChar char="●"/>
            </a:pPr>
            <a:r>
              <a:rPr lang="en" sz="2000">
                <a:solidFill>
                  <a:schemeClr val="dk1"/>
                </a:solidFill>
                <a:latin typeface="Calibri"/>
                <a:ea typeface="Calibri"/>
                <a:cs typeface="Calibri"/>
                <a:sym typeface="Calibri"/>
              </a:rPr>
              <a:t>How does seal level rise impact communities that value Southern California’s ocean? How can that be shown in our team’s model?</a:t>
            </a:r>
            <a:endParaRPr sz="2000">
              <a:solidFill>
                <a:schemeClr val="dk1"/>
              </a:solidFill>
              <a:latin typeface="Calibri"/>
              <a:ea typeface="Calibri"/>
              <a:cs typeface="Calibri"/>
              <a:sym typeface="Calibri"/>
            </a:endParaRPr>
          </a:p>
        </p:txBody>
      </p:sp>
      <p:pic>
        <p:nvPicPr>
          <p:cNvPr id="123" name="Google Shape;123;p21"/>
          <p:cNvPicPr preferRelativeResize="0"/>
          <p:nvPr/>
        </p:nvPicPr>
        <p:blipFill>
          <a:blip r:embed="rId3">
            <a:alphaModFix/>
          </a:blip>
          <a:stretch>
            <a:fillRect/>
          </a:stretch>
        </p:blipFill>
        <p:spPr>
          <a:xfrm>
            <a:off x="29647" y="1269649"/>
            <a:ext cx="3988900" cy="260420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27"/>
        <p:cNvGrpSpPr/>
        <p:nvPr/>
      </p:nvGrpSpPr>
      <p:grpSpPr>
        <a:xfrm>
          <a:off x="0" y="0"/>
          <a:ext cx="0" cy="0"/>
          <a:chOff x="0" y="0"/>
          <a:chExt cx="0" cy="0"/>
        </a:xfrm>
      </p:grpSpPr>
      <p:sp>
        <p:nvSpPr>
          <p:cNvPr id="128" name="Google Shape;128;p22"/>
          <p:cNvSpPr txBox="1">
            <a:spLocks noGrp="1"/>
          </p:cNvSpPr>
          <p:nvPr>
            <p:ph type="body" idx="1"/>
          </p:nvPr>
        </p:nvSpPr>
        <p:spPr>
          <a:xfrm>
            <a:off x="311700" y="11383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000" i="1" dirty="0">
                <a:solidFill>
                  <a:srgbClr val="355E3B"/>
                </a:solidFill>
              </a:rPr>
              <a:t>In your </a:t>
            </a:r>
            <a:r>
              <a:rPr lang="en" sz="2000" i="1" dirty="0">
                <a:solidFill>
                  <a:schemeClr val="hlink"/>
                </a:solidFill>
              </a:rPr>
              <a:t>science journal</a:t>
            </a:r>
            <a:r>
              <a:rPr lang="en" sz="2000" i="1" dirty="0">
                <a:solidFill>
                  <a:srgbClr val="355E3B"/>
                </a:solidFill>
              </a:rPr>
              <a:t> (p. 35), take a couple of minutes to reflect on your experiences during Module 3.3, Day 1.</a:t>
            </a:r>
            <a:endParaRPr sz="2000" i="1" dirty="0">
              <a:solidFill>
                <a:srgbClr val="355E3B"/>
              </a:solidFill>
            </a:endParaRPr>
          </a:p>
          <a:p>
            <a:pPr marL="0" lvl="0" indent="0" algn="l" rtl="0">
              <a:spcBef>
                <a:spcPts val="1200"/>
              </a:spcBef>
              <a:spcAft>
                <a:spcPts val="1200"/>
              </a:spcAft>
              <a:buNone/>
            </a:pPr>
            <a:endParaRPr sz="2000" i="1" dirty="0">
              <a:solidFill>
                <a:srgbClr val="355E3B"/>
              </a:solidFill>
            </a:endParaRPr>
          </a:p>
        </p:txBody>
      </p:sp>
      <p:sp>
        <p:nvSpPr>
          <p:cNvPr id="129" name="Google Shape;129;p22"/>
          <p:cNvSpPr txBox="1">
            <a:spLocks noGrp="1"/>
          </p:cNvSpPr>
          <p:nvPr>
            <p:ph type="title"/>
          </p:nvPr>
        </p:nvSpPr>
        <p:spPr>
          <a:xfrm>
            <a:off x="311700" y="26757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500" b="1">
                <a:solidFill>
                  <a:srgbClr val="541900"/>
                </a:solidFill>
              </a:rPr>
              <a:t>Reflect</a:t>
            </a:r>
            <a:endParaRPr sz="4500" b="1">
              <a:solidFill>
                <a:srgbClr val="541900"/>
              </a:solidFill>
            </a:endParaRPr>
          </a:p>
        </p:txBody>
      </p:sp>
      <p:sp>
        <p:nvSpPr>
          <p:cNvPr id="130" name="Google Shape;130;p22"/>
          <p:cNvSpPr txBox="1">
            <a:spLocks noGrp="1"/>
          </p:cNvSpPr>
          <p:nvPr>
            <p:ph type="body" idx="4294967295"/>
          </p:nvPr>
        </p:nvSpPr>
        <p:spPr>
          <a:xfrm>
            <a:off x="311700" y="2009075"/>
            <a:ext cx="8373300" cy="1989000"/>
          </a:xfrm>
          <a:prstGeom prst="rect">
            <a:avLst/>
          </a:prstGeom>
        </p:spPr>
        <p:txBody>
          <a:bodyPr spcFirstLastPara="1" wrap="square" lIns="91425" tIns="91425" rIns="91425" bIns="91425" anchor="t" anchorCtr="0">
            <a:noAutofit/>
          </a:bodyPr>
          <a:lstStyle/>
          <a:p>
            <a:pPr marL="457200" lvl="0" indent="-355600" algn="l" rtl="0">
              <a:spcBef>
                <a:spcPts val="0"/>
              </a:spcBef>
              <a:spcAft>
                <a:spcPts val="0"/>
              </a:spcAft>
              <a:buClr>
                <a:schemeClr val="dk1"/>
              </a:buClr>
              <a:buSzPts val="2000"/>
              <a:buFont typeface="Calibri"/>
              <a:buChar char="●"/>
            </a:pPr>
            <a:r>
              <a:rPr lang="en" sz="2000" dirty="0">
                <a:solidFill>
                  <a:schemeClr val="dk1"/>
                </a:solidFill>
                <a:latin typeface="Calibri"/>
                <a:ea typeface="Calibri"/>
                <a:cs typeface="Calibri"/>
                <a:sym typeface="Calibri"/>
              </a:rPr>
              <a:t>How has your thinking about what causes sea level rise changed? Think about new ideas or surprises you noticed while creating or revising your model.</a:t>
            </a:r>
            <a:endParaRPr sz="2000" dirty="0">
              <a:solidFill>
                <a:schemeClr val="dk1"/>
              </a:solidFill>
              <a:latin typeface="Calibri"/>
              <a:ea typeface="Calibri"/>
              <a:cs typeface="Calibri"/>
              <a:sym typeface="Calibri"/>
            </a:endParaRPr>
          </a:p>
          <a:p>
            <a:pPr marL="457200" lvl="0" indent="-355600" algn="l" rtl="0">
              <a:spcBef>
                <a:spcPts val="0"/>
              </a:spcBef>
              <a:spcAft>
                <a:spcPts val="0"/>
              </a:spcAft>
              <a:buClr>
                <a:schemeClr val="dk1"/>
              </a:buClr>
              <a:buSzPts val="2000"/>
              <a:buFont typeface="Calibri"/>
              <a:buChar char="●"/>
            </a:pPr>
            <a:r>
              <a:rPr lang="en" sz="2000" dirty="0">
                <a:solidFill>
                  <a:schemeClr val="dk1"/>
                </a:solidFill>
                <a:latin typeface="Calibri"/>
                <a:ea typeface="Calibri"/>
                <a:cs typeface="Calibri"/>
                <a:sym typeface="Calibri"/>
              </a:rPr>
              <a:t>How could sea level rise impact communities and things they value about the Southern California ocean?</a:t>
            </a:r>
            <a:endParaRPr sz="2000" dirty="0">
              <a:solidFill>
                <a:schemeClr val="dk1"/>
              </a:solidFill>
              <a:latin typeface="Calibri"/>
              <a:ea typeface="Calibri"/>
              <a:cs typeface="Calibri"/>
              <a:sym typeface="Calibri"/>
            </a:endParaRPr>
          </a:p>
          <a:p>
            <a:pPr marL="457200" lvl="0" indent="-355600" algn="l" rtl="0">
              <a:spcBef>
                <a:spcPts val="0"/>
              </a:spcBef>
              <a:spcAft>
                <a:spcPts val="0"/>
              </a:spcAft>
              <a:buClr>
                <a:schemeClr val="dk1"/>
              </a:buClr>
              <a:buSzPts val="2000"/>
              <a:buFont typeface="Calibri"/>
              <a:buChar char="●"/>
            </a:pPr>
            <a:r>
              <a:rPr lang="en" sz="2000" dirty="0">
                <a:solidFill>
                  <a:schemeClr val="dk1"/>
                </a:solidFill>
                <a:latin typeface="Calibri"/>
                <a:ea typeface="Calibri"/>
                <a:cs typeface="Calibri"/>
                <a:sym typeface="Calibri"/>
              </a:rPr>
              <a:t>Which parts of your model do you still have questions about? </a:t>
            </a:r>
            <a:endParaRPr sz="2000" dirty="0">
              <a:solidFill>
                <a:schemeClr val="dk1"/>
              </a:solidFill>
              <a:latin typeface="Calibri"/>
              <a:ea typeface="Calibri"/>
              <a:cs typeface="Calibri"/>
              <a:sym typeface="Calibri"/>
            </a:endParaRPr>
          </a:p>
        </p:txBody>
      </p:sp>
      <p:sp>
        <p:nvSpPr>
          <p:cNvPr id="131" name="Google Shape;131;p22"/>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9</a:t>
            </a:r>
            <a:endParaRPr sz="12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35"/>
        <p:cNvGrpSpPr/>
        <p:nvPr/>
      </p:nvGrpSpPr>
      <p:grpSpPr>
        <a:xfrm>
          <a:off x="0" y="0"/>
          <a:ext cx="0" cy="0"/>
          <a:chOff x="0" y="0"/>
          <a:chExt cx="0" cy="0"/>
        </a:xfrm>
      </p:grpSpPr>
      <p:sp>
        <p:nvSpPr>
          <p:cNvPr id="136" name="Google Shape;136;p23"/>
          <p:cNvSpPr txBox="1">
            <a:spLocks noGrp="1"/>
          </p:cNvSpPr>
          <p:nvPr>
            <p:ph type="title" idx="4294967295"/>
          </p:nvPr>
        </p:nvSpPr>
        <p:spPr>
          <a:xfrm>
            <a:off x="236575" y="665825"/>
            <a:ext cx="3939300" cy="27750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sz="4500" b="1">
                <a:solidFill>
                  <a:srgbClr val="541900"/>
                </a:solidFill>
              </a:rPr>
              <a:t>CO₂ &amp; Sea Level Rise/ Coastal Erosion</a:t>
            </a:r>
            <a:endParaRPr sz="4500" b="1">
              <a:solidFill>
                <a:srgbClr val="541900"/>
              </a:solidFill>
            </a:endParaRPr>
          </a:p>
        </p:txBody>
      </p:sp>
      <p:sp>
        <p:nvSpPr>
          <p:cNvPr id="137" name="Google Shape;137;p23"/>
          <p:cNvSpPr txBox="1">
            <a:spLocks noGrp="1"/>
          </p:cNvSpPr>
          <p:nvPr>
            <p:ph type="body" idx="4294967295"/>
          </p:nvPr>
        </p:nvSpPr>
        <p:spPr>
          <a:xfrm>
            <a:off x="2286475" y="3440825"/>
            <a:ext cx="1889400" cy="670200"/>
          </a:xfrm>
          <a:prstGeom prst="rect">
            <a:avLst/>
          </a:prstGeom>
        </p:spPr>
        <p:txBody>
          <a:bodyPr spcFirstLastPara="1" wrap="square" lIns="91425" tIns="91425" rIns="91425" bIns="91425" anchor="t" anchorCtr="0">
            <a:normAutofit/>
          </a:bodyPr>
          <a:lstStyle/>
          <a:p>
            <a:pPr marL="0" lvl="0" indent="0" algn="r" rtl="0">
              <a:spcBef>
                <a:spcPts val="0"/>
              </a:spcBef>
              <a:spcAft>
                <a:spcPts val="0"/>
              </a:spcAft>
              <a:buNone/>
            </a:pPr>
            <a:r>
              <a:rPr lang="en" sz="1200" b="1">
                <a:solidFill>
                  <a:srgbClr val="355E3B"/>
                </a:solidFill>
              </a:rPr>
              <a:t>Module 3.3 | Day 2</a:t>
            </a:r>
            <a:endParaRPr sz="1200" b="1">
              <a:solidFill>
                <a:srgbClr val="355E3B"/>
              </a:solidFill>
            </a:endParaRPr>
          </a:p>
        </p:txBody>
      </p:sp>
      <p:sp>
        <p:nvSpPr>
          <p:cNvPr id="138" name="Google Shape;138;p23"/>
          <p:cNvSpPr txBox="1"/>
          <p:nvPr/>
        </p:nvSpPr>
        <p:spPr>
          <a:xfrm>
            <a:off x="4746175" y="3649275"/>
            <a:ext cx="4224900" cy="376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800" b="1">
                <a:solidFill>
                  <a:srgbClr val="595959"/>
                </a:solidFill>
              </a:rPr>
              <a:t>Del Mar, CA</a:t>
            </a:r>
            <a:endParaRPr sz="800" b="1">
              <a:solidFill>
                <a:srgbClr val="595959"/>
              </a:solidFill>
            </a:endParaRPr>
          </a:p>
          <a:p>
            <a:pPr marL="0" lvl="0" indent="0" algn="r" rtl="0">
              <a:spcBef>
                <a:spcPts val="0"/>
              </a:spcBef>
              <a:spcAft>
                <a:spcPts val="0"/>
              </a:spcAft>
              <a:buNone/>
            </a:pPr>
            <a:r>
              <a:rPr lang="en" sz="800" b="1">
                <a:solidFill>
                  <a:srgbClr val="595959"/>
                </a:solidFill>
              </a:rPr>
              <a:t>Photo Credit: Los Angeles Times</a:t>
            </a:r>
            <a:endParaRPr sz="800" b="1">
              <a:solidFill>
                <a:srgbClr val="595959"/>
              </a:solidFill>
            </a:endParaRPr>
          </a:p>
        </p:txBody>
      </p:sp>
      <p:pic>
        <p:nvPicPr>
          <p:cNvPr id="139" name="Google Shape;139;p23" title="Screenshot 2025-12-22 at 12.09.29 PM.png"/>
          <p:cNvPicPr preferRelativeResize="0"/>
          <p:nvPr/>
        </p:nvPicPr>
        <p:blipFill>
          <a:blip r:embed="rId3">
            <a:alphaModFix/>
          </a:blip>
          <a:stretch>
            <a:fillRect/>
          </a:stretch>
        </p:blipFill>
        <p:spPr>
          <a:xfrm>
            <a:off x="4307750" y="665825"/>
            <a:ext cx="4663327" cy="3028600"/>
          </a:xfrm>
          <a:prstGeom prst="rect">
            <a:avLst/>
          </a:prstGeom>
          <a:noFill/>
          <a:ln>
            <a:noFill/>
          </a:ln>
        </p:spPr>
      </p:pic>
      <p:sp>
        <p:nvSpPr>
          <p:cNvPr id="140" name="Google Shape;140;p23"/>
          <p:cNvSpPr txBox="1">
            <a:spLocks noGrp="1"/>
          </p:cNvSpPr>
          <p:nvPr>
            <p:ph type="body" idx="4294967295"/>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10</a:t>
            </a:r>
            <a:endParaRPr sz="12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44"/>
        <p:cNvGrpSpPr/>
        <p:nvPr/>
      </p:nvGrpSpPr>
      <p:grpSpPr>
        <a:xfrm>
          <a:off x="0" y="0"/>
          <a:ext cx="0" cy="0"/>
          <a:chOff x="0" y="0"/>
          <a:chExt cx="0" cy="0"/>
        </a:xfrm>
      </p:grpSpPr>
      <p:sp>
        <p:nvSpPr>
          <p:cNvPr id="145" name="Google Shape;145;p24"/>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11</a:t>
            </a:r>
            <a:endParaRPr sz="1200">
              <a:solidFill>
                <a:schemeClr val="dk1"/>
              </a:solidFill>
              <a:latin typeface="Arial"/>
              <a:ea typeface="Arial"/>
              <a:cs typeface="Arial"/>
              <a:sym typeface="Arial"/>
            </a:endParaRPr>
          </a:p>
        </p:txBody>
      </p:sp>
      <p:pic>
        <p:nvPicPr>
          <p:cNvPr id="146" name="Google Shape;146;p24"/>
          <p:cNvPicPr preferRelativeResize="0"/>
          <p:nvPr/>
        </p:nvPicPr>
        <p:blipFill>
          <a:blip r:embed="rId3">
            <a:alphaModFix/>
          </a:blip>
          <a:stretch>
            <a:fillRect/>
          </a:stretch>
        </p:blipFill>
        <p:spPr>
          <a:xfrm>
            <a:off x="228600" y="766988"/>
            <a:ext cx="4343400" cy="3250258"/>
          </a:xfrm>
          <a:prstGeom prst="rect">
            <a:avLst/>
          </a:prstGeom>
          <a:noFill/>
          <a:ln>
            <a:noFill/>
          </a:ln>
        </p:spPr>
      </p:pic>
      <p:sp>
        <p:nvSpPr>
          <p:cNvPr id="147" name="Google Shape;147;p24"/>
          <p:cNvSpPr txBox="1">
            <a:spLocks noGrp="1"/>
          </p:cNvSpPr>
          <p:nvPr>
            <p:ph type="body" idx="4294967295"/>
          </p:nvPr>
        </p:nvSpPr>
        <p:spPr>
          <a:xfrm>
            <a:off x="4655100" y="2226975"/>
            <a:ext cx="3726600" cy="3030900"/>
          </a:xfrm>
          <a:prstGeom prst="rect">
            <a:avLst/>
          </a:prstGeom>
        </p:spPr>
        <p:txBody>
          <a:bodyPr spcFirstLastPara="1" wrap="square" lIns="91425" tIns="91425" rIns="91425" bIns="91425" anchor="t" anchorCtr="0">
            <a:noAutofit/>
          </a:bodyPr>
          <a:lstStyle/>
          <a:p>
            <a:pPr marL="457200" lvl="0" indent="-349250" algn="l" rtl="0">
              <a:lnSpc>
                <a:spcPct val="100000"/>
              </a:lnSpc>
              <a:spcBef>
                <a:spcPts val="0"/>
              </a:spcBef>
              <a:spcAft>
                <a:spcPts val="0"/>
              </a:spcAft>
              <a:buClr>
                <a:schemeClr val="dk1"/>
              </a:buClr>
              <a:buSzPts val="1900"/>
              <a:buFont typeface="Calibri"/>
              <a:buChar char="●"/>
            </a:pPr>
            <a:r>
              <a:rPr lang="en" sz="1900">
                <a:solidFill>
                  <a:schemeClr val="dk1"/>
                </a:solidFill>
                <a:latin typeface="Calibri"/>
                <a:ea typeface="Calibri"/>
                <a:cs typeface="Calibri"/>
                <a:sym typeface="Calibri"/>
              </a:rPr>
              <a:t>What do you think is happening in this image? Why is it happening?</a:t>
            </a:r>
            <a:endParaRPr sz="1900">
              <a:solidFill>
                <a:schemeClr val="dk1"/>
              </a:solidFill>
              <a:latin typeface="Calibri"/>
              <a:ea typeface="Calibri"/>
              <a:cs typeface="Calibri"/>
              <a:sym typeface="Calibri"/>
            </a:endParaRPr>
          </a:p>
          <a:p>
            <a:pPr marL="457200" lvl="0" indent="-349250" algn="l" rtl="0">
              <a:lnSpc>
                <a:spcPct val="100000"/>
              </a:lnSpc>
              <a:spcBef>
                <a:spcPts val="0"/>
              </a:spcBef>
              <a:spcAft>
                <a:spcPts val="0"/>
              </a:spcAft>
              <a:buClr>
                <a:schemeClr val="dk1"/>
              </a:buClr>
              <a:buSzPts val="1900"/>
              <a:buFont typeface="Calibri"/>
              <a:buChar char="●"/>
            </a:pPr>
            <a:r>
              <a:rPr lang="en" sz="1900">
                <a:solidFill>
                  <a:schemeClr val="dk1"/>
                </a:solidFill>
                <a:latin typeface="Calibri"/>
                <a:ea typeface="Calibri"/>
                <a:cs typeface="Calibri"/>
                <a:sym typeface="Calibri"/>
              </a:rPr>
              <a:t>Is what you are observing a natural occurrence? How often does this happen?</a:t>
            </a:r>
            <a:endParaRPr sz="1900">
              <a:solidFill>
                <a:schemeClr val="dk1"/>
              </a:solidFill>
              <a:latin typeface="Calibri"/>
              <a:ea typeface="Calibri"/>
              <a:cs typeface="Calibri"/>
              <a:sym typeface="Calibri"/>
            </a:endParaRPr>
          </a:p>
          <a:p>
            <a:pPr marL="457200" lvl="0" indent="-349250" algn="l" rtl="0">
              <a:lnSpc>
                <a:spcPct val="100000"/>
              </a:lnSpc>
              <a:spcBef>
                <a:spcPts val="0"/>
              </a:spcBef>
              <a:spcAft>
                <a:spcPts val="0"/>
              </a:spcAft>
              <a:buClr>
                <a:schemeClr val="dk1"/>
              </a:buClr>
              <a:buSzPts val="1900"/>
              <a:buFont typeface="Calibri"/>
              <a:buChar char="●"/>
            </a:pPr>
            <a:r>
              <a:rPr lang="en" sz="1900">
                <a:solidFill>
                  <a:schemeClr val="dk1"/>
                </a:solidFill>
                <a:latin typeface="Calibri"/>
                <a:ea typeface="Calibri"/>
                <a:cs typeface="Calibri"/>
                <a:sym typeface="Calibri"/>
              </a:rPr>
              <a:t>Why might communities want to understand this scenario?</a:t>
            </a:r>
            <a:endParaRPr sz="1900">
              <a:solidFill>
                <a:schemeClr val="dk1"/>
              </a:solidFill>
              <a:latin typeface="Calibri"/>
              <a:ea typeface="Calibri"/>
              <a:cs typeface="Calibri"/>
              <a:sym typeface="Calibri"/>
            </a:endParaRPr>
          </a:p>
        </p:txBody>
      </p:sp>
      <p:sp>
        <p:nvSpPr>
          <p:cNvPr id="148" name="Google Shape;148;p24"/>
          <p:cNvSpPr txBox="1">
            <a:spLocks noGrp="1"/>
          </p:cNvSpPr>
          <p:nvPr>
            <p:ph type="title"/>
          </p:nvPr>
        </p:nvSpPr>
        <p:spPr>
          <a:xfrm>
            <a:off x="4655100" y="767000"/>
            <a:ext cx="41091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rgbClr val="541900"/>
                </a:solidFill>
              </a:rPr>
              <a:t>Reflect on Your Observation</a:t>
            </a:r>
            <a:endParaRPr b="1">
              <a:solidFill>
                <a:srgbClr val="541900"/>
              </a:solidFill>
            </a:endParaRPr>
          </a:p>
          <a:p>
            <a:pPr marL="0" lvl="0" indent="0" algn="l" rtl="0">
              <a:lnSpc>
                <a:spcPct val="115000"/>
              </a:lnSpc>
              <a:spcBef>
                <a:spcPts val="0"/>
              </a:spcBef>
              <a:spcAft>
                <a:spcPts val="1200"/>
              </a:spcAft>
              <a:buNone/>
            </a:pPr>
            <a:r>
              <a:rPr lang="en" sz="1600" i="1">
                <a:solidFill>
                  <a:srgbClr val="355E3B"/>
                </a:solidFill>
              </a:rPr>
              <a:t>Now that you have begun to explore sea level rise, let’s revisit the image on the left.</a:t>
            </a:r>
            <a:endParaRPr sz="3100" b="1">
              <a:solidFill>
                <a:srgbClr val="541900"/>
              </a:solidFill>
            </a:endParaRPr>
          </a:p>
        </p:txBody>
      </p:sp>
      <p:sp>
        <p:nvSpPr>
          <p:cNvPr id="149" name="Google Shape;149;p24"/>
          <p:cNvSpPr txBox="1"/>
          <p:nvPr/>
        </p:nvSpPr>
        <p:spPr>
          <a:xfrm>
            <a:off x="146450" y="4202325"/>
            <a:ext cx="42249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rgbClr val="595959"/>
                </a:solidFill>
              </a:rPr>
              <a:t>Alamitos Bay, Long Beach, CA</a:t>
            </a:r>
            <a:endParaRPr sz="800">
              <a:solidFill>
                <a:srgbClr val="59595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53"/>
        <p:cNvGrpSpPr/>
        <p:nvPr/>
      </p:nvGrpSpPr>
      <p:grpSpPr>
        <a:xfrm>
          <a:off x="0" y="0"/>
          <a:ext cx="0" cy="0"/>
          <a:chOff x="0" y="0"/>
          <a:chExt cx="0" cy="0"/>
        </a:xfrm>
      </p:grpSpPr>
      <p:sp>
        <p:nvSpPr>
          <p:cNvPr id="154" name="Google Shape;154;p25"/>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12</a:t>
            </a:r>
            <a:endParaRPr sz="1200">
              <a:solidFill>
                <a:schemeClr val="dk1"/>
              </a:solidFill>
              <a:latin typeface="Arial"/>
              <a:ea typeface="Arial"/>
              <a:cs typeface="Arial"/>
              <a:sym typeface="Arial"/>
            </a:endParaRPr>
          </a:p>
        </p:txBody>
      </p:sp>
      <p:sp>
        <p:nvSpPr>
          <p:cNvPr id="155" name="Google Shape;155;p25"/>
          <p:cNvSpPr txBox="1">
            <a:spLocks noGrp="1"/>
          </p:cNvSpPr>
          <p:nvPr>
            <p:ph type="title"/>
          </p:nvPr>
        </p:nvSpPr>
        <p:spPr>
          <a:xfrm>
            <a:off x="1180800" y="242150"/>
            <a:ext cx="6782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200" b="1">
                <a:solidFill>
                  <a:srgbClr val="541900"/>
                </a:solidFill>
              </a:rPr>
              <a:t>Day 2: Lesson Overview</a:t>
            </a:r>
            <a:endParaRPr sz="4200" b="1">
              <a:solidFill>
                <a:srgbClr val="541900"/>
              </a:solidFill>
            </a:endParaRPr>
          </a:p>
        </p:txBody>
      </p:sp>
      <p:pic>
        <p:nvPicPr>
          <p:cNvPr id="156" name="Google Shape;156;p25" title="Screenshot 2025-12-22 at 1.49.58 PM.png"/>
          <p:cNvPicPr preferRelativeResize="0"/>
          <p:nvPr/>
        </p:nvPicPr>
        <p:blipFill>
          <a:blip r:embed="rId3">
            <a:alphaModFix/>
          </a:blip>
          <a:stretch>
            <a:fillRect/>
          </a:stretch>
        </p:blipFill>
        <p:spPr>
          <a:xfrm>
            <a:off x="255700" y="1513500"/>
            <a:ext cx="4742850" cy="2444999"/>
          </a:xfrm>
          <a:prstGeom prst="rect">
            <a:avLst/>
          </a:prstGeom>
          <a:noFill/>
          <a:ln>
            <a:noFill/>
          </a:ln>
        </p:spPr>
      </p:pic>
      <p:sp>
        <p:nvSpPr>
          <p:cNvPr id="157" name="Google Shape;157;p25"/>
          <p:cNvSpPr txBox="1">
            <a:spLocks noGrp="1"/>
          </p:cNvSpPr>
          <p:nvPr>
            <p:ph type="body" idx="4294967295"/>
          </p:nvPr>
        </p:nvSpPr>
        <p:spPr>
          <a:xfrm>
            <a:off x="5120100" y="1220538"/>
            <a:ext cx="3798600" cy="30309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i="1">
                <a:solidFill>
                  <a:schemeClr val="dk1"/>
                </a:solidFill>
                <a:latin typeface="Calibri"/>
                <a:ea typeface="Calibri"/>
                <a:cs typeface="Calibri"/>
                <a:sym typeface="Calibri"/>
              </a:rPr>
              <a:t>Today, you will further investigate how sea level rise is affecting communities through exploring scientific sea level rise simulations and use the information you gather to plan how you want to update your SageModeler model to describe how ocean acidification impacts the values your community places on Southern California’s ocean.</a:t>
            </a:r>
            <a:endParaRPr i="1">
              <a:solidFill>
                <a:schemeClr val="dk1"/>
              </a:solidFill>
              <a:latin typeface="Calibri"/>
              <a:ea typeface="Calibri"/>
              <a:cs typeface="Calibri"/>
              <a:sym typeface="Calibri"/>
            </a:endParaRPr>
          </a:p>
        </p:txBody>
      </p:sp>
      <p:sp>
        <p:nvSpPr>
          <p:cNvPr id="158" name="Google Shape;158;p25"/>
          <p:cNvSpPr txBox="1"/>
          <p:nvPr/>
        </p:nvSpPr>
        <p:spPr>
          <a:xfrm>
            <a:off x="197800" y="3907175"/>
            <a:ext cx="42249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solidFill>
                  <a:srgbClr val="595959"/>
                </a:solidFill>
              </a:rPr>
              <a:t>Our Coast Our Future</a:t>
            </a:r>
            <a:endParaRPr sz="800">
              <a:solidFill>
                <a:srgbClr val="59595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62"/>
        <p:cNvGrpSpPr/>
        <p:nvPr/>
      </p:nvGrpSpPr>
      <p:grpSpPr>
        <a:xfrm>
          <a:off x="0" y="0"/>
          <a:ext cx="0" cy="0"/>
          <a:chOff x="0" y="0"/>
          <a:chExt cx="0" cy="0"/>
        </a:xfrm>
      </p:grpSpPr>
      <p:sp>
        <p:nvSpPr>
          <p:cNvPr id="163" name="Google Shape;163;p26"/>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13</a:t>
            </a:r>
            <a:endParaRPr sz="1200">
              <a:solidFill>
                <a:schemeClr val="dk1"/>
              </a:solidFill>
              <a:latin typeface="Arial"/>
              <a:ea typeface="Arial"/>
              <a:cs typeface="Arial"/>
              <a:sym typeface="Arial"/>
            </a:endParaRPr>
          </a:p>
        </p:txBody>
      </p:sp>
      <p:sp>
        <p:nvSpPr>
          <p:cNvPr id="164" name="Google Shape;164;p26"/>
          <p:cNvSpPr txBox="1">
            <a:spLocks noGrp="1"/>
          </p:cNvSpPr>
          <p:nvPr>
            <p:ph type="title"/>
          </p:nvPr>
        </p:nvSpPr>
        <p:spPr>
          <a:xfrm>
            <a:off x="0" y="242150"/>
            <a:ext cx="914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200" b="1">
                <a:solidFill>
                  <a:srgbClr val="541900"/>
                </a:solidFill>
              </a:rPr>
              <a:t>Our Coast Our Future Simulation</a:t>
            </a:r>
            <a:endParaRPr sz="4200" b="1">
              <a:solidFill>
                <a:srgbClr val="541900"/>
              </a:solidFill>
            </a:endParaRPr>
          </a:p>
        </p:txBody>
      </p:sp>
      <p:sp>
        <p:nvSpPr>
          <p:cNvPr id="165" name="Google Shape;165;p26"/>
          <p:cNvSpPr txBox="1">
            <a:spLocks noGrp="1"/>
          </p:cNvSpPr>
          <p:nvPr>
            <p:ph type="body" idx="4294967295"/>
          </p:nvPr>
        </p:nvSpPr>
        <p:spPr>
          <a:xfrm>
            <a:off x="311700" y="1004975"/>
            <a:ext cx="4876500" cy="35637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dirty="0">
                <a:solidFill>
                  <a:schemeClr val="dk1"/>
                </a:solidFill>
                <a:latin typeface="Calibri"/>
                <a:ea typeface="Calibri"/>
                <a:cs typeface="Calibri"/>
                <a:sym typeface="Calibri"/>
              </a:rPr>
              <a:t>As a team, you will investigate </a:t>
            </a:r>
            <a:r>
              <a:rPr lang="en" b="1" u="sng" dirty="0">
                <a:solidFill>
                  <a:schemeClr val="hlink"/>
                </a:solidFill>
                <a:latin typeface="Calibri"/>
                <a:ea typeface="Calibri"/>
                <a:cs typeface="Calibri"/>
                <a:sym typeface="Calibri"/>
                <a:hlinkClick r:id="rId3"/>
              </a:rPr>
              <a:t>Our Coast Our Future</a:t>
            </a:r>
            <a:r>
              <a:rPr lang="en" dirty="0">
                <a:solidFill>
                  <a:schemeClr val="dk1"/>
                </a:solidFill>
                <a:latin typeface="Calibri"/>
                <a:ea typeface="Calibri"/>
                <a:cs typeface="Calibri"/>
                <a:sym typeface="Calibri"/>
              </a:rPr>
              <a:t> simulation tool to explore:</a:t>
            </a:r>
            <a:endParaRPr dirty="0">
              <a:solidFill>
                <a:schemeClr val="dk1"/>
              </a:solidFill>
              <a:latin typeface="Calibri"/>
              <a:ea typeface="Calibri"/>
              <a:cs typeface="Calibri"/>
              <a:sym typeface="Calibri"/>
            </a:endParaRPr>
          </a:p>
          <a:p>
            <a:pPr marL="457200" lvl="0" indent="-342900" algn="l" rtl="0">
              <a:lnSpc>
                <a:spcPct val="100000"/>
              </a:lnSpc>
              <a:spcBef>
                <a:spcPts val="0"/>
              </a:spcBef>
              <a:spcAft>
                <a:spcPts val="0"/>
              </a:spcAft>
              <a:buClr>
                <a:schemeClr val="dk1"/>
              </a:buClr>
              <a:buSzPts val="1800"/>
              <a:buFont typeface="Calibri"/>
              <a:buAutoNum type="arabicPeriod"/>
            </a:pPr>
            <a:r>
              <a:rPr lang="en" dirty="0">
                <a:solidFill>
                  <a:schemeClr val="dk1"/>
                </a:solidFill>
                <a:latin typeface="Calibri"/>
                <a:ea typeface="Calibri"/>
                <a:cs typeface="Calibri"/>
                <a:sym typeface="Calibri"/>
              </a:rPr>
              <a:t>Sea level rise impact on flooding in Alamitos Bay.</a:t>
            </a:r>
            <a:endParaRPr dirty="0">
              <a:solidFill>
                <a:schemeClr val="dk1"/>
              </a:solidFill>
              <a:latin typeface="Calibri"/>
              <a:ea typeface="Calibri"/>
              <a:cs typeface="Calibri"/>
              <a:sym typeface="Calibri"/>
            </a:endParaRPr>
          </a:p>
          <a:p>
            <a:pPr marL="457200" lvl="0" indent="-342900" algn="l" rtl="0">
              <a:lnSpc>
                <a:spcPct val="100000"/>
              </a:lnSpc>
              <a:spcBef>
                <a:spcPts val="0"/>
              </a:spcBef>
              <a:spcAft>
                <a:spcPts val="0"/>
              </a:spcAft>
              <a:buClr>
                <a:schemeClr val="dk1"/>
              </a:buClr>
              <a:buSzPts val="1800"/>
              <a:buFont typeface="Calibri"/>
              <a:buAutoNum type="arabicPeriod"/>
            </a:pPr>
            <a:r>
              <a:rPr lang="en" dirty="0">
                <a:solidFill>
                  <a:schemeClr val="dk1"/>
                </a:solidFill>
                <a:latin typeface="Calibri"/>
                <a:ea typeface="Calibri"/>
                <a:cs typeface="Calibri"/>
                <a:sym typeface="Calibri"/>
              </a:rPr>
              <a:t>Sea level rise impact on shoreline position on Alamitos Bay.</a:t>
            </a:r>
            <a:endParaRPr dirty="0">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endParaRPr sz="800" b="1" dirty="0">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r>
              <a:rPr lang="en" b="1" dirty="0">
                <a:solidFill>
                  <a:schemeClr val="dk1"/>
                </a:solidFill>
                <a:latin typeface="Calibri"/>
                <a:ea typeface="Calibri"/>
                <a:cs typeface="Calibri"/>
                <a:sym typeface="Calibri"/>
              </a:rPr>
              <a:t>Instructions:</a:t>
            </a:r>
            <a:endParaRPr b="1" dirty="0">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r>
              <a:rPr lang="en" dirty="0">
                <a:solidFill>
                  <a:schemeClr val="dk1"/>
                </a:solidFill>
                <a:latin typeface="Calibri"/>
                <a:ea typeface="Calibri"/>
                <a:cs typeface="Calibri"/>
                <a:sym typeface="Calibri"/>
              </a:rPr>
              <a:t>Refer to </a:t>
            </a:r>
            <a:r>
              <a:rPr lang="en" b="1" dirty="0">
                <a:solidFill>
                  <a:schemeClr val="hlink"/>
                </a:solidFill>
                <a:latin typeface="Calibri"/>
                <a:ea typeface="Calibri"/>
                <a:cs typeface="Calibri"/>
                <a:sym typeface="Calibri"/>
              </a:rPr>
              <a:t>Instruction Guide</a:t>
            </a:r>
            <a:r>
              <a:rPr lang="en" dirty="0">
                <a:solidFill>
                  <a:schemeClr val="dk1"/>
                </a:solidFill>
                <a:latin typeface="Calibri"/>
                <a:ea typeface="Calibri"/>
                <a:cs typeface="Calibri"/>
                <a:sym typeface="Calibri"/>
              </a:rPr>
              <a:t> in Science Journal (p. 36).</a:t>
            </a:r>
            <a:endParaRPr dirty="0">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endParaRPr sz="8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endParaRPr dirty="0">
              <a:solidFill>
                <a:schemeClr val="dk1"/>
              </a:solidFill>
              <a:latin typeface="Calibri"/>
              <a:ea typeface="Calibri"/>
              <a:cs typeface="Calibri"/>
              <a:sym typeface="Calibri"/>
            </a:endParaRPr>
          </a:p>
          <a:p>
            <a:pPr marL="0" lvl="0" indent="0" algn="l" rtl="0">
              <a:lnSpc>
                <a:spcPct val="100000"/>
              </a:lnSpc>
              <a:spcBef>
                <a:spcPts val="0"/>
              </a:spcBef>
              <a:spcAft>
                <a:spcPts val="0"/>
              </a:spcAft>
              <a:buNone/>
            </a:pPr>
            <a:endParaRPr sz="2000" dirty="0">
              <a:solidFill>
                <a:schemeClr val="dk1"/>
              </a:solidFill>
              <a:latin typeface="Calibri"/>
              <a:ea typeface="Calibri"/>
              <a:cs typeface="Calibri"/>
              <a:sym typeface="Calibri"/>
            </a:endParaRPr>
          </a:p>
        </p:txBody>
      </p:sp>
      <p:pic>
        <p:nvPicPr>
          <p:cNvPr id="166" name="Google Shape;166;p26" title="Screenshot 2025-12-22 at 1.49.58 PM.png"/>
          <p:cNvPicPr preferRelativeResize="0"/>
          <p:nvPr/>
        </p:nvPicPr>
        <p:blipFill rotWithShape="1">
          <a:blip r:embed="rId4">
            <a:alphaModFix/>
          </a:blip>
          <a:srcRect r="18461"/>
          <a:stretch/>
        </p:blipFill>
        <p:spPr>
          <a:xfrm>
            <a:off x="5188200" y="1564325"/>
            <a:ext cx="3867324" cy="24449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70"/>
        <p:cNvGrpSpPr/>
        <p:nvPr/>
      </p:nvGrpSpPr>
      <p:grpSpPr>
        <a:xfrm>
          <a:off x="0" y="0"/>
          <a:ext cx="0" cy="0"/>
          <a:chOff x="0" y="0"/>
          <a:chExt cx="0" cy="0"/>
        </a:xfrm>
      </p:grpSpPr>
      <p:sp>
        <p:nvSpPr>
          <p:cNvPr id="171" name="Google Shape;171;p27"/>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13</a:t>
            </a:r>
            <a:endParaRPr sz="1200">
              <a:solidFill>
                <a:schemeClr val="dk1"/>
              </a:solidFill>
              <a:latin typeface="Arial"/>
              <a:ea typeface="Arial"/>
              <a:cs typeface="Arial"/>
              <a:sym typeface="Arial"/>
            </a:endParaRPr>
          </a:p>
        </p:txBody>
      </p:sp>
      <p:sp>
        <p:nvSpPr>
          <p:cNvPr id="172" name="Google Shape;172;p27"/>
          <p:cNvSpPr txBox="1">
            <a:spLocks noGrp="1"/>
          </p:cNvSpPr>
          <p:nvPr>
            <p:ph type="title"/>
          </p:nvPr>
        </p:nvSpPr>
        <p:spPr>
          <a:xfrm>
            <a:off x="0" y="242150"/>
            <a:ext cx="914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200" b="1">
                <a:solidFill>
                  <a:srgbClr val="541900"/>
                </a:solidFill>
              </a:rPr>
              <a:t>Plan: Update Your SageModeler</a:t>
            </a:r>
            <a:endParaRPr sz="4200" b="1">
              <a:solidFill>
                <a:srgbClr val="541900"/>
              </a:solidFill>
            </a:endParaRPr>
          </a:p>
        </p:txBody>
      </p:sp>
      <p:pic>
        <p:nvPicPr>
          <p:cNvPr id="173" name="Google Shape;173;p27"/>
          <p:cNvPicPr preferRelativeResize="0"/>
          <p:nvPr/>
        </p:nvPicPr>
        <p:blipFill>
          <a:blip r:embed="rId3">
            <a:alphaModFix/>
          </a:blip>
          <a:stretch>
            <a:fillRect/>
          </a:stretch>
        </p:blipFill>
        <p:spPr>
          <a:xfrm>
            <a:off x="828700" y="1137813"/>
            <a:ext cx="2520877" cy="3298037"/>
          </a:xfrm>
          <a:prstGeom prst="rect">
            <a:avLst/>
          </a:prstGeom>
          <a:noFill/>
          <a:ln>
            <a:noFill/>
          </a:ln>
        </p:spPr>
      </p:pic>
      <p:sp>
        <p:nvSpPr>
          <p:cNvPr id="174" name="Google Shape;174;p27"/>
          <p:cNvSpPr txBox="1">
            <a:spLocks noGrp="1"/>
          </p:cNvSpPr>
          <p:nvPr>
            <p:ph type="body" idx="4294967295"/>
          </p:nvPr>
        </p:nvSpPr>
        <p:spPr>
          <a:xfrm>
            <a:off x="3706200" y="1137825"/>
            <a:ext cx="5205000" cy="29493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sz="2000" i="1" dirty="0">
                <a:solidFill>
                  <a:srgbClr val="355E3B"/>
                </a:solidFill>
                <a:latin typeface="Calibri"/>
                <a:ea typeface="Calibri"/>
                <a:cs typeface="Calibri"/>
                <a:sym typeface="Calibri"/>
              </a:rPr>
              <a:t>In your Science Journal, under Module 3.3 (p.36), reflect on the following questions:</a:t>
            </a:r>
            <a:endParaRPr sz="2000" i="1" dirty="0">
              <a:solidFill>
                <a:srgbClr val="355E3B"/>
              </a:solidFill>
              <a:latin typeface="Calibri"/>
              <a:ea typeface="Calibri"/>
              <a:cs typeface="Calibri"/>
              <a:sym typeface="Calibri"/>
            </a:endParaRPr>
          </a:p>
          <a:p>
            <a:pPr marL="0" lvl="0" indent="0" algn="l" rtl="0">
              <a:lnSpc>
                <a:spcPct val="100000"/>
              </a:lnSpc>
              <a:spcBef>
                <a:spcPts val="0"/>
              </a:spcBef>
              <a:spcAft>
                <a:spcPts val="0"/>
              </a:spcAft>
              <a:buNone/>
            </a:pPr>
            <a:endParaRPr sz="1000" i="1" dirty="0">
              <a:solidFill>
                <a:srgbClr val="355E3B"/>
              </a:solidFill>
              <a:latin typeface="Calibri"/>
              <a:ea typeface="Calibri"/>
              <a:cs typeface="Calibri"/>
              <a:sym typeface="Calibri"/>
            </a:endParaRPr>
          </a:p>
          <a:p>
            <a:pPr marL="457200" lvl="0" indent="-355600" algn="l" rtl="0">
              <a:lnSpc>
                <a:spcPct val="100000"/>
              </a:lnSpc>
              <a:spcBef>
                <a:spcPts val="0"/>
              </a:spcBef>
              <a:spcAft>
                <a:spcPts val="0"/>
              </a:spcAft>
              <a:buClr>
                <a:schemeClr val="dk1"/>
              </a:buClr>
              <a:buSzPts val="2000"/>
              <a:buFont typeface="Calibri"/>
              <a:buChar char="●"/>
            </a:pPr>
            <a:r>
              <a:rPr lang="en" sz="2000" dirty="0">
                <a:solidFill>
                  <a:schemeClr val="dk1"/>
                </a:solidFill>
                <a:latin typeface="Calibri"/>
                <a:ea typeface="Calibri"/>
                <a:cs typeface="Calibri"/>
                <a:sym typeface="Calibri"/>
              </a:rPr>
              <a:t>What investigation did you take part in?</a:t>
            </a:r>
            <a:endParaRPr sz="2000" dirty="0">
              <a:solidFill>
                <a:schemeClr val="dk1"/>
              </a:solidFill>
              <a:latin typeface="Calibri"/>
              <a:ea typeface="Calibri"/>
              <a:cs typeface="Calibri"/>
              <a:sym typeface="Calibri"/>
            </a:endParaRPr>
          </a:p>
          <a:p>
            <a:pPr marL="457200" lvl="0" indent="-355600" algn="l" rtl="0">
              <a:lnSpc>
                <a:spcPct val="100000"/>
              </a:lnSpc>
              <a:spcBef>
                <a:spcPts val="0"/>
              </a:spcBef>
              <a:spcAft>
                <a:spcPts val="0"/>
              </a:spcAft>
              <a:buClr>
                <a:schemeClr val="dk1"/>
              </a:buClr>
              <a:buSzPts val="2000"/>
              <a:buFont typeface="Calibri"/>
              <a:buChar char="●"/>
            </a:pPr>
            <a:r>
              <a:rPr lang="en" sz="2000" dirty="0">
                <a:solidFill>
                  <a:schemeClr val="dk1"/>
                </a:solidFill>
                <a:latin typeface="Calibri"/>
                <a:ea typeface="Calibri"/>
                <a:cs typeface="Calibri"/>
                <a:sym typeface="Calibri"/>
              </a:rPr>
              <a:t>How did your thinking change as a result of this investigation? What new information did you learn?</a:t>
            </a:r>
            <a:endParaRPr sz="2000" dirty="0">
              <a:solidFill>
                <a:schemeClr val="dk1"/>
              </a:solidFill>
              <a:latin typeface="Calibri"/>
              <a:ea typeface="Calibri"/>
              <a:cs typeface="Calibri"/>
              <a:sym typeface="Calibri"/>
            </a:endParaRPr>
          </a:p>
          <a:p>
            <a:pPr marL="457200" lvl="0" indent="-355600" algn="l" rtl="0">
              <a:lnSpc>
                <a:spcPct val="100000"/>
              </a:lnSpc>
              <a:spcBef>
                <a:spcPts val="0"/>
              </a:spcBef>
              <a:spcAft>
                <a:spcPts val="0"/>
              </a:spcAft>
              <a:buClr>
                <a:schemeClr val="dk1"/>
              </a:buClr>
              <a:buSzPts val="2000"/>
              <a:buFont typeface="Calibri"/>
              <a:buChar char="●"/>
            </a:pPr>
            <a:r>
              <a:rPr lang="en" sz="2000" dirty="0">
                <a:solidFill>
                  <a:schemeClr val="dk1"/>
                </a:solidFill>
                <a:latin typeface="Calibri"/>
                <a:ea typeface="Calibri"/>
                <a:cs typeface="Calibri"/>
                <a:sym typeface="Calibri"/>
              </a:rPr>
              <a:t>What do you want to add, remove, or update in your </a:t>
            </a:r>
            <a:r>
              <a:rPr lang="en" sz="2000" dirty="0" err="1">
                <a:solidFill>
                  <a:schemeClr val="dk1"/>
                </a:solidFill>
                <a:latin typeface="Calibri"/>
                <a:ea typeface="Calibri"/>
                <a:cs typeface="Calibri"/>
                <a:sym typeface="Calibri"/>
              </a:rPr>
              <a:t>SageModeler</a:t>
            </a:r>
            <a:r>
              <a:rPr lang="en" sz="2000" dirty="0">
                <a:solidFill>
                  <a:schemeClr val="dk1"/>
                </a:solidFill>
                <a:latin typeface="Calibri"/>
                <a:ea typeface="Calibri"/>
                <a:cs typeface="Calibri"/>
                <a:sym typeface="Calibri"/>
              </a:rPr>
              <a:t> model?</a:t>
            </a:r>
            <a:endParaRPr sz="2000" dirty="0">
              <a:solidFill>
                <a:schemeClr val="dk1"/>
              </a:solidFill>
              <a:latin typeface="Calibri"/>
              <a:ea typeface="Calibri"/>
              <a:cs typeface="Calibri"/>
              <a:sym typeface="Calibri"/>
            </a:endParaRPr>
          </a:p>
          <a:p>
            <a:pPr marL="0" lvl="0" indent="0" algn="l" rtl="0">
              <a:lnSpc>
                <a:spcPct val="100000"/>
              </a:lnSpc>
              <a:spcBef>
                <a:spcPts val="0"/>
              </a:spcBef>
              <a:spcAft>
                <a:spcPts val="0"/>
              </a:spcAft>
              <a:buClr>
                <a:schemeClr val="dk1"/>
              </a:buClr>
              <a:buSzPts val="1100"/>
              <a:buFont typeface="Arial"/>
              <a:buNone/>
            </a:pPr>
            <a:endParaRPr sz="2000" i="1" dirty="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78"/>
        <p:cNvGrpSpPr/>
        <p:nvPr/>
      </p:nvGrpSpPr>
      <p:grpSpPr>
        <a:xfrm>
          <a:off x="0" y="0"/>
          <a:ext cx="0" cy="0"/>
          <a:chOff x="0" y="0"/>
          <a:chExt cx="0" cy="0"/>
        </a:xfrm>
      </p:grpSpPr>
      <p:sp>
        <p:nvSpPr>
          <p:cNvPr id="179" name="Google Shape;179;p28"/>
          <p:cNvSpPr txBox="1">
            <a:spLocks noGrp="1"/>
          </p:cNvSpPr>
          <p:nvPr>
            <p:ph type="body" idx="1"/>
          </p:nvPr>
        </p:nvSpPr>
        <p:spPr>
          <a:xfrm>
            <a:off x="311700" y="11383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2000" i="1" dirty="0">
                <a:solidFill>
                  <a:srgbClr val="355E3B"/>
                </a:solidFill>
              </a:rPr>
              <a:t>In your Science Journal (p.45), take a couple of minutes to reflect on your experiences during Module 3.3, Day 2.</a:t>
            </a:r>
            <a:endParaRPr sz="2000" i="1" dirty="0">
              <a:solidFill>
                <a:srgbClr val="355E3B"/>
              </a:solidFill>
            </a:endParaRPr>
          </a:p>
          <a:p>
            <a:pPr marL="0" lvl="0" indent="0" algn="l" rtl="0">
              <a:spcBef>
                <a:spcPts val="1200"/>
              </a:spcBef>
              <a:spcAft>
                <a:spcPts val="1200"/>
              </a:spcAft>
              <a:buNone/>
            </a:pPr>
            <a:endParaRPr sz="2000" i="1" dirty="0">
              <a:solidFill>
                <a:srgbClr val="355E3B"/>
              </a:solidFill>
            </a:endParaRPr>
          </a:p>
        </p:txBody>
      </p:sp>
      <p:sp>
        <p:nvSpPr>
          <p:cNvPr id="180" name="Google Shape;180;p28"/>
          <p:cNvSpPr txBox="1">
            <a:spLocks noGrp="1"/>
          </p:cNvSpPr>
          <p:nvPr>
            <p:ph type="title"/>
          </p:nvPr>
        </p:nvSpPr>
        <p:spPr>
          <a:xfrm>
            <a:off x="311700" y="26757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Reflect</a:t>
            </a:r>
            <a:endParaRPr sz="4500" b="1">
              <a:solidFill>
                <a:srgbClr val="541900"/>
              </a:solidFill>
            </a:endParaRPr>
          </a:p>
        </p:txBody>
      </p:sp>
      <p:sp>
        <p:nvSpPr>
          <p:cNvPr id="181" name="Google Shape;181;p28"/>
          <p:cNvSpPr txBox="1">
            <a:spLocks noGrp="1"/>
          </p:cNvSpPr>
          <p:nvPr>
            <p:ph type="body" idx="4294967295"/>
          </p:nvPr>
        </p:nvSpPr>
        <p:spPr>
          <a:xfrm>
            <a:off x="311700" y="2009075"/>
            <a:ext cx="8373300" cy="1989000"/>
          </a:xfrm>
          <a:prstGeom prst="rect">
            <a:avLst/>
          </a:prstGeom>
        </p:spPr>
        <p:txBody>
          <a:bodyPr spcFirstLastPara="1" wrap="square" lIns="91425" tIns="91425" rIns="91425" bIns="91425" anchor="t" anchorCtr="0">
            <a:normAutofit lnSpcReduction="10000"/>
          </a:bodyPr>
          <a:lstStyle/>
          <a:p>
            <a:pPr marL="457200" lvl="0" indent="-355600" algn="l" rtl="0">
              <a:spcBef>
                <a:spcPts val="1200"/>
              </a:spcBef>
              <a:spcAft>
                <a:spcPts val="0"/>
              </a:spcAft>
              <a:buClr>
                <a:schemeClr val="dk1"/>
              </a:buClr>
              <a:buSzPts val="2000"/>
              <a:buFont typeface="Calibri"/>
              <a:buAutoNum type="arabicPeriod"/>
            </a:pPr>
            <a:r>
              <a:rPr lang="en" sz="2000">
                <a:solidFill>
                  <a:schemeClr val="dk1"/>
                </a:solidFill>
                <a:latin typeface="Calibri"/>
                <a:ea typeface="Calibri"/>
                <a:cs typeface="Calibri"/>
                <a:sym typeface="Calibri"/>
              </a:rPr>
              <a:t>What new information or evidence changed your thinking about what causes sea level rise or how it affects communities?</a:t>
            </a:r>
            <a:endParaRPr sz="2000">
              <a:solidFill>
                <a:schemeClr val="dk1"/>
              </a:solidFill>
              <a:latin typeface="Calibri"/>
              <a:ea typeface="Calibri"/>
              <a:cs typeface="Calibri"/>
              <a:sym typeface="Calibri"/>
            </a:endParaRPr>
          </a:p>
          <a:p>
            <a:pPr marL="457200" lvl="0" indent="-355600" algn="l" rtl="0">
              <a:spcBef>
                <a:spcPts val="0"/>
              </a:spcBef>
              <a:spcAft>
                <a:spcPts val="0"/>
              </a:spcAft>
              <a:buClr>
                <a:schemeClr val="dk1"/>
              </a:buClr>
              <a:buSzPts val="2000"/>
              <a:buFont typeface="Calibri"/>
              <a:buAutoNum type="arabicPeriod"/>
            </a:pPr>
            <a:r>
              <a:rPr lang="en" sz="2000">
                <a:solidFill>
                  <a:schemeClr val="dk1"/>
                </a:solidFill>
                <a:latin typeface="Calibri"/>
                <a:ea typeface="Calibri"/>
                <a:cs typeface="Calibri"/>
                <a:sym typeface="Calibri"/>
              </a:rPr>
              <a:t>What questions do you still have about sea level rise?</a:t>
            </a:r>
            <a:endParaRPr sz="2000">
              <a:solidFill>
                <a:schemeClr val="dk1"/>
              </a:solidFill>
              <a:latin typeface="Calibri"/>
              <a:ea typeface="Calibri"/>
              <a:cs typeface="Calibri"/>
              <a:sym typeface="Calibri"/>
            </a:endParaRPr>
          </a:p>
          <a:p>
            <a:pPr marL="457200" lvl="0" indent="-355600" algn="l" rtl="0">
              <a:lnSpc>
                <a:spcPct val="115000"/>
              </a:lnSpc>
              <a:spcBef>
                <a:spcPts val="0"/>
              </a:spcBef>
              <a:spcAft>
                <a:spcPts val="0"/>
              </a:spcAft>
              <a:buClr>
                <a:schemeClr val="dk1"/>
              </a:buClr>
              <a:buSzPts val="2000"/>
              <a:buFont typeface="Calibri"/>
              <a:buAutoNum type="arabicPeriod"/>
            </a:pPr>
            <a:r>
              <a:rPr lang="en" sz="2000">
                <a:solidFill>
                  <a:schemeClr val="dk1"/>
                </a:solidFill>
                <a:latin typeface="Calibri"/>
                <a:ea typeface="Calibri"/>
                <a:cs typeface="Calibri"/>
                <a:sym typeface="Calibri"/>
              </a:rPr>
              <a:t>What updates do you plan to make to your SageModeler in the next lesson to strengthen your model?</a:t>
            </a:r>
            <a:endParaRPr sz="2000">
              <a:solidFill>
                <a:schemeClr val="dk1"/>
              </a:solidFill>
              <a:latin typeface="Calibri"/>
              <a:ea typeface="Calibri"/>
              <a:cs typeface="Calibri"/>
              <a:sym typeface="Calibri"/>
            </a:endParaRPr>
          </a:p>
        </p:txBody>
      </p:sp>
      <p:sp>
        <p:nvSpPr>
          <p:cNvPr id="182" name="Google Shape;182;p28"/>
          <p:cNvSpPr txBox="1">
            <a:spLocks noGrp="1"/>
          </p:cNvSpPr>
          <p:nvPr>
            <p:ph type="body" idx="1"/>
          </p:nvPr>
        </p:nvSpPr>
        <p:spPr>
          <a:xfrm>
            <a:off x="311700" y="4496700"/>
            <a:ext cx="4343400" cy="3243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200">
                <a:solidFill>
                  <a:schemeClr val="dk1"/>
                </a:solidFill>
                <a:latin typeface="Arial"/>
                <a:ea typeface="Arial"/>
                <a:cs typeface="Arial"/>
                <a:sym typeface="Arial"/>
              </a:rPr>
              <a:t>Module </a:t>
            </a:r>
            <a:r>
              <a:rPr lang="en" sz="1200">
                <a:solidFill>
                  <a:schemeClr val="dk1"/>
                </a:solidFill>
              </a:rPr>
              <a:t>3.3 CO₂ &amp; Sea Level Rise/ Coastal Erosion</a:t>
            </a:r>
            <a:br>
              <a:rPr lang="en" sz="1200">
                <a:solidFill>
                  <a:schemeClr val="dk1"/>
                </a:solidFill>
                <a:latin typeface="Arial"/>
                <a:ea typeface="Arial"/>
                <a:cs typeface="Arial"/>
                <a:sym typeface="Arial"/>
              </a:rPr>
            </a:br>
            <a:r>
              <a:rPr lang="en" sz="1200">
                <a:solidFill>
                  <a:schemeClr val="dk1"/>
                </a:solidFill>
                <a:latin typeface="Arial"/>
                <a:ea typeface="Arial"/>
                <a:cs typeface="Arial"/>
                <a:sym typeface="Arial"/>
              </a:rPr>
              <a:t>Slide </a:t>
            </a:r>
            <a:r>
              <a:rPr lang="en" sz="1200">
                <a:solidFill>
                  <a:schemeClr val="dk1"/>
                </a:solidFill>
              </a:rPr>
              <a:t>14</a:t>
            </a:r>
            <a:endParaRPr sz="1200">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9EBE8"/>
        </a:solidFill>
        <a:effectLst/>
      </p:bgPr>
    </p:bg>
    <p:spTree>
      <p:nvGrpSpPr>
        <p:cNvPr id="1" name="Shape 186"/>
        <p:cNvGrpSpPr/>
        <p:nvPr/>
      </p:nvGrpSpPr>
      <p:grpSpPr>
        <a:xfrm>
          <a:off x="0" y="0"/>
          <a:ext cx="0" cy="0"/>
          <a:chOff x="0" y="0"/>
          <a:chExt cx="0" cy="0"/>
        </a:xfrm>
      </p:grpSpPr>
      <p:sp>
        <p:nvSpPr>
          <p:cNvPr id="187" name="Google Shape;187;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500" b="1">
                <a:solidFill>
                  <a:srgbClr val="541900"/>
                </a:solidFill>
              </a:rPr>
              <a:t>Thank you!</a:t>
            </a:r>
            <a:endParaRPr sz="4500" b="1">
              <a:solidFill>
                <a:srgbClr val="541900"/>
              </a:solidFill>
            </a:endParaRPr>
          </a:p>
        </p:txBody>
      </p:sp>
      <p:sp>
        <p:nvSpPr>
          <p:cNvPr id="188" name="Google Shape;188;p29"/>
          <p:cNvSpPr txBox="1"/>
          <p:nvPr/>
        </p:nvSpPr>
        <p:spPr>
          <a:xfrm>
            <a:off x="311700" y="1374600"/>
            <a:ext cx="8520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rPr>
              <a:t>If you have any questions, please feel free to reach out.</a:t>
            </a:r>
            <a:endParaRPr sz="1800">
              <a:solidFill>
                <a:schemeClr val="dk1"/>
              </a:solidFill>
            </a:endParaRPr>
          </a:p>
        </p:txBody>
      </p:sp>
      <p:sp>
        <p:nvSpPr>
          <p:cNvPr id="189" name="Google Shape;189;p29"/>
          <p:cNvSpPr txBox="1"/>
          <p:nvPr/>
        </p:nvSpPr>
        <p:spPr>
          <a:xfrm>
            <a:off x="318402" y="3563413"/>
            <a:ext cx="36402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Ha Nguyen, Ph.D.</a:t>
            </a:r>
            <a:endParaRPr sz="2200" b="1">
              <a:solidFill>
                <a:schemeClr val="dk1"/>
              </a:solidFill>
            </a:endParaRPr>
          </a:p>
          <a:p>
            <a:pPr marL="0" lvl="0" indent="0" algn="l" rtl="0">
              <a:spcBef>
                <a:spcPts val="0"/>
              </a:spcBef>
              <a:spcAft>
                <a:spcPts val="0"/>
              </a:spcAft>
              <a:buNone/>
            </a:pPr>
            <a:r>
              <a:rPr lang="en" sz="2200">
                <a:solidFill>
                  <a:schemeClr val="dk1"/>
                </a:solidFill>
              </a:rPr>
              <a:t>Assistant Professor</a:t>
            </a:r>
            <a:endParaRPr sz="2200">
              <a:solidFill>
                <a:schemeClr val="dk1"/>
              </a:solidFill>
            </a:endParaRPr>
          </a:p>
          <a:p>
            <a:pPr marL="0" lvl="0" indent="0" algn="l" rtl="0">
              <a:spcBef>
                <a:spcPts val="0"/>
              </a:spcBef>
              <a:spcAft>
                <a:spcPts val="0"/>
              </a:spcAft>
              <a:buNone/>
            </a:pPr>
            <a:r>
              <a:rPr lang="en" sz="2200">
                <a:solidFill>
                  <a:schemeClr val="dk1"/>
                </a:solidFill>
              </a:rPr>
              <a:t>ha.nguyen@unc.edu</a:t>
            </a:r>
            <a:endParaRPr sz="2200">
              <a:solidFill>
                <a:schemeClr val="dk1"/>
              </a:solidFill>
            </a:endParaRPr>
          </a:p>
        </p:txBody>
      </p:sp>
      <p:sp>
        <p:nvSpPr>
          <p:cNvPr id="190" name="Google Shape;190;p29"/>
          <p:cNvSpPr txBox="1"/>
          <p:nvPr/>
        </p:nvSpPr>
        <p:spPr>
          <a:xfrm>
            <a:off x="318400" y="1971462"/>
            <a:ext cx="3455100" cy="1200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Erick Valdez</a:t>
            </a:r>
            <a:endParaRPr sz="2200" b="1">
              <a:solidFill>
                <a:schemeClr val="dk1"/>
              </a:solidFill>
            </a:endParaRPr>
          </a:p>
          <a:p>
            <a:pPr marL="0" lvl="0" indent="0" algn="l" rtl="0">
              <a:spcBef>
                <a:spcPts val="0"/>
              </a:spcBef>
              <a:spcAft>
                <a:spcPts val="0"/>
              </a:spcAft>
              <a:buNone/>
            </a:pPr>
            <a:r>
              <a:rPr lang="en" sz="2200">
                <a:solidFill>
                  <a:schemeClr val="dk1"/>
                </a:solidFill>
              </a:rPr>
              <a:t>Inside the Outdoors</a:t>
            </a:r>
            <a:endParaRPr sz="2200">
              <a:solidFill>
                <a:schemeClr val="dk1"/>
              </a:solidFill>
            </a:endParaRPr>
          </a:p>
          <a:p>
            <a:pPr marL="0" lvl="0" indent="0" algn="l" rtl="0">
              <a:spcBef>
                <a:spcPts val="0"/>
              </a:spcBef>
              <a:spcAft>
                <a:spcPts val="0"/>
              </a:spcAft>
              <a:buNone/>
            </a:pPr>
            <a:r>
              <a:rPr lang="en" sz="2200">
                <a:solidFill>
                  <a:schemeClr val="dk1"/>
                </a:solidFill>
              </a:rPr>
              <a:t>evaldez@ocde.us</a:t>
            </a:r>
            <a:endParaRPr sz="2200">
              <a:solidFill>
                <a:schemeClr val="dk1"/>
              </a:solidFill>
            </a:endParaRPr>
          </a:p>
        </p:txBody>
      </p:sp>
      <p:pic>
        <p:nvPicPr>
          <p:cNvPr id="191" name="Google Shape;191;p29"/>
          <p:cNvPicPr preferRelativeResize="0"/>
          <p:nvPr/>
        </p:nvPicPr>
        <p:blipFill>
          <a:blip r:embed="rId3">
            <a:alphaModFix/>
          </a:blip>
          <a:stretch>
            <a:fillRect/>
          </a:stretch>
        </p:blipFill>
        <p:spPr>
          <a:xfrm>
            <a:off x="5958425" y="3608125"/>
            <a:ext cx="1289949" cy="1102075"/>
          </a:xfrm>
          <a:prstGeom prst="rect">
            <a:avLst/>
          </a:prstGeom>
          <a:noFill/>
          <a:ln>
            <a:noFill/>
          </a:ln>
        </p:spPr>
      </p:pic>
      <p:pic>
        <p:nvPicPr>
          <p:cNvPr id="192" name="Google Shape;192;p29" title="ITO-logo-col-clear.png"/>
          <p:cNvPicPr preferRelativeResize="0"/>
          <p:nvPr/>
        </p:nvPicPr>
        <p:blipFill>
          <a:blip r:embed="rId4">
            <a:alphaModFix/>
          </a:blip>
          <a:stretch>
            <a:fillRect/>
          </a:stretch>
        </p:blipFill>
        <p:spPr>
          <a:xfrm>
            <a:off x="4439452" y="1965350"/>
            <a:ext cx="1289950" cy="1329621"/>
          </a:xfrm>
          <a:prstGeom prst="rect">
            <a:avLst/>
          </a:prstGeom>
          <a:noFill/>
          <a:ln>
            <a:noFill/>
          </a:ln>
        </p:spPr>
      </p:pic>
      <p:pic>
        <p:nvPicPr>
          <p:cNvPr id="193" name="Google Shape;193;p29" title="University_of_California,_Irvine_seal.svg.png"/>
          <p:cNvPicPr preferRelativeResize="0"/>
          <p:nvPr/>
        </p:nvPicPr>
        <p:blipFill>
          <a:blip r:embed="rId5">
            <a:alphaModFix/>
          </a:blip>
          <a:stretch>
            <a:fillRect/>
          </a:stretch>
        </p:blipFill>
        <p:spPr>
          <a:xfrm>
            <a:off x="4495824" y="3546924"/>
            <a:ext cx="1233549" cy="1233576"/>
          </a:xfrm>
          <a:prstGeom prst="rect">
            <a:avLst/>
          </a:prstGeom>
          <a:noFill/>
          <a:ln>
            <a:noFill/>
          </a:ln>
        </p:spPr>
      </p:pic>
      <p:pic>
        <p:nvPicPr>
          <p:cNvPr id="194" name="Google Shape;194;p29" title="OCDE orange county department of education logo.png"/>
          <p:cNvPicPr preferRelativeResize="0"/>
          <p:nvPr/>
        </p:nvPicPr>
        <p:blipFill>
          <a:blip r:embed="rId6">
            <a:alphaModFix/>
          </a:blip>
          <a:stretch>
            <a:fillRect/>
          </a:stretch>
        </p:blipFill>
        <p:spPr>
          <a:xfrm>
            <a:off x="5958425" y="1983225"/>
            <a:ext cx="1289950" cy="12899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3402</Words>
  <Application>Microsoft Macintosh PowerPoint</Application>
  <PresentationFormat>On-screen Show (16:9)</PresentationFormat>
  <Paragraphs>223</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Simple Light</vt:lpstr>
      <vt:lpstr>CO₂ &amp; Sea Level Rise/ Coastal Erosion</vt:lpstr>
      <vt:lpstr>Lesson Overview</vt:lpstr>
      <vt:lpstr>Make an Observation With your team, take a moment to observe the image on the left.</vt:lpstr>
      <vt:lpstr>Alamitos Bay - November 16, 2024</vt:lpstr>
      <vt:lpstr>What’s Coming Next</vt:lpstr>
      <vt:lpstr>Create a Model With your team, take a moment and draw what you think is causing sea level rise.</vt:lpstr>
      <vt:lpstr>What Causes Sea Level Rise With your team, watch the video on the left to help you build a deeper understanding of what causes sea level rise. As you watch, think about the following: </vt:lpstr>
      <vt:lpstr>Revise Your Model</vt:lpstr>
      <vt:lpstr>Reflect</vt:lpstr>
      <vt:lpstr>CO₂ &amp; Sea Level Rise/ Coastal Erosion</vt:lpstr>
      <vt:lpstr>Reflect on Your Observation Now that you have begun to explore sea level rise, let’s revisit the image on the left.</vt:lpstr>
      <vt:lpstr>Day 2: Lesson Overview</vt:lpstr>
      <vt:lpstr>Our Coast Our Future Simulation</vt:lpstr>
      <vt:lpstr>Plan: Update Your SageModeler</vt:lpstr>
      <vt:lpstr>Reflect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Ha</cp:lastModifiedBy>
  <cp:revision>7</cp:revision>
  <dcterms:modified xsi:type="dcterms:W3CDTF">2026-08-20T15:49:20Z</dcterms:modified>
</cp:coreProperties>
</file>